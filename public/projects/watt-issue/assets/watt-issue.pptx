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embeddedFontLst>
    <p:embeddedFont>
      <p:font typeface="Noto Sans KR" panose="020B0200000000000000" pitchFamily="34" charset="-128"/>
      <p:regular r:id="rId34"/>
      <p:bold r:id="rId35"/>
    </p:embeddedFont>
    <p:embeddedFont>
      <p:font typeface="JetBrains Mono" panose="02000009000000000000" pitchFamily="49" charset="0"/>
      <p:regular r:id="rId36"/>
      <p:bold r:id="rId37"/>
      <p:italic r:id="rId38"/>
      <p:boldItalic r:id="rId39"/>
    </p:embeddedFont>
    <p:embeddedFont>
      <p:font typeface="Noto Sans" panose="020B0502040504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wDD9l8g60/lk0/DdGicYM+6G6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56"/>
    <p:restoredTop sz="94673"/>
  </p:normalViewPr>
  <p:slideViewPr>
    <p:cSldViewPr snapToGrid="0">
      <p:cViewPr>
        <p:scale>
          <a:sx n="118" d="100"/>
          <a:sy n="118" d="100"/>
        </p:scale>
        <p:origin x="55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ec134f25c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3eec134f25c_1_117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g3eec134f25c_1_117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ec134f25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g3eec134f25c_1_20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g3eec134f25c_1_20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코드 품질 검증 · CI/CD </a:t>
            </a:r>
            <a:endParaRPr/>
          </a:p>
        </p:txBody>
      </p:sp>
      <p:sp>
        <p:nvSpPr>
          <p:cNvPr id="124" name="Google Shape;124;p2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ac4249fa7_3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eac4249fa7_3_59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3eac4249fa7_3_59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4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4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aafee75e2_3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eaafee75e2_3_158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eaafee75e2_3_158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서비스 기능을 요구사항 단위로 분해하고, 담당자·성능기준·개발범위를 명확히 정의하여 체계적으로 프로젝트를 관리했음 </a:t>
            </a:r>
            <a:endParaRPr/>
          </a:p>
        </p:txBody>
      </p:sp>
      <p:sp>
        <p:nvSpPr>
          <p:cNvPr id="423" name="Google Shape;4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서비스 기능을 요구사항 단위로 분해하고, 담당자·성능기준·개발범위를 명확히 정의하여 체계적으로 프로젝트를 관리했음 </a:t>
            </a:r>
            <a:endParaRPr/>
          </a:p>
        </p:txBody>
      </p:sp>
      <p:sp>
        <p:nvSpPr>
          <p:cNvPr id="435" name="Google Shape;43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서비스 기능을 요구사항 단위로 분해하고, 담당자·성능기준·개발범위를 명확히 정의하여 체계적으로 프로젝트를 관리했음 </a:t>
            </a:r>
            <a:endParaRPr/>
          </a:p>
        </p:txBody>
      </p:sp>
      <p:sp>
        <p:nvSpPr>
          <p:cNvPr id="447" name="Google Shape;44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a66c3de90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ea66c3de90_6_0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ea66c3de90_6_0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aa469dc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g3eaa469dcba_0_0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g3eaa469dcba_0_0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a66c3de90_6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g3ea66c3de90_6_365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g3ea66c3de90_6_365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3" name="Google Shape;813;p9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대본형태</a:t>
            </a:r>
            <a:endParaRPr/>
          </a:p>
        </p:txBody>
      </p:sp>
      <p:sp>
        <p:nvSpPr>
          <p:cNvPr id="814" name="Google Shape;814;p9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4" name="Google Shape;944;p10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5" name="Google Shape;945;p10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5" name="Google Shape;1105;p11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6" name="Google Shape;1106;p11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8" name="Google Shape;1148;p12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9" name="Google Shape;1149;p12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8" name="Google Shape;1228;p13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9" name="Google Shape;1229;p13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eaa469dcba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g3eaa469dcba_0_242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g3eaa469dcba_0_242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eaa469dcba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2" name="Google Shape;1452;g3eaa469dcba_0_445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g3eaa469dcba_0_445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eaa469dcba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6" name="Google Shape;1516;g3eaa469dcba_0_524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1517" name="Google Shape;1517;g3eaa469dcba_0_524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3eaafee75e2_3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6" name="Google Shape;1646;g3eaafee75e2_3_268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g3eaafee75e2_3_268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3eaea90ab4f_6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2" name="Google Shape;1722;g3eaea90ab4f_6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LLM 에이전트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LangGraph : 무엇을 먼저 확인해야 할지 판단하고, 사용량 / 캐시백 / 이상탐지 등등 필요한 도구를 실행하는 흐름 관리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OpenAI gpt-4o-mini :  AI 진단 코칭과 절약 미션 생성에 활용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MemorySaver : 대화 문맥 유지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Pydantic v2: 데이터 형식 검증 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FastAPI + Uvicorn : 프론드엔드와 AI 에이전트를 연결하는 서버 역할</a:t>
            </a:r>
            <a:endParaRPr/>
          </a:p>
        </p:txBody>
      </p:sp>
      <p:sp>
        <p:nvSpPr>
          <p:cNvPr id="1723" name="Google Shape;1723;g3eaea90ab4f_6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ea66c3de90_6_1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2" name="Google Shape;1812;g3ea66c3de90_6_1225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g3ea66c3de90_6_1225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3eecf95ea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84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4" name="Google Shape;1914;g3eecf95ea0e_0_0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g3eecf95ea0e_0_0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8" name="Google Shape;20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GitHub로 개발 이력을 PR·커밋 단위로 관리했으며, </a:t>
            </a:r>
            <a:endParaRPr/>
          </a:p>
        </p:txBody>
      </p:sp>
      <p:sp>
        <p:nvSpPr>
          <p:cNvPr id="2009" name="Google Shape;200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0" name="Google Shape;2020;p25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1" name="Google Shape;2021;p25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0" name="Google Shape;2030;p26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1" name="Google Shape;2031;p26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9" name="Google Shape;2109;p27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0" name="Google Shape;2110;p27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3eaea90ab4f_6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62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2" name="Google Shape;2172;g3eaea90ab4f_6_16:notes"/>
          <p:cNvSpPr txBox="1">
            <a:spLocks noGrp="1"/>
          </p:cNvSpPr>
          <p:nvPr>
            <p:ph type="body" idx="1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3" name="Google Shape;2173;g3eaea90ab4f_6_16:notes"/>
          <p:cNvSpPr txBox="1">
            <a:spLocks noGrp="1"/>
          </p:cNvSpPr>
          <p:nvPr>
            <p:ph type="sldNum" idx="12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2" name="Google Shape;218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3" name="Google Shape;2183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1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jpg"/><Relationship Id="rId18" Type="http://schemas.openxmlformats.org/officeDocument/2006/relationships/image" Target="../media/image65.png"/><Relationship Id="rId3" Type="http://schemas.openxmlformats.org/officeDocument/2006/relationships/image" Target="../media/image1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jp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jp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jpg"/><Relationship Id="rId22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1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1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8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0.png"/><Relationship Id="rId4" Type="http://schemas.openxmlformats.org/officeDocument/2006/relationships/image" Target="../media/image77.png"/><Relationship Id="rId9" Type="http://schemas.openxmlformats.org/officeDocument/2006/relationships/image" Target="../media/image49.png"/><Relationship Id="rId14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1.png"/><Relationship Id="rId5" Type="http://schemas.openxmlformats.org/officeDocument/2006/relationships/image" Target="../media/image92.png"/><Relationship Id="rId15" Type="http://schemas.openxmlformats.org/officeDocument/2006/relationships/image" Target="../media/image101.png"/><Relationship Id="rId10" Type="http://schemas.openxmlformats.org/officeDocument/2006/relationships/image" Target="../media/image97.png"/><Relationship Id="rId4" Type="http://schemas.openxmlformats.org/officeDocument/2006/relationships/image" Target="../media/image77.pn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89.png"/><Relationship Id="rId18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04.png"/><Relationship Id="rId12" Type="http://schemas.openxmlformats.org/officeDocument/2006/relationships/image" Target="../media/image108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97.png"/><Relationship Id="rId5" Type="http://schemas.openxmlformats.org/officeDocument/2006/relationships/image" Target="../media/image102.png"/><Relationship Id="rId15" Type="http://schemas.openxmlformats.org/officeDocument/2006/relationships/image" Target="../media/image110.png"/><Relationship Id="rId10" Type="http://schemas.openxmlformats.org/officeDocument/2006/relationships/image" Target="../media/image107.png"/><Relationship Id="rId19" Type="http://schemas.openxmlformats.org/officeDocument/2006/relationships/image" Target="../media/image114.png"/><Relationship Id="rId4" Type="http://schemas.openxmlformats.org/officeDocument/2006/relationships/image" Target="../media/image77.png"/><Relationship Id="rId9" Type="http://schemas.openxmlformats.org/officeDocument/2006/relationships/image" Target="../media/image106.png"/><Relationship Id="rId14" Type="http://schemas.openxmlformats.org/officeDocument/2006/relationships/image" Target="../media/image10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3.png"/><Relationship Id="rId18" Type="http://schemas.openxmlformats.org/officeDocument/2006/relationships/image" Target="../media/image127.png"/><Relationship Id="rId26" Type="http://schemas.openxmlformats.org/officeDocument/2006/relationships/image" Target="../media/image134.png"/><Relationship Id="rId3" Type="http://schemas.openxmlformats.org/officeDocument/2006/relationships/image" Target="../media/image1.png"/><Relationship Id="rId21" Type="http://schemas.openxmlformats.org/officeDocument/2006/relationships/image" Target="../media/image129.png"/><Relationship Id="rId7" Type="http://schemas.openxmlformats.org/officeDocument/2006/relationships/image" Target="../media/image118.png"/><Relationship Id="rId12" Type="http://schemas.openxmlformats.org/officeDocument/2006/relationships/image" Target="../media/image122.png"/><Relationship Id="rId17" Type="http://schemas.openxmlformats.org/officeDocument/2006/relationships/image" Target="../media/image126.png"/><Relationship Id="rId25" Type="http://schemas.openxmlformats.org/officeDocument/2006/relationships/image" Target="../media/image13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9.png"/><Relationship Id="rId20" Type="http://schemas.openxmlformats.org/officeDocument/2006/relationships/image" Target="../media/image128.png"/><Relationship Id="rId29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1.png"/><Relationship Id="rId24" Type="http://schemas.openxmlformats.org/officeDocument/2006/relationships/image" Target="../media/image132.png"/><Relationship Id="rId5" Type="http://schemas.openxmlformats.org/officeDocument/2006/relationships/image" Target="../media/image77.png"/><Relationship Id="rId15" Type="http://schemas.openxmlformats.org/officeDocument/2006/relationships/image" Target="../media/image125.png"/><Relationship Id="rId23" Type="http://schemas.openxmlformats.org/officeDocument/2006/relationships/image" Target="../media/image131.png"/><Relationship Id="rId28" Type="http://schemas.openxmlformats.org/officeDocument/2006/relationships/image" Target="../media/image136.png"/><Relationship Id="rId10" Type="http://schemas.openxmlformats.org/officeDocument/2006/relationships/image" Target="../media/image97.png"/><Relationship Id="rId19" Type="http://schemas.openxmlformats.org/officeDocument/2006/relationships/image" Target="../media/image99.png"/><Relationship Id="rId4" Type="http://schemas.openxmlformats.org/officeDocument/2006/relationships/image" Target="../media/image116.png"/><Relationship Id="rId9" Type="http://schemas.openxmlformats.org/officeDocument/2006/relationships/image" Target="../media/image120.png"/><Relationship Id="rId14" Type="http://schemas.openxmlformats.org/officeDocument/2006/relationships/image" Target="../media/image124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.png"/><Relationship Id="rId7" Type="http://schemas.openxmlformats.org/officeDocument/2006/relationships/image" Target="../media/image141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9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4.png"/><Relationship Id="rId5" Type="http://schemas.openxmlformats.org/officeDocument/2006/relationships/image" Target="../media/image139.png"/><Relationship Id="rId15" Type="http://schemas.openxmlformats.org/officeDocument/2006/relationships/image" Target="../media/image148.png"/><Relationship Id="rId10" Type="http://schemas.openxmlformats.org/officeDocument/2006/relationships/image" Target="../media/image87.png"/><Relationship Id="rId19" Type="http://schemas.openxmlformats.org/officeDocument/2006/relationships/image" Target="../media/image77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3" Type="http://schemas.openxmlformats.org/officeDocument/2006/relationships/image" Target="../media/image1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png"/><Relationship Id="rId4" Type="http://schemas.openxmlformats.org/officeDocument/2006/relationships/image" Target="../media/image77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1.png"/><Relationship Id="rId3" Type="http://schemas.openxmlformats.org/officeDocument/2006/relationships/image" Target="../media/image1.png"/><Relationship Id="rId7" Type="http://schemas.openxmlformats.org/officeDocument/2006/relationships/image" Target="../media/image166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54.png"/><Relationship Id="rId10" Type="http://schemas.openxmlformats.org/officeDocument/2006/relationships/image" Target="../media/image169.png"/><Relationship Id="rId4" Type="http://schemas.openxmlformats.org/officeDocument/2006/relationships/image" Target="../media/image153.png"/><Relationship Id="rId9" Type="http://schemas.openxmlformats.org/officeDocument/2006/relationships/image" Target="../media/image1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jpg"/><Relationship Id="rId13" Type="http://schemas.openxmlformats.org/officeDocument/2006/relationships/image" Target="../media/image97.png"/><Relationship Id="rId18" Type="http://schemas.openxmlformats.org/officeDocument/2006/relationships/image" Target="../media/image182.png"/><Relationship Id="rId3" Type="http://schemas.openxmlformats.org/officeDocument/2006/relationships/image" Target="../media/image1.png"/><Relationship Id="rId21" Type="http://schemas.openxmlformats.org/officeDocument/2006/relationships/image" Target="../media/image185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1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23.png"/><Relationship Id="rId20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77.png"/><Relationship Id="rId5" Type="http://schemas.openxmlformats.org/officeDocument/2006/relationships/image" Target="../media/image172.png"/><Relationship Id="rId15" Type="http://schemas.openxmlformats.org/officeDocument/2006/relationships/image" Target="../media/image180.png"/><Relationship Id="rId23" Type="http://schemas.openxmlformats.org/officeDocument/2006/relationships/image" Target="../media/image186.png"/><Relationship Id="rId10" Type="http://schemas.openxmlformats.org/officeDocument/2006/relationships/image" Target="../media/image176.png"/><Relationship Id="rId19" Type="http://schemas.openxmlformats.org/officeDocument/2006/relationships/image" Target="../media/image183.png"/><Relationship Id="rId4" Type="http://schemas.openxmlformats.org/officeDocument/2006/relationships/image" Target="../media/image77.png"/><Relationship Id="rId9" Type="http://schemas.openxmlformats.org/officeDocument/2006/relationships/image" Target="../media/image175.png"/><Relationship Id="rId14" Type="http://schemas.openxmlformats.org/officeDocument/2006/relationships/image" Target="../media/image179.png"/><Relationship Id="rId22" Type="http://schemas.openxmlformats.org/officeDocument/2006/relationships/image" Target="../media/image1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194.png"/><Relationship Id="rId18" Type="http://schemas.openxmlformats.org/officeDocument/2006/relationships/image" Target="../media/image199.png"/><Relationship Id="rId3" Type="http://schemas.openxmlformats.org/officeDocument/2006/relationships/image" Target="../media/image1.png"/><Relationship Id="rId7" Type="http://schemas.openxmlformats.org/officeDocument/2006/relationships/image" Target="../media/image189.png"/><Relationship Id="rId12" Type="http://schemas.openxmlformats.org/officeDocument/2006/relationships/image" Target="../media/image98.png"/><Relationship Id="rId17" Type="http://schemas.openxmlformats.org/officeDocument/2006/relationships/image" Target="../media/image19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97.png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5" Type="http://schemas.openxmlformats.org/officeDocument/2006/relationships/image" Target="../media/image196.png"/><Relationship Id="rId10" Type="http://schemas.openxmlformats.org/officeDocument/2006/relationships/image" Target="../media/image192.png"/><Relationship Id="rId19" Type="http://schemas.openxmlformats.org/officeDocument/2006/relationships/image" Target="../media/image200.png"/><Relationship Id="rId4" Type="http://schemas.openxmlformats.org/officeDocument/2006/relationships/image" Target="../media/image77.png"/><Relationship Id="rId9" Type="http://schemas.openxmlformats.org/officeDocument/2006/relationships/image" Target="../media/image191.png"/><Relationship Id="rId14" Type="http://schemas.openxmlformats.org/officeDocument/2006/relationships/image" Target="../media/image19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97.png"/><Relationship Id="rId3" Type="http://schemas.openxmlformats.org/officeDocument/2006/relationships/image" Target="../media/image1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207.jpg"/><Relationship Id="rId5" Type="http://schemas.openxmlformats.org/officeDocument/2006/relationships/image" Target="../media/image152.png"/><Relationship Id="rId10" Type="http://schemas.openxmlformats.org/officeDocument/2006/relationships/image" Target="../media/image206.jpg"/><Relationship Id="rId4" Type="http://schemas.openxmlformats.org/officeDocument/2006/relationships/image" Target="../media/image77.png"/><Relationship Id="rId9" Type="http://schemas.openxmlformats.org/officeDocument/2006/relationships/image" Target="../media/image20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6.png"/><Relationship Id="rId18" Type="http://schemas.openxmlformats.org/officeDocument/2006/relationships/image" Target="../media/image49.png"/><Relationship Id="rId3" Type="http://schemas.openxmlformats.org/officeDocument/2006/relationships/image" Target="../media/image1.png"/><Relationship Id="rId21" Type="http://schemas.openxmlformats.org/officeDocument/2006/relationships/image" Target="../media/image89.png"/><Relationship Id="rId7" Type="http://schemas.openxmlformats.org/officeDocument/2006/relationships/image" Target="../media/image211.png"/><Relationship Id="rId12" Type="http://schemas.openxmlformats.org/officeDocument/2006/relationships/image" Target="../media/image197.png"/><Relationship Id="rId17" Type="http://schemas.openxmlformats.org/officeDocument/2006/relationships/image" Target="../media/image21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18.png"/><Relationship Id="rId20" Type="http://schemas.openxmlformats.org/officeDocument/2006/relationships/image" Target="../media/image2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09.png"/><Relationship Id="rId15" Type="http://schemas.openxmlformats.org/officeDocument/2006/relationships/image" Target="../media/image198.png"/><Relationship Id="rId10" Type="http://schemas.openxmlformats.org/officeDocument/2006/relationships/image" Target="../media/image214.png"/><Relationship Id="rId19" Type="http://schemas.openxmlformats.org/officeDocument/2006/relationships/image" Target="../media/image220.png"/><Relationship Id="rId4" Type="http://schemas.openxmlformats.org/officeDocument/2006/relationships/image" Target="../media/image25.png"/><Relationship Id="rId9" Type="http://schemas.openxmlformats.org/officeDocument/2006/relationships/image" Target="../media/image213.png"/><Relationship Id="rId14" Type="http://schemas.openxmlformats.org/officeDocument/2006/relationships/image" Target="../media/image2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1.png"/><Relationship Id="rId7" Type="http://schemas.openxmlformats.org/officeDocument/2006/relationships/image" Target="../media/image2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10" Type="http://schemas.openxmlformats.org/officeDocument/2006/relationships/image" Target="../media/image227.png"/><Relationship Id="rId4" Type="http://schemas.openxmlformats.org/officeDocument/2006/relationships/image" Target="../media/image25.png"/><Relationship Id="rId9" Type="http://schemas.openxmlformats.org/officeDocument/2006/relationships/image" Target="../media/image226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image" Target="../media/image242.png"/><Relationship Id="rId26" Type="http://schemas.openxmlformats.org/officeDocument/2006/relationships/image" Target="../media/image250.png"/><Relationship Id="rId39" Type="http://schemas.openxmlformats.org/officeDocument/2006/relationships/image" Target="../media/image263.png"/><Relationship Id="rId21" Type="http://schemas.openxmlformats.org/officeDocument/2006/relationships/image" Target="../media/image245.png"/><Relationship Id="rId34" Type="http://schemas.openxmlformats.org/officeDocument/2006/relationships/image" Target="../media/image258.png"/><Relationship Id="rId42" Type="http://schemas.openxmlformats.org/officeDocument/2006/relationships/image" Target="../media/image266.png"/><Relationship Id="rId7" Type="http://schemas.openxmlformats.org/officeDocument/2006/relationships/image" Target="../media/image231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40.png"/><Relationship Id="rId20" Type="http://schemas.openxmlformats.org/officeDocument/2006/relationships/image" Target="../media/image244.png"/><Relationship Id="rId29" Type="http://schemas.openxmlformats.org/officeDocument/2006/relationships/image" Target="../media/image253.png"/><Relationship Id="rId41" Type="http://schemas.openxmlformats.org/officeDocument/2006/relationships/image" Target="../media/image2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24" Type="http://schemas.openxmlformats.org/officeDocument/2006/relationships/image" Target="../media/image248.png"/><Relationship Id="rId32" Type="http://schemas.openxmlformats.org/officeDocument/2006/relationships/image" Target="../media/image256.png"/><Relationship Id="rId37" Type="http://schemas.openxmlformats.org/officeDocument/2006/relationships/image" Target="../media/image261.png"/><Relationship Id="rId40" Type="http://schemas.openxmlformats.org/officeDocument/2006/relationships/image" Target="../media/image264.png"/><Relationship Id="rId5" Type="http://schemas.openxmlformats.org/officeDocument/2006/relationships/image" Target="../media/image229.png"/><Relationship Id="rId15" Type="http://schemas.openxmlformats.org/officeDocument/2006/relationships/image" Target="../media/image239.png"/><Relationship Id="rId23" Type="http://schemas.openxmlformats.org/officeDocument/2006/relationships/image" Target="../media/image247.png"/><Relationship Id="rId28" Type="http://schemas.openxmlformats.org/officeDocument/2006/relationships/image" Target="../media/image252.png"/><Relationship Id="rId36" Type="http://schemas.openxmlformats.org/officeDocument/2006/relationships/image" Target="../media/image260.png"/><Relationship Id="rId10" Type="http://schemas.openxmlformats.org/officeDocument/2006/relationships/image" Target="../media/image234.png"/><Relationship Id="rId19" Type="http://schemas.openxmlformats.org/officeDocument/2006/relationships/image" Target="../media/image243.png"/><Relationship Id="rId31" Type="http://schemas.openxmlformats.org/officeDocument/2006/relationships/image" Target="../media/image255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Relationship Id="rId14" Type="http://schemas.openxmlformats.org/officeDocument/2006/relationships/image" Target="../media/image238.png"/><Relationship Id="rId22" Type="http://schemas.openxmlformats.org/officeDocument/2006/relationships/image" Target="../media/image246.png"/><Relationship Id="rId27" Type="http://schemas.openxmlformats.org/officeDocument/2006/relationships/image" Target="../media/image251.png"/><Relationship Id="rId30" Type="http://schemas.openxmlformats.org/officeDocument/2006/relationships/image" Target="../media/image254.png"/><Relationship Id="rId35" Type="http://schemas.openxmlformats.org/officeDocument/2006/relationships/image" Target="../media/image259.png"/><Relationship Id="rId43" Type="http://schemas.openxmlformats.org/officeDocument/2006/relationships/image" Target="../media/image267.png"/><Relationship Id="rId8" Type="http://schemas.openxmlformats.org/officeDocument/2006/relationships/image" Target="../media/image232.png"/><Relationship Id="rId3" Type="http://schemas.openxmlformats.org/officeDocument/2006/relationships/image" Target="../media/image1.png"/><Relationship Id="rId12" Type="http://schemas.openxmlformats.org/officeDocument/2006/relationships/image" Target="../media/image236.png"/><Relationship Id="rId17" Type="http://schemas.openxmlformats.org/officeDocument/2006/relationships/image" Target="../media/image241.png"/><Relationship Id="rId25" Type="http://schemas.openxmlformats.org/officeDocument/2006/relationships/image" Target="../media/image249.png"/><Relationship Id="rId33" Type="http://schemas.openxmlformats.org/officeDocument/2006/relationships/image" Target="../media/image257.png"/><Relationship Id="rId38" Type="http://schemas.openxmlformats.org/officeDocument/2006/relationships/image" Target="../media/image2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13" Type="http://schemas.openxmlformats.org/officeDocument/2006/relationships/image" Target="../media/image276.png"/><Relationship Id="rId3" Type="http://schemas.openxmlformats.org/officeDocument/2006/relationships/image" Target="../media/image1.png"/><Relationship Id="rId7" Type="http://schemas.openxmlformats.org/officeDocument/2006/relationships/image" Target="../media/image270.png"/><Relationship Id="rId12" Type="http://schemas.openxmlformats.org/officeDocument/2006/relationships/image" Target="../media/image2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9.png"/><Relationship Id="rId11" Type="http://schemas.openxmlformats.org/officeDocument/2006/relationships/image" Target="../media/image274.png"/><Relationship Id="rId5" Type="http://schemas.openxmlformats.org/officeDocument/2006/relationships/image" Target="../media/image268.png"/><Relationship Id="rId10" Type="http://schemas.openxmlformats.org/officeDocument/2006/relationships/image" Target="../media/image273.png"/><Relationship Id="rId4" Type="http://schemas.openxmlformats.org/officeDocument/2006/relationships/image" Target="../media/image256.png"/><Relationship Id="rId9" Type="http://schemas.openxmlformats.org/officeDocument/2006/relationships/image" Target="../media/image272.png"/><Relationship Id="rId14" Type="http://schemas.openxmlformats.org/officeDocument/2006/relationships/image" Target="../media/image2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6.png"/><Relationship Id="rId18" Type="http://schemas.openxmlformats.org/officeDocument/2006/relationships/image" Target="../media/image291.png"/><Relationship Id="rId3" Type="http://schemas.openxmlformats.org/officeDocument/2006/relationships/image" Target="../media/image1.png"/><Relationship Id="rId21" Type="http://schemas.openxmlformats.org/officeDocument/2006/relationships/image" Target="../media/image293.png"/><Relationship Id="rId7" Type="http://schemas.openxmlformats.org/officeDocument/2006/relationships/image" Target="../media/image281.png"/><Relationship Id="rId12" Type="http://schemas.openxmlformats.org/officeDocument/2006/relationships/image" Target="../media/image285.png"/><Relationship Id="rId17" Type="http://schemas.openxmlformats.org/officeDocument/2006/relationships/image" Target="../media/image290.jp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89.jpg"/><Relationship Id="rId20" Type="http://schemas.openxmlformats.org/officeDocument/2006/relationships/image" Target="../media/image2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11" Type="http://schemas.openxmlformats.org/officeDocument/2006/relationships/image" Target="../media/image284.png"/><Relationship Id="rId5" Type="http://schemas.openxmlformats.org/officeDocument/2006/relationships/image" Target="../media/image279.png"/><Relationship Id="rId15" Type="http://schemas.openxmlformats.org/officeDocument/2006/relationships/image" Target="../media/image288.jpg"/><Relationship Id="rId10" Type="http://schemas.openxmlformats.org/officeDocument/2006/relationships/image" Target="../media/image225.png"/><Relationship Id="rId19" Type="http://schemas.openxmlformats.org/officeDocument/2006/relationships/image" Target="../media/image256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Relationship Id="rId14" Type="http://schemas.openxmlformats.org/officeDocument/2006/relationships/image" Target="../media/image287.png"/><Relationship Id="rId22" Type="http://schemas.openxmlformats.org/officeDocument/2006/relationships/image" Target="../media/image29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7.png"/><Relationship Id="rId5" Type="http://schemas.openxmlformats.org/officeDocument/2006/relationships/image" Target="../media/image296.png"/><Relationship Id="rId4" Type="http://schemas.openxmlformats.org/officeDocument/2006/relationships/image" Target="../media/image2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9.png"/><Relationship Id="rId4" Type="http://schemas.openxmlformats.org/officeDocument/2006/relationships/image" Target="../media/image29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13" Type="http://schemas.openxmlformats.org/officeDocument/2006/relationships/image" Target="../media/image308.png"/><Relationship Id="rId18" Type="http://schemas.openxmlformats.org/officeDocument/2006/relationships/image" Target="../media/image313.png"/><Relationship Id="rId3" Type="http://schemas.openxmlformats.org/officeDocument/2006/relationships/image" Target="../media/image1.png"/><Relationship Id="rId21" Type="http://schemas.openxmlformats.org/officeDocument/2006/relationships/image" Target="../media/image316.png"/><Relationship Id="rId7" Type="http://schemas.openxmlformats.org/officeDocument/2006/relationships/image" Target="../media/image302.png"/><Relationship Id="rId12" Type="http://schemas.openxmlformats.org/officeDocument/2006/relationships/image" Target="../media/image307.png"/><Relationship Id="rId17" Type="http://schemas.openxmlformats.org/officeDocument/2006/relationships/image" Target="../media/image31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311.png"/><Relationship Id="rId20" Type="http://schemas.openxmlformats.org/officeDocument/2006/relationships/image" Target="../media/image3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1.png"/><Relationship Id="rId11" Type="http://schemas.openxmlformats.org/officeDocument/2006/relationships/image" Target="../media/image306.png"/><Relationship Id="rId5" Type="http://schemas.openxmlformats.org/officeDocument/2006/relationships/image" Target="../media/image300.png"/><Relationship Id="rId15" Type="http://schemas.openxmlformats.org/officeDocument/2006/relationships/image" Target="../media/image310.png"/><Relationship Id="rId23" Type="http://schemas.openxmlformats.org/officeDocument/2006/relationships/image" Target="../media/image318.png"/><Relationship Id="rId10" Type="http://schemas.openxmlformats.org/officeDocument/2006/relationships/image" Target="../media/image305.png"/><Relationship Id="rId19" Type="http://schemas.openxmlformats.org/officeDocument/2006/relationships/image" Target="../media/image314.png"/><Relationship Id="rId4" Type="http://schemas.openxmlformats.org/officeDocument/2006/relationships/image" Target="../media/image298.png"/><Relationship Id="rId9" Type="http://schemas.openxmlformats.org/officeDocument/2006/relationships/image" Target="../media/image304.png"/><Relationship Id="rId14" Type="http://schemas.openxmlformats.org/officeDocument/2006/relationships/image" Target="../media/image309.png"/><Relationship Id="rId22" Type="http://schemas.openxmlformats.org/officeDocument/2006/relationships/image" Target="../media/image3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png"/><Relationship Id="rId13" Type="http://schemas.openxmlformats.org/officeDocument/2006/relationships/image" Target="../media/image327.png"/><Relationship Id="rId3" Type="http://schemas.openxmlformats.org/officeDocument/2006/relationships/image" Target="../media/image1.png"/><Relationship Id="rId7" Type="http://schemas.openxmlformats.org/officeDocument/2006/relationships/image" Target="../media/image321.png"/><Relationship Id="rId12" Type="http://schemas.openxmlformats.org/officeDocument/2006/relationships/image" Target="../media/image3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11" Type="http://schemas.openxmlformats.org/officeDocument/2006/relationships/image" Target="../media/image325.png"/><Relationship Id="rId5" Type="http://schemas.openxmlformats.org/officeDocument/2006/relationships/image" Target="../media/image319.png"/><Relationship Id="rId15" Type="http://schemas.openxmlformats.org/officeDocument/2006/relationships/image" Target="../media/image329.png"/><Relationship Id="rId10" Type="http://schemas.openxmlformats.org/officeDocument/2006/relationships/image" Target="../media/image324.png"/><Relationship Id="rId4" Type="http://schemas.openxmlformats.org/officeDocument/2006/relationships/image" Target="../media/image298.png"/><Relationship Id="rId9" Type="http://schemas.openxmlformats.org/officeDocument/2006/relationships/image" Target="../media/image323.png"/><Relationship Id="rId14" Type="http://schemas.openxmlformats.org/officeDocument/2006/relationships/image" Target="../media/image3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eec134f25c_1_117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g3eec134f25c_1_117" descr="gen-dedup-2b2734049e63b45a336e7c9b1c0d82a2.png"/>
          <p:cNvPicPr preferRelativeResize="0"/>
          <p:nvPr/>
        </p:nvPicPr>
        <p:blipFill rotWithShape="1">
          <a:blip r:embed="rId4">
            <a:alphaModFix/>
          </a:blip>
          <a:srcRect l="-10" r="-10"/>
          <a:stretch/>
        </p:blipFill>
        <p:spPr>
          <a:xfrm>
            <a:off x="10287000" y="507797"/>
            <a:ext cx="1524000" cy="888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3eec134f25c_1_117" descr="gen-dedup-d1daf5c6d8db19853dc6dba49579c455.png"/>
          <p:cNvPicPr preferRelativeResize="0"/>
          <p:nvPr/>
        </p:nvPicPr>
        <p:blipFill rotWithShape="1">
          <a:blip r:embed="rId5">
            <a:alphaModFix amt="85000"/>
          </a:blip>
          <a:srcRect l="-7196" r="-7207"/>
          <a:stretch/>
        </p:blipFill>
        <p:spPr>
          <a:xfrm>
            <a:off x="5848752" y="495609"/>
            <a:ext cx="6092601" cy="56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eec134f25c_1_117" descr="gen-dedup-800159a952feae4a501f0cc916128c9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5" y="49560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g3eec134f25c_1_117" descr="gen-dedup-0d670db02b3a195c35e9fa1d8cd64920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197" y="583997"/>
            <a:ext cx="2029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eec134f25c_1_117"/>
          <p:cNvSpPr txBox="1"/>
          <p:nvPr/>
        </p:nvSpPr>
        <p:spPr>
          <a:xfrm>
            <a:off x="1079601" y="578757"/>
            <a:ext cx="31755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와트이쓔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g3eec134f25c_1_117"/>
          <p:cNvSpPr txBox="1"/>
          <p:nvPr/>
        </p:nvSpPr>
        <p:spPr>
          <a:xfrm>
            <a:off x="587813" y="1892199"/>
            <a:ext cx="64770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r>
              <a:rPr lang="en-US" sz="3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기반</a:t>
            </a:r>
            <a:r>
              <a:rPr lang="en-US" sz="3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3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실시간 에너지 진단</a:t>
            </a:r>
            <a:endParaRPr sz="3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에이전트 시스템 </a:t>
            </a:r>
            <a:endParaRPr sz="3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3" name="Google Shape;23;g3eec134f25c_1_117" descr="gen-dedup-c88a6d25d4238834e9166e465a4875d9.png"/>
          <p:cNvPicPr preferRelativeResize="0"/>
          <p:nvPr/>
        </p:nvPicPr>
        <p:blipFill rotWithShape="1">
          <a:blip r:embed="rId8">
            <a:alphaModFix/>
          </a:blip>
          <a:srcRect l="-60" r="-60"/>
          <a:stretch/>
        </p:blipFill>
        <p:spPr>
          <a:xfrm>
            <a:off x="571770" y="3962400"/>
            <a:ext cx="3766475" cy="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3eec134f25c_1_117"/>
          <p:cNvSpPr txBox="1"/>
          <p:nvPr/>
        </p:nvSpPr>
        <p:spPr>
          <a:xfrm>
            <a:off x="571799" y="4170100"/>
            <a:ext cx="6839093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전체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전력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데이터를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가전별</a:t>
            </a:r>
            <a:r>
              <a:rPr lang="en-US" sz="15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사용량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으로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분해하고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endParaRPr sz="15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AI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에이전트가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실시간</a:t>
            </a:r>
            <a:r>
              <a:rPr lang="en-US" sz="15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에너지</a:t>
            </a:r>
            <a:r>
              <a:rPr lang="en-US" sz="15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를</a:t>
            </a:r>
            <a:r>
              <a:rPr lang="en-US" sz="15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진단</a:t>
            </a:r>
            <a:r>
              <a:rPr lang="en-US" sz="1500" b="1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하고</a:t>
            </a:r>
            <a:r>
              <a:rPr lang="en-US" sz="1500" b="1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절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감</a:t>
            </a:r>
            <a:r>
              <a:rPr lang="en-US" sz="15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하는</a:t>
            </a:r>
            <a:r>
              <a:rPr lang="en-US" sz="15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행동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을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제안하는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1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자율시스템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5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g3eec134f25c_1_117"/>
          <p:cNvSpPr txBox="1"/>
          <p:nvPr/>
        </p:nvSpPr>
        <p:spPr>
          <a:xfrm>
            <a:off x="460200" y="6248773"/>
            <a:ext cx="938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KEYWORDS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eec134f25c_1_117"/>
          <p:cNvSpPr/>
          <p:nvPr/>
        </p:nvSpPr>
        <p:spPr>
          <a:xfrm>
            <a:off x="1567899" y="6204675"/>
            <a:ext cx="757800" cy="171300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8475" cap="flat" cmpd="sng">
            <a:solidFill>
              <a:srgbClr val="FE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g3eec134f25c_1_117"/>
          <p:cNvSpPr/>
          <p:nvPr/>
        </p:nvSpPr>
        <p:spPr>
          <a:xfrm>
            <a:off x="1567902" y="6204882"/>
            <a:ext cx="7356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600"/>
              <a:buFont typeface="Arial"/>
              <a:buNone/>
            </a:pPr>
            <a:r>
              <a:rPr lang="en-US" sz="1200" b="1" i="0" u="none" strike="noStrike" cap="none">
                <a:solidFill>
                  <a:srgbClr val="9F1239"/>
                </a:solidFill>
                <a:latin typeface="Arial"/>
                <a:ea typeface="Arial"/>
                <a:cs typeface="Arial"/>
                <a:sym typeface="Arial"/>
              </a:rPr>
              <a:t>NILM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eec134f25c_1_117"/>
          <p:cNvSpPr/>
          <p:nvPr/>
        </p:nvSpPr>
        <p:spPr>
          <a:xfrm>
            <a:off x="2559081" y="6204675"/>
            <a:ext cx="1595100" cy="171300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8475" cap="flat" cmpd="sng">
            <a:solidFill>
              <a:srgbClr val="FE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g3eec134f25c_1_117"/>
          <p:cNvSpPr/>
          <p:nvPr/>
        </p:nvSpPr>
        <p:spPr>
          <a:xfrm>
            <a:off x="2554968" y="6204882"/>
            <a:ext cx="15456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600"/>
              <a:buFont typeface="Arial"/>
              <a:buNone/>
            </a:pPr>
            <a:r>
              <a:rPr lang="en-US" sz="1200" b="1">
                <a:solidFill>
                  <a:srgbClr val="9F1239"/>
                </a:solidFill>
              </a:rPr>
              <a:t>  </a:t>
            </a:r>
            <a:r>
              <a:rPr lang="en-US" sz="1200" b="1" i="0" u="none" strike="noStrike" cap="none">
                <a:solidFill>
                  <a:srgbClr val="9F1239"/>
                </a:solidFill>
                <a:latin typeface="Arial"/>
                <a:ea typeface="Arial"/>
                <a:cs typeface="Arial"/>
                <a:sym typeface="Arial"/>
              </a:rPr>
              <a:t>실시간 에너지 진단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eec134f25c_1_117"/>
          <p:cNvSpPr/>
          <p:nvPr/>
        </p:nvSpPr>
        <p:spPr>
          <a:xfrm>
            <a:off x="4394505" y="6204675"/>
            <a:ext cx="1045500" cy="171300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g3eec134f25c_1_117"/>
          <p:cNvSpPr/>
          <p:nvPr/>
        </p:nvSpPr>
        <p:spPr>
          <a:xfrm>
            <a:off x="4404747" y="6204882"/>
            <a:ext cx="10143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1200" b="1" i="0" u="none" strike="noStrike" cap="none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eec134f25c_1_117"/>
          <p:cNvSpPr/>
          <p:nvPr/>
        </p:nvSpPr>
        <p:spPr>
          <a:xfrm>
            <a:off x="5673899" y="6204675"/>
            <a:ext cx="1267200" cy="171300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847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g3eec134f25c_1_117"/>
          <p:cNvSpPr/>
          <p:nvPr/>
        </p:nvSpPr>
        <p:spPr>
          <a:xfrm>
            <a:off x="5655000" y="6204875"/>
            <a:ext cx="12861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1200" b="1">
                <a:solidFill>
                  <a:srgbClr val="065F46"/>
                </a:solidFill>
              </a:rPr>
              <a:t> </a:t>
            </a:r>
            <a:r>
              <a:rPr lang="en-US" sz="1200" b="1" i="0" u="none" strike="noStrike" cap="non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상태모니터링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eec134f25c_1_117"/>
          <p:cNvSpPr/>
          <p:nvPr/>
        </p:nvSpPr>
        <p:spPr>
          <a:xfrm>
            <a:off x="7177973" y="6204675"/>
            <a:ext cx="1124700" cy="171300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g3eec134f25c_1_117"/>
          <p:cNvSpPr/>
          <p:nvPr/>
        </p:nvSpPr>
        <p:spPr>
          <a:xfrm>
            <a:off x="7176098" y="6204882"/>
            <a:ext cx="10896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1200" b="1" i="0" u="none" strike="noStrike" cap="non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캐시백 미션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eec134f25c_1_117"/>
          <p:cNvSpPr txBox="1"/>
          <p:nvPr/>
        </p:nvSpPr>
        <p:spPr>
          <a:xfrm>
            <a:off x="2189423" y="5921659"/>
            <a:ext cx="111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																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	                           </a:t>
            </a:r>
            <a:r>
              <a:rPr lang="en-US" sz="1200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와트이쓔</a:t>
            </a:r>
            <a:r>
              <a:rPr 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박지민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안주연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황대원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b="1" i="0" u="none" strike="noStrike" cap="non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g3eec134f25c_1_20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5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eec134f25c_1_20" descr="gen-dedup-47f9cc776b8f3bdf29ade0d98d6e79a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g3eec134f25c_1_20" descr="gen-dedup-28ead8d3ca5c65b3e810870194db083b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g3eec134f25c_1_20" descr="gen-dedup-8f6a6d7abed5aaf00c07744995284528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51050"/>
            <a:ext cx="4191000" cy="49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eec134f25c_1_20" descr="gen-dedup-1b63a61192e63959afcc6eb67b164ed2.png"/>
          <p:cNvPicPr preferRelativeResize="0"/>
          <p:nvPr/>
        </p:nvPicPr>
        <p:blipFill rotWithShape="1">
          <a:blip r:embed="rId7">
            <a:alphaModFix/>
          </a:blip>
          <a:srcRect l="-10" r="-10"/>
          <a:stretch/>
        </p:blipFill>
        <p:spPr>
          <a:xfrm>
            <a:off x="4952995" y="1451050"/>
            <a:ext cx="6667805" cy="149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eec134f25c_1_20" descr="gen-dedup-1b63a61192e63959afcc6eb67b164ed2.png"/>
          <p:cNvPicPr preferRelativeResize="0"/>
          <p:nvPr/>
        </p:nvPicPr>
        <p:blipFill rotWithShape="1">
          <a:blip r:embed="rId7">
            <a:alphaModFix/>
          </a:blip>
          <a:srcRect l="-10" r="-10"/>
          <a:stretch/>
        </p:blipFill>
        <p:spPr>
          <a:xfrm>
            <a:off x="4952995" y="3058657"/>
            <a:ext cx="6667805" cy="1510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g3eec134f25c_1_20" descr="gen-dedup-f94ac9d35b71f82b3b00f2e5382c5365.png"/>
          <p:cNvPicPr preferRelativeResize="0"/>
          <p:nvPr/>
        </p:nvPicPr>
        <p:blipFill rotWithShape="1">
          <a:blip r:embed="rId8">
            <a:alphaModFix/>
          </a:blip>
          <a:srcRect b="-10"/>
          <a:stretch/>
        </p:blipFill>
        <p:spPr>
          <a:xfrm>
            <a:off x="4952995" y="4720841"/>
            <a:ext cx="6667805" cy="1662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g3eec134f25c_1_20" descr="gen-dedup-d33281b4515675671744799de45acc6a.png"/>
          <p:cNvPicPr preferRelativeResize="0"/>
          <p:nvPr/>
        </p:nvPicPr>
        <p:blipFill rotWithShape="1">
          <a:blip r:embed="rId9">
            <a:alphaModFix/>
          </a:blip>
          <a:srcRect l="-403" r="-413"/>
          <a:stretch/>
        </p:blipFill>
        <p:spPr>
          <a:xfrm>
            <a:off x="4953000" y="1456725"/>
            <a:ext cx="384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eec134f25c_1_20" descr="gen-dedup-b6c781a76f6fcc260ad4f2d850acfaa4.png"/>
          <p:cNvPicPr preferRelativeResize="0"/>
          <p:nvPr/>
        </p:nvPicPr>
        <p:blipFill rotWithShape="1">
          <a:blip r:embed="rId10">
            <a:alphaModFix/>
          </a:blip>
          <a:srcRect l="-403" r="-413"/>
          <a:stretch/>
        </p:blipFill>
        <p:spPr>
          <a:xfrm>
            <a:off x="4952995" y="3058657"/>
            <a:ext cx="38405" cy="1510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eec134f25c_1_20" descr="gen-dedup-e08df69b55cb0866233bc5d77573ee8b.png"/>
          <p:cNvPicPr preferRelativeResize="0"/>
          <p:nvPr/>
        </p:nvPicPr>
        <p:blipFill rotWithShape="1">
          <a:blip r:embed="rId11">
            <a:alphaModFix/>
          </a:blip>
          <a:srcRect l="-393" r="-393"/>
          <a:stretch/>
        </p:blipFill>
        <p:spPr>
          <a:xfrm>
            <a:off x="4952995" y="4720841"/>
            <a:ext cx="38405" cy="1662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eec134f25c_1_20" descr="gen-dedup-d7cdc56b34bf1fce0e7591bcae2f8626.jpg"/>
          <p:cNvPicPr preferRelativeResize="0"/>
          <p:nvPr/>
        </p:nvPicPr>
        <p:blipFill rotWithShape="1">
          <a:blip r:embed="rId12">
            <a:alphaModFix/>
          </a:blip>
          <a:srcRect t="9128" b="7587"/>
          <a:stretch/>
        </p:blipFill>
        <p:spPr>
          <a:xfrm>
            <a:off x="762000" y="1699625"/>
            <a:ext cx="3810001" cy="407929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eec134f25c_1_20"/>
          <p:cNvSpPr txBox="1"/>
          <p:nvPr/>
        </p:nvSpPr>
        <p:spPr>
          <a:xfrm>
            <a:off x="1193597" y="495605"/>
            <a:ext cx="8890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공모전 주제 선정 배경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54;g3eec134f25c_1_20"/>
          <p:cNvSpPr txBox="1"/>
          <p:nvPr/>
        </p:nvSpPr>
        <p:spPr>
          <a:xfrm>
            <a:off x="1193597" y="826008"/>
            <a:ext cx="8890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에너지 데이터를 활용한 </a:t>
            </a:r>
            <a:r>
              <a:rPr lang="en-US" sz="13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AI Agent 기반 제품·서비스 제안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" name="Google Shape;55;g3eec134f25c_1_20"/>
          <p:cNvSpPr/>
          <p:nvPr/>
        </p:nvSpPr>
        <p:spPr>
          <a:xfrm>
            <a:off x="761995" y="5959501"/>
            <a:ext cx="908400" cy="174300"/>
          </a:xfrm>
          <a:prstGeom prst="roundRect">
            <a:avLst>
              <a:gd name="adj" fmla="val 217391"/>
            </a:avLst>
          </a:prstGeom>
          <a:solidFill>
            <a:srgbClr val="FEE2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g3eec134f25c_1_20" descr="gen-dedup-15f444a7af79618cc504bbec2ef6f576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5394" y="6001563"/>
            <a:ext cx="76200" cy="906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eec134f25c_1_20"/>
          <p:cNvSpPr txBox="1"/>
          <p:nvPr/>
        </p:nvSpPr>
        <p:spPr>
          <a:xfrm>
            <a:off x="939999" y="5959501"/>
            <a:ext cx="666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9F1239"/>
                </a:solidFill>
                <a:latin typeface="Arial"/>
                <a:ea typeface="Arial"/>
                <a:cs typeface="Arial"/>
                <a:sym typeface="Arial"/>
              </a:rPr>
              <a:t>OFFICIAL POSTER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eec134f25c_1_20"/>
          <p:cNvSpPr txBox="1"/>
          <p:nvPr/>
        </p:nvSpPr>
        <p:spPr>
          <a:xfrm>
            <a:off x="3267451" y="5997212"/>
            <a:ext cx="1646700" cy="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2026 기후에너지환경부 AX 아이디어 경진대회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eec134f25c_1_20"/>
          <p:cNvSpPr/>
          <p:nvPr/>
        </p:nvSpPr>
        <p:spPr>
          <a:xfrm>
            <a:off x="5143800" y="1599690"/>
            <a:ext cx="165300" cy="1593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eec134f25c_1_20"/>
          <p:cNvSpPr/>
          <p:nvPr/>
        </p:nvSpPr>
        <p:spPr>
          <a:xfrm>
            <a:off x="5143800" y="1593952"/>
            <a:ext cx="165300" cy="158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" name="Google Shape;61;g3eec134f25c_1_20"/>
          <p:cNvSpPr txBox="1"/>
          <p:nvPr/>
        </p:nvSpPr>
        <p:spPr>
          <a:xfrm>
            <a:off x="5372400" y="1628159"/>
            <a:ext cx="602700" cy="1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SECTION 01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g3eec134f25c_1_20"/>
          <p:cNvSpPr txBox="1"/>
          <p:nvPr/>
        </p:nvSpPr>
        <p:spPr>
          <a:xfrm>
            <a:off x="6086843" y="1582471"/>
            <a:ext cx="11991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공모전 개요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3" name="Google Shape;63;g3eec134f25c_1_20" descr="gen-dedup-1d5b274c770cd79abca7bcf5b5876a6f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43800" y="1854425"/>
            <a:ext cx="6394699" cy="58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eec134f25c_1_20"/>
          <p:cNvSpPr txBox="1"/>
          <p:nvPr/>
        </p:nvSpPr>
        <p:spPr>
          <a:xfrm>
            <a:off x="5238898" y="1937824"/>
            <a:ext cx="1714800" cy="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F1239"/>
                </a:solidFill>
                <a:latin typeface="Noto Sans"/>
                <a:ea typeface="Noto Sans"/>
                <a:cs typeface="Noto Sans"/>
                <a:sym typeface="Noto Sans"/>
              </a:rPr>
              <a:t>★ 출품 공모전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g3eec134f25c_1_20"/>
          <p:cNvSpPr txBox="1"/>
          <p:nvPr/>
        </p:nvSpPr>
        <p:spPr>
          <a:xfrm>
            <a:off x="5238901" y="2111550"/>
            <a:ext cx="32961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2026 기후부 AX 아이디어 경진대회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g3eec134f25c_1_20"/>
          <p:cNvSpPr/>
          <p:nvPr/>
        </p:nvSpPr>
        <p:spPr>
          <a:xfrm>
            <a:off x="9916788" y="1990747"/>
            <a:ext cx="1473900" cy="228600"/>
          </a:xfrm>
          <a:prstGeom prst="roundRect">
            <a:avLst>
              <a:gd name="adj" fmla="val 200000"/>
            </a:avLst>
          </a:prstGeom>
          <a:solidFill>
            <a:srgbClr val="E63946"/>
          </a:solidFill>
          <a:ln w="10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900" tIns="76900" rIns="76900" bIns="76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92"/>
          </a:p>
        </p:txBody>
      </p:sp>
      <p:sp>
        <p:nvSpPr>
          <p:cNvPr id="67" name="Google Shape;67;g3eec134f25c_1_20"/>
          <p:cNvSpPr txBox="1"/>
          <p:nvPr/>
        </p:nvSpPr>
        <p:spPr>
          <a:xfrm>
            <a:off x="9804409" y="1990750"/>
            <a:ext cx="1704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80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6125" tIns="42725" rIns="96125" bIns="42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7"/>
              <a:buFont typeface="Arial"/>
              <a:buNone/>
            </a:pPr>
            <a:r>
              <a:rPr lang="en-US" sz="1135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제품·서비스 개발 부문</a:t>
            </a:r>
            <a:endParaRPr sz="1135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g3eec134f25c_1_20"/>
          <p:cNvSpPr txBox="1"/>
          <p:nvPr/>
        </p:nvSpPr>
        <p:spPr>
          <a:xfrm>
            <a:off x="5143794" y="2596257"/>
            <a:ext cx="457200" cy="1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3개 부문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g3eec134f25c_1_20"/>
          <p:cNvSpPr/>
          <p:nvPr/>
        </p:nvSpPr>
        <p:spPr>
          <a:xfrm>
            <a:off x="5557121" y="2565802"/>
            <a:ext cx="802200" cy="165900"/>
          </a:xfrm>
          <a:prstGeom prst="roundRect">
            <a:avLst>
              <a:gd name="adj" fmla="val 198491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eec134f25c_1_20"/>
          <p:cNvSpPr txBox="1"/>
          <p:nvPr/>
        </p:nvSpPr>
        <p:spPr>
          <a:xfrm>
            <a:off x="5557120" y="2565802"/>
            <a:ext cx="780300" cy="1668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정책 아이디어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g3eec134f25c_1_20"/>
          <p:cNvSpPr/>
          <p:nvPr/>
        </p:nvSpPr>
        <p:spPr>
          <a:xfrm>
            <a:off x="6529977" y="2565802"/>
            <a:ext cx="1464600" cy="165900"/>
          </a:xfrm>
          <a:prstGeom prst="roundRect">
            <a:avLst>
              <a:gd name="adj" fmla="val 198491"/>
            </a:avLst>
          </a:prstGeom>
          <a:solidFill>
            <a:srgbClr val="FEE2E2"/>
          </a:solidFill>
          <a:ln w="8475" cap="flat" cmpd="sng">
            <a:solidFill>
              <a:srgbClr val="FC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eec134f25c_1_20"/>
          <p:cNvSpPr txBox="1"/>
          <p:nvPr/>
        </p:nvSpPr>
        <p:spPr>
          <a:xfrm>
            <a:off x="6539864" y="2564154"/>
            <a:ext cx="1464600" cy="1668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F1239"/>
                </a:solidFill>
                <a:latin typeface="Noto Sans"/>
                <a:ea typeface="Noto Sans"/>
                <a:cs typeface="Noto Sans"/>
                <a:sym typeface="Noto Sans"/>
              </a:rPr>
              <a:t>● 제품·서비스 (앱·AI Agent)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g3eec134f25c_1_20"/>
          <p:cNvSpPr/>
          <p:nvPr/>
        </p:nvSpPr>
        <p:spPr>
          <a:xfrm>
            <a:off x="8172788" y="2565802"/>
            <a:ext cx="767100" cy="165900"/>
          </a:xfrm>
          <a:prstGeom prst="roundRect">
            <a:avLst>
              <a:gd name="adj" fmla="val 198491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eec134f25c_1_20"/>
          <p:cNvSpPr txBox="1"/>
          <p:nvPr/>
        </p:nvSpPr>
        <p:spPr>
          <a:xfrm>
            <a:off x="8182807" y="2562781"/>
            <a:ext cx="702900" cy="1668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데이터 분석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g3eec134f25c_1_20"/>
          <p:cNvSpPr/>
          <p:nvPr/>
        </p:nvSpPr>
        <p:spPr>
          <a:xfrm>
            <a:off x="5143800" y="3228005"/>
            <a:ext cx="165300" cy="166800"/>
          </a:xfrm>
          <a:prstGeom prst="ellipse">
            <a:avLst/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eec134f25c_1_20"/>
          <p:cNvSpPr/>
          <p:nvPr/>
        </p:nvSpPr>
        <p:spPr>
          <a:xfrm>
            <a:off x="5143800" y="3225465"/>
            <a:ext cx="165300" cy="174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g3eec134f25c_1_20"/>
          <p:cNvSpPr txBox="1"/>
          <p:nvPr/>
        </p:nvSpPr>
        <p:spPr>
          <a:xfrm>
            <a:off x="5372400" y="3255190"/>
            <a:ext cx="604800" cy="1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SECTION 02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g3eec134f25c_1_20"/>
          <p:cNvSpPr txBox="1"/>
          <p:nvPr/>
        </p:nvSpPr>
        <p:spPr>
          <a:xfrm>
            <a:off x="6097817" y="3210223"/>
            <a:ext cx="19191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주제 선택 이유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g3eec134f25c_1_20"/>
          <p:cNvSpPr txBox="1"/>
          <p:nvPr/>
        </p:nvSpPr>
        <p:spPr>
          <a:xfrm>
            <a:off x="5143795" y="3511918"/>
            <a:ext cx="562500" cy="1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공모 키워드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" name="Google Shape;80;g3eec134f25c_1_20"/>
          <p:cNvSpPr/>
          <p:nvPr/>
        </p:nvSpPr>
        <p:spPr>
          <a:xfrm>
            <a:off x="5709955" y="3482177"/>
            <a:ext cx="767100" cy="165900"/>
          </a:xfrm>
          <a:prstGeom prst="roundRect">
            <a:avLst>
              <a:gd name="adj" fmla="val 436680"/>
            </a:avLst>
          </a:prstGeom>
          <a:solidFill>
            <a:srgbClr val="F5F3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eec134f25c_1_20"/>
          <p:cNvSpPr/>
          <p:nvPr/>
        </p:nvSpPr>
        <p:spPr>
          <a:xfrm>
            <a:off x="5703962" y="3486444"/>
            <a:ext cx="767100" cy="1668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에너지효율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g3eec134f25c_1_20"/>
          <p:cNvSpPr/>
          <p:nvPr/>
        </p:nvSpPr>
        <p:spPr>
          <a:xfrm>
            <a:off x="6639616" y="3482177"/>
            <a:ext cx="780300" cy="165900"/>
          </a:xfrm>
          <a:prstGeom prst="roundRect">
            <a:avLst>
              <a:gd name="adj" fmla="val 436680"/>
            </a:avLst>
          </a:prstGeom>
          <a:solidFill>
            <a:srgbClr val="F5F3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eec134f25c_1_20"/>
          <p:cNvSpPr/>
          <p:nvPr/>
        </p:nvSpPr>
        <p:spPr>
          <a:xfrm>
            <a:off x="6651701" y="3482177"/>
            <a:ext cx="780300" cy="1668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에너지산업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g3eec134f25c_1_20"/>
          <p:cNvSpPr/>
          <p:nvPr/>
        </p:nvSpPr>
        <p:spPr>
          <a:xfrm>
            <a:off x="7587411" y="3482177"/>
            <a:ext cx="780300" cy="165900"/>
          </a:xfrm>
          <a:prstGeom prst="roundRect">
            <a:avLst>
              <a:gd name="adj" fmla="val 436680"/>
            </a:avLst>
          </a:prstGeom>
          <a:solidFill>
            <a:srgbClr val="F5F3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eec134f25c_1_20"/>
          <p:cNvSpPr/>
          <p:nvPr/>
        </p:nvSpPr>
        <p:spPr>
          <a:xfrm>
            <a:off x="7589963" y="3481014"/>
            <a:ext cx="780300" cy="1668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에너지환경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g3eec134f25c_1_20"/>
          <p:cNvSpPr txBox="1"/>
          <p:nvPr/>
        </p:nvSpPr>
        <p:spPr>
          <a:xfrm>
            <a:off x="8535101" y="3508289"/>
            <a:ext cx="702900" cy="1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→ 직접 연결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g3eec134f25c_1_20"/>
          <p:cNvSpPr/>
          <p:nvPr/>
        </p:nvSpPr>
        <p:spPr>
          <a:xfrm>
            <a:off x="5143795" y="3814327"/>
            <a:ext cx="2724300" cy="583800"/>
          </a:xfrm>
          <a:prstGeom prst="roundRect">
            <a:avLst>
              <a:gd name="adj" fmla="val 44095"/>
            </a:avLst>
          </a:prstGeom>
          <a:solidFill>
            <a:srgbClr val="FEF2F2"/>
          </a:solidFill>
          <a:ln w="847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eec134f25c_1_20"/>
          <p:cNvSpPr txBox="1"/>
          <p:nvPr/>
        </p:nvSpPr>
        <p:spPr>
          <a:xfrm>
            <a:off x="5315098" y="3937335"/>
            <a:ext cx="2534100" cy="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91B1B"/>
                </a:solidFill>
                <a:latin typeface="Noto Sans"/>
                <a:ea typeface="Noto Sans"/>
                <a:cs typeface="Noto Sans"/>
                <a:sym typeface="Noto Sans"/>
              </a:rPr>
              <a:t>사용자 문제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g3eec134f25c_1_20"/>
          <p:cNvSpPr txBox="1"/>
          <p:nvPr/>
        </p:nvSpPr>
        <p:spPr>
          <a:xfrm>
            <a:off x="5315098" y="4108762"/>
            <a:ext cx="25341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전기요금은 보이지만 </a:t>
            </a:r>
            <a:r>
              <a:rPr lang="en-US" sz="800" b="1" i="0" u="none" strike="noStrike" cap="none">
                <a:solidFill>
                  <a:srgbClr val="991B1B"/>
                </a:solidFill>
                <a:latin typeface="Noto Sans"/>
                <a:ea typeface="Noto Sans"/>
                <a:cs typeface="Noto Sans"/>
                <a:sym typeface="Noto Sans"/>
              </a:rPr>
              <a:t>어떤 가전을 줄일지</a:t>
            </a: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모름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0" name="Google Shape;90;g3eec134f25c_1_20" descr="gen-dedup-6445a57e97b95816116d4ce6a724c94b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941864" y="3958644"/>
            <a:ext cx="126797" cy="15084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eec134f25c_1_20"/>
          <p:cNvSpPr/>
          <p:nvPr/>
        </p:nvSpPr>
        <p:spPr>
          <a:xfrm>
            <a:off x="8239971" y="4108766"/>
            <a:ext cx="604800" cy="1587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eec134f25c_1_20"/>
          <p:cNvSpPr/>
          <p:nvPr/>
        </p:nvSpPr>
        <p:spPr>
          <a:xfrm>
            <a:off x="8944070" y="4108766"/>
            <a:ext cx="602700" cy="1587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ec134f25c_1_20"/>
          <p:cNvSpPr/>
          <p:nvPr/>
        </p:nvSpPr>
        <p:spPr>
          <a:xfrm>
            <a:off x="9674596" y="4108766"/>
            <a:ext cx="602700" cy="1587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eec134f25c_1_20"/>
          <p:cNvSpPr/>
          <p:nvPr/>
        </p:nvSpPr>
        <p:spPr>
          <a:xfrm>
            <a:off x="5143800" y="4869045"/>
            <a:ext cx="165300" cy="1593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ec134f25c_1_20"/>
          <p:cNvSpPr/>
          <p:nvPr/>
        </p:nvSpPr>
        <p:spPr>
          <a:xfrm>
            <a:off x="5143800" y="4871585"/>
            <a:ext cx="165300" cy="150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ec134f25c_1_20"/>
          <p:cNvSpPr txBox="1"/>
          <p:nvPr/>
        </p:nvSpPr>
        <p:spPr>
          <a:xfrm>
            <a:off x="5372400" y="4894058"/>
            <a:ext cx="604800" cy="1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SECTION 03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g3eec134f25c_1_20"/>
          <p:cNvSpPr txBox="1"/>
          <p:nvPr/>
        </p:nvSpPr>
        <p:spPr>
          <a:xfrm>
            <a:off x="6099644" y="4848737"/>
            <a:ext cx="8229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용어 정리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g3eec134f25c_1_20"/>
          <p:cNvSpPr/>
          <p:nvPr/>
        </p:nvSpPr>
        <p:spPr>
          <a:xfrm>
            <a:off x="5143800" y="5129134"/>
            <a:ext cx="6413700" cy="3627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g3eec134f25c_1_20" descr="gen-dedup-15414d049d2cf2b9930292ba6e38fb7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276589" y="5217609"/>
            <a:ext cx="190800" cy="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eec134f25c_1_20" descr="gen-dedup-8d3c9ba5aa4e2d331168e1a40d79ba01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321088" y="5258736"/>
            <a:ext cx="101803" cy="12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eec134f25c_1_20"/>
          <p:cNvSpPr txBox="1"/>
          <p:nvPr/>
        </p:nvSpPr>
        <p:spPr>
          <a:xfrm>
            <a:off x="5533917" y="5238636"/>
            <a:ext cx="7803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g3eec134f25c_1_20"/>
          <p:cNvSpPr txBox="1"/>
          <p:nvPr/>
        </p:nvSpPr>
        <p:spPr>
          <a:xfrm>
            <a:off x="6547099" y="5235740"/>
            <a:ext cx="49914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집 전체 전력 사용량을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가전별 사용량으로 나누는 기술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g3eec134f25c_1_20"/>
          <p:cNvSpPr/>
          <p:nvPr/>
        </p:nvSpPr>
        <p:spPr>
          <a:xfrm>
            <a:off x="5143800" y="5536703"/>
            <a:ext cx="6413700" cy="3627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g3eec134f25c_1_20" descr="gen-dedup-a77ecdbeb6bf9bafdd38c3fbee6c0a5a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76587" y="5633731"/>
            <a:ext cx="190805" cy="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eec134f25c_1_20" descr="gen-dedup-d5faacb8b499e134c9cba7620699d581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321088" y="5662302"/>
            <a:ext cx="101803" cy="12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eec134f25c_1_20"/>
          <p:cNvSpPr txBox="1"/>
          <p:nvPr/>
        </p:nvSpPr>
        <p:spPr>
          <a:xfrm>
            <a:off x="5533910" y="5646210"/>
            <a:ext cx="8952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1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 모니터링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g3eec134f25c_1_20"/>
          <p:cNvSpPr txBox="1"/>
          <p:nvPr/>
        </p:nvSpPr>
        <p:spPr>
          <a:xfrm>
            <a:off x="6547099" y="5644034"/>
            <a:ext cx="49914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어떤 가전이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평소보다 많이 쓰였는지 원인을 분석</a:t>
            </a: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하는 과정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g3eec134f25c_1_20"/>
          <p:cNvSpPr/>
          <p:nvPr/>
        </p:nvSpPr>
        <p:spPr>
          <a:xfrm>
            <a:off x="5143800" y="5944996"/>
            <a:ext cx="6413700" cy="3627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9" name="Google Shape;109;g3eec134f25c_1_20" descr="gen-dedup-71bc4e6fccd9739955359bb64cf76089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76587" y="6041298"/>
            <a:ext cx="190805" cy="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eec134f25c_1_20" descr="gen-dedup-fcd23caf1053788ffdeb1912a779f7b9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321088" y="6067507"/>
            <a:ext cx="101803" cy="12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ec134f25c_1_20"/>
          <p:cNvSpPr txBox="1"/>
          <p:nvPr/>
        </p:nvSpPr>
        <p:spPr>
          <a:xfrm>
            <a:off x="5533910" y="6054498"/>
            <a:ext cx="8952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에이전트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g3eec134f25c_1_20"/>
          <p:cNvSpPr/>
          <p:nvPr/>
        </p:nvSpPr>
        <p:spPr>
          <a:xfrm>
            <a:off x="8142420" y="3798640"/>
            <a:ext cx="2724300" cy="583800"/>
          </a:xfrm>
          <a:prstGeom prst="roundRect">
            <a:avLst>
              <a:gd name="adj" fmla="val 44095"/>
            </a:avLst>
          </a:prstGeom>
          <a:solidFill>
            <a:srgbClr val="F6EF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eec134f25c_1_20"/>
          <p:cNvSpPr txBox="1"/>
          <p:nvPr/>
        </p:nvSpPr>
        <p:spPr>
          <a:xfrm>
            <a:off x="6547099" y="6051603"/>
            <a:ext cx="49914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분석 결과를 바탕으로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절감 행동과 캐시백 미션을 제안</a:t>
            </a: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하는 AI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g3eec134f25c_1_20"/>
          <p:cNvSpPr txBox="1"/>
          <p:nvPr/>
        </p:nvSpPr>
        <p:spPr>
          <a:xfrm>
            <a:off x="8323695" y="3937335"/>
            <a:ext cx="3225900" cy="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우리의 해결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g3eec134f25c_1_20"/>
          <p:cNvSpPr/>
          <p:nvPr/>
        </p:nvSpPr>
        <p:spPr>
          <a:xfrm>
            <a:off x="8259025" y="4094375"/>
            <a:ext cx="594000" cy="2004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eec134f25c_1_20"/>
          <p:cNvSpPr/>
          <p:nvPr/>
        </p:nvSpPr>
        <p:spPr>
          <a:xfrm>
            <a:off x="8986774" y="4094375"/>
            <a:ext cx="498900" cy="2004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eec134f25c_1_20"/>
          <p:cNvSpPr/>
          <p:nvPr/>
        </p:nvSpPr>
        <p:spPr>
          <a:xfrm>
            <a:off x="9610084" y="4094375"/>
            <a:ext cx="695400" cy="2004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eec134f25c_1_20"/>
          <p:cNvSpPr txBox="1"/>
          <p:nvPr/>
        </p:nvSpPr>
        <p:spPr>
          <a:xfrm>
            <a:off x="8239974" y="4108766"/>
            <a:ext cx="604800" cy="158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전력 분해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g3eec134f25c_1_20"/>
          <p:cNvSpPr txBox="1"/>
          <p:nvPr/>
        </p:nvSpPr>
        <p:spPr>
          <a:xfrm>
            <a:off x="8963745" y="4108766"/>
            <a:ext cx="562500" cy="158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AI 진단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g3eec134f25c_1_20"/>
          <p:cNvSpPr txBox="1"/>
          <p:nvPr/>
        </p:nvSpPr>
        <p:spPr>
          <a:xfrm>
            <a:off x="9680896" y="4108766"/>
            <a:ext cx="540300" cy="158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절감 미션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 descr="gen-dedup-3ea1fb9cdc78527b6b65b36c29ef24b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 descr="gen-dedup-89ffee61082f9e77b21a7235b702930b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896" y="615696"/>
            <a:ext cx="215799" cy="2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 descr="gen-dedup-aa136c191524e309099b6e05bc329e28.png"/>
          <p:cNvPicPr preferRelativeResize="0"/>
          <p:nvPr/>
        </p:nvPicPr>
        <p:blipFill rotWithShape="1">
          <a:blip r:embed="rId6">
            <a:alphaModFix/>
          </a:blip>
          <a:srcRect t="-10" b="-10"/>
          <a:stretch/>
        </p:blipFill>
        <p:spPr>
          <a:xfrm>
            <a:off x="571800" y="1439400"/>
            <a:ext cx="5588200" cy="107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 descr="gen-dedup-2c9e737be7bc71d4b8c06214d091b217.png"/>
          <p:cNvPicPr preferRelativeResize="0"/>
          <p:nvPr/>
        </p:nvPicPr>
        <p:blipFill rotWithShape="1">
          <a:blip r:embed="rId7">
            <a:alphaModFix/>
          </a:blip>
          <a:srcRect t="-10"/>
          <a:stretch/>
        </p:blipFill>
        <p:spPr>
          <a:xfrm>
            <a:off x="571800" y="2656701"/>
            <a:ext cx="5588200" cy="20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 descr="gen-dedup-420210fe2eaac87cbe0966b5cd45ec8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800" y="4839000"/>
            <a:ext cx="5588200" cy="15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 descr="gen-dedup-aa0b91dae0fb54f81e2a62165acdfe41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800" y="1439400"/>
            <a:ext cx="5334000" cy="10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 descr="gen-dedup-fe25162447a4f012893feb564cdd22b2.png"/>
          <p:cNvPicPr preferRelativeResize="0"/>
          <p:nvPr/>
        </p:nvPicPr>
        <p:blipFill rotWithShape="1">
          <a:blip r:embed="rId10">
            <a:alphaModFix/>
          </a:blip>
          <a:srcRect t="-10" b="-10"/>
          <a:stretch/>
        </p:blipFill>
        <p:spPr>
          <a:xfrm>
            <a:off x="6286800" y="2682400"/>
            <a:ext cx="5334000" cy="150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 descr="gen-dedup-84a4e82fe7acec38b654ca2d80e8688d.png"/>
          <p:cNvPicPr preferRelativeResize="0"/>
          <p:nvPr/>
        </p:nvPicPr>
        <p:blipFill rotWithShape="1">
          <a:blip r:embed="rId11">
            <a:alphaModFix/>
          </a:blip>
          <a:srcRect t="-10" b="-10"/>
          <a:stretch/>
        </p:blipFill>
        <p:spPr>
          <a:xfrm>
            <a:off x="6286800" y="4384551"/>
            <a:ext cx="5334000" cy="116393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1193597" y="495605"/>
            <a:ext cx="57150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목차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1193597" y="901599"/>
            <a:ext cx="571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7개 챕터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62000" y="1574597"/>
            <a:ext cx="267000" cy="267000"/>
          </a:xfrm>
          <a:prstGeom prst="ellipse">
            <a:avLst/>
          </a:prstGeom>
          <a:solidFill>
            <a:srgbClr val="E6394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762000" y="1574597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1117401" y="1609950"/>
            <a:ext cx="712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인트로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762000" y="1930600"/>
            <a:ext cx="381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1-1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232001" y="1930600"/>
            <a:ext cx="4737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팀원 소개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762000" y="2176083"/>
            <a:ext cx="381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1-2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1232001" y="2176083"/>
            <a:ext cx="4737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문제 정의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762000" y="2821287"/>
            <a:ext cx="267000" cy="267000"/>
          </a:xfrm>
          <a:prstGeom prst="ellipse">
            <a:avLst/>
          </a:prstGeom>
          <a:solidFill>
            <a:srgbClr val="7C3AED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762000" y="2825137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117400" y="2856640"/>
            <a:ext cx="12318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서비스 </a:t>
            </a:r>
            <a:r>
              <a:rPr lang="en-US" sz="15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설계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762000" y="3170790"/>
            <a:ext cx="381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2-1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1232001" y="3170790"/>
            <a:ext cx="4737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사용자 시나리오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762000" y="3460575"/>
            <a:ext cx="381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2-2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232001" y="3460575"/>
            <a:ext cx="4737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요구사항정의서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762000" y="3749523"/>
            <a:ext cx="381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2-</a:t>
            </a:r>
            <a:r>
              <a:rPr lang="en-US" sz="1100" b="1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762000" y="4039309"/>
            <a:ext cx="381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2-</a:t>
            </a:r>
            <a:r>
              <a:rPr lang="en-US" sz="1100" b="1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232001" y="4039309"/>
            <a:ext cx="4737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시퀀스 다이어그램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762000" y="5003597"/>
            <a:ext cx="267000" cy="2670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762000" y="5003597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117403" y="5038950"/>
            <a:ext cx="15777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핵심 기술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762000" y="5359600"/>
            <a:ext cx="3810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3-1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1232001" y="5359600"/>
            <a:ext cx="47373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NILM </a:t>
            </a: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— </a:t>
            </a:r>
            <a:r>
              <a:rPr lang="en-US" sz="9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역할, 고도화 과정, </a:t>
            </a:r>
            <a:r>
              <a:rPr lang="en-US" sz="9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최종 구조와 성과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762000" y="5643393"/>
            <a:ext cx="3810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3-2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232001" y="5643393"/>
            <a:ext cx="47373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상태 모니터링 — </a:t>
            </a:r>
            <a:r>
              <a:rPr lang="en-US" sz="9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역할, 기술 선택 근거, 가전별 맞춤 상태 분류 전략,</a:t>
            </a:r>
            <a:endParaRPr sz="9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 전력 사용량 변화 감지 구조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762000" y="6040016"/>
            <a:ext cx="3810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3-3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1232001" y="6040016"/>
            <a:ext cx="47373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추천시스템- 추천 시스템에 대한 개선 사항, 절감 추천 품질 검증 결과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6477000" y="1574597"/>
            <a:ext cx="267000" cy="267000"/>
          </a:xfrm>
          <a:prstGeom prst="ellipse">
            <a:avLst/>
          </a:prstGeom>
          <a:solidFill>
            <a:srgbClr val="3B82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6477000" y="1574597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6832399" y="1609950"/>
            <a:ext cx="20391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</a:t>
            </a:r>
            <a:r>
              <a:rPr lang="en-US" sz="15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추천 시스템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6477000" y="1930600"/>
            <a:ext cx="381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4-1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6947001" y="1930600"/>
            <a:ext cx="4483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멀티에이전트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6477000" y="2176050"/>
            <a:ext cx="381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4-2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6947001" y="2176050"/>
            <a:ext cx="4483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Anthropic Effective Agent </a:t>
            </a: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패턴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6477000" y="2827923"/>
            <a:ext cx="267000" cy="267000"/>
          </a:xfrm>
          <a:prstGeom prst="ellipse">
            <a:avLst/>
          </a:prstGeom>
          <a:solidFill>
            <a:srgbClr val="F59E0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477000" y="2827923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6832401" y="2862671"/>
            <a:ext cx="13191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개발 방법론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6477000" y="3183322"/>
            <a:ext cx="3810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5-1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6947001" y="3183322"/>
            <a:ext cx="4483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기술 스택 및 시스템 구현 환경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6477000" y="3423392"/>
            <a:ext cx="3810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5-2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6947001" y="3423392"/>
            <a:ext cx="4483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클린 아키텍처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endParaRPr sz="110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6477000" y="4500162"/>
            <a:ext cx="267000" cy="267000"/>
          </a:xfrm>
          <a:prstGeom prst="ellipse">
            <a:avLst/>
          </a:prstGeom>
          <a:solidFill>
            <a:srgbClr val="14B8A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6478636" y="4517451"/>
            <a:ext cx="267000" cy="247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6832402" y="4552135"/>
            <a:ext cx="157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결과 및 기대효과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6477050" y="4784216"/>
            <a:ext cx="381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6-1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6947051" y="4784216"/>
            <a:ext cx="4483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시연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2"/>
          <p:cNvSpPr txBox="1"/>
          <p:nvPr/>
        </p:nvSpPr>
        <p:spPr>
          <a:xfrm>
            <a:off x="6477050" y="5033772"/>
            <a:ext cx="381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6-2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6947051" y="5033772"/>
            <a:ext cx="4483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수익성 </a:t>
            </a: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· </a:t>
            </a: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확장성 </a:t>
            </a: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·</a:t>
            </a: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기대 효과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6477050" y="5283327"/>
            <a:ext cx="381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Noto Sans"/>
                <a:ea typeface="Noto Sans"/>
                <a:cs typeface="Noto Sans"/>
                <a:sym typeface="Noto Sans"/>
              </a:rPr>
              <a:t>6-3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6947051" y="5283327"/>
            <a:ext cx="4483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향후 고도화 로드맵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1227660" y="3739316"/>
            <a:ext cx="4737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클래스 다이어그램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2"/>
          <p:cNvSpPr txBox="1"/>
          <p:nvPr/>
        </p:nvSpPr>
        <p:spPr>
          <a:xfrm>
            <a:off x="758536" y="4347572"/>
            <a:ext cx="381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2-</a:t>
            </a:r>
            <a:r>
              <a:rPr lang="en-US" sz="1100" b="1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2"/>
          <p:cNvSpPr txBox="1"/>
          <p:nvPr/>
        </p:nvSpPr>
        <p:spPr>
          <a:xfrm>
            <a:off x="1228537" y="4347572"/>
            <a:ext cx="4737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시스템 아키텍처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89" name="Google Shape;189;p2" descr="gen-dedup-84a4e82fe7acec38b654ca2d80e8688d.png"/>
          <p:cNvPicPr preferRelativeResize="0"/>
          <p:nvPr/>
        </p:nvPicPr>
        <p:blipFill rotWithShape="1">
          <a:blip r:embed="rId11">
            <a:alphaModFix/>
          </a:blip>
          <a:srcRect t="-10" b="-10"/>
          <a:stretch/>
        </p:blipFill>
        <p:spPr>
          <a:xfrm>
            <a:off x="6286800" y="5715575"/>
            <a:ext cx="5334000" cy="70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" descr="gen-dedup-531cb1be1e005ddd9472a5ec2da44924.png"/>
          <p:cNvPicPr preferRelativeResize="0"/>
          <p:nvPr/>
        </p:nvPicPr>
        <p:blipFill rotWithShape="1">
          <a:blip r:embed="rId12">
            <a:alphaModFix/>
          </a:blip>
          <a:srcRect t="-30" b="-20"/>
          <a:stretch/>
        </p:blipFill>
        <p:spPr>
          <a:xfrm>
            <a:off x="9430207" y="8915400"/>
            <a:ext cx="8001000" cy="85770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"/>
          <p:cNvSpPr txBox="1"/>
          <p:nvPr/>
        </p:nvSpPr>
        <p:spPr>
          <a:xfrm>
            <a:off x="6477432" y="6167629"/>
            <a:ext cx="306300" cy="1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300"/>
              <a:buFont typeface="Arial"/>
              <a:buNone/>
            </a:pPr>
            <a:r>
              <a:rPr lang="en-US" sz="1100" b="1" i="0" u="none" strike="noStrike" cap="non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7-1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6477425" y="5781275"/>
            <a:ext cx="267000" cy="267000"/>
          </a:xfrm>
          <a:prstGeom prst="ellipse">
            <a:avLst/>
          </a:prstGeom>
          <a:solidFill>
            <a:srgbClr val="EC4899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6811482" y="5827332"/>
            <a:ext cx="7836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마무리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6409951" y="5756688"/>
            <a:ext cx="400500" cy="3222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"/>
          <p:cNvSpPr txBox="1"/>
          <p:nvPr/>
        </p:nvSpPr>
        <p:spPr>
          <a:xfrm>
            <a:off x="6957625" y="6161590"/>
            <a:ext cx="44835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Q&amp;A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6466888" y="3664882"/>
            <a:ext cx="3810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5-</a:t>
            </a:r>
            <a:r>
              <a:rPr lang="en-US" sz="1100" b="1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6936889" y="3664882"/>
            <a:ext cx="4483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AI Native Engineering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6469524" y="3895159"/>
            <a:ext cx="3810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5-</a:t>
            </a:r>
            <a:r>
              <a:rPr lang="en-US" sz="1100" b="1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" name="Google Shape;199;p2"/>
          <p:cNvSpPr txBox="1"/>
          <p:nvPr/>
        </p:nvSpPr>
        <p:spPr>
          <a:xfrm>
            <a:off x="6939525" y="3895159"/>
            <a:ext cx="44835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개발 </a:t>
            </a: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협업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eac4249fa7_3_59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eac4249fa7_3_59" descr="gen-dedup-47f9cc776b8f3bdf29ade0d98d6e79a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eac4249fa7_3_59" descr="gen-dedup-6017cf14f4bdf8b6e3b95d9a921b6e92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eac4249fa7_3_59"/>
          <p:cNvSpPr txBox="1"/>
          <p:nvPr/>
        </p:nvSpPr>
        <p:spPr>
          <a:xfrm>
            <a:off x="1193597" y="495605"/>
            <a:ext cx="6350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팀원 소개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g3eac4249fa7_3_59"/>
          <p:cNvSpPr txBox="1"/>
          <p:nvPr/>
        </p:nvSpPr>
        <p:spPr>
          <a:xfrm>
            <a:off x="1193597" y="901599"/>
            <a:ext cx="63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팀명 </a:t>
            </a: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와트이쓔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· 3인 풀스택 AI 팀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10" name="Google Shape;210;g3eac4249fa7_3_5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925" y="1439400"/>
            <a:ext cx="3544776" cy="49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eac4249fa7_3_5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7859" y="1439400"/>
            <a:ext cx="3494708" cy="49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eac4249fa7_3_5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43792" y="1439400"/>
            <a:ext cx="3494708" cy="49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eac4249fa7_3_5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0" y="1793878"/>
            <a:ext cx="1714500" cy="177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eac4249fa7_3_5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4379163"/>
            <a:ext cx="2743200" cy="83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eac4249fa7_3_5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0" y="1793878"/>
            <a:ext cx="1714500" cy="177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eac4249fa7_3_5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24400" y="4379163"/>
            <a:ext cx="2743200" cy="83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eac4249fa7_3_5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0" y="1793878"/>
            <a:ext cx="1714500" cy="177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eac4249fa7_3_5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4409401"/>
            <a:ext cx="2743200" cy="83696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eac4249fa7_3_59"/>
          <p:cNvSpPr txBox="1"/>
          <p:nvPr/>
        </p:nvSpPr>
        <p:spPr>
          <a:xfrm>
            <a:off x="1995487" y="3812431"/>
            <a:ext cx="771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5A5F"/>
                </a:solidFill>
                <a:latin typeface="Noto Sans"/>
                <a:ea typeface="Noto Sans"/>
                <a:cs typeface="Noto Sans"/>
                <a:sym typeface="Noto Sans"/>
              </a:rPr>
              <a:t>MEMBER 01</a:t>
            </a:r>
            <a:endParaRPr sz="9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g3eac4249fa7_3_59"/>
          <p:cNvSpPr txBox="1"/>
          <p:nvPr/>
        </p:nvSpPr>
        <p:spPr>
          <a:xfrm>
            <a:off x="1849315" y="4009375"/>
            <a:ext cx="106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3748"/>
                </a:solidFill>
                <a:latin typeface="Noto Sans"/>
                <a:ea typeface="Noto Sans"/>
                <a:cs typeface="Noto Sans"/>
                <a:sym typeface="Noto Sans"/>
              </a:rPr>
              <a:t>박지민</a:t>
            </a:r>
            <a:endParaRPr sz="24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g3eac4249fa7_3_59"/>
          <p:cNvSpPr txBox="1"/>
          <p:nvPr/>
        </p:nvSpPr>
        <p:spPr>
          <a:xfrm>
            <a:off x="560449" y="5404777"/>
            <a:ext cx="34947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18096"/>
                </a:solidFill>
                <a:latin typeface="Noto Sans"/>
                <a:ea typeface="Noto Sans"/>
                <a:cs typeface="Noto Sans"/>
                <a:sym typeface="Noto Sans"/>
              </a:rPr>
              <a:t>22종 가전 상태 모니터링 엔진 개발</a:t>
            </a: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718096"/>
                </a:solidFill>
                <a:latin typeface="Noto Sans"/>
                <a:ea typeface="Noto Sans"/>
                <a:cs typeface="Noto Sans"/>
                <a:sym typeface="Noto Sans"/>
              </a:rPr>
              <a:t>  단기/장기 메모리 기반 사용 패턴 누적 구현</a:t>
            </a: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g3eac4249fa7_3_59"/>
          <p:cNvSpPr txBox="1"/>
          <p:nvPr/>
        </p:nvSpPr>
        <p:spPr>
          <a:xfrm>
            <a:off x="5700712" y="3812431"/>
            <a:ext cx="790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5A5F"/>
                </a:solidFill>
                <a:latin typeface="Noto Sans"/>
                <a:ea typeface="Noto Sans"/>
                <a:cs typeface="Noto Sans"/>
                <a:sym typeface="Noto Sans"/>
              </a:rPr>
              <a:t>MEMBER 02</a:t>
            </a:r>
            <a:endParaRPr sz="9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g3eac4249fa7_3_59"/>
          <p:cNvSpPr txBox="1"/>
          <p:nvPr/>
        </p:nvSpPr>
        <p:spPr>
          <a:xfrm>
            <a:off x="5534758" y="4009375"/>
            <a:ext cx="106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3748"/>
                </a:solidFill>
                <a:latin typeface="Noto Sans"/>
                <a:ea typeface="Noto Sans"/>
                <a:cs typeface="Noto Sans"/>
                <a:sym typeface="Noto Sans"/>
              </a:rPr>
              <a:t>안주연</a:t>
            </a:r>
            <a:endParaRPr sz="24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g3eac4249fa7_3_59"/>
          <p:cNvSpPr txBox="1"/>
          <p:nvPr/>
        </p:nvSpPr>
        <p:spPr>
          <a:xfrm>
            <a:off x="4357725" y="5404777"/>
            <a:ext cx="34947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718096"/>
                </a:solidFill>
                <a:latin typeface="Noto Sans"/>
                <a:ea typeface="Noto Sans"/>
                <a:cs typeface="Noto Sans"/>
                <a:sym typeface="Noto Sans"/>
              </a:rPr>
              <a:t>  멀티에이전트 기반 AI 진단 · 미션 추천 시스템 구현</a:t>
            </a: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718096"/>
                </a:solidFill>
                <a:latin typeface="Noto Sans"/>
                <a:ea typeface="Noto Sans"/>
                <a:cs typeface="Noto Sans"/>
                <a:sym typeface="Noto Sans"/>
              </a:rPr>
              <a:t>  가전 진단 KG 설계 및 인사이트 UI 개발</a:t>
            </a: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g3eac4249fa7_3_59"/>
          <p:cNvSpPr txBox="1"/>
          <p:nvPr/>
        </p:nvSpPr>
        <p:spPr>
          <a:xfrm>
            <a:off x="9415462" y="3812431"/>
            <a:ext cx="790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5A5F"/>
                </a:solidFill>
                <a:latin typeface="Noto Sans"/>
                <a:ea typeface="Noto Sans"/>
                <a:cs typeface="Noto Sans"/>
                <a:sym typeface="Noto Sans"/>
              </a:rPr>
              <a:t>MEMBER 03</a:t>
            </a:r>
            <a:endParaRPr sz="9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g3eac4249fa7_3_59"/>
          <p:cNvSpPr txBox="1"/>
          <p:nvPr/>
        </p:nvSpPr>
        <p:spPr>
          <a:xfrm>
            <a:off x="9176238" y="4009375"/>
            <a:ext cx="138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3748"/>
                </a:solidFill>
                <a:latin typeface="Noto Sans"/>
                <a:ea typeface="Noto Sans"/>
                <a:cs typeface="Noto Sans"/>
                <a:sym typeface="Noto Sans"/>
              </a:rPr>
              <a:t>황대원</a:t>
            </a:r>
            <a:endParaRPr sz="24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g3eac4249fa7_3_59"/>
          <p:cNvSpPr txBox="1"/>
          <p:nvPr/>
        </p:nvSpPr>
        <p:spPr>
          <a:xfrm>
            <a:off x="8143800" y="5404777"/>
            <a:ext cx="349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718096"/>
                </a:solidFill>
                <a:latin typeface="Noto Sans"/>
                <a:ea typeface="Noto Sans"/>
                <a:cs typeface="Noto Sans"/>
                <a:sym typeface="Noto Sans"/>
              </a:rPr>
              <a:t> NILM 모델 학습 · 추론 파이프라인 구현</a:t>
            </a: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ctr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25">
                <a:solidFill>
                  <a:srgbClr val="718096"/>
                </a:solidFill>
                <a:latin typeface="Noto Sans"/>
                <a:ea typeface="Noto Sans"/>
                <a:cs typeface="Noto Sans"/>
                <a:sym typeface="Noto Sans"/>
              </a:rPr>
              <a:t>  FastAPI 백엔드 · DB 파이프라인 개발</a:t>
            </a:r>
            <a:endParaRPr sz="1125">
              <a:solidFill>
                <a:srgbClr val="71809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g3eac4249fa7_3_59"/>
          <p:cNvSpPr txBox="1"/>
          <p:nvPr/>
        </p:nvSpPr>
        <p:spPr>
          <a:xfrm>
            <a:off x="1152525" y="4543693"/>
            <a:ext cx="2457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A202C"/>
                </a:solidFill>
                <a:latin typeface="Noto Sans"/>
                <a:ea typeface="Noto Sans"/>
                <a:cs typeface="Noto Sans"/>
                <a:sym typeface="Noto Sans"/>
              </a:rPr>
              <a:t>ML </a:t>
            </a:r>
            <a:endParaRPr sz="1650" b="1">
              <a:solidFill>
                <a:srgbClr val="1A202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A202C"/>
                </a:solidFill>
                <a:latin typeface="Noto Sans"/>
                <a:ea typeface="Noto Sans"/>
                <a:cs typeface="Noto Sans"/>
                <a:sym typeface="Noto Sans"/>
              </a:rPr>
              <a:t>Developer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g3eac4249fa7_3_59"/>
          <p:cNvSpPr txBox="1"/>
          <p:nvPr/>
        </p:nvSpPr>
        <p:spPr>
          <a:xfrm>
            <a:off x="4867275" y="4543693"/>
            <a:ext cx="2457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A202C"/>
                </a:solidFill>
                <a:latin typeface="Noto Sans"/>
                <a:ea typeface="Noto Sans"/>
                <a:cs typeface="Noto Sans"/>
                <a:sym typeface="Noto Sans"/>
              </a:rPr>
              <a:t> AI Agent / Frontend Developer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g3eac4249fa7_3_59"/>
          <p:cNvSpPr txBox="1"/>
          <p:nvPr/>
        </p:nvSpPr>
        <p:spPr>
          <a:xfrm>
            <a:off x="8582025" y="4543693"/>
            <a:ext cx="2457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A202C"/>
                </a:solidFill>
                <a:latin typeface="Noto Sans"/>
                <a:ea typeface="Noto Sans"/>
                <a:cs typeface="Noto Sans"/>
                <a:sym typeface="Noto Sans"/>
              </a:rPr>
              <a:t>DL / Backend Developer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31" name="Google Shape;231;g3eac4249fa7_3_59"/>
          <p:cNvPicPr preferRelativeResize="0"/>
          <p:nvPr/>
        </p:nvPicPr>
        <p:blipFill rotWithShape="1">
          <a:blip r:embed="rId9">
            <a:alphaModFix/>
          </a:blip>
          <a:srcRect b="2496"/>
          <a:stretch/>
        </p:blipFill>
        <p:spPr>
          <a:xfrm>
            <a:off x="1743925" y="1945353"/>
            <a:ext cx="1240450" cy="141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eac4249fa7_3_59"/>
          <p:cNvPicPr preferRelativeResize="0"/>
          <p:nvPr/>
        </p:nvPicPr>
        <p:blipFill rotWithShape="1">
          <a:blip r:embed="rId10">
            <a:alphaModFix/>
          </a:blip>
          <a:srcRect l="14690" b="3837"/>
          <a:stretch/>
        </p:blipFill>
        <p:spPr>
          <a:xfrm>
            <a:off x="5506876" y="1975027"/>
            <a:ext cx="1295213" cy="131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eac4249fa7_3_59"/>
          <p:cNvPicPr preferRelativeResize="0"/>
          <p:nvPr/>
        </p:nvPicPr>
        <p:blipFill rotWithShape="1">
          <a:blip r:embed="rId11">
            <a:alphaModFix/>
          </a:blip>
          <a:srcRect l="11455" t="12284" r="11455" b="8671"/>
          <a:stretch/>
        </p:blipFill>
        <p:spPr>
          <a:xfrm>
            <a:off x="9207625" y="1996100"/>
            <a:ext cx="1274800" cy="144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76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" descr="gen-dedup-47f9cc776b8f3bdf29ade0d98d6e79a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" descr="gen-dedup-1f9978e3fbf94aec119101ccd82adfd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" descr="gen-dedup-60014a0a935c9b0f8ca8d3325c30a6ed.png"/>
          <p:cNvPicPr preferRelativeResize="0"/>
          <p:nvPr/>
        </p:nvPicPr>
        <p:blipFill rotWithShape="1">
          <a:blip r:embed="rId6">
            <a:alphaModFix/>
          </a:blip>
          <a:srcRect b="-10"/>
          <a:stretch/>
        </p:blipFill>
        <p:spPr>
          <a:xfrm>
            <a:off x="588499" y="1232000"/>
            <a:ext cx="4443951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" descr="gen-dedup-039ef8cf0c88edab9e4c0f6cb9ae25ac.png"/>
          <p:cNvPicPr preferRelativeResize="0"/>
          <p:nvPr/>
        </p:nvPicPr>
        <p:blipFill rotWithShape="1">
          <a:blip r:embed="rId7">
            <a:alphaModFix/>
          </a:blip>
          <a:srcRect r="-10"/>
          <a:stretch/>
        </p:blipFill>
        <p:spPr>
          <a:xfrm>
            <a:off x="5232200" y="1600200"/>
            <a:ext cx="6422125" cy="8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 descr="gen-dedup-039ef8cf0c88edab9e4c0f6cb9ae25ac.png"/>
          <p:cNvPicPr preferRelativeResize="0"/>
          <p:nvPr/>
        </p:nvPicPr>
        <p:blipFill rotWithShape="1">
          <a:blip r:embed="rId7">
            <a:alphaModFix/>
          </a:blip>
          <a:srcRect r="-10"/>
          <a:stretch/>
        </p:blipFill>
        <p:spPr>
          <a:xfrm>
            <a:off x="5232200" y="2501800"/>
            <a:ext cx="6422125" cy="8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" descr="gen-dedup-039ef8cf0c88edab9e4c0f6cb9ae25ac.png"/>
          <p:cNvPicPr preferRelativeResize="0"/>
          <p:nvPr/>
        </p:nvPicPr>
        <p:blipFill rotWithShape="1">
          <a:blip r:embed="rId7">
            <a:alphaModFix/>
          </a:blip>
          <a:srcRect r="-10"/>
          <a:stretch/>
        </p:blipFill>
        <p:spPr>
          <a:xfrm>
            <a:off x="5232200" y="3403400"/>
            <a:ext cx="6422125" cy="8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" descr="gen-dedup-b3085a07ee3e436f33f6969ae8816465.png"/>
          <p:cNvPicPr preferRelativeResize="0"/>
          <p:nvPr/>
        </p:nvPicPr>
        <p:blipFill rotWithShape="1">
          <a:blip r:embed="rId8">
            <a:alphaModFix/>
          </a:blip>
          <a:srcRect l="-10"/>
          <a:stretch/>
        </p:blipFill>
        <p:spPr>
          <a:xfrm>
            <a:off x="571800" y="4927400"/>
            <a:ext cx="2054225" cy="14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" descr="gen-dedup-c0b06530c47fda6a954e653305971571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571800" y="4923877"/>
            <a:ext cx="205422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"/>
          <p:cNvSpPr txBox="1"/>
          <p:nvPr/>
        </p:nvSpPr>
        <p:spPr>
          <a:xfrm>
            <a:off x="1193597" y="495605"/>
            <a:ext cx="8255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문제 정의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1193597" y="901599"/>
            <a:ext cx="825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전기요금은 보이지만, </a:t>
            </a:r>
            <a:r>
              <a:rPr lang="en-US" sz="13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줄이는 방법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은 보이지 않는다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50" name="Google Shape;250;p4" descr="gen-dedup-3ae54b2191086962b090738b3c700ee7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4280" y="1433633"/>
            <a:ext cx="177900" cy="1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"/>
          <p:cNvSpPr txBox="1"/>
          <p:nvPr/>
        </p:nvSpPr>
        <p:spPr>
          <a:xfrm>
            <a:off x="1093229" y="1447800"/>
            <a:ext cx="1584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전기요금 고지서</a:t>
            </a:r>
            <a:endParaRPr sz="13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5232197" y="1269797"/>
            <a:ext cx="177900" cy="177900"/>
          </a:xfrm>
          <a:prstGeom prst="ellipse">
            <a:avLst/>
          </a:prstGeom>
          <a:solidFill>
            <a:srgbClr val="FEF2F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5232197" y="1269797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5473600" y="1276500"/>
            <a:ext cx="16602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3가지 페인 포인트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5437931" y="2031797"/>
            <a:ext cx="1651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전기요금 고지서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7338668" y="1878177"/>
            <a:ext cx="2356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현재 상황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4"/>
          <p:cNvSpPr txBox="1"/>
          <p:nvPr/>
        </p:nvSpPr>
        <p:spPr>
          <a:xfrm>
            <a:off x="7338668" y="2025428"/>
            <a:ext cx="2356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이번 달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87,420원</a:t>
            </a: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/ 사용량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244 kWh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4"/>
          <p:cNvSpPr txBox="1"/>
          <p:nvPr/>
        </p:nvSpPr>
        <p:spPr>
          <a:xfrm>
            <a:off x="9479967" y="1878177"/>
            <a:ext cx="2356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막히는 지점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4"/>
          <p:cNvSpPr txBox="1"/>
          <p:nvPr/>
        </p:nvSpPr>
        <p:spPr>
          <a:xfrm>
            <a:off x="9403489" y="2025428"/>
            <a:ext cx="2356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"왜 많이 나왔는지" 답 없음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5397399" y="1841601"/>
            <a:ext cx="431700" cy="139500"/>
          </a:xfrm>
          <a:prstGeom prst="roundRect">
            <a:avLst>
              <a:gd name="adj" fmla="val 238189"/>
            </a:avLst>
          </a:prstGeom>
          <a:solidFill>
            <a:srgbClr val="FDECE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"/>
          <p:cNvSpPr txBox="1"/>
          <p:nvPr/>
        </p:nvSpPr>
        <p:spPr>
          <a:xfrm>
            <a:off x="5397399" y="1841601"/>
            <a:ext cx="432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PAIN 01</a:t>
            </a:r>
            <a:endParaRPr sz="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4"/>
          <p:cNvSpPr txBox="1"/>
          <p:nvPr/>
        </p:nvSpPr>
        <p:spPr>
          <a:xfrm>
            <a:off x="5437931" y="2934005"/>
            <a:ext cx="1651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한전 에너지캐시백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4"/>
          <p:cNvSpPr txBox="1"/>
          <p:nvPr/>
        </p:nvSpPr>
        <p:spPr>
          <a:xfrm>
            <a:off x="7338668" y="2779776"/>
            <a:ext cx="2356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현재 상황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4"/>
          <p:cNvSpPr txBox="1"/>
          <p:nvPr/>
        </p:nvSpPr>
        <p:spPr>
          <a:xfrm>
            <a:off x="7338668" y="2927026"/>
            <a:ext cx="2356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절감</a:t>
            </a: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시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30~100원/kWh</a:t>
            </a: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지급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4"/>
          <p:cNvSpPr txBox="1"/>
          <p:nvPr/>
        </p:nvSpPr>
        <p:spPr>
          <a:xfrm>
            <a:off x="9479967" y="2779776"/>
            <a:ext cx="2356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막히는 지점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4"/>
          <p:cNvSpPr txBox="1"/>
          <p:nvPr/>
        </p:nvSpPr>
        <p:spPr>
          <a:xfrm>
            <a:off x="9403489" y="2927026"/>
            <a:ext cx="2356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"무엇을 줄여야 받나" 행동 가이드 없음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5397399" y="2743200"/>
            <a:ext cx="438300" cy="139500"/>
          </a:xfrm>
          <a:prstGeom prst="roundRect">
            <a:avLst>
              <a:gd name="adj" fmla="val 238189"/>
            </a:avLst>
          </a:prstGeom>
          <a:solidFill>
            <a:srgbClr val="FDECE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"/>
          <p:cNvSpPr txBox="1"/>
          <p:nvPr/>
        </p:nvSpPr>
        <p:spPr>
          <a:xfrm>
            <a:off x="5397399" y="2743200"/>
            <a:ext cx="438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PAIN 02</a:t>
            </a:r>
            <a:endParaRPr sz="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4"/>
          <p:cNvSpPr txBox="1"/>
          <p:nvPr/>
        </p:nvSpPr>
        <p:spPr>
          <a:xfrm>
            <a:off x="5437924" y="3835600"/>
            <a:ext cx="1846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스마트 플러그·가전별 미터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0" name="Google Shape;270;p4"/>
          <p:cNvSpPr txBox="1"/>
          <p:nvPr/>
        </p:nvSpPr>
        <p:spPr>
          <a:xfrm>
            <a:off x="7338668" y="3681984"/>
            <a:ext cx="2356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현재 상황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1" name="Google Shape;271;p4"/>
          <p:cNvSpPr txBox="1"/>
          <p:nvPr/>
        </p:nvSpPr>
        <p:spPr>
          <a:xfrm>
            <a:off x="7338668" y="3828624"/>
            <a:ext cx="2356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가전별 사용량 </a:t>
            </a: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표시 가능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4"/>
          <p:cNvSpPr txBox="1"/>
          <p:nvPr/>
        </p:nvSpPr>
        <p:spPr>
          <a:xfrm>
            <a:off x="9479967" y="3681984"/>
            <a:ext cx="2356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막히는 지점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5397399" y="3644799"/>
            <a:ext cx="444300" cy="139500"/>
          </a:xfrm>
          <a:prstGeom prst="roundRect">
            <a:avLst>
              <a:gd name="adj" fmla="val 238189"/>
            </a:avLst>
          </a:prstGeom>
          <a:solidFill>
            <a:srgbClr val="FDECE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"/>
          <p:cNvSpPr txBox="1"/>
          <p:nvPr/>
        </p:nvSpPr>
        <p:spPr>
          <a:xfrm>
            <a:off x="5397399" y="3644799"/>
            <a:ext cx="4449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PAIN 03</a:t>
            </a:r>
            <a:endParaRPr sz="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571805" y="4544922"/>
            <a:ext cx="177900" cy="177900"/>
          </a:xfrm>
          <a:prstGeom prst="ellipse">
            <a:avLst/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4" descr="gen-dedup-b002b8576d90d2bfa1fb2a357aed9ae4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600" y="4593626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"/>
          <p:cNvSpPr txBox="1"/>
          <p:nvPr/>
        </p:nvSpPr>
        <p:spPr>
          <a:xfrm>
            <a:off x="825399" y="4561927"/>
            <a:ext cx="2338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사용자가 답을 원하는 </a:t>
            </a:r>
            <a:r>
              <a:rPr lang="en-US" sz="12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가지 질문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p4"/>
          <p:cNvSpPr txBox="1"/>
          <p:nvPr/>
        </p:nvSpPr>
        <p:spPr>
          <a:xfrm>
            <a:off x="2715159" y="4534205"/>
            <a:ext cx="120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724205" y="5092599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"/>
          <p:cNvSpPr txBox="1"/>
          <p:nvPr/>
        </p:nvSpPr>
        <p:spPr>
          <a:xfrm>
            <a:off x="724205" y="5092599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 txBox="1"/>
          <p:nvPr/>
        </p:nvSpPr>
        <p:spPr>
          <a:xfrm>
            <a:off x="952805" y="5134051"/>
            <a:ext cx="692066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</a:t>
            </a:r>
            <a:r>
              <a:rPr lang="en-US" sz="800" b="1" i="0" u="none" strike="noStrike" cap="none" dirty="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8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질문</a:t>
            </a:r>
            <a:endParaRPr sz="8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4"/>
          <p:cNvSpPr txBox="1"/>
          <p:nvPr/>
        </p:nvSpPr>
        <p:spPr>
          <a:xfrm>
            <a:off x="754500" y="5356950"/>
            <a:ext cx="1651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어떤 가전이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문제인가?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83" name="Google Shape;283;p4" descr="gen-dedup-94848d5a46b0522d6e5b4e6463dd54f4.png"/>
          <p:cNvPicPr preferRelativeResize="0"/>
          <p:nvPr/>
        </p:nvPicPr>
        <p:blipFill rotWithShape="1">
          <a:blip r:embed="rId12">
            <a:alphaModFix/>
          </a:blip>
          <a:srcRect l="-2083" r="-2083"/>
          <a:stretch/>
        </p:blipFill>
        <p:spPr>
          <a:xfrm>
            <a:off x="724205" y="5736336"/>
            <a:ext cx="2393899" cy="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" descr="gen-dedup-cf39f1dcf322b51f3545dd4490cc5ac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4205" y="5976577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"/>
          <p:cNvSpPr txBox="1"/>
          <p:nvPr/>
        </p:nvSpPr>
        <p:spPr>
          <a:xfrm>
            <a:off x="932824" y="5928549"/>
            <a:ext cx="1660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 분해</a:t>
            </a: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— 분전반 1대로 22종 식별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86" name="Google Shape;286;p4"/>
          <p:cNvPicPr preferRelativeResize="0"/>
          <p:nvPr/>
        </p:nvPicPr>
        <p:blipFill rotWithShape="1">
          <a:blip r:embed="rId14">
            <a:alphaModFix/>
          </a:blip>
          <a:srcRect b="48304"/>
          <a:stretch/>
        </p:blipFill>
        <p:spPr>
          <a:xfrm>
            <a:off x="693550" y="1821450"/>
            <a:ext cx="4233850" cy="203997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"/>
          <p:cNvSpPr/>
          <p:nvPr/>
        </p:nvSpPr>
        <p:spPr>
          <a:xfrm>
            <a:off x="2928715" y="2225689"/>
            <a:ext cx="1660200" cy="227700"/>
          </a:xfrm>
          <a:prstGeom prst="rect">
            <a:avLst/>
          </a:prstGeom>
          <a:solidFill>
            <a:srgbClr val="FFFFFF">
              <a:alpha val="0"/>
            </a:srgbClr>
          </a:solidFill>
          <a:ln w="36600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050" tIns="117050" rIns="117050" bIns="117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endParaRPr sz="17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2928702" y="3431042"/>
            <a:ext cx="903600" cy="390900"/>
          </a:xfrm>
          <a:prstGeom prst="rect">
            <a:avLst/>
          </a:prstGeom>
          <a:solidFill>
            <a:srgbClr val="FFFFFF">
              <a:alpha val="0"/>
            </a:srgbClr>
          </a:solidFill>
          <a:ln w="36600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050" tIns="117050" rIns="117050" bIns="117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endParaRPr sz="179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4" descr="gen-dedup-b3085a07ee3e436f33f6969ae8816465.png"/>
          <p:cNvPicPr preferRelativeResize="0"/>
          <p:nvPr/>
        </p:nvPicPr>
        <p:blipFill rotWithShape="1">
          <a:blip r:embed="rId8">
            <a:alphaModFix/>
          </a:blip>
          <a:srcRect l="-10"/>
          <a:stretch/>
        </p:blipFill>
        <p:spPr>
          <a:xfrm>
            <a:off x="2836050" y="4923877"/>
            <a:ext cx="2054225" cy="14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" descr="gen-dedup-c0b06530c47fda6a954e653305971571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2836050" y="4923877"/>
            <a:ext cx="205422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"/>
          <p:cNvSpPr/>
          <p:nvPr/>
        </p:nvSpPr>
        <p:spPr>
          <a:xfrm>
            <a:off x="2988455" y="5089076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 txBox="1"/>
          <p:nvPr/>
        </p:nvSpPr>
        <p:spPr>
          <a:xfrm>
            <a:off x="2988448" y="5089075"/>
            <a:ext cx="2286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800" b="1">
                <a:solidFill>
                  <a:srgbClr val="6B7280"/>
                </a:solidFill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 txBox="1"/>
          <p:nvPr/>
        </p:nvSpPr>
        <p:spPr>
          <a:xfrm>
            <a:off x="3217055" y="5130528"/>
            <a:ext cx="692066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 질문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p4"/>
          <p:cNvSpPr txBox="1"/>
          <p:nvPr/>
        </p:nvSpPr>
        <p:spPr>
          <a:xfrm>
            <a:off x="3018750" y="5353427"/>
            <a:ext cx="1651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endParaRPr sz="1125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r>
              <a:rPr lang="en-US" sz="1125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왜 사용량이</a:t>
            </a:r>
            <a:endParaRPr sz="1125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r>
              <a:rPr lang="en-US" sz="1125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늘었나?</a:t>
            </a:r>
            <a:endParaRPr sz="1125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endParaRPr sz="11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5" name="Google Shape;295;p4" descr="gen-dedup-94848d5a46b0522d6e5b4e6463dd54f4.png"/>
          <p:cNvPicPr preferRelativeResize="0"/>
          <p:nvPr/>
        </p:nvPicPr>
        <p:blipFill rotWithShape="1">
          <a:blip r:embed="rId12">
            <a:alphaModFix/>
          </a:blip>
          <a:srcRect l="-2083" r="-2083"/>
          <a:stretch/>
        </p:blipFill>
        <p:spPr>
          <a:xfrm>
            <a:off x="2988455" y="5732813"/>
            <a:ext cx="2393899" cy="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" descr="gen-dedup-cf39f1dcf322b51f3545dd4490cc5ac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88455" y="5973054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"/>
          <p:cNvSpPr txBox="1"/>
          <p:nvPr/>
        </p:nvSpPr>
        <p:spPr>
          <a:xfrm>
            <a:off x="3197074" y="5928549"/>
            <a:ext cx="1660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40"/>
              <a:buFont typeface="Arial"/>
              <a:buNone/>
            </a:pPr>
            <a:r>
              <a:rPr lang="en-US" sz="94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평소 사용 패턴 비교</a:t>
            </a:r>
            <a:r>
              <a:rPr lang="en-US" sz="94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8" name="Google Shape;298;p4" descr="gen-dedup-b3085a07ee3e436f33f6969ae8816465.png"/>
          <p:cNvPicPr preferRelativeResize="0"/>
          <p:nvPr/>
        </p:nvPicPr>
        <p:blipFill rotWithShape="1">
          <a:blip r:embed="rId8">
            <a:alphaModFix/>
          </a:blip>
          <a:srcRect l="-10"/>
          <a:stretch/>
        </p:blipFill>
        <p:spPr>
          <a:xfrm>
            <a:off x="5089717" y="4922296"/>
            <a:ext cx="2054225" cy="14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" descr="gen-dedup-c0b06530c47fda6a954e653305971571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5089717" y="4918773"/>
            <a:ext cx="205422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"/>
          <p:cNvSpPr/>
          <p:nvPr/>
        </p:nvSpPr>
        <p:spPr>
          <a:xfrm>
            <a:off x="5242122" y="5087495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"/>
          <p:cNvSpPr txBox="1"/>
          <p:nvPr/>
        </p:nvSpPr>
        <p:spPr>
          <a:xfrm>
            <a:off x="5242122" y="5087495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800" b="1">
                <a:solidFill>
                  <a:srgbClr val="6B7280"/>
                </a:solidFill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 txBox="1"/>
          <p:nvPr/>
        </p:nvSpPr>
        <p:spPr>
          <a:xfrm>
            <a:off x="5470722" y="5128947"/>
            <a:ext cx="692066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 질문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3" name="Google Shape;303;p4"/>
          <p:cNvSpPr txBox="1"/>
          <p:nvPr/>
        </p:nvSpPr>
        <p:spPr>
          <a:xfrm>
            <a:off x="5272417" y="5351846"/>
            <a:ext cx="1651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r>
              <a:rPr lang="en-US" sz="1125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무엇부터 줄여야</a:t>
            </a:r>
            <a:endParaRPr sz="1125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r>
              <a:rPr lang="en-US" sz="1125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효과가 큰가?</a:t>
            </a:r>
            <a:endParaRPr sz="11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04" name="Google Shape;304;p4" descr="gen-dedup-94848d5a46b0522d6e5b4e6463dd54f4.png"/>
          <p:cNvPicPr preferRelativeResize="0"/>
          <p:nvPr/>
        </p:nvPicPr>
        <p:blipFill rotWithShape="1">
          <a:blip r:embed="rId12">
            <a:alphaModFix/>
          </a:blip>
          <a:srcRect l="-2083" r="-2083"/>
          <a:stretch/>
        </p:blipFill>
        <p:spPr>
          <a:xfrm>
            <a:off x="5242122" y="5731232"/>
            <a:ext cx="2393899" cy="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" descr="gen-dedup-cf39f1dcf322b51f3545dd4490cc5ac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242122" y="5971473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"/>
          <p:cNvSpPr txBox="1"/>
          <p:nvPr/>
        </p:nvSpPr>
        <p:spPr>
          <a:xfrm>
            <a:off x="5450741" y="5928549"/>
            <a:ext cx="1660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98"/>
              <a:buFont typeface="Arial"/>
              <a:buNone/>
            </a:pPr>
            <a:r>
              <a:rPr lang="en-US" sz="94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</a:t>
            </a:r>
            <a:r>
              <a:rPr lang="en-US" sz="94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가 절감액 순으로 행동 우선순위 추천</a:t>
            </a:r>
            <a:endParaRPr sz="9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07" name="Google Shape;307;p4" descr="gen-dedup-b3085a07ee3e436f33f6969ae8816465.png"/>
          <p:cNvPicPr preferRelativeResize="0"/>
          <p:nvPr/>
        </p:nvPicPr>
        <p:blipFill rotWithShape="1">
          <a:blip r:embed="rId8">
            <a:alphaModFix/>
          </a:blip>
          <a:srcRect l="-10"/>
          <a:stretch/>
        </p:blipFill>
        <p:spPr>
          <a:xfrm>
            <a:off x="7353967" y="4918773"/>
            <a:ext cx="2054225" cy="14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" descr="gen-dedup-c0b06530c47fda6a954e653305971571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7353967" y="4918773"/>
            <a:ext cx="205422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"/>
          <p:cNvSpPr/>
          <p:nvPr/>
        </p:nvSpPr>
        <p:spPr>
          <a:xfrm>
            <a:off x="7506372" y="5083972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"/>
          <p:cNvSpPr txBox="1"/>
          <p:nvPr/>
        </p:nvSpPr>
        <p:spPr>
          <a:xfrm>
            <a:off x="7506372" y="5083972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800" b="1">
                <a:solidFill>
                  <a:srgbClr val="6B7280"/>
                </a:solidFill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"/>
          <p:cNvSpPr txBox="1"/>
          <p:nvPr/>
        </p:nvSpPr>
        <p:spPr>
          <a:xfrm>
            <a:off x="7734972" y="5125424"/>
            <a:ext cx="692066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 질문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2" name="Google Shape;312;p4"/>
          <p:cNvSpPr txBox="1"/>
          <p:nvPr/>
        </p:nvSpPr>
        <p:spPr>
          <a:xfrm>
            <a:off x="7536667" y="5348323"/>
            <a:ext cx="1651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캐시백까지 얼마나 남았나?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13" name="Google Shape;313;p4" descr="gen-dedup-94848d5a46b0522d6e5b4e6463dd54f4.png"/>
          <p:cNvPicPr preferRelativeResize="0"/>
          <p:nvPr/>
        </p:nvPicPr>
        <p:blipFill rotWithShape="1">
          <a:blip r:embed="rId12">
            <a:alphaModFix/>
          </a:blip>
          <a:srcRect l="-2083" r="-2083"/>
          <a:stretch/>
        </p:blipFill>
        <p:spPr>
          <a:xfrm>
            <a:off x="7506372" y="5727709"/>
            <a:ext cx="2393899" cy="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" descr="gen-dedup-cf39f1dcf322b51f3545dd4490cc5ac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06372" y="5967950"/>
            <a:ext cx="89001" cy="8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" descr="gen-dedup-b3085a07ee3e436f33f6969ae8816465.png"/>
          <p:cNvPicPr preferRelativeResize="0"/>
          <p:nvPr/>
        </p:nvPicPr>
        <p:blipFill rotWithShape="1">
          <a:blip r:embed="rId8">
            <a:alphaModFix/>
          </a:blip>
          <a:srcRect l="-10"/>
          <a:stretch/>
        </p:blipFill>
        <p:spPr>
          <a:xfrm>
            <a:off x="9612650" y="4911657"/>
            <a:ext cx="2054225" cy="14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" descr="gen-dedup-c0b06530c47fda6a954e653305971571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9612650" y="4911657"/>
            <a:ext cx="205422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"/>
          <p:cNvSpPr/>
          <p:nvPr/>
        </p:nvSpPr>
        <p:spPr>
          <a:xfrm>
            <a:off x="9765055" y="5076856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"/>
          <p:cNvSpPr txBox="1"/>
          <p:nvPr/>
        </p:nvSpPr>
        <p:spPr>
          <a:xfrm>
            <a:off x="9765055" y="5076856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800" b="1">
                <a:solidFill>
                  <a:srgbClr val="6B7280"/>
                </a:solidFill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"/>
          <p:cNvSpPr txBox="1"/>
          <p:nvPr/>
        </p:nvSpPr>
        <p:spPr>
          <a:xfrm>
            <a:off x="9993655" y="5118308"/>
            <a:ext cx="692066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 질문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0" name="Google Shape;320;p4"/>
          <p:cNvSpPr txBox="1"/>
          <p:nvPr/>
        </p:nvSpPr>
        <p:spPr>
          <a:xfrm>
            <a:off x="9795350" y="5341207"/>
            <a:ext cx="1651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r>
              <a:rPr lang="en-US" sz="1125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어떻게</a:t>
            </a:r>
            <a:endParaRPr sz="1125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5"/>
              <a:buFont typeface="Arial"/>
              <a:buNone/>
            </a:pPr>
            <a:r>
              <a:rPr lang="en-US" sz="1125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실행하나?</a:t>
            </a:r>
            <a:endParaRPr sz="11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21" name="Google Shape;321;p4" descr="gen-dedup-94848d5a46b0522d6e5b4e6463dd54f4.png"/>
          <p:cNvPicPr preferRelativeResize="0"/>
          <p:nvPr/>
        </p:nvPicPr>
        <p:blipFill rotWithShape="1">
          <a:blip r:embed="rId12">
            <a:alphaModFix/>
          </a:blip>
          <a:srcRect l="-2083" r="-2083"/>
          <a:stretch/>
        </p:blipFill>
        <p:spPr>
          <a:xfrm>
            <a:off x="9765055" y="5720593"/>
            <a:ext cx="2393899" cy="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" descr="gen-dedup-cf39f1dcf322b51f3545dd4490cc5ac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65055" y="5960834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"/>
          <p:cNvSpPr txBox="1"/>
          <p:nvPr/>
        </p:nvSpPr>
        <p:spPr>
          <a:xfrm>
            <a:off x="9950000" y="5855649"/>
            <a:ext cx="2267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미션 카드</a:t>
            </a: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— 행동 안내 + 완료 추적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4"/>
          <p:cNvSpPr txBox="1"/>
          <p:nvPr/>
        </p:nvSpPr>
        <p:spPr>
          <a:xfrm>
            <a:off x="7704425" y="5881449"/>
            <a:ext cx="2394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목표 / 누적 / 예상 캐시백</a:t>
            </a: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b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실시간 계산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4"/>
          <p:cNvSpPr txBox="1"/>
          <p:nvPr/>
        </p:nvSpPr>
        <p:spPr>
          <a:xfrm>
            <a:off x="9403489" y="3828624"/>
            <a:ext cx="2356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가전마다 설치 → 비용·번거로움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eaafee75e2_3_158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eaafee75e2_3_158" descr="gen-dedup-87bab2e84a77b18173d31eafc4707e1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eaafee75e2_3_158" descr="gen-dedup-e8224a0b67ec9f395ffc5f9b4da0631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eaafee75e2_3_158" descr="gen-dedup-e482a44c10dcd3b9f71e52ba3f82be6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200" y="1553285"/>
            <a:ext cx="2667000" cy="483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eaafee75e2_3_158" descr="gen-dedup-e482a44c10dcd3b9f71e52ba3f82be6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9000" y="1473400"/>
            <a:ext cx="2666998" cy="49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eaafee75e2_3_158" descr="gen-dedup-e482a44c10dcd3b9f71e52ba3f82be6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803" y="1473400"/>
            <a:ext cx="2666998" cy="49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eaafee75e2_3_158" descr="gen-dedup-2005a7f8fd914b4295292c69fa7b4c96.png"/>
          <p:cNvPicPr preferRelativeResize="0"/>
          <p:nvPr/>
        </p:nvPicPr>
        <p:blipFill rotWithShape="1">
          <a:blip r:embed="rId7">
            <a:alphaModFix/>
          </a:blip>
          <a:srcRect l="-10"/>
          <a:stretch/>
        </p:blipFill>
        <p:spPr>
          <a:xfrm>
            <a:off x="9143996" y="1473400"/>
            <a:ext cx="2476803" cy="49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eaafee75e2_3_158" descr="gen-dedup-b1e9f5afa11811eefa98f8fce01f3910.png"/>
          <p:cNvPicPr preferRelativeResize="0"/>
          <p:nvPr/>
        </p:nvPicPr>
        <p:blipFill rotWithShape="1">
          <a:blip r:embed="rId8">
            <a:alphaModFix/>
          </a:blip>
          <a:srcRect l="-201" r="-201"/>
          <a:stretch/>
        </p:blipFill>
        <p:spPr>
          <a:xfrm>
            <a:off x="571805" y="1473403"/>
            <a:ext cx="2667000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eaafee75e2_3_158" descr="gen-dedup-6c2b970542c8599ba5fd64410ed52980.png"/>
          <p:cNvPicPr preferRelativeResize="0"/>
          <p:nvPr/>
        </p:nvPicPr>
        <p:blipFill rotWithShape="1">
          <a:blip r:embed="rId9">
            <a:alphaModFix/>
          </a:blip>
          <a:srcRect l="-201" r="-201"/>
          <a:stretch/>
        </p:blipFill>
        <p:spPr>
          <a:xfrm>
            <a:off x="3429000" y="1473403"/>
            <a:ext cx="2667000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eaafee75e2_3_158" descr="gen-dedup-9045b7abe12a74958593c69cbc392bec.png"/>
          <p:cNvPicPr preferRelativeResize="0"/>
          <p:nvPr/>
        </p:nvPicPr>
        <p:blipFill rotWithShape="1">
          <a:blip r:embed="rId10">
            <a:alphaModFix/>
          </a:blip>
          <a:srcRect l="-201" r="-201"/>
          <a:stretch/>
        </p:blipFill>
        <p:spPr>
          <a:xfrm>
            <a:off x="6286805" y="1473403"/>
            <a:ext cx="2667000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eaafee75e2_3_158" descr="gen-dedup-d0e1a3d00d93dfe4b41a67843320e9f5.png"/>
          <p:cNvPicPr preferRelativeResize="0"/>
          <p:nvPr/>
        </p:nvPicPr>
        <p:blipFill rotWithShape="1">
          <a:blip r:embed="rId11">
            <a:alphaModFix/>
          </a:blip>
          <a:srcRect l="-211" r="-201"/>
          <a:stretch/>
        </p:blipFill>
        <p:spPr>
          <a:xfrm>
            <a:off x="9144000" y="1473403"/>
            <a:ext cx="2476804" cy="5059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eaafee75e2_3_158"/>
          <p:cNvSpPr/>
          <p:nvPr/>
        </p:nvSpPr>
        <p:spPr>
          <a:xfrm>
            <a:off x="749199" y="2172005"/>
            <a:ext cx="2311500" cy="965100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3" name="Google Shape;343;g3eaafee75e2_3_158" descr="gen-dedup-dea04c934f9147ea2df054e433e0ef93.jpg"/>
          <p:cNvPicPr preferRelativeResize="0"/>
          <p:nvPr/>
        </p:nvPicPr>
        <p:blipFill rotWithShape="1">
          <a:blip r:embed="rId12">
            <a:alphaModFix/>
          </a:blip>
          <a:srcRect t="219" b="219"/>
          <a:stretch/>
        </p:blipFill>
        <p:spPr>
          <a:xfrm>
            <a:off x="755904" y="2178101"/>
            <a:ext cx="2298800" cy="95280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eaafee75e2_3_158"/>
          <p:cNvSpPr/>
          <p:nvPr/>
        </p:nvSpPr>
        <p:spPr>
          <a:xfrm>
            <a:off x="3607003" y="2172005"/>
            <a:ext cx="2311500" cy="1029000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5" name="Google Shape;345;g3eaafee75e2_3_158" descr="gen-dedup-c572b6cd2ecfb1b5c4a97ba0b86f21ae.jpg"/>
          <p:cNvPicPr preferRelativeResize="0"/>
          <p:nvPr/>
        </p:nvPicPr>
        <p:blipFill rotWithShape="1">
          <a:blip r:embed="rId13">
            <a:alphaModFix/>
          </a:blip>
          <a:srcRect t="30" b="30"/>
          <a:stretch/>
        </p:blipFill>
        <p:spPr>
          <a:xfrm>
            <a:off x="3613099" y="2178101"/>
            <a:ext cx="2298800" cy="101620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eaafee75e2_3_158"/>
          <p:cNvSpPr/>
          <p:nvPr/>
        </p:nvSpPr>
        <p:spPr>
          <a:xfrm>
            <a:off x="6464199" y="2172005"/>
            <a:ext cx="2311500" cy="102900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g3eaafee75e2_3_158" descr="gen-dedup-4f4b042ef7dda371520849d13ea70e02.jpg"/>
          <p:cNvPicPr preferRelativeResize="0"/>
          <p:nvPr/>
        </p:nvPicPr>
        <p:blipFill rotWithShape="1">
          <a:blip r:embed="rId14">
            <a:alphaModFix/>
          </a:blip>
          <a:srcRect t="169" b="179"/>
          <a:stretch/>
        </p:blipFill>
        <p:spPr>
          <a:xfrm>
            <a:off x="6470904" y="2178102"/>
            <a:ext cx="2298800" cy="107173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eaafee75e2_3_158"/>
          <p:cNvSpPr/>
          <p:nvPr/>
        </p:nvSpPr>
        <p:spPr>
          <a:xfrm>
            <a:off x="9322003" y="2172005"/>
            <a:ext cx="2120700" cy="863700"/>
          </a:xfrm>
          <a:prstGeom prst="roundRect">
            <a:avLst>
              <a:gd name="adj" fmla="val 8303"/>
            </a:avLst>
          </a:prstGeom>
          <a:solidFill>
            <a:srgbClr val="FFFFFF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  <a:effectLst>
            <a:outerShdw blurRad="93133" dist="25400" dir="16200000" algn="bl" rotWithShape="0">
              <a:srgbClr val="F59E0B">
                <a:alpha val="18040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g3eaafee75e2_3_158" descr="gen-dedup-de2f5ef80f410573065a5a04ba0d4c97.jpg"/>
          <p:cNvPicPr preferRelativeResize="0"/>
          <p:nvPr/>
        </p:nvPicPr>
        <p:blipFill rotWithShape="1">
          <a:blip r:embed="rId15">
            <a:alphaModFix/>
          </a:blip>
          <a:srcRect t="436" b="436"/>
          <a:stretch/>
        </p:blipFill>
        <p:spPr>
          <a:xfrm>
            <a:off x="9328099" y="2178101"/>
            <a:ext cx="2107997" cy="85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aafee75e2_3_158"/>
          <p:cNvSpPr txBox="1"/>
          <p:nvPr/>
        </p:nvSpPr>
        <p:spPr>
          <a:xfrm>
            <a:off x="1193597" y="495605"/>
            <a:ext cx="8890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사용자 시나리오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g3eaafee75e2_3_158"/>
          <p:cNvSpPr txBox="1"/>
          <p:nvPr/>
        </p:nvSpPr>
        <p:spPr>
          <a:xfrm>
            <a:off x="1193597" y="826008"/>
            <a:ext cx="8890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실제 웹 4페이지로 보는 흐름 — 사용량 </a:t>
            </a:r>
            <a:r>
              <a:rPr lang="en-US" sz="13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확인 → 분석 → 진단 → 절감 행동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52" name="Google Shape;352;g3eaafee75e2_3_158" descr="gen-dedup-3bb2b794875700ae2fb115556ce797f3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49199" y="1650797"/>
            <a:ext cx="279197" cy="27919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eaafee75e2_3_158"/>
          <p:cNvSpPr txBox="1"/>
          <p:nvPr/>
        </p:nvSpPr>
        <p:spPr>
          <a:xfrm>
            <a:off x="821131" y="1723949"/>
            <a:ext cx="147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aafee75e2_3_158"/>
          <p:cNvSpPr txBox="1"/>
          <p:nvPr/>
        </p:nvSpPr>
        <p:spPr>
          <a:xfrm>
            <a:off x="1105205" y="1631860"/>
            <a:ext cx="11343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STEP 01 · DASHBOARD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5" name="Google Shape;355;g3eaafee75e2_3_158"/>
          <p:cNvSpPr txBox="1"/>
          <p:nvPr/>
        </p:nvSpPr>
        <p:spPr>
          <a:xfrm>
            <a:off x="1105205" y="1757477"/>
            <a:ext cx="9468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대시보드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69" name="Google Shape;369;g3eaafee75e2_3_158" descr="gen-dedup-4b2b62f6bff5323c9d74b626f091b24b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607003" y="1650797"/>
            <a:ext cx="279197" cy="27919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eaafee75e2_3_158"/>
          <p:cNvSpPr txBox="1"/>
          <p:nvPr/>
        </p:nvSpPr>
        <p:spPr>
          <a:xfrm>
            <a:off x="3670401" y="1723949"/>
            <a:ext cx="1524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aafee75e2_3_158"/>
          <p:cNvSpPr txBox="1"/>
          <p:nvPr/>
        </p:nvSpPr>
        <p:spPr>
          <a:xfrm>
            <a:off x="3962400" y="1631860"/>
            <a:ext cx="10815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STEP 02 · ANALYSIS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2" name="Google Shape;372;g3eaafee75e2_3_158"/>
          <p:cNvSpPr txBox="1"/>
          <p:nvPr/>
        </p:nvSpPr>
        <p:spPr>
          <a:xfrm>
            <a:off x="3962400" y="1757475"/>
            <a:ext cx="11343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사용량 분석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86" name="Google Shape;386;g3eaafee75e2_3_158" descr="gen-dedup-d7be7bb1d84030850d61c613383ca3d2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464199" y="1650797"/>
            <a:ext cx="279197" cy="27919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eaafee75e2_3_158"/>
          <p:cNvSpPr txBox="1"/>
          <p:nvPr/>
        </p:nvSpPr>
        <p:spPr>
          <a:xfrm>
            <a:off x="6526377" y="1723949"/>
            <a:ext cx="159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aafee75e2_3_158"/>
          <p:cNvSpPr txBox="1"/>
          <p:nvPr/>
        </p:nvSpPr>
        <p:spPr>
          <a:xfrm>
            <a:off x="6820205" y="1631860"/>
            <a:ext cx="12081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STEP 03 · AI DIAGNOSIS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g3eaafee75e2_3_158"/>
          <p:cNvSpPr txBox="1"/>
          <p:nvPr/>
        </p:nvSpPr>
        <p:spPr>
          <a:xfrm>
            <a:off x="6820205" y="1757477"/>
            <a:ext cx="10161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진단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03" name="Google Shape;403;g3eaafee75e2_3_158" descr="gen-dedup-6aa18c42384591fe756f69f37711d67f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22003" y="1650797"/>
            <a:ext cx="279197" cy="27919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eaafee75e2_3_158"/>
          <p:cNvSpPr txBox="1"/>
          <p:nvPr/>
        </p:nvSpPr>
        <p:spPr>
          <a:xfrm>
            <a:off x="9382353" y="1723949"/>
            <a:ext cx="159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aafee75e2_3_158"/>
          <p:cNvSpPr txBox="1"/>
          <p:nvPr/>
        </p:nvSpPr>
        <p:spPr>
          <a:xfrm>
            <a:off x="9677400" y="1631860"/>
            <a:ext cx="11883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STEP 04 · CASHBACK ★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6" name="Google Shape;406;g3eaafee75e2_3_158"/>
          <p:cNvSpPr txBox="1"/>
          <p:nvPr/>
        </p:nvSpPr>
        <p:spPr>
          <a:xfrm>
            <a:off x="9677400" y="1757477"/>
            <a:ext cx="10101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캐시백 미션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g3eaafee75e2_3_158"/>
          <p:cNvSpPr txBox="1"/>
          <p:nvPr/>
        </p:nvSpPr>
        <p:spPr>
          <a:xfrm>
            <a:off x="9322000" y="3289399"/>
            <a:ext cx="276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Google Shape;356;g3eaafee75e2_3_158">
            <a:extLst>
              <a:ext uri="{FF2B5EF4-FFF2-40B4-BE49-F238E27FC236}">
                <a16:creationId xmlns:a16="http://schemas.microsoft.com/office/drawing/2014/main" id="{F0A27F43-2AFE-E9E5-24F7-0E52F31B4592}"/>
              </a:ext>
            </a:extLst>
          </p:cNvPr>
          <p:cNvSpPr txBox="1"/>
          <p:nvPr/>
        </p:nvSpPr>
        <p:spPr>
          <a:xfrm>
            <a:off x="749199" y="3340415"/>
            <a:ext cx="2311500" cy="7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</a:t>
            </a:r>
            <a:r>
              <a:rPr lang="en-US" sz="900" b="1" i="0" u="none" strike="noStrike" cap="none" dirty="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행동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" name="Google Shape;357;g3eaafee75e2_3_158">
            <a:extLst>
              <a:ext uri="{FF2B5EF4-FFF2-40B4-BE49-F238E27FC236}">
                <a16:creationId xmlns:a16="http://schemas.microsoft.com/office/drawing/2014/main" id="{43AEE860-01BF-CC7D-FCF6-63B875980586}"/>
              </a:ext>
            </a:extLst>
          </p:cNvPr>
          <p:cNvSpPr txBox="1"/>
          <p:nvPr/>
        </p:nvSpPr>
        <p:spPr>
          <a:xfrm>
            <a:off x="749200" y="3508738"/>
            <a:ext cx="2667000" cy="27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이번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달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전력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소비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추이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와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예상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요금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을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한눈에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확인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" name="Google Shape;358;g3eaafee75e2_3_158">
            <a:extLst>
              <a:ext uri="{FF2B5EF4-FFF2-40B4-BE49-F238E27FC236}">
                <a16:creationId xmlns:a16="http://schemas.microsoft.com/office/drawing/2014/main" id="{8C18C385-3E67-50AE-F57C-99B6B97F5769}"/>
              </a:ext>
            </a:extLst>
          </p:cNvPr>
          <p:cNvSpPr/>
          <p:nvPr/>
        </p:nvSpPr>
        <p:spPr>
          <a:xfrm>
            <a:off x="749199" y="3823674"/>
            <a:ext cx="2311500" cy="787500"/>
          </a:xfrm>
          <a:prstGeom prst="roundRect">
            <a:avLst>
              <a:gd name="adj" fmla="val 9987"/>
            </a:avLst>
          </a:prstGeom>
          <a:solidFill>
            <a:srgbClr val="EFF6FF"/>
          </a:solidFill>
          <a:ln w="847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59;g3eaafee75e2_3_158">
            <a:extLst>
              <a:ext uri="{FF2B5EF4-FFF2-40B4-BE49-F238E27FC236}">
                <a16:creationId xmlns:a16="http://schemas.microsoft.com/office/drawing/2014/main" id="{67CB4F11-BE43-9109-F6A7-2788C1444702}"/>
              </a:ext>
            </a:extLst>
          </p:cNvPr>
          <p:cNvSpPr txBox="1"/>
          <p:nvPr/>
        </p:nvSpPr>
        <p:spPr>
          <a:xfrm>
            <a:off x="838200" y="3912066"/>
            <a:ext cx="21336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E40AF"/>
                </a:solidFill>
                <a:latin typeface="Noto Sans"/>
                <a:ea typeface="Noto Sans"/>
                <a:cs typeface="Noto Sans"/>
                <a:sym typeface="Noto Sans"/>
              </a:rPr>
              <a:t>핵심 지표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Google Shape;360;g3eaafee75e2_3_158">
            <a:extLst>
              <a:ext uri="{FF2B5EF4-FFF2-40B4-BE49-F238E27FC236}">
                <a16:creationId xmlns:a16="http://schemas.microsoft.com/office/drawing/2014/main" id="{38F2BC1F-580F-6DF4-F988-FF9D3AD230AA}"/>
              </a:ext>
            </a:extLst>
          </p:cNvPr>
          <p:cNvSpPr txBox="1"/>
          <p:nvPr/>
        </p:nvSpPr>
        <p:spPr>
          <a:xfrm>
            <a:off x="838200" y="4083970"/>
            <a:ext cx="8511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이번 달 누적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" name="Google Shape;361;g3eaafee75e2_3_158">
            <a:extLst>
              <a:ext uri="{FF2B5EF4-FFF2-40B4-BE49-F238E27FC236}">
                <a16:creationId xmlns:a16="http://schemas.microsoft.com/office/drawing/2014/main" id="{439DB412-BC85-BD1A-F476-B52F7A29F8D0}"/>
              </a:ext>
            </a:extLst>
          </p:cNvPr>
          <p:cNvSpPr txBox="1"/>
          <p:nvPr/>
        </p:nvSpPr>
        <p:spPr>
          <a:xfrm>
            <a:off x="2347925" y="4045570"/>
            <a:ext cx="702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110.3 </a:t>
            </a:r>
            <a:r>
              <a:rPr lang="en-US" sz="7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kWh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362;g3eaafee75e2_3_158">
            <a:extLst>
              <a:ext uri="{FF2B5EF4-FFF2-40B4-BE49-F238E27FC236}">
                <a16:creationId xmlns:a16="http://schemas.microsoft.com/office/drawing/2014/main" id="{DD931952-00E0-1607-AD3F-A2901B95E461}"/>
              </a:ext>
            </a:extLst>
          </p:cNvPr>
          <p:cNvSpPr txBox="1"/>
          <p:nvPr/>
        </p:nvSpPr>
        <p:spPr>
          <a:xfrm>
            <a:off x="838200" y="4255270"/>
            <a:ext cx="7275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예상 청구액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" name="Google Shape;363;g3eaafee75e2_3_158">
            <a:extLst>
              <a:ext uri="{FF2B5EF4-FFF2-40B4-BE49-F238E27FC236}">
                <a16:creationId xmlns:a16="http://schemas.microsoft.com/office/drawing/2014/main" id="{6D948BD2-71D5-C83B-D050-7C4663C6B4EF}"/>
              </a:ext>
            </a:extLst>
          </p:cNvPr>
          <p:cNvSpPr txBox="1"/>
          <p:nvPr/>
        </p:nvSpPr>
        <p:spPr>
          <a:xfrm>
            <a:off x="2347925" y="4216870"/>
            <a:ext cx="702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11,496원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364;g3eaafee75e2_3_158">
            <a:extLst>
              <a:ext uri="{FF2B5EF4-FFF2-40B4-BE49-F238E27FC236}">
                <a16:creationId xmlns:a16="http://schemas.microsoft.com/office/drawing/2014/main" id="{FB50E79C-BF4B-87A5-3704-8936BC3D5361}"/>
              </a:ext>
            </a:extLst>
          </p:cNvPr>
          <p:cNvSpPr txBox="1"/>
          <p:nvPr/>
        </p:nvSpPr>
        <p:spPr>
          <a:xfrm>
            <a:off x="838200" y="4426570"/>
            <a:ext cx="5670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예상 캐시백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365;g3eaafee75e2_3_158">
            <a:extLst>
              <a:ext uri="{FF2B5EF4-FFF2-40B4-BE49-F238E27FC236}">
                <a16:creationId xmlns:a16="http://schemas.microsoft.com/office/drawing/2014/main" id="{F5947894-995A-CF0E-A532-8EDD41EBB67B}"/>
              </a:ext>
            </a:extLst>
          </p:cNvPr>
          <p:cNvSpPr txBox="1"/>
          <p:nvPr/>
        </p:nvSpPr>
        <p:spPr>
          <a:xfrm>
            <a:off x="2347925" y="4388770"/>
            <a:ext cx="702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+9,470원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366;g3eaafee75e2_3_158">
            <a:extLst>
              <a:ext uri="{FF2B5EF4-FFF2-40B4-BE49-F238E27FC236}">
                <a16:creationId xmlns:a16="http://schemas.microsoft.com/office/drawing/2014/main" id="{E70FA99B-E03B-CEA6-1844-8A1CBCA75BDB}"/>
              </a:ext>
            </a:extLst>
          </p:cNvPr>
          <p:cNvSpPr txBox="1"/>
          <p:nvPr/>
        </p:nvSpPr>
        <p:spPr>
          <a:xfrm>
            <a:off x="749199" y="4850156"/>
            <a:ext cx="2311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화면 구성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" name="Google Shape;367;g3eaafee75e2_3_158">
            <a:extLst>
              <a:ext uri="{FF2B5EF4-FFF2-40B4-BE49-F238E27FC236}">
                <a16:creationId xmlns:a16="http://schemas.microsoft.com/office/drawing/2014/main" id="{E6BB24EF-94D9-06CB-2655-EA761525E1DE}"/>
              </a:ext>
            </a:extLst>
          </p:cNvPr>
          <p:cNvSpPr txBox="1"/>
          <p:nvPr/>
        </p:nvSpPr>
        <p:spPr>
          <a:xfrm>
            <a:off x="749199" y="5012529"/>
            <a:ext cx="231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n-US" sz="1000" i="0" u="none" strike="noStrike" cap="none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 · 전력 사용량 추이 그래프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n-US" sz="1000" i="0" u="none" strike="noStrike" cap="none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 · 많이 쓴 가전 TOP 5 + 캐시백 미션 현황 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5" name="Google Shape;368;g3eaafee75e2_3_158" descr="gen-dedup-a860306a25ff1e6763dbd987a972a0f9.png">
            <a:extLst>
              <a:ext uri="{FF2B5EF4-FFF2-40B4-BE49-F238E27FC236}">
                <a16:creationId xmlns:a16="http://schemas.microsoft.com/office/drawing/2014/main" id="{FE0D2726-6B37-E3CB-35B5-FB7E7441B12F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t="-40" b="-40"/>
          <a:stretch/>
        </p:blipFill>
        <p:spPr>
          <a:xfrm>
            <a:off x="3263799" y="3441801"/>
            <a:ext cx="152400" cy="25420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373;g3eaafee75e2_3_158">
            <a:extLst>
              <a:ext uri="{FF2B5EF4-FFF2-40B4-BE49-F238E27FC236}">
                <a16:creationId xmlns:a16="http://schemas.microsoft.com/office/drawing/2014/main" id="{6C86A2B0-E0A9-73E8-A86E-9084047C050B}"/>
              </a:ext>
            </a:extLst>
          </p:cNvPr>
          <p:cNvSpPr txBox="1"/>
          <p:nvPr/>
        </p:nvSpPr>
        <p:spPr>
          <a:xfrm>
            <a:off x="3607003" y="3340415"/>
            <a:ext cx="2311500" cy="7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</a:t>
            </a:r>
            <a:r>
              <a:rPr lang="en-US" sz="900" b="1" i="0" u="none" strike="noStrike" cap="none" dirty="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행동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" name="Google Shape;374;g3eaafee75e2_3_158">
            <a:extLst>
              <a:ext uri="{FF2B5EF4-FFF2-40B4-BE49-F238E27FC236}">
                <a16:creationId xmlns:a16="http://schemas.microsoft.com/office/drawing/2014/main" id="{75E6F29B-1524-22DC-B03A-B0E30A86A7AB}"/>
              </a:ext>
            </a:extLst>
          </p:cNvPr>
          <p:cNvSpPr txBox="1"/>
          <p:nvPr/>
        </p:nvSpPr>
        <p:spPr>
          <a:xfrm>
            <a:off x="3569275" y="3508376"/>
            <a:ext cx="2667000" cy="26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시간대별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흐름과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평소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대비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변화가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큰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식별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375;g3eaafee75e2_3_158">
            <a:extLst>
              <a:ext uri="{FF2B5EF4-FFF2-40B4-BE49-F238E27FC236}">
                <a16:creationId xmlns:a16="http://schemas.microsoft.com/office/drawing/2014/main" id="{4ED4883F-5328-77AD-1415-9BC0AC9DE1F2}"/>
              </a:ext>
            </a:extLst>
          </p:cNvPr>
          <p:cNvSpPr/>
          <p:nvPr/>
        </p:nvSpPr>
        <p:spPr>
          <a:xfrm>
            <a:off x="3607003" y="3887073"/>
            <a:ext cx="2311500" cy="7620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847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76;g3eaafee75e2_3_158">
            <a:extLst>
              <a:ext uri="{FF2B5EF4-FFF2-40B4-BE49-F238E27FC236}">
                <a16:creationId xmlns:a16="http://schemas.microsoft.com/office/drawing/2014/main" id="{FE16186F-9229-1334-5C41-CB66AB909312}"/>
              </a:ext>
            </a:extLst>
          </p:cNvPr>
          <p:cNvSpPr txBox="1"/>
          <p:nvPr/>
        </p:nvSpPr>
        <p:spPr>
          <a:xfrm>
            <a:off x="3696005" y="3976074"/>
            <a:ext cx="21336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소비 패턴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77;g3eaafee75e2_3_158">
            <a:extLst>
              <a:ext uri="{FF2B5EF4-FFF2-40B4-BE49-F238E27FC236}">
                <a16:creationId xmlns:a16="http://schemas.microsoft.com/office/drawing/2014/main" id="{B50418D6-76C7-177C-7C33-96E1CD92AA45}"/>
              </a:ext>
            </a:extLst>
          </p:cNvPr>
          <p:cNvSpPr txBox="1"/>
          <p:nvPr/>
        </p:nvSpPr>
        <p:spPr>
          <a:xfrm>
            <a:off x="3695999" y="4147370"/>
            <a:ext cx="5334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오늘 사용량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78;g3eaafee75e2_3_158">
            <a:extLst>
              <a:ext uri="{FF2B5EF4-FFF2-40B4-BE49-F238E27FC236}">
                <a16:creationId xmlns:a16="http://schemas.microsoft.com/office/drawing/2014/main" id="{553DA704-6F98-BA0A-0D86-723D53BFB1C1}"/>
              </a:ext>
            </a:extLst>
          </p:cNvPr>
          <p:cNvSpPr txBox="1"/>
          <p:nvPr/>
        </p:nvSpPr>
        <p:spPr>
          <a:xfrm>
            <a:off x="5125628" y="4108970"/>
            <a:ext cx="774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15.7 </a:t>
            </a:r>
            <a:r>
              <a:rPr lang="en-US" sz="700" b="1" i="0" u="none" strike="noStrike" cap="none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kWh</a:t>
            </a:r>
            <a:endParaRPr sz="11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79;g3eaafee75e2_3_158">
            <a:extLst>
              <a:ext uri="{FF2B5EF4-FFF2-40B4-BE49-F238E27FC236}">
                <a16:creationId xmlns:a16="http://schemas.microsoft.com/office/drawing/2014/main" id="{283CA5A5-04BB-06F3-C044-72AFCFAE2C44}"/>
              </a:ext>
            </a:extLst>
          </p:cNvPr>
          <p:cNvSpPr txBox="1"/>
          <p:nvPr/>
        </p:nvSpPr>
        <p:spPr>
          <a:xfrm>
            <a:off x="3695999" y="4305869"/>
            <a:ext cx="727500" cy="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사용 집중 시간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" name="Google Shape;380;g3eaafee75e2_3_158">
            <a:extLst>
              <a:ext uri="{FF2B5EF4-FFF2-40B4-BE49-F238E27FC236}">
                <a16:creationId xmlns:a16="http://schemas.microsoft.com/office/drawing/2014/main" id="{E8CA63FE-D3A1-57A7-7A9C-876AD9AA088F}"/>
              </a:ext>
            </a:extLst>
          </p:cNvPr>
          <p:cNvSpPr txBox="1"/>
          <p:nvPr/>
        </p:nvSpPr>
        <p:spPr>
          <a:xfrm>
            <a:off x="5125628" y="4280870"/>
            <a:ext cx="7275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21시 ~ 22시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81;g3eaafee75e2_3_158">
            <a:extLst>
              <a:ext uri="{FF2B5EF4-FFF2-40B4-BE49-F238E27FC236}">
                <a16:creationId xmlns:a16="http://schemas.microsoft.com/office/drawing/2014/main" id="{92BF8DC0-CBDB-D500-2B73-0DB5A4A46F20}"/>
              </a:ext>
            </a:extLst>
          </p:cNvPr>
          <p:cNvSpPr txBox="1"/>
          <p:nvPr/>
        </p:nvSpPr>
        <p:spPr>
          <a:xfrm>
            <a:off x="3695998" y="4464970"/>
            <a:ext cx="8511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평소 대비 최대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82;g3eaafee75e2_3_158">
            <a:extLst>
              <a:ext uri="{FF2B5EF4-FFF2-40B4-BE49-F238E27FC236}">
                <a16:creationId xmlns:a16="http://schemas.microsoft.com/office/drawing/2014/main" id="{0C572531-ACB3-4F71-F95B-B1931FB29300}"/>
              </a:ext>
            </a:extLst>
          </p:cNvPr>
          <p:cNvSpPr txBox="1"/>
          <p:nvPr/>
        </p:nvSpPr>
        <p:spPr>
          <a:xfrm>
            <a:off x="5125628" y="4439370"/>
            <a:ext cx="702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991B1B"/>
                </a:solidFill>
                <a:latin typeface="Noto Sans"/>
                <a:ea typeface="Noto Sans"/>
                <a:cs typeface="Noto Sans"/>
                <a:sym typeface="Noto Sans"/>
              </a:rPr>
              <a:t>▲ 4,866%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83;g3eaafee75e2_3_158">
            <a:extLst>
              <a:ext uri="{FF2B5EF4-FFF2-40B4-BE49-F238E27FC236}">
                <a16:creationId xmlns:a16="http://schemas.microsoft.com/office/drawing/2014/main" id="{2C4E5551-7DBB-2CB0-0C20-D53823F9FCB0}"/>
              </a:ext>
            </a:extLst>
          </p:cNvPr>
          <p:cNvSpPr txBox="1"/>
          <p:nvPr/>
        </p:nvSpPr>
        <p:spPr>
          <a:xfrm>
            <a:off x="3607003" y="4888561"/>
            <a:ext cx="2311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 변화 큰 가전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84;g3eaafee75e2_3_158">
            <a:extLst>
              <a:ext uri="{FF2B5EF4-FFF2-40B4-BE49-F238E27FC236}">
                <a16:creationId xmlns:a16="http://schemas.microsoft.com/office/drawing/2014/main" id="{1BE08437-4F54-F7F0-16E4-51B31727C563}"/>
              </a:ext>
            </a:extLst>
          </p:cNvPr>
          <p:cNvSpPr txBox="1"/>
          <p:nvPr/>
        </p:nvSpPr>
        <p:spPr>
          <a:xfrm>
            <a:off x="3607003" y="5050934"/>
            <a:ext cx="23115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n-US" sz="1000" i="0" u="none" strike="noStrike" cap="none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· 전기압솥 · 의류건조기 · 인덕션 · 세탁기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8" name="Google Shape;385;g3eaafee75e2_3_158" descr="gen-dedup-a860306a25ff1e6763dbd987a972a0f9.png">
            <a:extLst>
              <a:ext uri="{FF2B5EF4-FFF2-40B4-BE49-F238E27FC236}">
                <a16:creationId xmlns:a16="http://schemas.microsoft.com/office/drawing/2014/main" id="{4E78B872-AEA1-4E80-ACA6-8F13C5A86EBE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t="-40" b="-40"/>
          <a:stretch/>
        </p:blipFill>
        <p:spPr>
          <a:xfrm>
            <a:off x="6121603" y="3441801"/>
            <a:ext cx="152400" cy="25420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0;g3eaafee75e2_3_158">
            <a:extLst>
              <a:ext uri="{FF2B5EF4-FFF2-40B4-BE49-F238E27FC236}">
                <a16:creationId xmlns:a16="http://schemas.microsoft.com/office/drawing/2014/main" id="{39988B54-3F93-D649-BAF1-0CDC95193FBF}"/>
              </a:ext>
            </a:extLst>
          </p:cNvPr>
          <p:cNvSpPr txBox="1"/>
          <p:nvPr/>
        </p:nvSpPr>
        <p:spPr>
          <a:xfrm>
            <a:off x="6464199" y="3340415"/>
            <a:ext cx="2311500" cy="7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에이전트의 답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391;g3eaafee75e2_3_158">
            <a:extLst>
              <a:ext uri="{FF2B5EF4-FFF2-40B4-BE49-F238E27FC236}">
                <a16:creationId xmlns:a16="http://schemas.microsoft.com/office/drawing/2014/main" id="{97FF6FED-3380-5D2D-80D7-BC1653788178}"/>
              </a:ext>
            </a:extLst>
          </p:cNvPr>
          <p:cNvSpPr txBox="1"/>
          <p:nvPr/>
        </p:nvSpPr>
        <p:spPr>
          <a:xfrm>
            <a:off x="6435900" y="3507189"/>
            <a:ext cx="2767500" cy="240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주의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+ 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추천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절감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조치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를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자연어로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안내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392;g3eaafee75e2_3_158">
            <a:extLst>
              <a:ext uri="{FF2B5EF4-FFF2-40B4-BE49-F238E27FC236}">
                <a16:creationId xmlns:a16="http://schemas.microsoft.com/office/drawing/2014/main" id="{AACD8A40-476E-722C-4F0F-C785F9A2E3D9}"/>
              </a:ext>
            </a:extLst>
          </p:cNvPr>
          <p:cNvSpPr/>
          <p:nvPr/>
        </p:nvSpPr>
        <p:spPr>
          <a:xfrm>
            <a:off x="6464199" y="4013870"/>
            <a:ext cx="2311500" cy="571800"/>
          </a:xfrm>
          <a:prstGeom prst="roundRect">
            <a:avLst>
              <a:gd name="adj" fmla="val 18953"/>
            </a:avLst>
          </a:prstGeom>
          <a:solidFill>
            <a:srgbClr val="F5F3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93;g3eaafee75e2_3_158">
            <a:extLst>
              <a:ext uri="{FF2B5EF4-FFF2-40B4-BE49-F238E27FC236}">
                <a16:creationId xmlns:a16="http://schemas.microsoft.com/office/drawing/2014/main" id="{AB69F602-2548-C992-9525-CFDF1107A39F}"/>
              </a:ext>
            </a:extLst>
          </p:cNvPr>
          <p:cNvSpPr txBox="1"/>
          <p:nvPr/>
        </p:nvSpPr>
        <p:spPr>
          <a:xfrm>
            <a:off x="6547104" y="4096166"/>
            <a:ext cx="2146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4C1D95"/>
                </a:solidFill>
                <a:latin typeface="Noto Sans"/>
                <a:ea typeface="Noto Sans"/>
                <a:cs typeface="Noto Sans"/>
                <a:sym typeface="Noto Sans"/>
              </a:rPr>
              <a:t>⚠ 주의 사용 감지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394;g3eaafee75e2_3_158">
            <a:extLst>
              <a:ext uri="{FF2B5EF4-FFF2-40B4-BE49-F238E27FC236}">
                <a16:creationId xmlns:a16="http://schemas.microsoft.com/office/drawing/2014/main" id="{D88B48CB-A44D-41FB-9E64-FDF18A845EC5}"/>
              </a:ext>
            </a:extLst>
          </p:cNvPr>
          <p:cNvSpPr txBox="1"/>
          <p:nvPr/>
        </p:nvSpPr>
        <p:spPr>
          <a:xfrm>
            <a:off x="6547104" y="4229668"/>
            <a:ext cx="2146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· 세탁기 — 직전 단계 사용량 ▲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" name="Google Shape;395;g3eaafee75e2_3_158">
            <a:extLst>
              <a:ext uri="{FF2B5EF4-FFF2-40B4-BE49-F238E27FC236}">
                <a16:creationId xmlns:a16="http://schemas.microsoft.com/office/drawing/2014/main" id="{CF70DBA8-EE7D-399A-FB99-8B71D53ACEAC}"/>
              </a:ext>
            </a:extLst>
          </p:cNvPr>
          <p:cNvSpPr txBox="1"/>
          <p:nvPr/>
        </p:nvSpPr>
        <p:spPr>
          <a:xfrm>
            <a:off x="6547104" y="4379020"/>
            <a:ext cx="2146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· 일반 냉장고 — 정상 범위 ▲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396;g3eaafee75e2_3_158">
            <a:extLst>
              <a:ext uri="{FF2B5EF4-FFF2-40B4-BE49-F238E27FC236}">
                <a16:creationId xmlns:a16="http://schemas.microsoft.com/office/drawing/2014/main" id="{5FFA0EC8-795F-8A3A-581A-D9665F5538C6}"/>
              </a:ext>
            </a:extLst>
          </p:cNvPr>
          <p:cNvSpPr/>
          <p:nvPr/>
        </p:nvSpPr>
        <p:spPr>
          <a:xfrm>
            <a:off x="6464199" y="4736161"/>
            <a:ext cx="2311500" cy="514500"/>
          </a:xfrm>
          <a:prstGeom prst="roundRect">
            <a:avLst>
              <a:gd name="adj" fmla="val 23404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397;g3eaafee75e2_3_158">
            <a:extLst>
              <a:ext uri="{FF2B5EF4-FFF2-40B4-BE49-F238E27FC236}">
                <a16:creationId xmlns:a16="http://schemas.microsoft.com/office/drawing/2014/main" id="{3077E320-5AB5-786D-F07C-39503D4C372E}"/>
              </a:ext>
            </a:extLst>
          </p:cNvPr>
          <p:cNvSpPr txBox="1"/>
          <p:nvPr/>
        </p:nvSpPr>
        <p:spPr>
          <a:xfrm>
            <a:off x="6547104" y="4818457"/>
            <a:ext cx="2146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✨ AI 추천 조치 2건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398;g3eaafee75e2_3_158">
            <a:extLst>
              <a:ext uri="{FF2B5EF4-FFF2-40B4-BE49-F238E27FC236}">
                <a16:creationId xmlns:a16="http://schemas.microsoft.com/office/drawing/2014/main" id="{147471D4-8410-752E-2F5F-48842E9ECE38}"/>
              </a:ext>
            </a:extLst>
          </p:cNvPr>
          <p:cNvSpPr txBox="1"/>
          <p:nvPr/>
        </p:nvSpPr>
        <p:spPr>
          <a:xfrm>
            <a:off x="6547101" y="4951958"/>
            <a:ext cx="12891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세탁기 시간 조정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" name="Google Shape;399;g3eaafee75e2_3_158">
            <a:extLst>
              <a:ext uri="{FF2B5EF4-FFF2-40B4-BE49-F238E27FC236}">
                <a16:creationId xmlns:a16="http://schemas.microsoft.com/office/drawing/2014/main" id="{00F6E7CB-AEE2-9BDD-0EC6-100CFAE4401A}"/>
              </a:ext>
            </a:extLst>
          </p:cNvPr>
          <p:cNvSpPr txBox="1"/>
          <p:nvPr/>
        </p:nvSpPr>
        <p:spPr>
          <a:xfrm>
            <a:off x="8317474" y="4951958"/>
            <a:ext cx="457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+600원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" name="Google Shape;400;g3eaafee75e2_3_158">
            <a:extLst>
              <a:ext uri="{FF2B5EF4-FFF2-40B4-BE49-F238E27FC236}">
                <a16:creationId xmlns:a16="http://schemas.microsoft.com/office/drawing/2014/main" id="{A9223F21-9BF2-AFF0-1ABE-9DABEBDA69C6}"/>
              </a:ext>
            </a:extLst>
          </p:cNvPr>
          <p:cNvSpPr txBox="1"/>
          <p:nvPr/>
        </p:nvSpPr>
        <p:spPr>
          <a:xfrm>
            <a:off x="6547098" y="5078758"/>
            <a:ext cx="11883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냉장고 문 열기 줄이기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401;g3eaafee75e2_3_158">
            <a:extLst>
              <a:ext uri="{FF2B5EF4-FFF2-40B4-BE49-F238E27FC236}">
                <a16:creationId xmlns:a16="http://schemas.microsoft.com/office/drawing/2014/main" id="{F8E324BC-3755-0B03-0015-04FF2EDE7C0E}"/>
              </a:ext>
            </a:extLst>
          </p:cNvPr>
          <p:cNvSpPr txBox="1"/>
          <p:nvPr/>
        </p:nvSpPr>
        <p:spPr>
          <a:xfrm>
            <a:off x="8317474" y="5078758"/>
            <a:ext cx="3900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+288원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1" name="Google Shape;402;g3eaafee75e2_3_158" descr="gen-dedup-a860306a25ff1e6763dbd987a972a0f9.png">
            <a:extLst>
              <a:ext uri="{FF2B5EF4-FFF2-40B4-BE49-F238E27FC236}">
                <a16:creationId xmlns:a16="http://schemas.microsoft.com/office/drawing/2014/main" id="{A911A0CC-CEA1-95CD-EE0E-996F84E2AED5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t="-40" b="-40"/>
          <a:stretch/>
        </p:blipFill>
        <p:spPr>
          <a:xfrm>
            <a:off x="8978799" y="3441801"/>
            <a:ext cx="152400" cy="25420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407;g3eaafee75e2_3_158">
            <a:extLst>
              <a:ext uri="{FF2B5EF4-FFF2-40B4-BE49-F238E27FC236}">
                <a16:creationId xmlns:a16="http://schemas.microsoft.com/office/drawing/2014/main" id="{5FBBE4B4-83AE-EEC7-206F-D9E5D2F64CEE}"/>
              </a:ext>
            </a:extLst>
          </p:cNvPr>
          <p:cNvSpPr txBox="1"/>
          <p:nvPr/>
        </p:nvSpPr>
        <p:spPr>
          <a:xfrm>
            <a:off x="9322003" y="3340415"/>
            <a:ext cx="2121300" cy="7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사용자 행동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" name="Google Shape;408;g3eaafee75e2_3_158">
            <a:extLst>
              <a:ext uri="{FF2B5EF4-FFF2-40B4-BE49-F238E27FC236}">
                <a16:creationId xmlns:a16="http://schemas.microsoft.com/office/drawing/2014/main" id="{349E1DF3-4729-E381-FFBC-950B549281F4}"/>
              </a:ext>
            </a:extLst>
          </p:cNvPr>
          <p:cNvSpPr txBox="1"/>
          <p:nvPr/>
        </p:nvSpPr>
        <p:spPr>
          <a:xfrm>
            <a:off x="9322000" y="3508135"/>
            <a:ext cx="2476803" cy="25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절감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미션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수행</a:t>
            </a:r>
            <a:endParaRPr sz="900" i="0" u="none" strike="noStrike" cap="none" dirty="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   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→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목표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절감률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과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예상</a:t>
            </a:r>
            <a:r>
              <a:rPr lang="en-US" sz="9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캐시백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실시간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확인</a:t>
            </a:r>
            <a:r>
              <a:rPr lang="en-US" sz="9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409;g3eaafee75e2_3_158">
            <a:extLst>
              <a:ext uri="{FF2B5EF4-FFF2-40B4-BE49-F238E27FC236}">
                <a16:creationId xmlns:a16="http://schemas.microsoft.com/office/drawing/2014/main" id="{D2C51E72-9E5E-49A0-4C44-8A79267F9582}"/>
              </a:ext>
            </a:extLst>
          </p:cNvPr>
          <p:cNvSpPr/>
          <p:nvPr/>
        </p:nvSpPr>
        <p:spPr>
          <a:xfrm>
            <a:off x="9322003" y="3950472"/>
            <a:ext cx="2120700" cy="724200"/>
          </a:xfrm>
          <a:prstGeom prst="roundRect">
            <a:avLst>
              <a:gd name="adj" fmla="val 14768"/>
            </a:avLst>
          </a:prstGeom>
          <a:solidFill>
            <a:srgbClr val="FFFFFF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410;g3eaafee75e2_3_158">
            <a:extLst>
              <a:ext uri="{FF2B5EF4-FFF2-40B4-BE49-F238E27FC236}">
                <a16:creationId xmlns:a16="http://schemas.microsoft.com/office/drawing/2014/main" id="{9983743B-78B0-C117-0F94-BAE591E790C5}"/>
              </a:ext>
            </a:extLst>
          </p:cNvPr>
          <p:cNvSpPr txBox="1"/>
          <p:nvPr/>
        </p:nvSpPr>
        <p:spPr>
          <a:xfrm>
            <a:off x="9411005" y="4039473"/>
            <a:ext cx="19434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★ 예상 캐시백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" name="Google Shape;411;g3eaafee75e2_3_158">
            <a:extLst>
              <a:ext uri="{FF2B5EF4-FFF2-40B4-BE49-F238E27FC236}">
                <a16:creationId xmlns:a16="http://schemas.microsoft.com/office/drawing/2014/main" id="{AF923DD1-3DE4-CEFB-6812-9B9D58A2E754}"/>
              </a:ext>
            </a:extLst>
          </p:cNvPr>
          <p:cNvSpPr txBox="1"/>
          <p:nvPr/>
        </p:nvSpPr>
        <p:spPr>
          <a:xfrm>
            <a:off x="9411005" y="4160174"/>
            <a:ext cx="19434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500"/>
              <a:buFont typeface="Arial"/>
              <a:buNone/>
            </a:pPr>
            <a:r>
              <a:rPr lang="en-US" sz="17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₩9,470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7" name="Google Shape;412;g3eaafee75e2_3_158" descr="gen-dedup-31624f5524c45628639576fa9d624d36.png">
            <a:extLst>
              <a:ext uri="{FF2B5EF4-FFF2-40B4-BE49-F238E27FC236}">
                <a16:creationId xmlns:a16="http://schemas.microsoft.com/office/drawing/2014/main" id="{5AC26F53-BF75-6920-5671-CB18AEE6CEA3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 l="-211" r="-211"/>
          <a:stretch/>
        </p:blipFill>
        <p:spPr>
          <a:xfrm>
            <a:off x="9411005" y="4413768"/>
            <a:ext cx="1943404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413;g3eaafee75e2_3_158" descr="gen-dedup-459b281e57141f2de1c000b306f76fd1.png">
            <a:extLst>
              <a:ext uri="{FF2B5EF4-FFF2-40B4-BE49-F238E27FC236}">
                <a16:creationId xmlns:a16="http://schemas.microsoft.com/office/drawing/2014/main" id="{937C554F-BEC0-E53E-8F27-2C26E5820186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 l="-191" r="-201"/>
          <a:stretch/>
        </p:blipFill>
        <p:spPr>
          <a:xfrm>
            <a:off x="9411005" y="4413768"/>
            <a:ext cx="1204569" cy="5059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414;g3eaafee75e2_3_158">
            <a:extLst>
              <a:ext uri="{FF2B5EF4-FFF2-40B4-BE49-F238E27FC236}">
                <a16:creationId xmlns:a16="http://schemas.microsoft.com/office/drawing/2014/main" id="{2E55FBB0-FBC7-B350-633F-4D5927986C8D}"/>
              </a:ext>
            </a:extLst>
          </p:cNvPr>
          <p:cNvSpPr txBox="1"/>
          <p:nvPr/>
        </p:nvSpPr>
        <p:spPr>
          <a:xfrm>
            <a:off x="9410998" y="4502770"/>
            <a:ext cx="702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절감률 30.5%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" name="Google Shape;415;g3eaafee75e2_3_158">
            <a:extLst>
              <a:ext uri="{FF2B5EF4-FFF2-40B4-BE49-F238E27FC236}">
                <a16:creationId xmlns:a16="http://schemas.microsoft.com/office/drawing/2014/main" id="{FF536928-E707-1468-61CB-8D4D722D1C83}"/>
              </a:ext>
            </a:extLst>
          </p:cNvPr>
          <p:cNvSpPr txBox="1"/>
          <p:nvPr/>
        </p:nvSpPr>
        <p:spPr>
          <a:xfrm>
            <a:off x="10980154" y="4535269"/>
            <a:ext cx="457200" cy="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목표 달성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" name="Google Shape;416;g3eaafee75e2_3_158">
            <a:extLst>
              <a:ext uri="{FF2B5EF4-FFF2-40B4-BE49-F238E27FC236}">
                <a16:creationId xmlns:a16="http://schemas.microsoft.com/office/drawing/2014/main" id="{81656F3B-FA66-4D85-A81E-25B0ACAF35A0}"/>
              </a:ext>
            </a:extLst>
          </p:cNvPr>
          <p:cNvSpPr/>
          <p:nvPr/>
        </p:nvSpPr>
        <p:spPr>
          <a:xfrm>
            <a:off x="9322003" y="4825162"/>
            <a:ext cx="2120700" cy="527400"/>
          </a:xfrm>
          <a:prstGeom prst="roundRect">
            <a:avLst>
              <a:gd name="adj" fmla="val 22286"/>
            </a:avLst>
          </a:prstGeom>
          <a:solidFill>
            <a:srgbClr val="FFFFFF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417;g3eaafee75e2_3_158">
            <a:extLst>
              <a:ext uri="{FF2B5EF4-FFF2-40B4-BE49-F238E27FC236}">
                <a16:creationId xmlns:a16="http://schemas.microsoft.com/office/drawing/2014/main" id="{20A09B63-F16A-429F-406B-8F6C47CF370C}"/>
              </a:ext>
            </a:extLst>
          </p:cNvPr>
          <p:cNvSpPr txBox="1"/>
          <p:nvPr/>
        </p:nvSpPr>
        <p:spPr>
          <a:xfrm>
            <a:off x="9404299" y="4907458"/>
            <a:ext cx="1956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✓ 오늘의 미션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418;g3eaafee75e2_3_158">
            <a:extLst>
              <a:ext uri="{FF2B5EF4-FFF2-40B4-BE49-F238E27FC236}">
                <a16:creationId xmlns:a16="http://schemas.microsoft.com/office/drawing/2014/main" id="{94F3098D-47FF-2CDC-68B9-10D2D8818648}"/>
              </a:ext>
            </a:extLst>
          </p:cNvPr>
          <p:cNvSpPr/>
          <p:nvPr/>
        </p:nvSpPr>
        <p:spPr>
          <a:xfrm>
            <a:off x="9404299" y="5053762"/>
            <a:ext cx="114600" cy="114600"/>
          </a:xfrm>
          <a:prstGeom prst="roundRect">
            <a:avLst>
              <a:gd name="adj" fmla="val 236407"/>
            </a:avLst>
          </a:prstGeom>
          <a:solidFill>
            <a:srgbClr val="FFFFFF"/>
          </a:solidFill>
          <a:ln w="847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419;g3eaafee75e2_3_158">
            <a:extLst>
              <a:ext uri="{FF2B5EF4-FFF2-40B4-BE49-F238E27FC236}">
                <a16:creationId xmlns:a16="http://schemas.microsoft.com/office/drawing/2014/main" id="{27768E7D-8E93-477A-C4C9-4292E055F238}"/>
              </a:ext>
            </a:extLst>
          </p:cNvPr>
          <p:cNvSpPr txBox="1"/>
          <p:nvPr/>
        </p:nvSpPr>
        <p:spPr>
          <a:xfrm>
            <a:off x="9569500" y="5040958"/>
            <a:ext cx="17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제습기 습도 단계 조정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시간 절감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5" descr="preencoded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150" y="-12872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" descr="gen-dedup-87bab2e84a77b18173d31eafc4707e1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905" y="59984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 txBox="1"/>
          <p:nvPr/>
        </p:nvSpPr>
        <p:spPr>
          <a:xfrm>
            <a:off x="1193597" y="495605"/>
            <a:ext cx="8255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요구 사항 정의서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0" name="Google Shape;430;p5"/>
          <p:cNvSpPr txBox="1"/>
          <p:nvPr/>
        </p:nvSpPr>
        <p:spPr>
          <a:xfrm>
            <a:off x="1193597" y="901599"/>
            <a:ext cx="825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기능 범위와 성능 기준을 요구사항 단위로 정의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31" name="Google Shape;431;p5"/>
          <p:cNvPicPr preferRelativeResize="0"/>
          <p:nvPr/>
        </p:nvPicPr>
        <p:blipFill rotWithShape="1">
          <a:blip r:embed="rId6">
            <a:alphaModFix/>
          </a:blip>
          <a:srcRect t="6288"/>
          <a:stretch/>
        </p:blipFill>
        <p:spPr>
          <a:xfrm>
            <a:off x="586575" y="1454050"/>
            <a:ext cx="11051924" cy="49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" y="-12872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6" descr="gen-dedup-87bab2e84a77b18173d31eafc4707e1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905" y="59984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6"/>
          <p:cNvSpPr txBox="1"/>
          <p:nvPr/>
        </p:nvSpPr>
        <p:spPr>
          <a:xfrm>
            <a:off x="1193597" y="495605"/>
            <a:ext cx="8255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</a:rPr>
              <a:t>클래스 다이어그램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1193597" y="901599"/>
            <a:ext cx="825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서비스 구성요소와 객체 간 관계를 구조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43" name="Google Shape;443;p16"/>
          <p:cNvPicPr preferRelativeResize="0"/>
          <p:nvPr/>
        </p:nvPicPr>
        <p:blipFill rotWithShape="1">
          <a:blip r:embed="rId6">
            <a:alphaModFix/>
          </a:blip>
          <a:srcRect l="10" r="1225"/>
          <a:stretch/>
        </p:blipFill>
        <p:spPr>
          <a:xfrm>
            <a:off x="566600" y="1414125"/>
            <a:ext cx="11053601" cy="49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" y="-12872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7"/>
          <p:cNvSpPr txBox="1"/>
          <p:nvPr/>
        </p:nvSpPr>
        <p:spPr>
          <a:xfrm>
            <a:off x="1145972" y="499455"/>
            <a:ext cx="88905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시퀀스 다이어그램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17"/>
          <p:cNvSpPr txBox="1"/>
          <p:nvPr/>
        </p:nvSpPr>
        <p:spPr>
          <a:xfrm>
            <a:off x="1193597" y="901599"/>
            <a:ext cx="88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사용자 요청부터 AI 응답 생성까지의 처리 흐름 시각화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53" name="Google Shape;453;p17" descr="gen-dedup-87bab2e84a77b18173d31eafc4707e1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2" y="59984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7"/>
          <p:cNvPicPr preferRelativeResize="0"/>
          <p:nvPr/>
        </p:nvPicPr>
        <p:blipFill rotWithShape="1">
          <a:blip r:embed="rId6">
            <a:alphaModFix/>
          </a:blip>
          <a:srcRect l="2518" t="12877" r="630"/>
          <a:stretch/>
        </p:blipFill>
        <p:spPr>
          <a:xfrm>
            <a:off x="550855" y="1427001"/>
            <a:ext cx="11074224" cy="499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79" y="-8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6" descr="gen-dedup-87bab2e84a77b18173d31eafc4707e1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" descr="preencoded.png"/>
          <p:cNvPicPr preferRelativeResize="0"/>
          <p:nvPr/>
        </p:nvPicPr>
        <p:blipFill rotWithShape="1">
          <a:blip r:embed="rId5">
            <a:alphaModFix/>
          </a:blip>
          <a:srcRect t="-40" b="-50"/>
          <a:stretch/>
        </p:blipFill>
        <p:spPr>
          <a:xfrm>
            <a:off x="666014" y="606112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"/>
          <p:cNvSpPr txBox="1"/>
          <p:nvPr/>
        </p:nvSpPr>
        <p:spPr>
          <a:xfrm>
            <a:off x="1145972" y="499455"/>
            <a:ext cx="88905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시스템 아키텍처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6"/>
          <p:cNvSpPr txBox="1"/>
          <p:nvPr/>
        </p:nvSpPr>
        <p:spPr>
          <a:xfrm>
            <a:off x="1193597" y="901599"/>
            <a:ext cx="88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전력 데이터 수집부터 AI 분석 사용자 리포트까지 연결한 전체 구조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66" name="Google Shape;466;p6" title="정말찐이기를_agents_grouped.drawio (3).png"/>
          <p:cNvPicPr preferRelativeResize="0"/>
          <p:nvPr/>
        </p:nvPicPr>
        <p:blipFill rotWithShape="1">
          <a:blip r:embed="rId6">
            <a:alphaModFix/>
          </a:blip>
          <a:srcRect l="2146" t="2499" r="1607" b="2840"/>
          <a:stretch/>
        </p:blipFill>
        <p:spPr>
          <a:xfrm>
            <a:off x="584450" y="1427075"/>
            <a:ext cx="11035750" cy="503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g3ea66c3de90_6_0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9" y="-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ea66c3de90_6_0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ea66c3de90_6_0" descr="gen-dedup-5dd9eb0e1026e1df44611bd39e37f672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ea66c3de90_6_0" descr="gen-dedup-efc2655e9830e6ea06257680724a85dc.png"/>
          <p:cNvPicPr preferRelativeResize="0"/>
          <p:nvPr/>
        </p:nvPicPr>
        <p:blipFill rotWithShape="1">
          <a:blip r:embed="rId6">
            <a:alphaModFix/>
          </a:blip>
          <a:srcRect l="-10"/>
          <a:stretch/>
        </p:blipFill>
        <p:spPr>
          <a:xfrm>
            <a:off x="571800" y="1439400"/>
            <a:ext cx="5229615" cy="338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ea66c3de90_6_0" descr="gen-dedup-e3297e117d86914f6eef3d2a02cf92fc.png"/>
          <p:cNvPicPr preferRelativeResize="0"/>
          <p:nvPr/>
        </p:nvPicPr>
        <p:blipFill rotWithShape="1">
          <a:blip r:embed="rId7">
            <a:alphaModFix/>
          </a:blip>
          <a:srcRect l="-10"/>
          <a:stretch/>
        </p:blipFill>
        <p:spPr>
          <a:xfrm>
            <a:off x="6390585" y="1439410"/>
            <a:ext cx="5229615" cy="340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ea66c3de90_6_0" descr="gen-dedup-c3d23ee270ecd42cf7079366bebcfb9e.png"/>
          <p:cNvPicPr preferRelativeResize="0"/>
          <p:nvPr/>
        </p:nvPicPr>
        <p:blipFill rotWithShape="1">
          <a:blip r:embed="rId8">
            <a:alphaModFix/>
          </a:blip>
          <a:srcRect t="-10"/>
          <a:stretch/>
        </p:blipFill>
        <p:spPr>
          <a:xfrm>
            <a:off x="571800" y="5605128"/>
            <a:ext cx="2688068" cy="7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3ea66c3de90_6_0" descr="gen-dedup-c3d23ee270ecd42cf7079366bebcfb9e.png"/>
          <p:cNvPicPr preferRelativeResize="0"/>
          <p:nvPr/>
        </p:nvPicPr>
        <p:blipFill rotWithShape="1">
          <a:blip r:embed="rId8">
            <a:alphaModFix/>
          </a:blip>
          <a:srcRect t="-10"/>
          <a:stretch/>
        </p:blipFill>
        <p:spPr>
          <a:xfrm>
            <a:off x="3341840" y="5605128"/>
            <a:ext cx="2688068" cy="7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ea66c3de90_6_0" descr="gen-dedup-c3d23ee270ecd42cf7079366bebcfb9e.png"/>
          <p:cNvPicPr preferRelativeResize="0"/>
          <p:nvPr/>
        </p:nvPicPr>
        <p:blipFill rotWithShape="1">
          <a:blip r:embed="rId8">
            <a:alphaModFix/>
          </a:blip>
          <a:srcRect t="-10"/>
          <a:stretch/>
        </p:blipFill>
        <p:spPr>
          <a:xfrm>
            <a:off x="6112488" y="5605128"/>
            <a:ext cx="2688068" cy="797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ea66c3de90_6_0"/>
          <p:cNvSpPr/>
          <p:nvPr/>
        </p:nvSpPr>
        <p:spPr>
          <a:xfrm>
            <a:off x="6585264" y="4122366"/>
            <a:ext cx="4816500" cy="615900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 w="847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g3ea66c3de90_6_0" descr="gen-dedup-cf39f1dcf322b51f3545dd4490cc5ac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08688" y="4252955"/>
            <a:ext cx="8865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ea66c3de90_6_0"/>
          <p:cNvSpPr txBox="1"/>
          <p:nvPr/>
        </p:nvSpPr>
        <p:spPr>
          <a:xfrm>
            <a:off x="6847298" y="4287998"/>
            <a:ext cx="373500" cy="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효과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g3ea66c3de90_6_0"/>
          <p:cNvSpPr txBox="1"/>
          <p:nvPr/>
        </p:nvSpPr>
        <p:spPr>
          <a:xfrm>
            <a:off x="6720404" y="4268144"/>
            <a:ext cx="46809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사용자가 </a:t>
            </a:r>
            <a:r>
              <a:rPr lang="en-US" sz="1000" b="1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어떤 가전이 얼마나 전기를 사용했는지</a:t>
            </a:r>
            <a:r>
              <a:rPr lang="en-US" sz="10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 이해 → </a:t>
            </a:r>
            <a:r>
              <a:rPr lang="en-US" sz="10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실제 절감 행동</a:t>
            </a:r>
            <a:r>
              <a:rPr lang="en-US" sz="10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으로 연결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84" name="Google Shape;484;g3ea66c3de90_6_0" descr="gen-dedup-c3d23ee270ecd42cf7079366bebcfb9e.png"/>
          <p:cNvPicPr preferRelativeResize="0"/>
          <p:nvPr/>
        </p:nvPicPr>
        <p:blipFill rotWithShape="1">
          <a:blip r:embed="rId8">
            <a:alphaModFix/>
          </a:blip>
          <a:srcRect t="-10"/>
          <a:stretch/>
        </p:blipFill>
        <p:spPr>
          <a:xfrm>
            <a:off x="8882528" y="5605128"/>
            <a:ext cx="2688068" cy="797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ea66c3de90_6_0"/>
          <p:cNvSpPr/>
          <p:nvPr/>
        </p:nvSpPr>
        <p:spPr>
          <a:xfrm>
            <a:off x="723077" y="1809425"/>
            <a:ext cx="4816500" cy="2049300"/>
          </a:xfrm>
          <a:prstGeom prst="roundRect">
            <a:avLst>
              <a:gd name="adj" fmla="val 11362"/>
            </a:avLst>
          </a:prstGeom>
          <a:solidFill>
            <a:srgbClr val="F9FAFB"/>
          </a:solidFill>
          <a:ln w="847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3ea66c3de90_6_0"/>
          <p:cNvSpPr/>
          <p:nvPr/>
        </p:nvSpPr>
        <p:spPr>
          <a:xfrm>
            <a:off x="761251" y="3965985"/>
            <a:ext cx="4778400" cy="724200"/>
          </a:xfrm>
          <a:prstGeom prst="roundRect">
            <a:avLst>
              <a:gd name="adj" fmla="val 11814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3ea66c3de90_6_0"/>
          <p:cNvSpPr/>
          <p:nvPr/>
        </p:nvSpPr>
        <p:spPr>
          <a:xfrm>
            <a:off x="762000" y="3965981"/>
            <a:ext cx="25500" cy="724200"/>
          </a:xfrm>
          <a:prstGeom prst="roundRect">
            <a:avLst>
              <a:gd name="adj" fmla="val 334167"/>
            </a:avLst>
          </a:prstGeom>
          <a:solidFill>
            <a:srgbClr val="E63946"/>
          </a:solidFill>
          <a:ln w="8475" cap="flat" cmpd="sng">
            <a:solidFill>
              <a:srgbClr val="E6394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3ea66c3de90_6_0"/>
          <p:cNvSpPr/>
          <p:nvPr/>
        </p:nvSpPr>
        <p:spPr>
          <a:xfrm>
            <a:off x="6541861" y="1809438"/>
            <a:ext cx="4816500" cy="2255700"/>
          </a:xfrm>
          <a:prstGeom prst="roundRect">
            <a:avLst>
              <a:gd name="adj" fmla="val 11362"/>
            </a:avLst>
          </a:prstGeom>
          <a:solidFill>
            <a:srgbClr val="FFFFFF"/>
          </a:solidFill>
          <a:ln w="847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9" name="Google Shape;489;g3ea66c3de90_6_0" descr="gen-dedup-c116683554c57e36115be1dfde967b37.png"/>
          <p:cNvPicPr preferRelativeResize="0"/>
          <p:nvPr/>
        </p:nvPicPr>
        <p:blipFill rotWithShape="1">
          <a:blip r:embed="rId10">
            <a:alphaModFix/>
          </a:blip>
          <a:srcRect l="-80" r="-80"/>
          <a:stretch/>
        </p:blipFill>
        <p:spPr>
          <a:xfrm>
            <a:off x="571805" y="5570711"/>
            <a:ext cx="2688068" cy="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ea66c3de90_6_0" descr="gen-dedup-2420170dff4eb7a157c0f27c5f2d374b.png"/>
          <p:cNvPicPr preferRelativeResize="0"/>
          <p:nvPr/>
        </p:nvPicPr>
        <p:blipFill rotWithShape="1">
          <a:blip r:embed="rId11">
            <a:alphaModFix/>
          </a:blip>
          <a:srcRect l="-80" r="-80"/>
          <a:stretch/>
        </p:blipFill>
        <p:spPr>
          <a:xfrm>
            <a:off x="3341844" y="5570711"/>
            <a:ext cx="2688068" cy="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3ea66c3de90_6_0" descr="gen-dedup-ac48007ef7f04e68c7fbca28dd753919.png"/>
          <p:cNvPicPr preferRelativeResize="0"/>
          <p:nvPr/>
        </p:nvPicPr>
        <p:blipFill rotWithShape="1">
          <a:blip r:embed="rId12">
            <a:alphaModFix/>
          </a:blip>
          <a:srcRect l="-80" r="-80"/>
          <a:stretch/>
        </p:blipFill>
        <p:spPr>
          <a:xfrm>
            <a:off x="6112489" y="5570711"/>
            <a:ext cx="2688068" cy="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3ea66c3de90_6_0" descr="gen-dedup-b8c3b112b732ddda672441567e571dbf.png"/>
          <p:cNvPicPr preferRelativeResize="0"/>
          <p:nvPr/>
        </p:nvPicPr>
        <p:blipFill rotWithShape="1">
          <a:blip r:embed="rId13">
            <a:alphaModFix/>
          </a:blip>
          <a:srcRect l="-80" r="-80"/>
          <a:stretch/>
        </p:blipFill>
        <p:spPr>
          <a:xfrm>
            <a:off x="8882528" y="5570711"/>
            <a:ext cx="2688068" cy="3169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ea66c3de90_6_0"/>
          <p:cNvSpPr txBox="1"/>
          <p:nvPr/>
        </p:nvSpPr>
        <p:spPr>
          <a:xfrm>
            <a:off x="1194200" y="473738"/>
            <a:ext cx="955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4" name="Google Shape;494;g3ea66c3de90_6_0"/>
          <p:cNvSpPr txBox="1"/>
          <p:nvPr/>
        </p:nvSpPr>
        <p:spPr>
          <a:xfrm>
            <a:off x="1241825" y="889542"/>
            <a:ext cx="88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전체 전력 신호를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22종 가전별 사용량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으로 분해하는 딥러닝 분해 엔진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5" name="Google Shape;495;g3ea66c3de90_6_0"/>
          <p:cNvSpPr/>
          <p:nvPr/>
        </p:nvSpPr>
        <p:spPr>
          <a:xfrm>
            <a:off x="761251" y="1598031"/>
            <a:ext cx="429900" cy="120900"/>
          </a:xfrm>
          <a:prstGeom prst="roundRect">
            <a:avLst>
              <a:gd name="adj" fmla="val 265816"/>
            </a:avLst>
          </a:prstGeom>
          <a:solidFill>
            <a:srgbClr val="F3F4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ea66c3de90_6_0"/>
          <p:cNvSpPr txBox="1"/>
          <p:nvPr/>
        </p:nvSpPr>
        <p:spPr>
          <a:xfrm>
            <a:off x="761251" y="1598034"/>
            <a:ext cx="5253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BEFORE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7" name="Google Shape;497;g3ea66c3de90_6_0"/>
          <p:cNvSpPr txBox="1"/>
          <p:nvPr/>
        </p:nvSpPr>
        <p:spPr>
          <a:xfrm>
            <a:off x="1248822" y="1582184"/>
            <a:ext cx="1257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일반 가정의 현실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8" name="Google Shape;498;g3ea66c3de90_6_0"/>
          <p:cNvSpPr txBox="1"/>
          <p:nvPr/>
        </p:nvSpPr>
        <p:spPr>
          <a:xfrm>
            <a:off x="2497674" y="1610834"/>
            <a:ext cx="15603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분전반 단일 신호만 확인 가능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99" name="Google Shape;499;g3ea66c3de90_6_0" descr="gen-dedup-e37b8e86f5c072c0899d885aae6db23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3814" y="1907868"/>
            <a:ext cx="101402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ea66c3de90_6_0"/>
          <p:cNvSpPr txBox="1"/>
          <p:nvPr/>
        </p:nvSpPr>
        <p:spPr>
          <a:xfrm>
            <a:off x="1065618" y="1907869"/>
            <a:ext cx="20688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AGGREGATE POWER · 단일 시계열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1" name="Google Shape;501;g3ea66c3de90_6_0"/>
          <p:cNvSpPr txBox="1"/>
          <p:nvPr/>
        </p:nvSpPr>
        <p:spPr>
          <a:xfrm>
            <a:off x="4218053" y="1944400"/>
            <a:ext cx="1321800" cy="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30Hz active_power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02" name="Google Shape;502;g3ea66c3de90_6_0" descr="gen-dedup-1bf4e5a5a881061426a1a0e3252cc9b7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13050" y="4096575"/>
            <a:ext cx="8865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ea66c3de90_6_0"/>
          <p:cNvSpPr txBox="1"/>
          <p:nvPr/>
        </p:nvSpPr>
        <p:spPr>
          <a:xfrm>
            <a:off x="1039356" y="4131618"/>
            <a:ext cx="373500" cy="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10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한계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4" name="Google Shape;504;g3ea66c3de90_6_0"/>
          <p:cNvSpPr txBox="1"/>
          <p:nvPr/>
        </p:nvSpPr>
        <p:spPr>
          <a:xfrm>
            <a:off x="943037" y="4206787"/>
            <a:ext cx="465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800"/>
              <a:buFont typeface="Arial"/>
              <a:buNone/>
            </a:pPr>
            <a:r>
              <a:rPr lang="en-US" sz="10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분전반 기준 </a:t>
            </a:r>
            <a:r>
              <a:rPr lang="en-US" sz="10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전체 전력 사용량</a:t>
            </a:r>
            <a:r>
              <a:rPr lang="en-US" sz="10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만 확인 가능 </a:t>
            </a:r>
            <a:endParaRPr sz="1000" i="0" u="none" strike="noStrike" cap="none">
              <a:solidFill>
                <a:srgbClr val="7F1D1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800"/>
              <a:buFont typeface="Arial"/>
              <a:buNone/>
            </a:pPr>
            <a:r>
              <a:rPr lang="en-US" sz="100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   </a:t>
            </a:r>
            <a:r>
              <a:rPr lang="en-US" sz="10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→ </a:t>
            </a:r>
            <a:r>
              <a:rPr lang="en-US" sz="10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어떤 가전이</a:t>
            </a:r>
            <a:r>
              <a:rPr lang="en-US" sz="10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전기요금 증가에 영향을 주었는지 알기 어려움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5" name="Google Shape;505;g3ea66c3de90_6_0"/>
          <p:cNvSpPr/>
          <p:nvPr/>
        </p:nvSpPr>
        <p:spPr>
          <a:xfrm>
            <a:off x="6580036" y="1598034"/>
            <a:ext cx="696000" cy="120900"/>
          </a:xfrm>
          <a:prstGeom prst="roundRect">
            <a:avLst>
              <a:gd name="adj" fmla="val 265816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ea66c3de90_6_0"/>
          <p:cNvSpPr txBox="1"/>
          <p:nvPr/>
        </p:nvSpPr>
        <p:spPr>
          <a:xfrm>
            <a:off x="6580035" y="1598034"/>
            <a:ext cx="7971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AFTER · NILM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g3ea66c3de90_6_0"/>
          <p:cNvSpPr txBox="1"/>
          <p:nvPr/>
        </p:nvSpPr>
        <p:spPr>
          <a:xfrm>
            <a:off x="7331970" y="1578184"/>
            <a:ext cx="1873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22종 가전별 사용량 분해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08" name="Google Shape;508;g3ea66c3de90_6_0" descr="gen-dedup-532082965ca18a540a8f9b83982e3672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733203" y="1907868"/>
            <a:ext cx="101402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ea66c3de90_6_0"/>
          <p:cNvSpPr txBox="1"/>
          <p:nvPr/>
        </p:nvSpPr>
        <p:spPr>
          <a:xfrm>
            <a:off x="6885006" y="1907869"/>
            <a:ext cx="20964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Arial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PER-APPLIANCE · 22 시계열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g3ea66c3de90_6_0"/>
          <p:cNvSpPr txBox="1"/>
          <p:nvPr/>
        </p:nvSpPr>
        <p:spPr>
          <a:xfrm>
            <a:off x="10371358" y="1948150"/>
            <a:ext cx="753000" cy="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22 channels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11" name="Google Shape;511;g3ea66c3de90_6_0" descr="gen-dedup-db00636a7fe37376c221265b0dd50fb5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71805" y="4935302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ea66c3de90_6_0"/>
          <p:cNvSpPr txBox="1"/>
          <p:nvPr/>
        </p:nvSpPr>
        <p:spPr>
          <a:xfrm>
            <a:off x="786749" y="4922502"/>
            <a:ext cx="19533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처리 파이프라인 4단계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g3ea66c3de90_6_0"/>
          <p:cNvSpPr/>
          <p:nvPr/>
        </p:nvSpPr>
        <p:spPr>
          <a:xfrm>
            <a:off x="571805" y="5227506"/>
            <a:ext cx="11005500" cy="267000"/>
          </a:xfrm>
          <a:prstGeom prst="roundRect">
            <a:avLst>
              <a:gd name="adj" fmla="val 108719"/>
            </a:avLst>
          </a:prstGeom>
          <a:solidFill>
            <a:srgbClr val="111827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3ea66c3de90_6_0"/>
          <p:cNvSpPr txBox="1"/>
          <p:nvPr/>
        </p:nvSpPr>
        <p:spPr>
          <a:xfrm>
            <a:off x="729630" y="5316507"/>
            <a:ext cx="11385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단계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5" name="Google Shape;515;g3ea66c3de90_6_0"/>
          <p:cNvSpPr txBox="1"/>
          <p:nvPr/>
        </p:nvSpPr>
        <p:spPr>
          <a:xfrm>
            <a:off x="1968923" y="5316507"/>
            <a:ext cx="46809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내용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6" name="Google Shape;516;g3ea66c3de90_6_0"/>
          <p:cNvSpPr txBox="1"/>
          <p:nvPr/>
        </p:nvSpPr>
        <p:spPr>
          <a:xfrm>
            <a:off x="6750609" y="5316507"/>
            <a:ext cx="46809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산출물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g3ea66c3de90_6_0"/>
          <p:cNvSpPr/>
          <p:nvPr/>
        </p:nvSpPr>
        <p:spPr>
          <a:xfrm>
            <a:off x="723604" y="5697508"/>
            <a:ext cx="214800" cy="2157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ea66c3de90_6_0"/>
          <p:cNvSpPr/>
          <p:nvPr/>
        </p:nvSpPr>
        <p:spPr>
          <a:xfrm>
            <a:off x="723604" y="5697508"/>
            <a:ext cx="2154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ea66c3de90_6_0"/>
          <p:cNvSpPr txBox="1"/>
          <p:nvPr/>
        </p:nvSpPr>
        <p:spPr>
          <a:xfrm>
            <a:off x="988950" y="5763956"/>
            <a:ext cx="7530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INPUT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g3ea66c3de90_6_0"/>
          <p:cNvSpPr txBox="1"/>
          <p:nvPr/>
        </p:nvSpPr>
        <p:spPr>
          <a:xfrm>
            <a:off x="2882802" y="5713967"/>
            <a:ext cx="25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7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g3ea66c3de90_6_0"/>
          <p:cNvSpPr txBox="1"/>
          <p:nvPr/>
        </p:nvSpPr>
        <p:spPr>
          <a:xfrm>
            <a:off x="723604" y="6002308"/>
            <a:ext cx="2385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입력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g3ea66c3de90_6_0"/>
          <p:cNvSpPr txBox="1"/>
          <p:nvPr/>
        </p:nvSpPr>
        <p:spPr>
          <a:xfrm>
            <a:off x="723604" y="6186000"/>
            <a:ext cx="23853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분전반에서 수집한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3" name="Google Shape;523;g3ea66c3de90_6_0"/>
          <p:cNvSpPr/>
          <p:nvPr/>
        </p:nvSpPr>
        <p:spPr>
          <a:xfrm>
            <a:off x="1614601" y="6192096"/>
            <a:ext cx="1490700" cy="114600"/>
          </a:xfrm>
          <a:prstGeom prst="roundRect">
            <a:avLst>
              <a:gd name="adj" fmla="val 236407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ea66c3de90_6_0"/>
          <p:cNvSpPr txBox="1"/>
          <p:nvPr/>
        </p:nvSpPr>
        <p:spPr>
          <a:xfrm>
            <a:off x="1611464" y="6181637"/>
            <a:ext cx="23853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30Hz aggregate active_power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5" name="Google Shape;525;g3ea66c3de90_6_0"/>
          <p:cNvSpPr/>
          <p:nvPr/>
        </p:nvSpPr>
        <p:spPr>
          <a:xfrm>
            <a:off x="3493643" y="5697508"/>
            <a:ext cx="214800" cy="2157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3ea66c3de90_6_0"/>
          <p:cNvSpPr/>
          <p:nvPr/>
        </p:nvSpPr>
        <p:spPr>
          <a:xfrm>
            <a:off x="3493643" y="5697508"/>
            <a:ext cx="2154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ea66c3de90_6_0"/>
          <p:cNvSpPr txBox="1"/>
          <p:nvPr/>
        </p:nvSpPr>
        <p:spPr>
          <a:xfrm>
            <a:off x="3759588" y="5763956"/>
            <a:ext cx="12216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DISAGGREGATION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g3ea66c3de90_6_0"/>
          <p:cNvSpPr txBox="1"/>
          <p:nvPr/>
        </p:nvSpPr>
        <p:spPr>
          <a:xfrm>
            <a:off x="5625516" y="571396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7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9" name="Google Shape;529;g3ea66c3de90_6_0"/>
          <p:cNvSpPr txBox="1"/>
          <p:nvPr/>
        </p:nvSpPr>
        <p:spPr>
          <a:xfrm>
            <a:off x="3493643" y="6002308"/>
            <a:ext cx="2385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분해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g3ea66c3de90_6_0"/>
          <p:cNvSpPr txBox="1"/>
          <p:nvPr/>
        </p:nvSpPr>
        <p:spPr>
          <a:xfrm>
            <a:off x="3493643" y="6186000"/>
            <a:ext cx="23853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NILM </a:t>
            </a: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딥러닝 모델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로 가전별 사용 패턴 추정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1" name="Google Shape;531;g3ea66c3de90_6_0"/>
          <p:cNvSpPr/>
          <p:nvPr/>
        </p:nvSpPr>
        <p:spPr>
          <a:xfrm>
            <a:off x="6264289" y="5697508"/>
            <a:ext cx="214800" cy="215700"/>
          </a:xfrm>
          <a:prstGeom prst="ellipse">
            <a:avLst/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ea66c3de90_6_0"/>
          <p:cNvSpPr/>
          <p:nvPr/>
        </p:nvSpPr>
        <p:spPr>
          <a:xfrm>
            <a:off x="6264289" y="5697508"/>
            <a:ext cx="2154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ea66c3de90_6_0"/>
          <p:cNvSpPr txBox="1"/>
          <p:nvPr/>
        </p:nvSpPr>
        <p:spPr>
          <a:xfrm>
            <a:off x="6529635" y="5763956"/>
            <a:ext cx="1068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POST-PROCESS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4" name="Google Shape;534;g3ea66c3de90_6_0"/>
          <p:cNvSpPr txBox="1"/>
          <p:nvPr/>
        </p:nvSpPr>
        <p:spPr>
          <a:xfrm>
            <a:off x="8390091" y="5713967"/>
            <a:ext cx="2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7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5" name="Google Shape;535;g3ea66c3de90_6_0"/>
          <p:cNvSpPr txBox="1"/>
          <p:nvPr/>
        </p:nvSpPr>
        <p:spPr>
          <a:xfrm>
            <a:off x="6264289" y="6002308"/>
            <a:ext cx="2385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후처리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6" name="Google Shape;536;g3ea66c3de90_6_0"/>
          <p:cNvSpPr txBox="1"/>
          <p:nvPr/>
        </p:nvSpPr>
        <p:spPr>
          <a:xfrm>
            <a:off x="7810542" y="6184121"/>
            <a:ext cx="797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·  · 가구별 보정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g3ea66c3de90_6_0" descr="gen-dedup-94848d5a46b0522d6e5b4e6463dd54f4.png"/>
          <p:cNvPicPr preferRelativeResize="0"/>
          <p:nvPr/>
        </p:nvPicPr>
        <p:blipFill rotWithShape="1">
          <a:blip r:embed="rId18">
            <a:alphaModFix/>
          </a:blip>
          <a:srcRect l="-2083" r="-2083"/>
          <a:stretch/>
        </p:blipFill>
        <p:spPr>
          <a:xfrm>
            <a:off x="6264289" y="6405254"/>
            <a:ext cx="2384468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g3ea66c3de90_6_0"/>
          <p:cNvSpPr/>
          <p:nvPr/>
        </p:nvSpPr>
        <p:spPr>
          <a:xfrm>
            <a:off x="6264283" y="6198800"/>
            <a:ext cx="885300" cy="101700"/>
          </a:xfrm>
          <a:prstGeom prst="roundRect">
            <a:avLst>
              <a:gd name="adj" fmla="val 224551"/>
            </a:avLst>
          </a:prstGeom>
          <a:solidFill>
            <a:srgbClr val="FEF3C7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g3ea66c3de90_6_0"/>
          <p:cNvSpPr txBox="1"/>
          <p:nvPr/>
        </p:nvSpPr>
        <p:spPr>
          <a:xfrm>
            <a:off x="6270311" y="6198800"/>
            <a:ext cx="955200" cy="101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75" tIns="8475" rIns="3387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OFF suppression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0" name="Google Shape;540;g3ea66c3de90_6_0"/>
          <p:cNvSpPr/>
          <p:nvPr/>
        </p:nvSpPr>
        <p:spPr>
          <a:xfrm>
            <a:off x="7224262" y="6198800"/>
            <a:ext cx="557700" cy="101700"/>
          </a:xfrm>
          <a:prstGeom prst="roundRect">
            <a:avLst>
              <a:gd name="adj" fmla="val 224551"/>
            </a:avLst>
          </a:prstGeom>
          <a:solidFill>
            <a:srgbClr val="FEF3C7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g3ea66c3de90_6_0"/>
          <p:cNvSpPr txBox="1"/>
          <p:nvPr/>
        </p:nvSpPr>
        <p:spPr>
          <a:xfrm>
            <a:off x="7224262" y="6198800"/>
            <a:ext cx="557700" cy="101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75" tIns="8475" rIns="3387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hysteresis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2" name="Google Shape;542;g3ea66c3de90_6_0"/>
          <p:cNvSpPr/>
          <p:nvPr/>
        </p:nvSpPr>
        <p:spPr>
          <a:xfrm>
            <a:off x="9034328" y="5697508"/>
            <a:ext cx="214800" cy="215700"/>
          </a:xfrm>
          <a:prstGeom prst="ellipse">
            <a:avLst/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3ea66c3de90_6_0"/>
          <p:cNvSpPr/>
          <p:nvPr/>
        </p:nvSpPr>
        <p:spPr>
          <a:xfrm>
            <a:off x="9034328" y="5697508"/>
            <a:ext cx="2154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ea66c3de90_6_0"/>
          <p:cNvSpPr txBox="1"/>
          <p:nvPr/>
        </p:nvSpPr>
        <p:spPr>
          <a:xfrm>
            <a:off x="9306300" y="5770856"/>
            <a:ext cx="5253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HANDOFF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5" name="Google Shape;545;g3ea66c3de90_6_0"/>
          <p:cNvSpPr txBox="1"/>
          <p:nvPr/>
        </p:nvSpPr>
        <p:spPr>
          <a:xfrm>
            <a:off x="11155271" y="5713967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7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g3ea66c3de90_6_0"/>
          <p:cNvSpPr txBox="1"/>
          <p:nvPr/>
        </p:nvSpPr>
        <p:spPr>
          <a:xfrm>
            <a:off x="9040354" y="6002308"/>
            <a:ext cx="2385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전달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47" name="Google Shape;547;g3ea66c3de90_6_0"/>
          <p:cNvPicPr preferRelativeResize="0"/>
          <p:nvPr/>
        </p:nvPicPr>
        <p:blipFill rotWithShape="1">
          <a:blip r:embed="rId19">
            <a:alphaModFix/>
          </a:blip>
          <a:srcRect l="3927" t="3546" r="26207" b="75982"/>
          <a:stretch/>
        </p:blipFill>
        <p:spPr>
          <a:xfrm>
            <a:off x="904584" y="2146447"/>
            <a:ext cx="4491733" cy="1375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ea66c3de90_6_0"/>
          <p:cNvPicPr preferRelativeResize="0"/>
          <p:nvPr/>
        </p:nvPicPr>
        <p:blipFill rotWithShape="1">
          <a:blip r:embed="rId19">
            <a:alphaModFix/>
          </a:blip>
          <a:srcRect l="3607" t="78252" r="27952" b="2945"/>
          <a:stretch/>
        </p:blipFill>
        <p:spPr>
          <a:xfrm>
            <a:off x="6866926" y="3042967"/>
            <a:ext cx="3954260" cy="99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ea66c3de90_6_0"/>
          <p:cNvPicPr preferRelativeResize="0"/>
          <p:nvPr/>
        </p:nvPicPr>
        <p:blipFill rotWithShape="1">
          <a:blip r:embed="rId19">
            <a:alphaModFix/>
          </a:blip>
          <a:srcRect l="4004" t="52389" r="27555" b="29799"/>
          <a:stretch/>
        </p:blipFill>
        <p:spPr>
          <a:xfrm>
            <a:off x="6847303" y="2075870"/>
            <a:ext cx="3993503" cy="90402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ea66c3de90_6_0"/>
          <p:cNvSpPr txBox="1"/>
          <p:nvPr/>
        </p:nvSpPr>
        <p:spPr>
          <a:xfrm>
            <a:off x="10255523" y="2665792"/>
            <a:ext cx="8997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>
                <a:solidFill>
                  <a:srgbClr val="064E3B"/>
                </a:solidFill>
              </a:rPr>
              <a:t>인덕션(전기레인지)</a:t>
            </a:r>
            <a:endParaRPr sz="800" b="1" i="0" u="none" strike="noStrike" cap="none">
              <a:solidFill>
                <a:srgbClr val="064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ea66c3de90_6_0"/>
          <p:cNvSpPr txBox="1"/>
          <p:nvPr/>
        </p:nvSpPr>
        <p:spPr>
          <a:xfrm>
            <a:off x="10255523" y="3671626"/>
            <a:ext cx="8997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b="1">
                <a:solidFill>
                  <a:srgbClr val="064E3B"/>
                </a:solidFill>
              </a:rPr>
              <a:t>컴퓨터</a:t>
            </a:r>
            <a:endParaRPr sz="800" b="1" i="0" u="none" strike="noStrike" cap="none">
              <a:solidFill>
                <a:srgbClr val="064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g3ea66c3de90_6_0" descr="gen-dedup-20bd5823d91c7830ae4804b610cdf54a.png"/>
          <p:cNvPicPr preferRelativeResize="0"/>
          <p:nvPr/>
        </p:nvPicPr>
        <p:blipFill rotWithShape="1">
          <a:blip r:embed="rId20">
            <a:alphaModFix/>
          </a:blip>
          <a:srcRect t="-120" b="-120"/>
          <a:stretch/>
        </p:blipFill>
        <p:spPr>
          <a:xfrm>
            <a:off x="5944848" y="2909451"/>
            <a:ext cx="373523" cy="5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ea66c3de90_6_0"/>
          <p:cNvSpPr txBox="1"/>
          <p:nvPr/>
        </p:nvSpPr>
        <p:spPr>
          <a:xfrm>
            <a:off x="2148363" y="42213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역할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g3eaa469dcba_0_0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554" y="729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eaa469dcba_0_0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eaa469dcba_0_0" descr="gen-dedup-b20a7997258d64f25f67a2a18d5f643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3eaa469dcba_0_0" descr="gen-dedup-bf1e585a96b69221771a385f8b8739c2.png"/>
          <p:cNvPicPr preferRelativeResize="0"/>
          <p:nvPr/>
        </p:nvPicPr>
        <p:blipFill rotWithShape="1">
          <a:blip r:embed="rId6">
            <a:alphaModFix/>
          </a:blip>
          <a:srcRect b="-10"/>
          <a:stretch/>
        </p:blipFill>
        <p:spPr>
          <a:xfrm>
            <a:off x="571800" y="1439400"/>
            <a:ext cx="4826203" cy="13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g3eaa469dcba_0_0" descr="gen-dedup-5e114708daff8dc134e55ad6043fc7fd.png"/>
          <p:cNvPicPr preferRelativeResize="0"/>
          <p:nvPr/>
        </p:nvPicPr>
        <p:blipFill rotWithShape="1">
          <a:blip r:embed="rId7">
            <a:alphaModFix/>
          </a:blip>
          <a:srcRect t="-10"/>
          <a:stretch/>
        </p:blipFill>
        <p:spPr>
          <a:xfrm>
            <a:off x="5524800" y="1439400"/>
            <a:ext cx="6096000" cy="13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3eaa469dcba_0_0" descr="gen-dedup-3cc498acea6c0e98111433e9a31aafbb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050" y="3254089"/>
            <a:ext cx="2159200" cy="312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eaa469dcba_0_0" descr="gen-dedup-3cc498acea6c0e98111433e9a31aafbb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32200" y="3254089"/>
            <a:ext cx="2159200" cy="14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g3eaa469dcba_0_0" descr="gen-dedup-3cc498acea6c0e98111433e9a31aafbb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32200" y="4762814"/>
            <a:ext cx="2159200" cy="16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eaa469dcba_0_0" descr="gen-dedup-3cc498acea6c0e98111433e9a31aafbb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3600" y="3265275"/>
            <a:ext cx="2159200" cy="30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g3eaa469dcba_0_0" descr="gen-dedup-c6b1f9efa440c0edf0d4a8b1f7432e01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4050" y="3250075"/>
            <a:ext cx="2006800" cy="309682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3eaa469dcba_0_0"/>
          <p:cNvSpPr txBox="1"/>
          <p:nvPr/>
        </p:nvSpPr>
        <p:spPr>
          <a:xfrm>
            <a:off x="1193597" y="852831"/>
            <a:ext cx="8890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평균 오차가 아니라 —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서비스에서 사용할 수 있는 분해 정확도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를 목표로 개선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70" name="Google Shape;570;g3eaa469dcba_0_0" descr="gen-dedup-08be0f7f1edac8043beb2ec0e9d95f2c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1582158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eaa469dcba_0_0"/>
          <p:cNvSpPr txBox="1"/>
          <p:nvPr/>
        </p:nvSpPr>
        <p:spPr>
          <a:xfrm>
            <a:off x="965001" y="1576058"/>
            <a:ext cx="1059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3대 검증 기준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2" name="Google Shape;572;g3eaa469dcba_0_0"/>
          <p:cNvSpPr/>
          <p:nvPr/>
        </p:nvSpPr>
        <p:spPr>
          <a:xfrm>
            <a:off x="762000" y="1850259"/>
            <a:ext cx="1333800" cy="648000"/>
          </a:xfrm>
          <a:prstGeom prst="roundRect">
            <a:avLst>
              <a:gd name="adj" fmla="val 18446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eaa469dcba_0_0"/>
          <p:cNvSpPr txBox="1"/>
          <p:nvPr/>
        </p:nvSpPr>
        <p:spPr>
          <a:xfrm>
            <a:off x="819303" y="2063497"/>
            <a:ext cx="12192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전력 예측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오차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4" name="Google Shape;574;g3eaa469dcba_0_0"/>
          <p:cNvSpPr txBox="1"/>
          <p:nvPr/>
        </p:nvSpPr>
        <p:spPr>
          <a:xfrm>
            <a:off x="819303" y="2329404"/>
            <a:ext cx="12192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JetBrains Mono"/>
              <a:buNone/>
            </a:pPr>
            <a:r>
              <a:rPr lang="en-US" sz="7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MAE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75" name="Google Shape;575;g3eaa469dcba_0_0" descr="gen-dedup-20bd5823d91c7830ae4804b610cdf54a.png"/>
          <p:cNvPicPr preferRelativeResize="0"/>
          <p:nvPr/>
        </p:nvPicPr>
        <p:blipFill rotWithShape="1">
          <a:blip r:embed="rId11">
            <a:alphaModFix/>
          </a:blip>
          <a:srcRect t="-120" b="-120"/>
          <a:stretch/>
        </p:blipFill>
        <p:spPr>
          <a:xfrm>
            <a:off x="2142135" y="2045331"/>
            <a:ext cx="126797" cy="254203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eaa469dcba_0_0"/>
          <p:cNvSpPr/>
          <p:nvPr/>
        </p:nvSpPr>
        <p:spPr>
          <a:xfrm>
            <a:off x="2320137" y="1850259"/>
            <a:ext cx="1333800" cy="648000"/>
          </a:xfrm>
          <a:prstGeom prst="roundRect">
            <a:avLst>
              <a:gd name="adj" fmla="val 18446"/>
            </a:avLst>
          </a:prstGeom>
          <a:solidFill>
            <a:srgbClr val="F0FDF4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g3eaa469dcba_0_0"/>
          <p:cNvSpPr txBox="1"/>
          <p:nvPr/>
        </p:nvSpPr>
        <p:spPr>
          <a:xfrm>
            <a:off x="2376831" y="1945356"/>
            <a:ext cx="12192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CRITERIA 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8" name="Google Shape;578;g3eaa469dcba_0_0"/>
          <p:cNvSpPr txBox="1"/>
          <p:nvPr/>
        </p:nvSpPr>
        <p:spPr>
          <a:xfrm>
            <a:off x="2376831" y="2063497"/>
            <a:ext cx="12192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사용 구간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탐지 성능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9" name="Google Shape;579;g3eaa469dcba_0_0"/>
          <p:cNvSpPr txBox="1"/>
          <p:nvPr/>
        </p:nvSpPr>
        <p:spPr>
          <a:xfrm>
            <a:off x="2376831" y="2329404"/>
            <a:ext cx="12192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JetBrains Mono"/>
              <a:buNone/>
            </a:pPr>
            <a:r>
              <a:rPr lang="en-US" sz="700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event F1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80" name="Google Shape;580;g3eaa469dcba_0_0" descr="gen-dedup-20bd5823d91c7830ae4804b610cdf54a.png"/>
          <p:cNvPicPr preferRelativeResize="0"/>
          <p:nvPr/>
        </p:nvPicPr>
        <p:blipFill rotWithShape="1">
          <a:blip r:embed="rId11">
            <a:alphaModFix/>
          </a:blip>
          <a:srcRect t="-120" b="-120"/>
          <a:stretch/>
        </p:blipFill>
        <p:spPr>
          <a:xfrm>
            <a:off x="3699663" y="2045331"/>
            <a:ext cx="126797" cy="25420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eaa469dcba_0_0"/>
          <p:cNvSpPr/>
          <p:nvPr/>
        </p:nvSpPr>
        <p:spPr>
          <a:xfrm>
            <a:off x="3877665" y="1850259"/>
            <a:ext cx="1333800" cy="648000"/>
          </a:xfrm>
          <a:prstGeom prst="roundRect">
            <a:avLst>
              <a:gd name="adj" fmla="val 18446"/>
            </a:avLst>
          </a:prstGeom>
          <a:solidFill>
            <a:srgbClr val="ECFDF5"/>
          </a:solidFill>
          <a:ln w="847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3eaa469dcba_0_0"/>
          <p:cNvSpPr txBox="1"/>
          <p:nvPr/>
        </p:nvSpPr>
        <p:spPr>
          <a:xfrm>
            <a:off x="3934968" y="1945356"/>
            <a:ext cx="12192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CRITERIA 3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3" name="Google Shape;583;g3eaa469dcba_0_0"/>
          <p:cNvSpPr txBox="1"/>
          <p:nvPr/>
        </p:nvSpPr>
        <p:spPr>
          <a:xfrm>
            <a:off x="3934968" y="2063497"/>
            <a:ext cx="12192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누적 사용량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오차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4" name="Google Shape;584;g3eaa469dcba_0_0"/>
          <p:cNvSpPr txBox="1"/>
          <p:nvPr/>
        </p:nvSpPr>
        <p:spPr>
          <a:xfrm>
            <a:off x="3934968" y="2329404"/>
            <a:ext cx="12192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JetBrains Mono"/>
              <a:buNone/>
            </a:pPr>
            <a:r>
              <a:rPr lang="en-US" sz="700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Aggregate SAE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85" name="Google Shape;585;g3eaa469dcba_0_0" descr="gen-dedup-b9935034413031afd238e69aa6504396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0" y="1582158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eaa469dcba_0_0"/>
          <p:cNvSpPr txBox="1"/>
          <p:nvPr/>
        </p:nvSpPr>
        <p:spPr>
          <a:xfrm>
            <a:off x="5918001" y="1576058"/>
            <a:ext cx="1333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초기 모델의 한계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g3eaa469dcba_0_0"/>
          <p:cNvSpPr/>
          <p:nvPr/>
        </p:nvSpPr>
        <p:spPr>
          <a:xfrm>
            <a:off x="5715000" y="1879401"/>
            <a:ext cx="2819400" cy="648000"/>
          </a:xfrm>
          <a:prstGeom prst="roundRect">
            <a:avLst>
              <a:gd name="adj" fmla="val 34144"/>
            </a:avLst>
          </a:prstGeom>
          <a:solidFill>
            <a:srgbClr val="FFFFFF"/>
          </a:solidFill>
          <a:ln w="8475" cap="flat" cmpd="sng">
            <a:solidFill>
              <a:srgbClr val="FBCF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g3eaa469dcba_0_0"/>
          <p:cNvSpPr/>
          <p:nvPr/>
        </p:nvSpPr>
        <p:spPr>
          <a:xfrm>
            <a:off x="5841085" y="1975104"/>
            <a:ext cx="114600" cy="1146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3eaa469dcba_0_0"/>
          <p:cNvSpPr/>
          <p:nvPr/>
        </p:nvSpPr>
        <p:spPr>
          <a:xfrm>
            <a:off x="5843383" y="1975104"/>
            <a:ext cx="1146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eaa469dcba_0_0"/>
          <p:cNvSpPr txBox="1"/>
          <p:nvPr/>
        </p:nvSpPr>
        <p:spPr>
          <a:xfrm>
            <a:off x="5995784" y="1987300"/>
            <a:ext cx="10581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10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PROBLEM 01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1" name="Google Shape;591;g3eaa469dcba_0_0"/>
          <p:cNvSpPr txBox="1"/>
          <p:nvPr/>
        </p:nvSpPr>
        <p:spPr>
          <a:xfrm>
            <a:off x="5883436" y="2203704"/>
            <a:ext cx="26037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실제로 꺼져 있는데도 </a:t>
            </a:r>
            <a:b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계속 켜진 것으로 예측</a:t>
            </a: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되는 가전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2" name="Google Shape;592;g3eaa469dcba_0_0"/>
          <p:cNvSpPr/>
          <p:nvPr/>
        </p:nvSpPr>
        <p:spPr>
          <a:xfrm>
            <a:off x="8610600" y="1879406"/>
            <a:ext cx="2819400" cy="648000"/>
          </a:xfrm>
          <a:prstGeom prst="roundRect">
            <a:avLst>
              <a:gd name="adj" fmla="val 34144"/>
            </a:avLst>
          </a:prstGeom>
          <a:solidFill>
            <a:srgbClr val="FFFFFF"/>
          </a:solidFill>
          <a:ln w="8475" cap="flat" cmpd="sng">
            <a:solidFill>
              <a:srgbClr val="FBCF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3eaa469dcba_0_0"/>
          <p:cNvSpPr/>
          <p:nvPr/>
        </p:nvSpPr>
        <p:spPr>
          <a:xfrm>
            <a:off x="8736685" y="1975104"/>
            <a:ext cx="114600" cy="1146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3eaa469dcba_0_0"/>
          <p:cNvSpPr/>
          <p:nvPr/>
        </p:nvSpPr>
        <p:spPr>
          <a:xfrm>
            <a:off x="8738983" y="1975104"/>
            <a:ext cx="1146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eaa469dcba_0_0"/>
          <p:cNvSpPr txBox="1"/>
          <p:nvPr/>
        </p:nvSpPr>
        <p:spPr>
          <a:xfrm>
            <a:off x="8891384" y="1987300"/>
            <a:ext cx="11133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10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PROBLEM 02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g3eaa469dcba_0_0"/>
          <p:cNvSpPr txBox="1"/>
          <p:nvPr/>
        </p:nvSpPr>
        <p:spPr>
          <a:xfrm>
            <a:off x="8779036" y="2203704"/>
            <a:ext cx="26037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순간 예측 오차는 낮아도 </a:t>
            </a:r>
            <a:b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누적 사용량에서 큰 차이</a:t>
            </a: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발생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97" name="Google Shape;597;g3eaa469dcba_0_0" descr="gen-dedup-57a641e6e1382ce81cd58b4345ab6e39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71805" y="295899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eaa469dcba_0_0"/>
          <p:cNvSpPr txBox="1"/>
          <p:nvPr/>
        </p:nvSpPr>
        <p:spPr>
          <a:xfrm>
            <a:off x="787600" y="2946200"/>
            <a:ext cx="17910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 엔진 버전별 진화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g3eaa469dcba_0_0"/>
          <p:cNvSpPr/>
          <p:nvPr/>
        </p:nvSpPr>
        <p:spPr>
          <a:xfrm>
            <a:off x="724200" y="3360975"/>
            <a:ext cx="1198200" cy="158400"/>
          </a:xfrm>
          <a:prstGeom prst="roundRect">
            <a:avLst>
              <a:gd name="adj" fmla="val 184615"/>
            </a:avLst>
          </a:prstGeom>
          <a:solidFill>
            <a:srgbClr val="F3F4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g3eaa469dcba_0_0"/>
          <p:cNvSpPr txBox="1"/>
          <p:nvPr/>
        </p:nvSpPr>
        <p:spPr>
          <a:xfrm>
            <a:off x="724200" y="3362186"/>
            <a:ext cx="13236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900" b="1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1.1 기본 분해 모델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1" name="Google Shape;601;g3eaa469dcba_0_0"/>
          <p:cNvSpPr txBox="1"/>
          <p:nvPr/>
        </p:nvSpPr>
        <p:spPr>
          <a:xfrm>
            <a:off x="724205" y="3608462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핵심 실험 / 개선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2" name="Google Shape;602;g3eaa469dcba_0_0"/>
          <p:cNvSpPr txBox="1"/>
          <p:nvPr/>
        </p:nvSpPr>
        <p:spPr>
          <a:xfrm>
            <a:off x="724200" y="3755775"/>
            <a:ext cx="420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eaa469dcba_0_0"/>
          <p:cNvSpPr txBox="1"/>
          <p:nvPr/>
        </p:nvSpPr>
        <p:spPr>
          <a:xfrm>
            <a:off x="786374" y="3785362"/>
            <a:ext cx="1599600" cy="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Per-appliance head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4" name="Google Shape;604;g3eaa469dcba_0_0"/>
          <p:cNvSpPr txBox="1"/>
          <p:nvPr/>
        </p:nvSpPr>
        <p:spPr>
          <a:xfrm>
            <a:off x="724200" y="3922537"/>
            <a:ext cx="420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g3eaa469dcba_0_0" descr="gen-dedup-f054015fc80787fcfaca9995a3540823.png"/>
          <p:cNvPicPr preferRelativeResize="0"/>
          <p:nvPr/>
        </p:nvPicPr>
        <p:blipFill rotWithShape="1">
          <a:blip r:embed="rId14">
            <a:alphaModFix/>
          </a:blip>
          <a:srcRect l="-2094" r="-2084"/>
          <a:stretch/>
        </p:blipFill>
        <p:spPr>
          <a:xfrm>
            <a:off x="724205" y="4707741"/>
            <a:ext cx="1854403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eaa469dcba_0_0"/>
          <p:cNvSpPr txBox="1"/>
          <p:nvPr/>
        </p:nvSpPr>
        <p:spPr>
          <a:xfrm>
            <a:off x="724205" y="4985004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결과 / 판단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7" name="Google Shape;607;g3eaa469dcba_0_0"/>
          <p:cNvSpPr/>
          <p:nvPr/>
        </p:nvSpPr>
        <p:spPr>
          <a:xfrm>
            <a:off x="724200" y="5189513"/>
            <a:ext cx="1943100" cy="800400"/>
          </a:xfrm>
          <a:prstGeom prst="roundRect">
            <a:avLst>
              <a:gd name="adj" fmla="val 17765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g3eaa469dcba_0_0"/>
          <p:cNvSpPr/>
          <p:nvPr/>
        </p:nvSpPr>
        <p:spPr>
          <a:xfrm>
            <a:off x="711328" y="5189509"/>
            <a:ext cx="18900" cy="774300"/>
          </a:xfrm>
          <a:prstGeom prst="roundRect">
            <a:avLst>
              <a:gd name="adj" fmla="val 537642"/>
            </a:avLst>
          </a:prstGeom>
          <a:solidFill>
            <a:srgbClr val="E63946"/>
          </a:solidFill>
          <a:ln w="8475" cap="flat" cmpd="sng">
            <a:solidFill>
              <a:srgbClr val="E6394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3eaa469dcba_0_0"/>
          <p:cNvSpPr txBox="1"/>
          <p:nvPr/>
        </p:nvSpPr>
        <p:spPr>
          <a:xfrm>
            <a:off x="835810" y="5634158"/>
            <a:ext cx="16704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평균 오차는 줄었으나 </a:t>
            </a:r>
            <a:r>
              <a:rPr lang="en-US" sz="8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일부 가전이 항상 ON 으로 예측</a:t>
            </a: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되는 문제 확인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0" name="Google Shape;610;g3eaa469dcba_0_0"/>
          <p:cNvSpPr txBox="1"/>
          <p:nvPr/>
        </p:nvSpPr>
        <p:spPr>
          <a:xfrm>
            <a:off x="786370" y="3922537"/>
            <a:ext cx="10581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Threshold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1" name="Google Shape;611;g3eaa469dcba_0_0"/>
          <p:cNvSpPr txBox="1"/>
          <p:nvPr/>
        </p:nvSpPr>
        <p:spPr>
          <a:xfrm>
            <a:off x="724200" y="4122046"/>
            <a:ext cx="420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eaa469dcba_0_0"/>
          <p:cNvSpPr txBox="1"/>
          <p:nvPr/>
        </p:nvSpPr>
        <p:spPr>
          <a:xfrm>
            <a:off x="786387" y="4122046"/>
            <a:ext cx="6741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Calibration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g3eaa469dcba_0_0"/>
          <p:cNvSpPr txBox="1"/>
          <p:nvPr/>
        </p:nvSpPr>
        <p:spPr>
          <a:xfrm>
            <a:off x="2984601" y="4112231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결과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4" name="Google Shape;614;g3eaa469dcba_0_0"/>
          <p:cNvSpPr/>
          <p:nvPr/>
        </p:nvSpPr>
        <p:spPr>
          <a:xfrm>
            <a:off x="2901450" y="4229150"/>
            <a:ext cx="2006700" cy="420600"/>
          </a:xfrm>
          <a:prstGeom prst="roundRect">
            <a:avLst>
              <a:gd name="adj" fmla="val 19596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3eaa469dcba_0_0"/>
          <p:cNvSpPr txBox="1"/>
          <p:nvPr/>
        </p:nvSpPr>
        <p:spPr>
          <a:xfrm>
            <a:off x="3044758" y="4319744"/>
            <a:ext cx="7914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Joint MAE</a:t>
            </a:r>
            <a:endParaRPr sz="800" i="0" u="none" strike="noStrike" cap="none">
              <a:solidFill>
                <a:srgbClr val="3B82F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6" name="Google Shape;616;g3eaa469dcba_0_0"/>
          <p:cNvSpPr txBox="1"/>
          <p:nvPr/>
        </p:nvSpPr>
        <p:spPr>
          <a:xfrm>
            <a:off x="4214701" y="4297551"/>
            <a:ext cx="457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20.64</a:t>
            </a: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W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g3eaa469dcba_0_0"/>
          <p:cNvSpPr txBox="1"/>
          <p:nvPr/>
        </p:nvSpPr>
        <p:spPr>
          <a:xfrm>
            <a:off x="3044758" y="4480512"/>
            <a:ext cx="740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Top-7 event F1</a:t>
            </a:r>
            <a:endParaRPr sz="800" i="0" u="none" strike="noStrike" cap="none">
              <a:solidFill>
                <a:srgbClr val="3B82F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8" name="Google Shape;618;g3eaa469dcba_0_0"/>
          <p:cNvSpPr txBox="1"/>
          <p:nvPr/>
        </p:nvSpPr>
        <p:spPr>
          <a:xfrm>
            <a:off x="4293901" y="4458319"/>
            <a:ext cx="37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JetBrains Mono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0.808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9" name="Google Shape;619;g3eaa469dcba_0_0"/>
          <p:cNvSpPr txBox="1"/>
          <p:nvPr/>
        </p:nvSpPr>
        <p:spPr>
          <a:xfrm>
            <a:off x="2984601" y="3608462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핵심 실험 / 개선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0" name="Google Shape;620;g3eaa469dcba_0_0"/>
          <p:cNvSpPr txBox="1"/>
          <p:nvPr/>
        </p:nvSpPr>
        <p:spPr>
          <a:xfrm>
            <a:off x="2984601" y="3755776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eaa469dcba_0_0"/>
          <p:cNvSpPr txBox="1"/>
          <p:nvPr/>
        </p:nvSpPr>
        <p:spPr>
          <a:xfrm>
            <a:off x="3046775" y="3738676"/>
            <a:ext cx="13338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79가구 데이터 확장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2" name="Google Shape;622;g3eaa469dcba_0_0"/>
          <p:cNvSpPr txBox="1"/>
          <p:nvPr/>
        </p:nvSpPr>
        <p:spPr>
          <a:xfrm>
            <a:off x="2984601" y="3896966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eaa469dcba_0_0"/>
          <p:cNvSpPr txBox="1"/>
          <p:nvPr/>
        </p:nvSpPr>
        <p:spPr>
          <a:xfrm>
            <a:off x="3046783" y="3896966"/>
            <a:ext cx="12363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Joint / Finetune 비교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4" name="Google Shape;624;g3eaa469dcba_0_0"/>
          <p:cNvSpPr/>
          <p:nvPr/>
        </p:nvSpPr>
        <p:spPr>
          <a:xfrm flipH="1">
            <a:off x="2912166" y="4229150"/>
            <a:ext cx="18900" cy="420600"/>
          </a:xfrm>
          <a:prstGeom prst="roundRect">
            <a:avLst>
              <a:gd name="adj" fmla="val 460836"/>
            </a:avLst>
          </a:prstGeom>
          <a:solidFill>
            <a:srgbClr val="3B82F6"/>
          </a:solidFill>
          <a:ln w="8475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g3eaa469dcba_0_0"/>
          <p:cNvSpPr txBox="1"/>
          <p:nvPr/>
        </p:nvSpPr>
        <p:spPr>
          <a:xfrm>
            <a:off x="2984599" y="5105731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핵심 실험 / 개선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g3eaa469dcba_0_0"/>
          <p:cNvSpPr txBox="1"/>
          <p:nvPr/>
        </p:nvSpPr>
        <p:spPr>
          <a:xfrm>
            <a:off x="2984599" y="5243704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eaa469dcba_0_0"/>
          <p:cNvSpPr txBox="1"/>
          <p:nvPr/>
        </p:nvSpPr>
        <p:spPr>
          <a:xfrm>
            <a:off x="2984599" y="5419094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eaa469dcba_0_0"/>
          <p:cNvSpPr txBox="1"/>
          <p:nvPr/>
        </p:nvSpPr>
        <p:spPr>
          <a:xfrm>
            <a:off x="3047375" y="5398844"/>
            <a:ext cx="10593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TDA selective 적용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9" name="Google Shape;629;g3eaa469dcba_0_0"/>
          <p:cNvSpPr txBox="1"/>
          <p:nvPr/>
        </p:nvSpPr>
        <p:spPr>
          <a:xfrm>
            <a:off x="2984599" y="5604117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결과 / 판단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0" name="Google Shape;630;g3eaa469dcba_0_0"/>
          <p:cNvSpPr/>
          <p:nvPr/>
        </p:nvSpPr>
        <p:spPr>
          <a:xfrm>
            <a:off x="2908400" y="5743600"/>
            <a:ext cx="2006700" cy="503400"/>
          </a:xfrm>
          <a:prstGeom prst="roundRect">
            <a:avLst>
              <a:gd name="adj" fmla="val 15720"/>
            </a:avLst>
          </a:prstGeom>
          <a:solidFill>
            <a:srgbClr val="FFFBE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g3eaa469dcba_0_0"/>
          <p:cNvSpPr/>
          <p:nvPr/>
        </p:nvSpPr>
        <p:spPr>
          <a:xfrm flipH="1">
            <a:off x="2927300" y="5752221"/>
            <a:ext cx="18900" cy="488100"/>
          </a:xfrm>
          <a:prstGeom prst="roundRect">
            <a:avLst>
              <a:gd name="adj" fmla="val 460836"/>
            </a:avLst>
          </a:prstGeom>
          <a:solidFill>
            <a:srgbClr val="F59E0B"/>
          </a:solidFill>
          <a:ln w="8475" cap="flat" cmpd="sng">
            <a:solidFill>
              <a:srgbClr val="F59E0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g3eaa469dcba_0_0"/>
          <p:cNvSpPr txBox="1"/>
          <p:nvPr/>
        </p:nvSpPr>
        <p:spPr>
          <a:xfrm>
            <a:off x="3025342" y="5719001"/>
            <a:ext cx="18807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누적 사용량 오차 한계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3" name="Google Shape;633;g3eaa469dcba_0_0"/>
          <p:cNvSpPr txBox="1"/>
          <p:nvPr/>
        </p:nvSpPr>
        <p:spPr>
          <a:xfrm>
            <a:off x="3025331" y="5930791"/>
            <a:ext cx="941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Aggregate SAE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4" name="Google Shape;634;g3eaa469dcba_0_0"/>
          <p:cNvSpPr txBox="1"/>
          <p:nvPr/>
        </p:nvSpPr>
        <p:spPr>
          <a:xfrm>
            <a:off x="4210590" y="5908591"/>
            <a:ext cx="468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17.55</a:t>
            </a:r>
            <a:r>
              <a:rPr lang="en-US" sz="7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%</a:t>
            </a:r>
            <a:endParaRPr sz="1100" i="0" u="none" strike="noStrike" cap="none">
              <a:solidFill>
                <a:srgbClr val="78350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g3eaa469dcba_0_0"/>
          <p:cNvSpPr txBox="1"/>
          <p:nvPr/>
        </p:nvSpPr>
        <p:spPr>
          <a:xfrm>
            <a:off x="3047350" y="5256515"/>
            <a:ext cx="14514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멀티레이트 CNN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g3eaa469dcba_0_0"/>
          <p:cNvSpPr txBox="1"/>
          <p:nvPr/>
        </p:nvSpPr>
        <p:spPr>
          <a:xfrm>
            <a:off x="7506005" y="3608462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핵심 실험 / 개선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7" name="Google Shape;637;g3eaa469dcba_0_0"/>
          <p:cNvSpPr txBox="1"/>
          <p:nvPr/>
        </p:nvSpPr>
        <p:spPr>
          <a:xfrm>
            <a:off x="7506000" y="4268807"/>
            <a:ext cx="42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g3eaa469dcba_0_0" descr="gen-dedup-f054015fc80787fcfaca9995a3540823.png"/>
          <p:cNvPicPr preferRelativeResize="0"/>
          <p:nvPr/>
        </p:nvPicPr>
        <p:blipFill rotWithShape="1">
          <a:blip r:embed="rId14">
            <a:alphaModFix/>
          </a:blip>
          <a:srcRect l="-2094" r="-2084"/>
          <a:stretch/>
        </p:blipFill>
        <p:spPr>
          <a:xfrm>
            <a:off x="7506005" y="4707741"/>
            <a:ext cx="1854403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3eaa469dcba_0_0"/>
          <p:cNvSpPr txBox="1"/>
          <p:nvPr/>
        </p:nvSpPr>
        <p:spPr>
          <a:xfrm>
            <a:off x="7572774" y="4985004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결과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0" name="Google Shape;640;g3eaa469dcba_0_0"/>
          <p:cNvSpPr/>
          <p:nvPr/>
        </p:nvSpPr>
        <p:spPr>
          <a:xfrm>
            <a:off x="7506000" y="5181058"/>
            <a:ext cx="1854300" cy="839700"/>
          </a:xfrm>
          <a:prstGeom prst="roundRect">
            <a:avLst>
              <a:gd name="adj" fmla="val 17527"/>
            </a:avLst>
          </a:prstGeom>
          <a:solidFill>
            <a:srgbClr val="094B86">
              <a:alpha val="8860"/>
            </a:srgbClr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3eaa469dcba_0_0"/>
          <p:cNvSpPr/>
          <p:nvPr/>
        </p:nvSpPr>
        <p:spPr>
          <a:xfrm>
            <a:off x="7506000" y="5192183"/>
            <a:ext cx="18900" cy="800400"/>
          </a:xfrm>
          <a:prstGeom prst="roundRect">
            <a:avLst>
              <a:gd name="adj" fmla="val 435926"/>
            </a:avLst>
          </a:prstGeom>
          <a:solidFill>
            <a:srgbClr val="094B86"/>
          </a:solidFill>
          <a:ln w="8475" cap="flat" cmpd="sng">
            <a:solidFill>
              <a:srgbClr val="7C3AE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94B86"/>
              </a:solidFill>
            </a:endParaRPr>
          </a:p>
        </p:txBody>
      </p:sp>
      <p:sp>
        <p:nvSpPr>
          <p:cNvPr id="642" name="Google Shape;642;g3eaa469dcba_0_0"/>
          <p:cNvSpPr txBox="1"/>
          <p:nvPr/>
        </p:nvSpPr>
        <p:spPr>
          <a:xfrm>
            <a:off x="7607199" y="5227128"/>
            <a:ext cx="16704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누적 사용량 오차 </a:t>
            </a:r>
            <a:r>
              <a:rPr lang="en-US" sz="8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대폭 개선</a:t>
            </a:r>
            <a:endParaRPr sz="8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g3eaa469dcba_0_0"/>
          <p:cNvSpPr txBox="1"/>
          <p:nvPr/>
        </p:nvSpPr>
        <p:spPr>
          <a:xfrm>
            <a:off x="7607200" y="5401088"/>
            <a:ext cx="1058100" cy="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Aggregate SAE</a:t>
            </a:r>
            <a:endParaRPr sz="8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4" name="Google Shape;644;g3eaa469dcba_0_0"/>
          <p:cNvSpPr txBox="1"/>
          <p:nvPr/>
        </p:nvSpPr>
        <p:spPr>
          <a:xfrm>
            <a:off x="8811828" y="5358133"/>
            <a:ext cx="378000" cy="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2.20</a:t>
            </a:r>
            <a:r>
              <a:rPr lang="en-US" sz="6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%</a:t>
            </a:r>
            <a:endParaRPr sz="11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5" name="Google Shape;645;g3eaa469dcba_0_0"/>
          <p:cNvSpPr txBox="1"/>
          <p:nvPr/>
        </p:nvSpPr>
        <p:spPr>
          <a:xfrm>
            <a:off x="9753600" y="3608462"/>
            <a:ext cx="1727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핵심 실험 / 개선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6" name="Google Shape;646;g3eaa469dcba_0_0"/>
          <p:cNvSpPr txBox="1"/>
          <p:nvPr/>
        </p:nvSpPr>
        <p:spPr>
          <a:xfrm>
            <a:off x="9753600" y="3738676"/>
            <a:ext cx="420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eaa469dcba_0_0"/>
          <p:cNvSpPr txBox="1"/>
          <p:nvPr/>
        </p:nvSpPr>
        <p:spPr>
          <a:xfrm>
            <a:off x="9753600" y="4048966"/>
            <a:ext cx="420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eaa469dcba_0_0"/>
          <p:cNvSpPr txBox="1"/>
          <p:nvPr/>
        </p:nvSpPr>
        <p:spPr>
          <a:xfrm>
            <a:off x="9813950" y="4028130"/>
            <a:ext cx="7407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Full 후처리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49" name="Google Shape;649;g3eaa469dcba_0_0" descr="gen-dedup-9f3c6abac1d5dadb5b83f7c5cdfc7778.png"/>
          <p:cNvPicPr preferRelativeResize="0"/>
          <p:nvPr/>
        </p:nvPicPr>
        <p:blipFill rotWithShape="1">
          <a:blip r:embed="rId15">
            <a:alphaModFix/>
          </a:blip>
          <a:srcRect l="-2083" r="-2073"/>
          <a:stretch/>
        </p:blipFill>
        <p:spPr>
          <a:xfrm>
            <a:off x="9753600" y="4702466"/>
            <a:ext cx="1726997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3eaa469dcba_0_0"/>
          <p:cNvSpPr txBox="1"/>
          <p:nvPr/>
        </p:nvSpPr>
        <p:spPr>
          <a:xfrm>
            <a:off x="9753600" y="4985004"/>
            <a:ext cx="1727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결과 — 모든 지표 최고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g3eaa469dcba_0_0"/>
          <p:cNvSpPr/>
          <p:nvPr/>
        </p:nvSpPr>
        <p:spPr>
          <a:xfrm>
            <a:off x="9753600" y="5181049"/>
            <a:ext cx="1727100" cy="648000"/>
          </a:xfrm>
          <a:prstGeom prst="roundRect">
            <a:avLst>
              <a:gd name="adj" fmla="val 13929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g3eaa469dcba_0_0"/>
          <p:cNvSpPr txBox="1"/>
          <p:nvPr/>
        </p:nvSpPr>
        <p:spPr>
          <a:xfrm>
            <a:off x="9842601" y="5281665"/>
            <a:ext cx="635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Joint MAE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3" name="Google Shape;653;g3eaa469dcba_0_0"/>
          <p:cNvSpPr txBox="1"/>
          <p:nvPr/>
        </p:nvSpPr>
        <p:spPr>
          <a:xfrm>
            <a:off x="10797540" y="5256465"/>
            <a:ext cx="4614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14.76</a:t>
            </a: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W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g3eaa469dcba_0_0"/>
          <p:cNvSpPr txBox="1"/>
          <p:nvPr/>
        </p:nvSpPr>
        <p:spPr>
          <a:xfrm>
            <a:off x="9842601" y="5469505"/>
            <a:ext cx="635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Top-7 event F1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5" name="Google Shape;655;g3eaa469dcba_0_0"/>
          <p:cNvSpPr txBox="1"/>
          <p:nvPr/>
        </p:nvSpPr>
        <p:spPr>
          <a:xfrm>
            <a:off x="10845540" y="5444308"/>
            <a:ext cx="4134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JetBrains Mono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0.977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6" name="Google Shape;656;g3eaa469dcba_0_0"/>
          <p:cNvSpPr txBox="1"/>
          <p:nvPr/>
        </p:nvSpPr>
        <p:spPr>
          <a:xfrm>
            <a:off x="9842600" y="5657344"/>
            <a:ext cx="7914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Aggregate SAE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7" name="Google Shape;657;g3eaa469dcba_0_0"/>
          <p:cNvSpPr txBox="1"/>
          <p:nvPr/>
        </p:nvSpPr>
        <p:spPr>
          <a:xfrm>
            <a:off x="10880940" y="5632144"/>
            <a:ext cx="37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1.35</a:t>
            </a: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%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8" name="Google Shape;658;g3eaa469dcba_0_0"/>
          <p:cNvSpPr txBox="1"/>
          <p:nvPr/>
        </p:nvSpPr>
        <p:spPr>
          <a:xfrm>
            <a:off x="9813950" y="3738675"/>
            <a:ext cx="1964400" cy="1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endParaRPr sz="900" b="1" dirty="0">
              <a:solidFill>
                <a:srgbClr val="064E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900" b="1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가전별</a:t>
            </a:r>
            <a: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특화</a:t>
            </a:r>
            <a: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모델과</a:t>
            </a:r>
            <a: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후처리</a:t>
            </a:r>
            <a: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b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900" b="1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안정화</a:t>
            </a:r>
            <a: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모델</a:t>
            </a:r>
            <a:r>
              <a:rPr lang="en-US" sz="900" b="1" dirty="0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앙상블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9" name="Google Shape;659;g3eaa469dcba_0_0"/>
          <p:cNvSpPr txBox="1"/>
          <p:nvPr/>
        </p:nvSpPr>
        <p:spPr>
          <a:xfrm>
            <a:off x="7506000" y="3738675"/>
            <a:ext cx="420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eaa469dcba_0_0"/>
          <p:cNvSpPr txBox="1"/>
          <p:nvPr/>
        </p:nvSpPr>
        <p:spPr>
          <a:xfrm>
            <a:off x="7568164" y="3738675"/>
            <a:ext cx="12648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qC threshold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1" name="Google Shape;661;g3eaa469dcba_0_0"/>
          <p:cNvSpPr txBox="1"/>
          <p:nvPr/>
        </p:nvSpPr>
        <p:spPr>
          <a:xfrm>
            <a:off x="7506000" y="3950305"/>
            <a:ext cx="420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eaa469dcba_0_0"/>
          <p:cNvSpPr txBox="1"/>
          <p:nvPr/>
        </p:nvSpPr>
        <p:spPr>
          <a:xfrm>
            <a:off x="7568169" y="3950305"/>
            <a:ext cx="12363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Per-house calibration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3" name="Google Shape;663;g3eaa469dcba_0_0"/>
          <p:cNvSpPr txBox="1"/>
          <p:nvPr/>
        </p:nvSpPr>
        <p:spPr>
          <a:xfrm>
            <a:off x="725753" y="4335094"/>
            <a:ext cx="420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eaa469dcba_0_0"/>
          <p:cNvSpPr txBox="1"/>
          <p:nvPr/>
        </p:nvSpPr>
        <p:spPr>
          <a:xfrm>
            <a:off x="787927" y="4317855"/>
            <a:ext cx="19431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joint/Finetune 앙상블 전략 확정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5" name="Google Shape;665;g3eaa469dcba_0_0"/>
          <p:cNvSpPr txBox="1"/>
          <p:nvPr/>
        </p:nvSpPr>
        <p:spPr>
          <a:xfrm>
            <a:off x="835810" y="5299372"/>
            <a:ext cx="7914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F1D38"/>
                </a:solidFill>
                <a:latin typeface="Noto Sans"/>
                <a:ea typeface="Noto Sans"/>
                <a:cs typeface="Noto Sans"/>
                <a:sym typeface="Noto Sans"/>
              </a:rPr>
              <a:t>Joint MAE</a:t>
            </a:r>
            <a:endParaRPr sz="800" i="0" u="none" strike="noStrike" cap="none">
              <a:solidFill>
                <a:srgbClr val="7F1D3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g3eaa469dcba_0_0"/>
          <p:cNvSpPr txBox="1"/>
          <p:nvPr/>
        </p:nvSpPr>
        <p:spPr>
          <a:xfrm>
            <a:off x="1705400" y="5270872"/>
            <a:ext cx="873000" cy="1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CC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lang="en-US" sz="1100" b="1">
                <a:solidFill>
                  <a:srgbClr val="CC0000"/>
                </a:solidFill>
                <a:latin typeface="Noto Sans"/>
                <a:ea typeface="Noto Sans"/>
                <a:cs typeface="Noto Sans"/>
                <a:sym typeface="Noto Sans"/>
              </a:rPr>
              <a:t>7.1</a:t>
            </a:r>
            <a:r>
              <a:rPr lang="en-US" sz="700" b="1" i="0" u="none" strike="noStrike" cap="none">
                <a:solidFill>
                  <a:srgbClr val="CC0000"/>
                </a:solidFill>
                <a:latin typeface="Noto Sans"/>
                <a:ea typeface="Noto Sans"/>
                <a:cs typeface="Noto Sans"/>
                <a:sym typeface="Noto Sans"/>
              </a:rPr>
              <a:t>W -&gt;  </a:t>
            </a:r>
            <a:r>
              <a:rPr lang="en-US" sz="1100" b="1">
                <a:solidFill>
                  <a:srgbClr val="CC0000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  <a:r>
              <a:rPr lang="en-US" sz="700" b="1">
                <a:solidFill>
                  <a:srgbClr val="CC0000"/>
                </a:solidFill>
                <a:latin typeface="Noto Sans"/>
                <a:ea typeface="Noto Sans"/>
                <a:cs typeface="Noto Sans"/>
                <a:sym typeface="Noto Sans"/>
              </a:rPr>
              <a:t>W</a:t>
            </a:r>
            <a:endParaRPr sz="1100" i="0" u="none" strike="noStrike" cap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7" name="Google Shape;667;g3eaa469dcba_0_0"/>
          <p:cNvSpPr txBox="1"/>
          <p:nvPr/>
        </p:nvSpPr>
        <p:spPr>
          <a:xfrm>
            <a:off x="835810" y="5493807"/>
            <a:ext cx="1058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b="1">
                <a:solidFill>
                  <a:srgbClr val="7F1D38"/>
                </a:solidFill>
                <a:latin typeface="Noto Sans"/>
                <a:ea typeface="Noto Sans"/>
                <a:cs typeface="Noto Sans"/>
                <a:sym typeface="Noto Sans"/>
              </a:rPr>
              <a:t>Coverage @F1&gt;0/7</a:t>
            </a:r>
            <a:endParaRPr sz="800" i="0" u="none" strike="noStrike" cap="none">
              <a:solidFill>
                <a:srgbClr val="7F1D3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8" name="Google Shape;668;g3eaa469dcba_0_0"/>
          <p:cNvSpPr txBox="1"/>
          <p:nvPr/>
        </p:nvSpPr>
        <p:spPr>
          <a:xfrm>
            <a:off x="2109500" y="5465307"/>
            <a:ext cx="468900" cy="1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JetBrains Mono"/>
              <a:buNone/>
            </a:pPr>
            <a:r>
              <a:rPr lang="en-US" sz="1100" b="1">
                <a:solidFill>
                  <a:srgbClr val="CC0000"/>
                </a:solidFill>
                <a:latin typeface="Noto Sans"/>
                <a:ea typeface="Noto Sans"/>
                <a:cs typeface="Noto Sans"/>
                <a:sym typeface="Noto Sans"/>
              </a:rPr>
              <a:t>1/22</a:t>
            </a:r>
            <a:endParaRPr sz="1100" i="0" u="none" strike="noStrike" cap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9" name="Google Shape;669;g3eaa469dcba_0_0"/>
          <p:cNvSpPr txBox="1"/>
          <p:nvPr/>
        </p:nvSpPr>
        <p:spPr>
          <a:xfrm>
            <a:off x="3025331" y="6086872"/>
            <a:ext cx="740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Top-7 event F1</a:t>
            </a:r>
            <a:endParaRPr sz="800" i="0" u="none" strike="noStrike" cap="none">
              <a:solidFill>
                <a:srgbClr val="92400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g3eaa469dcba_0_0"/>
          <p:cNvSpPr txBox="1"/>
          <p:nvPr/>
        </p:nvSpPr>
        <p:spPr>
          <a:xfrm>
            <a:off x="4301490" y="6064674"/>
            <a:ext cx="37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JetBrains Mono"/>
              <a:buNone/>
            </a:pPr>
            <a:r>
              <a:rPr lang="en-US" sz="1100" b="1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0.782</a:t>
            </a:r>
            <a:endParaRPr sz="1100" i="0" u="none" strike="noStrike" cap="none">
              <a:solidFill>
                <a:srgbClr val="78350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g3eaa469dcba_0_0"/>
          <p:cNvSpPr txBox="1"/>
          <p:nvPr/>
        </p:nvSpPr>
        <p:spPr>
          <a:xfrm>
            <a:off x="7607200" y="5773383"/>
            <a:ext cx="941700" cy="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Joint MAE</a:t>
            </a:r>
            <a:endParaRPr sz="8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g3eaa469dcba_0_0"/>
          <p:cNvSpPr txBox="1"/>
          <p:nvPr/>
        </p:nvSpPr>
        <p:spPr>
          <a:xfrm>
            <a:off x="8720929" y="5746212"/>
            <a:ext cx="4689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Arial"/>
              <a:buNone/>
            </a:pPr>
            <a:r>
              <a:rPr lang="en-US" sz="1100" b="1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15.03</a:t>
            </a:r>
            <a:r>
              <a:rPr lang="en-US" sz="700" b="1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W</a:t>
            </a:r>
            <a:endParaRPr sz="11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3" name="Google Shape;673;g3eaa469dcba_0_0"/>
          <p:cNvSpPr txBox="1"/>
          <p:nvPr/>
        </p:nvSpPr>
        <p:spPr>
          <a:xfrm>
            <a:off x="7607200" y="5596977"/>
            <a:ext cx="740700" cy="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Top-7 event F1</a:t>
            </a:r>
            <a:endParaRPr sz="8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4" name="Google Shape;674;g3eaa469dcba_0_0"/>
          <p:cNvSpPr txBox="1"/>
          <p:nvPr/>
        </p:nvSpPr>
        <p:spPr>
          <a:xfrm>
            <a:off x="8811828" y="5569814"/>
            <a:ext cx="3780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JetBrains Mono"/>
              <a:buNone/>
            </a:pPr>
            <a:r>
              <a:rPr lang="en-US" sz="1100" b="1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0.977</a:t>
            </a:r>
            <a:endParaRPr sz="1100" i="0" u="none" strike="noStrike" cap="none">
              <a:solidFill>
                <a:srgbClr val="1E3A8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75" name="Google Shape;675;g3eaa469dcba_0_0" descr="gen-dedup-3cc498acea6c0e98111433e9a31aafbb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92600" y="3275525"/>
            <a:ext cx="2159200" cy="309682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g3eaa469dcba_0_0"/>
          <p:cNvSpPr txBox="1"/>
          <p:nvPr/>
        </p:nvSpPr>
        <p:spPr>
          <a:xfrm>
            <a:off x="5244999" y="3608462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핵심 실험 / 개선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7" name="Google Shape;677;g3eaa469dcba_0_0"/>
          <p:cNvSpPr txBox="1"/>
          <p:nvPr/>
        </p:nvSpPr>
        <p:spPr>
          <a:xfrm>
            <a:off x="5244999" y="3738676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eaa469dcba_0_0"/>
          <p:cNvSpPr txBox="1"/>
          <p:nvPr/>
        </p:nvSpPr>
        <p:spPr>
          <a:xfrm>
            <a:off x="5244999" y="3896966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3eaa469dcba_0_0"/>
          <p:cNvSpPr txBox="1"/>
          <p:nvPr/>
        </p:nvSpPr>
        <p:spPr>
          <a:xfrm>
            <a:off x="5307775" y="3896966"/>
            <a:ext cx="17910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단일 backbone 분류 실패 확정</a:t>
            </a:r>
            <a:endParaRPr sz="9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0" name="Google Shape;680;g3eaa469dcba_0_0"/>
          <p:cNvSpPr txBox="1"/>
          <p:nvPr/>
        </p:nvSpPr>
        <p:spPr>
          <a:xfrm>
            <a:off x="5244999" y="5384232"/>
            <a:ext cx="1854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결과 / 판단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1" name="Google Shape;681;g3eaa469dcba_0_0"/>
          <p:cNvSpPr/>
          <p:nvPr/>
        </p:nvSpPr>
        <p:spPr>
          <a:xfrm>
            <a:off x="5168800" y="5538775"/>
            <a:ext cx="2006700" cy="648000"/>
          </a:xfrm>
          <a:prstGeom prst="roundRect">
            <a:avLst>
              <a:gd name="adj" fmla="val 15720"/>
            </a:avLst>
          </a:prstGeom>
          <a:solidFill>
            <a:srgbClr val="F3E8FF">
              <a:alpha val="49370"/>
            </a:srgbClr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g3eaa469dcba_0_0"/>
          <p:cNvSpPr/>
          <p:nvPr/>
        </p:nvSpPr>
        <p:spPr>
          <a:xfrm flipH="1">
            <a:off x="5187701" y="5555011"/>
            <a:ext cx="18900" cy="603900"/>
          </a:xfrm>
          <a:prstGeom prst="roundRect">
            <a:avLst>
              <a:gd name="adj" fmla="val 460836"/>
            </a:avLst>
          </a:prstGeom>
          <a:solidFill>
            <a:srgbClr val="4C1D95"/>
          </a:solidFill>
          <a:ln w="8475" cap="flat" cmpd="sng">
            <a:solidFill>
              <a:srgbClr val="F59E0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C1D95"/>
              </a:solidFill>
            </a:endParaRPr>
          </a:p>
        </p:txBody>
      </p:sp>
      <p:sp>
        <p:nvSpPr>
          <p:cNvPr id="683" name="Google Shape;683;g3eaa469dcba_0_0"/>
          <p:cNvSpPr txBox="1"/>
          <p:nvPr/>
        </p:nvSpPr>
        <p:spPr>
          <a:xfrm>
            <a:off x="5280450" y="5578373"/>
            <a:ext cx="18807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event F1 개선</a:t>
            </a:r>
            <a:r>
              <a:rPr lang="en-US" sz="800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800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8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누적 사용량 오차 한계</a:t>
            </a:r>
            <a:endParaRPr sz="800" i="0" u="none" strike="noStrike" cap="none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4" name="Google Shape;684;g3eaa469dcba_0_0"/>
          <p:cNvSpPr txBox="1"/>
          <p:nvPr/>
        </p:nvSpPr>
        <p:spPr>
          <a:xfrm>
            <a:off x="5280439" y="5966192"/>
            <a:ext cx="941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Aggregate SAE</a:t>
            </a:r>
            <a:endParaRPr sz="800" i="0" u="none" strike="noStrike" cap="none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5" name="Google Shape;685;g3eaa469dcba_0_0"/>
          <p:cNvSpPr txBox="1"/>
          <p:nvPr/>
        </p:nvSpPr>
        <p:spPr>
          <a:xfrm>
            <a:off x="6470990" y="5943992"/>
            <a:ext cx="468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Arial"/>
              <a:buNone/>
            </a:pPr>
            <a:r>
              <a:rPr lang="en-US" sz="1100" b="1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6.79</a:t>
            </a:r>
            <a:r>
              <a:rPr lang="en-US" sz="7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%</a:t>
            </a:r>
            <a:endParaRPr sz="1100" i="0" u="none" strike="noStrike" cap="none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6" name="Google Shape;686;g3eaa469dcba_0_0"/>
          <p:cNvSpPr txBox="1"/>
          <p:nvPr/>
        </p:nvSpPr>
        <p:spPr>
          <a:xfrm>
            <a:off x="5307750" y="3738676"/>
            <a:ext cx="16704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OFF suppression 발견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7" name="Google Shape;687;g3eaa469dcba_0_0"/>
          <p:cNvSpPr txBox="1"/>
          <p:nvPr/>
        </p:nvSpPr>
        <p:spPr>
          <a:xfrm>
            <a:off x="5245611" y="4065882"/>
            <a:ext cx="4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sz="700" b="0" i="0" u="none" strike="noStrike" cap="none">
              <a:solidFill>
                <a:srgbClr val="4C1D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eaa469dcba_0_0"/>
          <p:cNvSpPr txBox="1"/>
          <p:nvPr/>
        </p:nvSpPr>
        <p:spPr>
          <a:xfrm>
            <a:off x="5308400" y="4065875"/>
            <a:ext cx="19644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4그룹 specialized backbone 분리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89" name="Google Shape;689;g3eaa469dcba_0_0"/>
          <p:cNvCxnSpPr/>
          <p:nvPr/>
        </p:nvCxnSpPr>
        <p:spPr>
          <a:xfrm>
            <a:off x="5327452" y="4724889"/>
            <a:ext cx="1727100" cy="0"/>
          </a:xfrm>
          <a:prstGeom prst="straightConnector1">
            <a:avLst/>
          </a:prstGeom>
          <a:noFill/>
          <a:ln w="62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0" name="Google Shape;690;g3eaa469dcba_0_0"/>
          <p:cNvCxnSpPr/>
          <p:nvPr/>
        </p:nvCxnSpPr>
        <p:spPr>
          <a:xfrm rot="10800000" flipH="1">
            <a:off x="5333359" y="4962203"/>
            <a:ext cx="1726200" cy="8100"/>
          </a:xfrm>
          <a:prstGeom prst="straightConnector1">
            <a:avLst/>
          </a:prstGeom>
          <a:noFill/>
          <a:ln w="62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1" name="Google Shape;691;g3eaa469dcba_0_0"/>
          <p:cNvCxnSpPr/>
          <p:nvPr/>
        </p:nvCxnSpPr>
        <p:spPr>
          <a:xfrm>
            <a:off x="5330400" y="5204014"/>
            <a:ext cx="1755300" cy="0"/>
          </a:xfrm>
          <a:prstGeom prst="straightConnector1">
            <a:avLst/>
          </a:prstGeom>
          <a:noFill/>
          <a:ln w="62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g3eaa469dcba_0_0"/>
          <p:cNvCxnSpPr/>
          <p:nvPr/>
        </p:nvCxnSpPr>
        <p:spPr>
          <a:xfrm>
            <a:off x="1423913" y="9139631"/>
            <a:ext cx="2379900" cy="0"/>
          </a:xfrm>
          <a:prstGeom prst="straightConnector1">
            <a:avLst/>
          </a:prstGeom>
          <a:noFill/>
          <a:ln w="70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g3eaa469dcba_0_0"/>
          <p:cNvCxnSpPr/>
          <p:nvPr/>
        </p:nvCxnSpPr>
        <p:spPr>
          <a:xfrm>
            <a:off x="5359093" y="4505065"/>
            <a:ext cx="1715700" cy="4500"/>
          </a:xfrm>
          <a:prstGeom prst="straightConnector1">
            <a:avLst/>
          </a:prstGeom>
          <a:noFill/>
          <a:ln w="62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4" name="Google Shape;694;g3eaa469dcba_0_0"/>
          <p:cNvSpPr txBox="1"/>
          <p:nvPr/>
        </p:nvSpPr>
        <p:spPr>
          <a:xfrm>
            <a:off x="5280450" y="5730773"/>
            <a:ext cx="18807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800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가구 총합 캐시백 가능</a:t>
            </a:r>
            <a:endParaRPr sz="800" i="0" u="none" strike="noStrike" cap="none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5" name="Google Shape;695;g3eaa469dcba_0_0"/>
          <p:cNvSpPr txBox="1"/>
          <p:nvPr/>
        </p:nvSpPr>
        <p:spPr>
          <a:xfrm>
            <a:off x="5212226" y="4532748"/>
            <a:ext cx="19137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사이클형 가전            </a:t>
            </a:r>
            <a:r>
              <a:rPr lang="en-US" sz="7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세탁기, 에어컨 등</a:t>
            </a:r>
            <a:endParaRPr sz="700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6" name="Google Shape;696;g3eaa469dcba_0_0"/>
          <p:cNvSpPr txBox="1"/>
          <p:nvPr/>
        </p:nvSpPr>
        <p:spPr>
          <a:xfrm>
            <a:off x="5212226" y="4333598"/>
            <a:ext cx="20379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상시</a:t>
            </a:r>
            <a:r>
              <a:rPr lang="en-US" sz="9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켜져</a:t>
            </a:r>
            <a:r>
              <a:rPr lang="en-US" sz="9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있는</a:t>
            </a:r>
            <a:r>
              <a:rPr lang="en-US" sz="9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9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  </a:t>
            </a:r>
            <a:r>
              <a:rPr lang="en-US" sz="7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냉장고</a:t>
            </a:r>
            <a:r>
              <a:rPr lang="en-US" sz="700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7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김치냉장고</a:t>
            </a:r>
            <a:r>
              <a:rPr lang="en-US" sz="700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등</a:t>
            </a:r>
            <a:r>
              <a:rPr lang="en-US" sz="700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700" dirty="0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7" name="Google Shape;697;g3eaa469dcba_0_0"/>
          <p:cNvSpPr txBox="1"/>
          <p:nvPr/>
        </p:nvSpPr>
        <p:spPr>
          <a:xfrm>
            <a:off x="5212226" y="4766873"/>
            <a:ext cx="2037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짧게 사용하는 가전    </a:t>
            </a:r>
            <a:r>
              <a:rPr lang="en-US" sz="7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전자레인지, 다리미 등</a:t>
            </a:r>
            <a:endParaRPr sz="700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g3eaa469dcba_0_0"/>
          <p:cNvSpPr txBox="1"/>
          <p:nvPr/>
        </p:nvSpPr>
        <p:spPr>
          <a:xfrm>
            <a:off x="5212225" y="5002686"/>
            <a:ext cx="19500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오래 사용하는 가전 </a:t>
            </a:r>
            <a:r>
              <a:rPr lang="en-US" sz="70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   컴퓨터, 온수매트 등</a:t>
            </a:r>
            <a:endParaRPr sz="700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9" name="Google Shape;699;g3eaa469dcba_0_0"/>
          <p:cNvSpPr/>
          <p:nvPr/>
        </p:nvSpPr>
        <p:spPr>
          <a:xfrm>
            <a:off x="2984600" y="3344930"/>
            <a:ext cx="1198200" cy="158400"/>
          </a:xfrm>
          <a:prstGeom prst="roundRect">
            <a:avLst>
              <a:gd name="adj" fmla="val 184615"/>
            </a:avLst>
          </a:prstGeom>
          <a:solidFill>
            <a:srgbClr val="DBEA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00" name="Google Shape;700;g3eaa469dcba_0_0"/>
          <p:cNvCxnSpPr/>
          <p:nvPr/>
        </p:nvCxnSpPr>
        <p:spPr>
          <a:xfrm>
            <a:off x="6241642" y="4301614"/>
            <a:ext cx="0" cy="90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g3eaa469dcba_0_0"/>
          <p:cNvCxnSpPr/>
          <p:nvPr/>
        </p:nvCxnSpPr>
        <p:spPr>
          <a:xfrm>
            <a:off x="5359093" y="4297090"/>
            <a:ext cx="1715700" cy="4500"/>
          </a:xfrm>
          <a:prstGeom prst="straightConnector1">
            <a:avLst/>
          </a:prstGeom>
          <a:noFill/>
          <a:ln w="62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g3eaa469dcba_0_0"/>
          <p:cNvSpPr txBox="1"/>
          <p:nvPr/>
        </p:nvSpPr>
        <p:spPr>
          <a:xfrm>
            <a:off x="2964920" y="3343572"/>
            <a:ext cx="12363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JetBrains Mono"/>
              <a:buNone/>
            </a:pPr>
            <a:r>
              <a:rPr lang="en-US" sz="900" b="1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1.2 데이터 확장 모델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3" name="Google Shape;703;g3eaa469dcba_0_0"/>
          <p:cNvSpPr/>
          <p:nvPr/>
        </p:nvSpPr>
        <p:spPr>
          <a:xfrm>
            <a:off x="3008675" y="4855875"/>
            <a:ext cx="1219200" cy="158400"/>
          </a:xfrm>
          <a:prstGeom prst="roundRect">
            <a:avLst>
              <a:gd name="adj" fmla="val 184615"/>
            </a:avLst>
          </a:prstGeom>
          <a:solidFill>
            <a:srgbClr val="FEF3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4" name="Google Shape;704;g3eaa469dcba_0_0"/>
          <p:cNvSpPr/>
          <p:nvPr/>
        </p:nvSpPr>
        <p:spPr>
          <a:xfrm>
            <a:off x="5239050" y="3351025"/>
            <a:ext cx="1198200" cy="158400"/>
          </a:xfrm>
          <a:prstGeom prst="roundRect">
            <a:avLst>
              <a:gd name="adj" fmla="val 184615"/>
            </a:avLst>
          </a:prstGeom>
          <a:solidFill>
            <a:srgbClr val="F3E8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5" name="Google Shape;705;g3eaa469dcba_0_0"/>
          <p:cNvSpPr txBox="1"/>
          <p:nvPr/>
        </p:nvSpPr>
        <p:spPr>
          <a:xfrm>
            <a:off x="3008098" y="4848000"/>
            <a:ext cx="12498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"/>
              <a:buFont typeface="JetBrains Mono"/>
              <a:buNone/>
            </a:pPr>
            <a:r>
              <a:rPr lang="en-US" sz="900" b="1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2.1 가전별 특화 모델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6" name="Google Shape;706;g3eaa469dcba_0_0"/>
          <p:cNvSpPr txBox="1"/>
          <p:nvPr/>
        </p:nvSpPr>
        <p:spPr>
          <a:xfrm>
            <a:off x="5225300" y="3351350"/>
            <a:ext cx="11982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"/>
              <a:buFont typeface="JetBrains Mono"/>
              <a:buNone/>
            </a:pPr>
            <a:r>
              <a:rPr lang="en-US" sz="900" b="1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2.2 가전군 특화 모델</a:t>
            </a:r>
            <a:endParaRPr sz="900" i="0" u="none" strike="noStrike" cap="none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7" name="Google Shape;707;g3eaa469dcba_0_0"/>
          <p:cNvSpPr/>
          <p:nvPr/>
        </p:nvSpPr>
        <p:spPr>
          <a:xfrm>
            <a:off x="7480925" y="3364500"/>
            <a:ext cx="1298100" cy="158400"/>
          </a:xfrm>
          <a:prstGeom prst="roundRect">
            <a:avLst>
              <a:gd name="adj" fmla="val 184615"/>
            </a:avLst>
          </a:prstGeom>
          <a:solidFill>
            <a:srgbClr val="E9EFF4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8" name="Google Shape;708;g3eaa469dcba_0_0"/>
          <p:cNvSpPr txBox="1"/>
          <p:nvPr/>
        </p:nvSpPr>
        <p:spPr>
          <a:xfrm>
            <a:off x="7469858" y="3385454"/>
            <a:ext cx="13515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600"/>
              <a:buFont typeface="JetBrains Mono"/>
              <a:buNone/>
            </a:pPr>
            <a:r>
              <a:rPr lang="en-US" sz="900" b="1">
                <a:solidFill>
                  <a:srgbClr val="1155CC"/>
                </a:solidFill>
                <a:latin typeface="Noto Sans"/>
                <a:ea typeface="Noto Sans"/>
                <a:cs typeface="Noto Sans"/>
                <a:sym typeface="Noto Sans"/>
              </a:rPr>
              <a:t>3.1 후처리 안정화 모델</a:t>
            </a:r>
            <a:endParaRPr sz="900" i="0" u="none" strike="noStrike" cap="none">
              <a:solidFill>
                <a:srgbClr val="1155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9" name="Google Shape;709;g3eaa469dcba_0_0"/>
          <p:cNvSpPr/>
          <p:nvPr/>
        </p:nvSpPr>
        <p:spPr>
          <a:xfrm>
            <a:off x="9722800" y="3364500"/>
            <a:ext cx="1122600" cy="158400"/>
          </a:xfrm>
          <a:prstGeom prst="roundRect">
            <a:avLst>
              <a:gd name="adj" fmla="val 184615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0" name="Google Shape;710;g3eaa469dcba_0_0"/>
          <p:cNvSpPr txBox="1"/>
          <p:nvPr/>
        </p:nvSpPr>
        <p:spPr>
          <a:xfrm>
            <a:off x="9730179" y="3361050"/>
            <a:ext cx="1198200" cy="165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4.1 최종 통합 모델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1" name="Google Shape;711;g3eaa469dcba_0_0"/>
          <p:cNvSpPr txBox="1"/>
          <p:nvPr/>
        </p:nvSpPr>
        <p:spPr>
          <a:xfrm>
            <a:off x="2109871" y="43446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고도화 과정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2" name="Google Shape;712;g3eaa469dcba_0_0"/>
          <p:cNvSpPr txBox="1"/>
          <p:nvPr/>
        </p:nvSpPr>
        <p:spPr>
          <a:xfrm>
            <a:off x="1193597" y="495600"/>
            <a:ext cx="10128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g3ea66c3de90_6_365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299" y="-139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g3ea66c3de90_6_365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g3ea66c3de90_6_365" descr="gen-dedup-c89043cf1dc751cd6a66834553795fa2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3ea66c3de90_6_365" descr="gen-dedup-73d82bfeb83f8169bfe5d6f68b27703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39400"/>
            <a:ext cx="4826203" cy="4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g3ea66c3de90_6_365" descr="gen-dedup-8f5d7f82196b6f60ecc60ae20cfea658.png"/>
          <p:cNvPicPr preferRelativeResize="0"/>
          <p:nvPr/>
        </p:nvPicPr>
        <p:blipFill rotWithShape="1">
          <a:blip r:embed="rId7">
            <a:alphaModFix/>
          </a:blip>
          <a:srcRect b="-10"/>
          <a:stretch/>
        </p:blipFill>
        <p:spPr>
          <a:xfrm>
            <a:off x="5524800" y="1439400"/>
            <a:ext cx="6096000" cy="296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3ea66c3de90_6_365" descr="gen-dedup-bae3c92216e408b6efe890ddd1d00ac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4805" y="4508601"/>
            <a:ext cx="6096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3ea66c3de90_6_365"/>
          <p:cNvSpPr/>
          <p:nvPr/>
        </p:nvSpPr>
        <p:spPr>
          <a:xfrm>
            <a:off x="964997" y="1879397"/>
            <a:ext cx="4038600" cy="393900"/>
          </a:xfrm>
          <a:prstGeom prst="roundRect">
            <a:avLst>
              <a:gd name="adj" fmla="val 49935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g3ea66c3de90_6_365"/>
          <p:cNvSpPr/>
          <p:nvPr/>
        </p:nvSpPr>
        <p:spPr>
          <a:xfrm>
            <a:off x="964997" y="2488997"/>
            <a:ext cx="4038600" cy="393900"/>
          </a:xfrm>
          <a:prstGeom prst="roundRect">
            <a:avLst>
              <a:gd name="adj" fmla="val 49935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6" name="Google Shape;726;g3ea66c3de90_6_365" descr="gen-dedup-46800510223b06258f907e508d459393.png"/>
          <p:cNvPicPr preferRelativeResize="0"/>
          <p:nvPr/>
        </p:nvPicPr>
        <p:blipFill rotWithShape="1">
          <a:blip r:embed="rId9">
            <a:alphaModFix/>
          </a:blip>
          <a:srcRect l="-10" r="-10"/>
          <a:stretch/>
        </p:blipFill>
        <p:spPr>
          <a:xfrm>
            <a:off x="964997" y="3098597"/>
            <a:ext cx="4038600" cy="520599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ea66c3de90_6_365"/>
          <p:cNvSpPr/>
          <p:nvPr/>
        </p:nvSpPr>
        <p:spPr>
          <a:xfrm>
            <a:off x="964997" y="3835603"/>
            <a:ext cx="4038600" cy="393900"/>
          </a:xfrm>
          <a:prstGeom prst="roundRect">
            <a:avLst>
              <a:gd name="adj" fmla="val 49935"/>
            </a:avLst>
          </a:prstGeom>
          <a:solidFill>
            <a:srgbClr val="FFFFFF"/>
          </a:solidFill>
          <a:ln w="847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g3ea66c3de90_6_365"/>
          <p:cNvSpPr/>
          <p:nvPr/>
        </p:nvSpPr>
        <p:spPr>
          <a:xfrm>
            <a:off x="964997" y="4445203"/>
            <a:ext cx="4038600" cy="393900"/>
          </a:xfrm>
          <a:prstGeom prst="roundRect">
            <a:avLst>
              <a:gd name="adj" fmla="val 49935"/>
            </a:avLst>
          </a:prstGeom>
          <a:solidFill>
            <a:srgbClr val="FFFBEB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g3ea66c3de90_6_365"/>
          <p:cNvSpPr/>
          <p:nvPr/>
        </p:nvSpPr>
        <p:spPr>
          <a:xfrm>
            <a:off x="964997" y="5054803"/>
            <a:ext cx="4038600" cy="393900"/>
          </a:xfrm>
          <a:prstGeom prst="roundRect">
            <a:avLst>
              <a:gd name="adj" fmla="val 49935"/>
            </a:avLst>
          </a:prstGeom>
          <a:solidFill>
            <a:srgbClr val="FFFBEB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0" name="Google Shape;730;g3ea66c3de90_6_365" descr="gen-dedup-26ee981cded1033f6422fcca9f846acb.png"/>
          <p:cNvPicPr preferRelativeResize="0"/>
          <p:nvPr/>
        </p:nvPicPr>
        <p:blipFill rotWithShape="1">
          <a:blip r:embed="rId10">
            <a:alphaModFix/>
          </a:blip>
          <a:srcRect l="-10" r="-10"/>
          <a:stretch/>
        </p:blipFill>
        <p:spPr>
          <a:xfrm>
            <a:off x="964997" y="5664403"/>
            <a:ext cx="4038600" cy="52059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ea66c3de90_6_365"/>
          <p:cNvSpPr txBox="1"/>
          <p:nvPr/>
        </p:nvSpPr>
        <p:spPr>
          <a:xfrm>
            <a:off x="1193597" y="495600"/>
            <a:ext cx="10128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2" name="Google Shape;732;g3ea66c3de90_6_365"/>
          <p:cNvSpPr txBox="1"/>
          <p:nvPr/>
        </p:nvSpPr>
        <p:spPr>
          <a:xfrm>
            <a:off x="1193597" y="852831"/>
            <a:ext cx="8890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lang="en-US" sz="1300" b="1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4.1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앙상블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기반 가전별 전력 분해 파이프라인 + 4대 성과 지표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33" name="Google Shape;733;g3ea66c3de90_6_365" descr="gen-dedup-08be0f7f1edac8043beb2ec0e9d95f2c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160154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g3ea66c3de90_6_365"/>
          <p:cNvSpPr txBox="1"/>
          <p:nvPr/>
        </p:nvSpPr>
        <p:spPr>
          <a:xfrm>
            <a:off x="965001" y="1588744"/>
            <a:ext cx="17337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4.1</a:t>
            </a: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분해 파이프라인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5" name="Google Shape;735;g3ea66c3de90_6_365"/>
          <p:cNvSpPr/>
          <p:nvPr/>
        </p:nvSpPr>
        <p:spPr>
          <a:xfrm>
            <a:off x="1092403" y="1981340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g3ea66c3de90_6_365"/>
          <p:cNvSpPr txBox="1"/>
          <p:nvPr/>
        </p:nvSpPr>
        <p:spPr>
          <a:xfrm>
            <a:off x="1092403" y="1987397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7" name="Google Shape;737;g3ea66c3de90_6_365"/>
          <p:cNvSpPr txBox="1"/>
          <p:nvPr/>
        </p:nvSpPr>
        <p:spPr>
          <a:xfrm>
            <a:off x="1346002" y="2019047"/>
            <a:ext cx="2540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30Hz aggregate active_power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8" name="Google Shape;738;g3ea66c3de90_6_365"/>
          <p:cNvSpPr txBox="1"/>
          <p:nvPr/>
        </p:nvSpPr>
        <p:spPr>
          <a:xfrm>
            <a:off x="4337013" y="2034797"/>
            <a:ext cx="330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INPUT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39" name="Google Shape;739;g3ea66c3de90_6_365" descr="gen-dedup-16b8a1dfa1a88024059ace0749853dd6.png"/>
          <p:cNvPicPr preferRelativeResize="0"/>
          <p:nvPr/>
        </p:nvPicPr>
        <p:blipFill rotWithShape="1">
          <a:blip r:embed="rId12">
            <a:alphaModFix/>
          </a:blip>
          <a:srcRect t="-2643" b="-2643"/>
          <a:stretch/>
        </p:blipFill>
        <p:spPr>
          <a:xfrm>
            <a:off x="2927299" y="2336597"/>
            <a:ext cx="126797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g3ea66c3de90_6_365"/>
          <p:cNvSpPr/>
          <p:nvPr/>
        </p:nvSpPr>
        <p:spPr>
          <a:xfrm>
            <a:off x="1092403" y="2590940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g3ea66c3de90_6_365"/>
          <p:cNvSpPr txBox="1"/>
          <p:nvPr/>
        </p:nvSpPr>
        <p:spPr>
          <a:xfrm>
            <a:off x="1092403" y="2596997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2" name="Google Shape;742;g3ea66c3de90_6_365"/>
          <p:cNvSpPr txBox="1"/>
          <p:nvPr/>
        </p:nvSpPr>
        <p:spPr>
          <a:xfrm>
            <a:off x="1346002" y="2628650"/>
            <a:ext cx="15222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슬라이딩 윈도우 생성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43" name="Google Shape;743;g3ea66c3de90_6_365" descr="gen-dedup-16b8a1dfa1a88024059ace0749853dd6.png"/>
          <p:cNvPicPr preferRelativeResize="0"/>
          <p:nvPr/>
        </p:nvPicPr>
        <p:blipFill rotWithShape="1">
          <a:blip r:embed="rId12">
            <a:alphaModFix/>
          </a:blip>
          <a:srcRect t="-2643" b="-2643"/>
          <a:stretch/>
        </p:blipFill>
        <p:spPr>
          <a:xfrm>
            <a:off x="2927299" y="2946197"/>
            <a:ext cx="126797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g3ea66c3de90_6_365"/>
          <p:cNvSpPr/>
          <p:nvPr/>
        </p:nvSpPr>
        <p:spPr>
          <a:xfrm>
            <a:off x="1092403" y="3241251"/>
            <a:ext cx="203100" cy="203100"/>
          </a:xfrm>
          <a:prstGeom prst="roundRect">
            <a:avLst>
              <a:gd name="adj" fmla="val 131381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g3ea66c3de90_6_365"/>
          <p:cNvSpPr txBox="1"/>
          <p:nvPr/>
        </p:nvSpPr>
        <p:spPr>
          <a:xfrm>
            <a:off x="1092403" y="3246749"/>
            <a:ext cx="2037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6" name="Google Shape;746;g3ea66c3de90_6_365"/>
          <p:cNvSpPr txBox="1"/>
          <p:nvPr/>
        </p:nvSpPr>
        <p:spPr>
          <a:xfrm>
            <a:off x="1371600" y="3237774"/>
            <a:ext cx="32643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NILM Backbone Ensemble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7" name="Google Shape;747;g3ea66c3de90_6_365"/>
          <p:cNvSpPr txBox="1"/>
          <p:nvPr/>
        </p:nvSpPr>
        <p:spPr>
          <a:xfrm>
            <a:off x="1371600" y="3390475"/>
            <a:ext cx="3879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Arial"/>
              <a:buNone/>
            </a:pPr>
            <a:r>
              <a:rPr lang="en-US" sz="700" b="1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가전별 특화 모델과 후처리 안정화 모델 앙상블 + TDA selective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8" name="Google Shape;748;g3ea66c3de90_6_365"/>
          <p:cNvSpPr txBox="1"/>
          <p:nvPr/>
        </p:nvSpPr>
        <p:spPr>
          <a:xfrm>
            <a:off x="4337013" y="3308046"/>
            <a:ext cx="3774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CORE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49" name="Google Shape;749;g3ea66c3de90_6_365" descr="gen-dedup-16b8a1dfa1a88024059ace0749853dd6.png"/>
          <p:cNvPicPr preferRelativeResize="0"/>
          <p:nvPr/>
        </p:nvPicPr>
        <p:blipFill rotWithShape="1">
          <a:blip r:embed="rId12">
            <a:alphaModFix/>
          </a:blip>
          <a:srcRect t="-2643" b="-2643"/>
          <a:stretch/>
        </p:blipFill>
        <p:spPr>
          <a:xfrm>
            <a:off x="2927299" y="3683203"/>
            <a:ext cx="126797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3ea66c3de90_6_365"/>
          <p:cNvSpPr/>
          <p:nvPr/>
        </p:nvSpPr>
        <p:spPr>
          <a:xfrm>
            <a:off x="1092403" y="3937547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g3ea66c3de90_6_365"/>
          <p:cNvSpPr txBox="1"/>
          <p:nvPr/>
        </p:nvSpPr>
        <p:spPr>
          <a:xfrm>
            <a:off x="1092403" y="3943603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2" name="Google Shape;752;g3ea66c3de90_6_365"/>
          <p:cNvSpPr txBox="1"/>
          <p:nvPr/>
        </p:nvSpPr>
        <p:spPr>
          <a:xfrm>
            <a:off x="1346001" y="3975250"/>
            <a:ext cx="17337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22종 가전별 전력 시계열 예측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3" name="Google Shape;753;g3ea66c3de90_6_365"/>
          <p:cNvSpPr txBox="1"/>
          <p:nvPr/>
        </p:nvSpPr>
        <p:spPr>
          <a:xfrm>
            <a:off x="4337013" y="3968803"/>
            <a:ext cx="3303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22 ch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54" name="Google Shape;754;g3ea66c3de90_6_365" descr="gen-dedup-16b8a1dfa1a88024059ace0749853dd6.png"/>
          <p:cNvPicPr preferRelativeResize="0"/>
          <p:nvPr/>
        </p:nvPicPr>
        <p:blipFill rotWithShape="1">
          <a:blip r:embed="rId12">
            <a:alphaModFix/>
          </a:blip>
          <a:srcRect t="-2643" b="-2643"/>
          <a:stretch/>
        </p:blipFill>
        <p:spPr>
          <a:xfrm>
            <a:off x="2927299" y="4292803"/>
            <a:ext cx="126797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3ea66c3de90_6_365"/>
          <p:cNvSpPr/>
          <p:nvPr/>
        </p:nvSpPr>
        <p:spPr>
          <a:xfrm>
            <a:off x="1092403" y="4541998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EF3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g3ea66c3de90_6_365"/>
          <p:cNvSpPr txBox="1"/>
          <p:nvPr/>
        </p:nvSpPr>
        <p:spPr>
          <a:xfrm>
            <a:off x="1092403" y="4553203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7" name="Google Shape;757;g3ea66c3de90_6_365"/>
          <p:cNvSpPr txBox="1"/>
          <p:nvPr/>
        </p:nvSpPr>
        <p:spPr>
          <a:xfrm>
            <a:off x="1346003" y="4572403"/>
            <a:ext cx="30669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OFF suppression / q</a:t>
            </a:r>
            <a:r>
              <a:rPr lang="en-US" sz="900" b="1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C threshold / </a:t>
            </a: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hysteresis 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8" name="Google Shape;758;g3ea66c3de90_6_365"/>
          <p:cNvSpPr txBox="1"/>
          <p:nvPr/>
        </p:nvSpPr>
        <p:spPr>
          <a:xfrm>
            <a:off x="4337013" y="4591303"/>
            <a:ext cx="3303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후처리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59" name="Google Shape;759;g3ea66c3de90_6_365" descr="gen-dedup-16b8a1dfa1a88024059ace0749853dd6.png"/>
          <p:cNvPicPr preferRelativeResize="0"/>
          <p:nvPr/>
        </p:nvPicPr>
        <p:blipFill rotWithShape="1">
          <a:blip r:embed="rId12">
            <a:alphaModFix/>
          </a:blip>
          <a:srcRect t="-2643" b="-2643"/>
          <a:stretch/>
        </p:blipFill>
        <p:spPr>
          <a:xfrm>
            <a:off x="2927299" y="4902403"/>
            <a:ext cx="126797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3ea66c3de90_6_365"/>
          <p:cNvSpPr/>
          <p:nvPr/>
        </p:nvSpPr>
        <p:spPr>
          <a:xfrm>
            <a:off x="1092403" y="5156747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FEF3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g3ea66c3de90_6_365"/>
          <p:cNvSpPr txBox="1"/>
          <p:nvPr/>
        </p:nvSpPr>
        <p:spPr>
          <a:xfrm>
            <a:off x="1092403" y="5162803"/>
            <a:ext cx="177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2" name="Google Shape;762;g3ea66c3de90_6_365"/>
          <p:cNvSpPr txBox="1"/>
          <p:nvPr/>
        </p:nvSpPr>
        <p:spPr>
          <a:xfrm>
            <a:off x="1346001" y="5194453"/>
            <a:ext cx="15222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Per-house calibration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3" name="Google Shape;763;g3ea66c3de90_6_365"/>
          <p:cNvSpPr txBox="1"/>
          <p:nvPr/>
        </p:nvSpPr>
        <p:spPr>
          <a:xfrm>
            <a:off x="4337024" y="5191303"/>
            <a:ext cx="5421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가구별 보정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64" name="Google Shape;764;g3ea66c3de90_6_365" descr="gen-dedup-16b8a1dfa1a88024059ace0749853dd6.png"/>
          <p:cNvPicPr preferRelativeResize="0"/>
          <p:nvPr/>
        </p:nvPicPr>
        <p:blipFill rotWithShape="1">
          <a:blip r:embed="rId12">
            <a:alphaModFix/>
          </a:blip>
          <a:srcRect t="-2643" b="-2643"/>
          <a:stretch/>
        </p:blipFill>
        <p:spPr>
          <a:xfrm>
            <a:off x="2927299" y="5512003"/>
            <a:ext cx="126797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g3ea66c3de90_6_365"/>
          <p:cNvSpPr/>
          <p:nvPr/>
        </p:nvSpPr>
        <p:spPr>
          <a:xfrm>
            <a:off x="1092403" y="5822842"/>
            <a:ext cx="203100" cy="203100"/>
          </a:xfrm>
          <a:prstGeom prst="roundRect">
            <a:avLst>
              <a:gd name="adj" fmla="val 131381"/>
            </a:avLst>
          </a:prstGeom>
          <a:solidFill>
            <a:srgbClr val="047857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g3ea66c3de90_6_365"/>
          <p:cNvSpPr txBox="1"/>
          <p:nvPr/>
        </p:nvSpPr>
        <p:spPr>
          <a:xfrm>
            <a:off x="1092403" y="5822853"/>
            <a:ext cx="2037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7" name="Google Shape;767;g3ea66c3de90_6_365"/>
          <p:cNvSpPr txBox="1"/>
          <p:nvPr/>
        </p:nvSpPr>
        <p:spPr>
          <a:xfrm>
            <a:off x="1371600" y="5807699"/>
            <a:ext cx="3181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가전별 ON/OFF 사용 구간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8" name="Google Shape;768;g3ea66c3de90_6_365"/>
          <p:cNvSpPr txBox="1"/>
          <p:nvPr/>
        </p:nvSpPr>
        <p:spPr>
          <a:xfrm>
            <a:off x="1371600" y="5959782"/>
            <a:ext cx="3181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사용 시간 · 누적 사용량 산출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9" name="Google Shape;769;g3ea66c3de90_6_365"/>
          <p:cNvSpPr txBox="1"/>
          <p:nvPr/>
        </p:nvSpPr>
        <p:spPr>
          <a:xfrm>
            <a:off x="4337026" y="5873853"/>
            <a:ext cx="4572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OUTPUT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70" name="Google Shape;770;g3ea66c3de90_6_365" descr="gen-dedup-db00636a7fe37376c221265b0dd50fb5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727801" y="160154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3ea66c3de90_6_365"/>
          <p:cNvSpPr txBox="1"/>
          <p:nvPr/>
        </p:nvSpPr>
        <p:spPr>
          <a:xfrm>
            <a:off x="5930800" y="1588744"/>
            <a:ext cx="11943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최종 NILM 성과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2" name="Google Shape;772;g3ea66c3de90_6_365"/>
          <p:cNvSpPr/>
          <p:nvPr/>
        </p:nvSpPr>
        <p:spPr>
          <a:xfrm>
            <a:off x="5727801" y="1905000"/>
            <a:ext cx="2806500" cy="959100"/>
          </a:xfrm>
          <a:prstGeom prst="roundRect">
            <a:avLst>
              <a:gd name="adj" fmla="val 10104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g3ea66c3de90_6_365"/>
          <p:cNvSpPr txBox="1"/>
          <p:nvPr/>
        </p:nvSpPr>
        <p:spPr>
          <a:xfrm>
            <a:off x="5861304" y="2038503"/>
            <a:ext cx="5421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METRIC 01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4" name="Google Shape;774;g3ea66c3de90_6_365"/>
          <p:cNvSpPr txBox="1"/>
          <p:nvPr/>
        </p:nvSpPr>
        <p:spPr>
          <a:xfrm>
            <a:off x="7737339" y="2054450"/>
            <a:ext cx="6351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Joint MAE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5" name="Google Shape;775;g3ea66c3de90_6_365"/>
          <p:cNvSpPr txBox="1"/>
          <p:nvPr/>
        </p:nvSpPr>
        <p:spPr>
          <a:xfrm>
            <a:off x="5861304" y="2215896"/>
            <a:ext cx="10767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700"/>
              <a:buFont typeface="Arial"/>
              <a:buNone/>
            </a:pPr>
            <a:r>
              <a:rPr lang="en-US" sz="2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14.76</a:t>
            </a:r>
            <a:endParaRPr sz="2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6" name="Google Shape;776;g3ea66c3de90_6_365"/>
          <p:cNvSpPr txBox="1"/>
          <p:nvPr/>
        </p:nvSpPr>
        <p:spPr>
          <a:xfrm>
            <a:off x="6866062" y="2400605"/>
            <a:ext cx="114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3ea66c3de90_6_365"/>
          <p:cNvSpPr txBox="1"/>
          <p:nvPr/>
        </p:nvSpPr>
        <p:spPr>
          <a:xfrm>
            <a:off x="5861304" y="2609697"/>
            <a:ext cx="25401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가전별 전력 예측 </a:t>
            </a: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평균 오차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8" name="Google Shape;778;g3ea66c3de90_6_365"/>
          <p:cNvSpPr/>
          <p:nvPr/>
        </p:nvSpPr>
        <p:spPr>
          <a:xfrm>
            <a:off x="8623401" y="1905000"/>
            <a:ext cx="2806500" cy="959100"/>
          </a:xfrm>
          <a:prstGeom prst="roundRect">
            <a:avLst>
              <a:gd name="adj" fmla="val 10104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g3ea66c3de90_6_365"/>
          <p:cNvSpPr txBox="1"/>
          <p:nvPr/>
        </p:nvSpPr>
        <p:spPr>
          <a:xfrm>
            <a:off x="8756904" y="2038503"/>
            <a:ext cx="5439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METRIC 02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0" name="Google Shape;780;g3ea66c3de90_6_365"/>
          <p:cNvSpPr txBox="1"/>
          <p:nvPr/>
        </p:nvSpPr>
        <p:spPr>
          <a:xfrm>
            <a:off x="10593965" y="2041550"/>
            <a:ext cx="740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Aggregate SAE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1" name="Google Shape;781;g3ea66c3de90_6_365"/>
          <p:cNvSpPr txBox="1"/>
          <p:nvPr/>
        </p:nvSpPr>
        <p:spPr>
          <a:xfrm>
            <a:off x="8756904" y="2215896"/>
            <a:ext cx="861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700"/>
              <a:buFont typeface="Arial"/>
              <a:buNone/>
            </a:pPr>
            <a:r>
              <a:rPr lang="en-US" sz="2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1.35</a:t>
            </a:r>
            <a:endParaRPr sz="2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2" name="Google Shape;782;g3ea66c3de90_6_365"/>
          <p:cNvSpPr txBox="1"/>
          <p:nvPr/>
        </p:nvSpPr>
        <p:spPr>
          <a:xfrm>
            <a:off x="9557446" y="2400605"/>
            <a:ext cx="114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ea66c3de90_6_365"/>
          <p:cNvSpPr txBox="1"/>
          <p:nvPr/>
        </p:nvSpPr>
        <p:spPr>
          <a:xfrm>
            <a:off x="8756904" y="2609697"/>
            <a:ext cx="25401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전체 </a:t>
            </a: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누적 사용량 기준 오차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84" name="Google Shape;784;g3ea66c3de90_6_365" descr="gen-dedup-160cc6863595c09b50f1a21b44060104.png"/>
          <p:cNvPicPr preferRelativeResize="0"/>
          <p:nvPr/>
        </p:nvPicPr>
        <p:blipFill rotWithShape="1">
          <a:blip r:embed="rId14">
            <a:alphaModFix/>
          </a:blip>
          <a:srcRect t="-10" b="-20"/>
          <a:stretch/>
        </p:blipFill>
        <p:spPr>
          <a:xfrm>
            <a:off x="5727801" y="2947416"/>
            <a:ext cx="2806598" cy="954024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g3ea66c3de90_6_365"/>
          <p:cNvSpPr txBox="1"/>
          <p:nvPr/>
        </p:nvSpPr>
        <p:spPr>
          <a:xfrm>
            <a:off x="5861304" y="3080919"/>
            <a:ext cx="5439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METRIC 03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6" name="Google Shape;786;g3ea66c3de90_6_365"/>
          <p:cNvSpPr txBox="1"/>
          <p:nvPr/>
        </p:nvSpPr>
        <p:spPr>
          <a:xfrm>
            <a:off x="7737339" y="3083975"/>
            <a:ext cx="781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Top-7 event F1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7" name="Google Shape;787;g3ea66c3de90_6_365"/>
          <p:cNvSpPr txBox="1"/>
          <p:nvPr/>
        </p:nvSpPr>
        <p:spPr>
          <a:xfrm>
            <a:off x="5861304" y="3258921"/>
            <a:ext cx="1080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700"/>
              <a:buFont typeface="Arial"/>
              <a:buNone/>
            </a:pPr>
            <a:r>
              <a:rPr lang="en-US" sz="29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0.977</a:t>
            </a:r>
            <a:endParaRPr sz="2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8" name="Google Shape;788;g3ea66c3de90_6_365"/>
          <p:cNvSpPr txBox="1"/>
          <p:nvPr/>
        </p:nvSpPr>
        <p:spPr>
          <a:xfrm>
            <a:off x="5861304" y="3652723"/>
            <a:ext cx="25401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주요 가전 </a:t>
            </a:r>
            <a:r>
              <a:rPr lang="en-US" sz="8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사용 구간 탐지 성능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9" name="Google Shape;789;g3ea66c3de90_6_365"/>
          <p:cNvSpPr/>
          <p:nvPr/>
        </p:nvSpPr>
        <p:spPr>
          <a:xfrm>
            <a:off x="8623401" y="2947416"/>
            <a:ext cx="2806500" cy="959100"/>
          </a:xfrm>
          <a:prstGeom prst="roundRect">
            <a:avLst>
              <a:gd name="adj" fmla="val 10104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g3ea66c3de90_6_365"/>
          <p:cNvSpPr txBox="1"/>
          <p:nvPr/>
        </p:nvSpPr>
        <p:spPr>
          <a:xfrm>
            <a:off x="8756904" y="3080919"/>
            <a:ext cx="5439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METRIC 04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1" name="Google Shape;791;g3ea66c3de90_6_365"/>
          <p:cNvSpPr txBox="1"/>
          <p:nvPr/>
        </p:nvSpPr>
        <p:spPr>
          <a:xfrm>
            <a:off x="10593965" y="3083975"/>
            <a:ext cx="691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Top-10 event F1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2" name="Google Shape;792;g3ea66c3de90_6_365"/>
          <p:cNvSpPr txBox="1"/>
          <p:nvPr/>
        </p:nvSpPr>
        <p:spPr>
          <a:xfrm>
            <a:off x="8756904" y="3258921"/>
            <a:ext cx="1079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700"/>
              <a:buFont typeface="Arial"/>
              <a:buNone/>
            </a:pPr>
            <a:r>
              <a:rPr lang="en-US" sz="2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0.919</a:t>
            </a:r>
            <a:endParaRPr sz="2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3" name="Google Shape;793;g3ea66c3de90_6_365"/>
          <p:cNvSpPr txBox="1"/>
          <p:nvPr/>
        </p:nvSpPr>
        <p:spPr>
          <a:xfrm>
            <a:off x="8756904" y="3652723"/>
            <a:ext cx="25401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상위 10개 가전 </a:t>
            </a: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 구간 탐지 성능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94" name="Google Shape;794;g3ea66c3de90_6_365" descr="gen-dedup-e0e779a0b3b52849984cd4ffd26ad1f3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727801" y="467989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g3ea66c3de90_6_365"/>
          <p:cNvSpPr txBox="1"/>
          <p:nvPr/>
        </p:nvSpPr>
        <p:spPr>
          <a:xfrm>
            <a:off x="5930800" y="4673800"/>
            <a:ext cx="1483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다음 단계로의 연결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6" name="Google Shape;796;g3ea66c3de90_6_365"/>
          <p:cNvSpPr/>
          <p:nvPr/>
        </p:nvSpPr>
        <p:spPr>
          <a:xfrm>
            <a:off x="5727801" y="5016399"/>
            <a:ext cx="2571900" cy="825300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 w="847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g3ea66c3de90_6_365"/>
          <p:cNvSpPr/>
          <p:nvPr/>
        </p:nvSpPr>
        <p:spPr>
          <a:xfrm>
            <a:off x="5848503" y="5137099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8" name="Google Shape;798;g3ea66c3de90_6_365" descr="gen-dedup-7a4eb04b1c2574e844475156d136d60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93003" y="5181600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g3ea66c3de90_6_365"/>
          <p:cNvSpPr txBox="1"/>
          <p:nvPr/>
        </p:nvSpPr>
        <p:spPr>
          <a:xfrm>
            <a:off x="6077099" y="5178550"/>
            <a:ext cx="6918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NILM 출력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0" name="Google Shape;800;g3ea66c3de90_6_365"/>
          <p:cNvSpPr txBox="1"/>
          <p:nvPr/>
        </p:nvSpPr>
        <p:spPr>
          <a:xfrm>
            <a:off x="5884446" y="5378501"/>
            <a:ext cx="23307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가전별 전력 시계열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+ ON/OFF 사용 구간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+ 사용 시간·누적 사용량 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01" name="Google Shape;801;g3ea66c3de90_6_365" descr="gen-dedup-8e550832a6b3788f5d287e570f1c87ed.png"/>
          <p:cNvPicPr preferRelativeResize="0"/>
          <p:nvPr/>
        </p:nvPicPr>
        <p:blipFill rotWithShape="1">
          <a:blip r:embed="rId17">
            <a:alphaModFix/>
          </a:blip>
          <a:srcRect l="-10" r="-10"/>
          <a:stretch/>
        </p:blipFill>
        <p:spPr>
          <a:xfrm>
            <a:off x="8858097" y="5016399"/>
            <a:ext cx="2571903" cy="82539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g3ea66c3de90_6_365"/>
          <p:cNvSpPr/>
          <p:nvPr/>
        </p:nvSpPr>
        <p:spPr>
          <a:xfrm>
            <a:off x="8978799" y="5137099"/>
            <a:ext cx="177900" cy="177900"/>
          </a:xfrm>
          <a:prstGeom prst="roundRect">
            <a:avLst>
              <a:gd name="adj" fmla="val 171233"/>
            </a:avLst>
          </a:prstGeom>
          <a:solidFill>
            <a:srgbClr val="047857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3" name="Google Shape;803;g3ea66c3de90_6_365" descr="gen-dedup-a071e6dec7ff6aeed0d562a7046742f3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023299" y="5181600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g3ea66c3de90_6_365"/>
          <p:cNvSpPr txBox="1"/>
          <p:nvPr/>
        </p:nvSpPr>
        <p:spPr>
          <a:xfrm>
            <a:off x="9207401" y="5178550"/>
            <a:ext cx="10803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상태 모니터링 엔진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5" name="Google Shape;805;g3ea66c3de90_6_365"/>
          <p:cNvSpPr txBox="1"/>
          <p:nvPr/>
        </p:nvSpPr>
        <p:spPr>
          <a:xfrm>
            <a:off x="9014742" y="5378501"/>
            <a:ext cx="23307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운전모드 · 사용 패턴 해석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→ 단기/장기 메모리 누적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→ LLM 진단 컨텍스트 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06" name="Google Shape;806;g3ea66c3de90_6_365" descr="gen-dedup-95892be498f09d9d31780c57e94817d1.png"/>
          <p:cNvPicPr preferRelativeResize="0"/>
          <p:nvPr/>
        </p:nvPicPr>
        <p:blipFill rotWithShape="1">
          <a:blip r:embed="rId19">
            <a:alphaModFix/>
          </a:blip>
          <a:srcRect l="-20" r="-30"/>
          <a:stretch/>
        </p:blipFill>
        <p:spPr>
          <a:xfrm>
            <a:off x="8426501" y="5308397"/>
            <a:ext cx="304800" cy="215799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ea66c3de90_6_365"/>
          <p:cNvSpPr/>
          <p:nvPr/>
        </p:nvSpPr>
        <p:spPr>
          <a:xfrm>
            <a:off x="5727801" y="5994197"/>
            <a:ext cx="5702100" cy="285900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8475" cap="flat" cmpd="sng">
            <a:solidFill>
              <a:srgbClr val="047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8" name="Google Shape;808;g3ea66c3de90_6_365" descr="gen-dedup-9a91759ebf622f116942601bb628f3d8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835701" y="6083808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g3ea66c3de90_6_365"/>
          <p:cNvSpPr txBox="1"/>
          <p:nvPr/>
        </p:nvSpPr>
        <p:spPr>
          <a:xfrm>
            <a:off x="5988100" y="5994200"/>
            <a:ext cx="54417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NILM이 </a:t>
            </a:r>
            <a:r>
              <a:rPr lang="en-US" sz="800" b="1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"어떤 가전이 얼마나 썼는지"</a:t>
            </a:r>
            <a:r>
              <a:rPr lang="en-US" sz="8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를 분해 → 다음 단계는 </a:t>
            </a: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"그 가전이 어떤 상태로 동작했는지"</a:t>
            </a:r>
            <a:r>
              <a:rPr lang="en-US" sz="8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 해석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0" name="Google Shape;810;g3ea66c3de90_6_365"/>
          <p:cNvSpPr txBox="1"/>
          <p:nvPr/>
        </p:nvSpPr>
        <p:spPr>
          <a:xfrm>
            <a:off x="2109871" y="43446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최종 NILM 구조와 성과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9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2" y="700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9" descr="gen-dedup-a2955c4b58d042089523e975b9e587bc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0" y="1410000"/>
            <a:ext cx="5702726" cy="500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9" descr="gen-dedup-26471d32594c94059de0a6c81372138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9" descr="gen-dedup-508f2c56c57a992cb7cd8d866506991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9" descr="gen-dedup-12ebd8ce040af2889a61b37dbbd3bc6b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40399" y="1410005"/>
            <a:ext cx="5079798" cy="233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9" descr="gen-dedup-fa840b199ec23055bdacb2835aa0852c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40398" y="3901271"/>
            <a:ext cx="5079802" cy="2517163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9"/>
          <p:cNvSpPr/>
          <p:nvPr/>
        </p:nvSpPr>
        <p:spPr>
          <a:xfrm>
            <a:off x="965000" y="2006800"/>
            <a:ext cx="5054700" cy="709500"/>
          </a:xfrm>
          <a:prstGeom prst="roundRect">
            <a:avLst>
              <a:gd name="adj" fmla="val 13635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3" name="Google Shape;823;p9" descr="gen-dedup-04c9c6b01901c62a015586a2cf232a19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000" y="3113032"/>
            <a:ext cx="5054801" cy="9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9"/>
          <p:cNvSpPr/>
          <p:nvPr/>
        </p:nvSpPr>
        <p:spPr>
          <a:xfrm>
            <a:off x="965000" y="5160757"/>
            <a:ext cx="5054700" cy="654300"/>
          </a:xfrm>
          <a:prstGeom prst="roundRect">
            <a:avLst>
              <a:gd name="adj" fmla="val 13635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9"/>
          <p:cNvSpPr/>
          <p:nvPr/>
        </p:nvSpPr>
        <p:spPr>
          <a:xfrm>
            <a:off x="6702255" y="1981200"/>
            <a:ext cx="2248200" cy="1638600"/>
          </a:xfrm>
          <a:prstGeom prst="roundRect">
            <a:avLst>
              <a:gd name="adj" fmla="val 3461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9"/>
          <p:cNvSpPr/>
          <p:nvPr/>
        </p:nvSpPr>
        <p:spPr>
          <a:xfrm>
            <a:off x="9423197" y="1981200"/>
            <a:ext cx="1994100" cy="1638600"/>
          </a:xfrm>
          <a:prstGeom prst="roundRect">
            <a:avLst>
              <a:gd name="adj" fmla="val 3461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9"/>
          <p:cNvSpPr txBox="1"/>
          <p:nvPr/>
        </p:nvSpPr>
        <p:spPr>
          <a:xfrm>
            <a:off x="1193599" y="495600"/>
            <a:ext cx="366143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27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sz="27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모니터링</a:t>
            </a:r>
            <a:endParaRPr sz="2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8" name="Google Shape;828;p9"/>
          <p:cNvSpPr txBox="1"/>
          <p:nvPr/>
        </p:nvSpPr>
        <p:spPr>
          <a:xfrm>
            <a:off x="1193597" y="849960"/>
            <a:ext cx="825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NILM이 </a:t>
            </a: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"얼마나 썼냐"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라면, 모니터링 엔진은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"어떤 상태로 동작 중이냐"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를 판단한다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29" name="Google Shape;829;p9" descr="gen-dedup-08be0f7f1edac8043beb2ec0e9d95f2c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4801" y="1656683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9"/>
          <p:cNvSpPr txBox="1"/>
          <p:nvPr/>
        </p:nvSpPr>
        <p:spPr>
          <a:xfrm>
            <a:off x="977800" y="1643875"/>
            <a:ext cx="1160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파이프라인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1" name="Google Shape;831;p9"/>
          <p:cNvSpPr/>
          <p:nvPr/>
        </p:nvSpPr>
        <p:spPr>
          <a:xfrm>
            <a:off x="1143000" y="2235403"/>
            <a:ext cx="368100" cy="368100"/>
          </a:xfrm>
          <a:prstGeom prst="roundRect">
            <a:avLst>
              <a:gd name="adj" fmla="val 7992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9" descr="gen-dedup-35824d5feeb75d5bf9a1041665433cd4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38097" y="2330501"/>
            <a:ext cx="178003" cy="178003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9"/>
          <p:cNvSpPr/>
          <p:nvPr/>
        </p:nvSpPr>
        <p:spPr>
          <a:xfrm>
            <a:off x="1623030" y="2144214"/>
            <a:ext cx="419400" cy="133500"/>
          </a:xfrm>
          <a:prstGeom prst="roundRect">
            <a:avLst>
              <a:gd name="adj" fmla="val 217438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9"/>
          <p:cNvSpPr txBox="1"/>
          <p:nvPr/>
        </p:nvSpPr>
        <p:spPr>
          <a:xfrm>
            <a:off x="1623024" y="2144225"/>
            <a:ext cx="4065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INPUT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5" name="Google Shape;835;p9"/>
          <p:cNvSpPr txBox="1"/>
          <p:nvPr/>
        </p:nvSpPr>
        <p:spPr>
          <a:xfrm>
            <a:off x="2105233" y="2163114"/>
            <a:ext cx="9021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FROM NILM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6" name="Google Shape;836;p9"/>
          <p:cNvSpPr txBox="1"/>
          <p:nvPr/>
        </p:nvSpPr>
        <p:spPr>
          <a:xfrm>
            <a:off x="1625803" y="2346366"/>
            <a:ext cx="42165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 분해 결과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37" name="Google Shape;837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>
            <a:off x="3483255" y="2770519"/>
            <a:ext cx="18897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9" descr="gen-dedup-b02b2b2a789ee2cb57a49fd7b96ef20d.png"/>
          <p:cNvPicPr preferRelativeResize="0"/>
          <p:nvPr/>
        </p:nvPicPr>
        <p:blipFill rotWithShape="1">
          <a:blip r:embed="rId13">
            <a:alphaModFix/>
          </a:blip>
          <a:srcRect t="-3430" b="-3419"/>
          <a:stretch/>
        </p:blipFill>
        <p:spPr>
          <a:xfrm>
            <a:off x="3403397" y="2967831"/>
            <a:ext cx="178003" cy="1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9"/>
          <p:cNvSpPr/>
          <p:nvPr/>
        </p:nvSpPr>
        <p:spPr>
          <a:xfrm>
            <a:off x="1663600" y="3249606"/>
            <a:ext cx="801000" cy="152400"/>
          </a:xfrm>
          <a:prstGeom prst="roundRect">
            <a:avLst>
              <a:gd name="adj" fmla="val 265816"/>
            </a:avLst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9"/>
          <p:cNvSpPr txBox="1"/>
          <p:nvPr/>
        </p:nvSpPr>
        <p:spPr>
          <a:xfrm>
            <a:off x="1675125" y="3252432"/>
            <a:ext cx="801000" cy="139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CORE ENGINE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41" name="Google Shape;841;p9" descr="gen-dedup-b3845b56f3869090ddc9b2243661c318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55801" y="3417828"/>
            <a:ext cx="406603" cy="40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9" descr="gen-dedup-feabe3055f2716ed3ae1b6243cc23700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257605" y="3519632"/>
            <a:ext cx="2029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9"/>
          <p:cNvSpPr txBox="1"/>
          <p:nvPr/>
        </p:nvSpPr>
        <p:spPr>
          <a:xfrm>
            <a:off x="1676400" y="3449058"/>
            <a:ext cx="41661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300"/>
              <a:buFont typeface="Arial"/>
              <a:buNone/>
            </a:pPr>
            <a:r>
              <a:rPr lang="en-US" sz="15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상태 모니터링 엔진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4" name="Google Shape;844;p9"/>
          <p:cNvSpPr txBox="1"/>
          <p:nvPr/>
        </p:nvSpPr>
        <p:spPr>
          <a:xfrm>
            <a:off x="1676400" y="3683002"/>
            <a:ext cx="41661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900"/>
              <a:buFont typeface="Arial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"지금 어떤 상태로 동작 중이냐"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5" name="Google Shape;845;p9"/>
          <p:cNvSpPr/>
          <p:nvPr/>
        </p:nvSpPr>
        <p:spPr>
          <a:xfrm>
            <a:off x="3477927" y="3653317"/>
            <a:ext cx="735300" cy="203100"/>
          </a:xfrm>
          <a:prstGeom prst="roundRect">
            <a:avLst>
              <a:gd name="adj" fmla="val 150150"/>
            </a:avLst>
          </a:prstGeom>
          <a:solidFill>
            <a:schemeClr val="lt1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6" name="Google Shape;846;p9" descr="gen-dedup-cf39f1dcf322b51f3545dd4490cc5ac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513605" y="3710371"/>
            <a:ext cx="89001" cy="8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>
            <a:off x="2210632" y="4040357"/>
            <a:ext cx="25514" cy="1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9" descr="gen-dedup-b02b2b2a789ee2cb57a49fd7b96ef20d.png"/>
          <p:cNvPicPr preferRelativeResize="0"/>
          <p:nvPr/>
        </p:nvPicPr>
        <p:blipFill rotWithShape="1">
          <a:blip r:embed="rId13">
            <a:alphaModFix/>
          </a:blip>
          <a:srcRect t="-3430" b="-3419"/>
          <a:stretch/>
        </p:blipFill>
        <p:spPr>
          <a:xfrm>
            <a:off x="2102836" y="4152979"/>
            <a:ext cx="240291" cy="1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9"/>
          <p:cNvSpPr/>
          <p:nvPr/>
        </p:nvSpPr>
        <p:spPr>
          <a:xfrm>
            <a:off x="3848125" y="4618230"/>
            <a:ext cx="1746900" cy="2286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9"/>
          <p:cNvSpPr txBox="1"/>
          <p:nvPr/>
        </p:nvSpPr>
        <p:spPr>
          <a:xfrm>
            <a:off x="3840633" y="4625405"/>
            <a:ext cx="17469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LongTermMemory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1" name="Google Shape;851;p9"/>
          <p:cNvSpPr/>
          <p:nvPr/>
        </p:nvSpPr>
        <p:spPr>
          <a:xfrm>
            <a:off x="1143000" y="5334070"/>
            <a:ext cx="368100" cy="368100"/>
          </a:xfrm>
          <a:prstGeom prst="roundRect">
            <a:avLst>
              <a:gd name="adj" fmla="val 7992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9" descr="gen-dedup-edaf789fc39697cda2449d1c20dda36c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238097" y="5429167"/>
            <a:ext cx="178003" cy="178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9"/>
          <p:cNvSpPr/>
          <p:nvPr/>
        </p:nvSpPr>
        <p:spPr>
          <a:xfrm>
            <a:off x="1625800" y="5286605"/>
            <a:ext cx="493500" cy="133500"/>
          </a:xfrm>
          <a:prstGeom prst="roundRect">
            <a:avLst>
              <a:gd name="adj" fmla="val 217438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9"/>
          <p:cNvSpPr txBox="1"/>
          <p:nvPr/>
        </p:nvSpPr>
        <p:spPr>
          <a:xfrm>
            <a:off x="1625800" y="5284175"/>
            <a:ext cx="4935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OUTPUT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5" name="Google Shape;855;p9"/>
          <p:cNvSpPr txBox="1"/>
          <p:nvPr/>
        </p:nvSpPr>
        <p:spPr>
          <a:xfrm>
            <a:off x="2191487" y="5303076"/>
            <a:ext cx="7638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TO LLM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6" name="Google Shape;856;p9"/>
          <p:cNvSpPr txBox="1"/>
          <p:nvPr/>
        </p:nvSpPr>
        <p:spPr>
          <a:xfrm>
            <a:off x="1625800" y="5462500"/>
            <a:ext cx="19434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LLM 진단용 맥락 데이터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7" name="Google Shape;857;p9"/>
          <p:cNvSpPr/>
          <p:nvPr/>
        </p:nvSpPr>
        <p:spPr>
          <a:xfrm>
            <a:off x="964997" y="5932108"/>
            <a:ext cx="5054700" cy="247500"/>
          </a:xfrm>
          <a:prstGeom prst="roundRect">
            <a:avLst>
              <a:gd name="adj" fmla="val 101048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8" name="Google Shape;858;p9" descr="gen-dedup-baf58eeafd1b66da73e8e23f1fb13f6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3999" y="6008918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9"/>
          <p:cNvSpPr txBox="1"/>
          <p:nvPr/>
        </p:nvSpPr>
        <p:spPr>
          <a:xfrm>
            <a:off x="1193600" y="5932111"/>
            <a:ext cx="4401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시계열(P(t)) 만 보던 NILM 출력을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의미 단위 상태(state)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로 변환하는 중간 레이어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60" name="Google Shape;860;p9" descr="gen-dedup-57a641e6e1382ce81cd58b4345ab6e39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744005" y="1656683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9"/>
          <p:cNvSpPr txBox="1"/>
          <p:nvPr/>
        </p:nvSpPr>
        <p:spPr>
          <a:xfrm>
            <a:off x="6947000" y="1643882"/>
            <a:ext cx="18927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 vs 모니터링 엔진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2" name="Google Shape;862;p9"/>
          <p:cNvSpPr/>
          <p:nvPr/>
        </p:nvSpPr>
        <p:spPr>
          <a:xfrm>
            <a:off x="6896405" y="2141966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5E7E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3" name="Google Shape;863;p9" descr="gen-dedup-c23d30a36088ff4b69603fd43d453a62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953097" y="2199268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9"/>
          <p:cNvSpPr txBox="1"/>
          <p:nvPr/>
        </p:nvSpPr>
        <p:spPr>
          <a:xfrm>
            <a:off x="7201814" y="2113776"/>
            <a:ext cx="7194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UPSTREAM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5" name="Google Shape;865;p9"/>
          <p:cNvSpPr txBox="1"/>
          <p:nvPr/>
        </p:nvSpPr>
        <p:spPr>
          <a:xfrm>
            <a:off x="7201819" y="2216505"/>
            <a:ext cx="470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6" name="Google Shape;866;p9"/>
          <p:cNvSpPr txBox="1"/>
          <p:nvPr/>
        </p:nvSpPr>
        <p:spPr>
          <a:xfrm>
            <a:off x="6972605" y="2509643"/>
            <a:ext cx="194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"얼마나 썼냐"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67" name="Google Shape;867;p9" descr="gen-dedup-357a32fa1d50543b33e30d615104c54d.png"/>
          <p:cNvPicPr preferRelativeResize="0"/>
          <p:nvPr/>
        </p:nvPicPr>
        <p:blipFill rotWithShape="1">
          <a:blip r:embed="rId21">
            <a:alphaModFix/>
          </a:blip>
          <a:srcRect l="-2094" r="-2084"/>
          <a:stretch/>
        </p:blipFill>
        <p:spPr>
          <a:xfrm>
            <a:off x="6896405" y="2858996"/>
            <a:ext cx="1943404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9"/>
          <p:cNvSpPr/>
          <p:nvPr/>
        </p:nvSpPr>
        <p:spPr>
          <a:xfrm>
            <a:off x="6896405" y="3023748"/>
            <a:ext cx="31500" cy="31500"/>
          </a:xfrm>
          <a:prstGeom prst="ellipse">
            <a:avLst/>
          </a:prstGeom>
          <a:solidFill>
            <a:srgbClr val="9CA3AF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9"/>
          <p:cNvSpPr txBox="1"/>
          <p:nvPr/>
        </p:nvSpPr>
        <p:spPr>
          <a:xfrm>
            <a:off x="6965900" y="2977414"/>
            <a:ext cx="362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가전별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0" name="Google Shape;870;p9"/>
          <p:cNvSpPr txBox="1"/>
          <p:nvPr/>
        </p:nvSpPr>
        <p:spPr>
          <a:xfrm>
            <a:off x="7272693" y="2976959"/>
            <a:ext cx="622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전력 시계열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1" name="Google Shape;871;p9"/>
          <p:cNvSpPr/>
          <p:nvPr/>
        </p:nvSpPr>
        <p:spPr>
          <a:xfrm>
            <a:off x="6896405" y="3185292"/>
            <a:ext cx="31500" cy="31500"/>
          </a:xfrm>
          <a:prstGeom prst="ellipse">
            <a:avLst/>
          </a:prstGeom>
          <a:solidFill>
            <a:srgbClr val="9CA3AF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9"/>
          <p:cNvSpPr txBox="1"/>
          <p:nvPr/>
        </p:nvSpPr>
        <p:spPr>
          <a:xfrm>
            <a:off x="6965899" y="3139572"/>
            <a:ext cx="6573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샘플링</a:t>
            </a:r>
            <a:r>
              <a:rPr lang="en-US" sz="800" i="0" u="none" strike="noStrike" cap="none">
                <a:solidFill>
                  <a:srgbClr val="49505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800" b="1" i="0" u="none" strike="noStrike" cap="none">
                <a:solidFill>
                  <a:srgbClr val="495057"/>
                </a:solidFill>
                <a:latin typeface="Noto Sans"/>
                <a:ea typeface="Noto Sans"/>
                <a:cs typeface="Noto Sans"/>
                <a:sym typeface="Noto Sans"/>
              </a:rPr>
              <a:t>30Hz ·</a:t>
            </a:r>
            <a:endParaRPr sz="800" b="1" i="0" u="none" strike="noStrike" cap="none">
              <a:solidFill>
                <a:srgbClr val="49505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3" name="Google Shape;873;p9"/>
          <p:cNvSpPr txBox="1"/>
          <p:nvPr/>
        </p:nvSpPr>
        <p:spPr>
          <a:xfrm>
            <a:off x="7571639" y="3139564"/>
            <a:ext cx="4572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4950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P(t)</a:t>
            </a:r>
            <a:endParaRPr sz="800" b="1" i="0" u="none" strike="noStrike" cap="none">
              <a:solidFill>
                <a:srgbClr val="4950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9"/>
          <p:cNvSpPr/>
          <p:nvPr/>
        </p:nvSpPr>
        <p:spPr>
          <a:xfrm>
            <a:off x="6896405" y="3347446"/>
            <a:ext cx="31500" cy="31500"/>
          </a:xfrm>
          <a:prstGeom prst="ellipse">
            <a:avLst/>
          </a:prstGeom>
          <a:solidFill>
            <a:srgbClr val="9CA3AF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9"/>
          <p:cNvSpPr txBox="1"/>
          <p:nvPr/>
        </p:nvSpPr>
        <p:spPr>
          <a:xfrm>
            <a:off x="6965899" y="3301116"/>
            <a:ext cx="221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출력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6" name="Google Shape;876;p9"/>
          <p:cNvSpPr txBox="1"/>
          <p:nvPr/>
        </p:nvSpPr>
        <p:spPr>
          <a:xfrm>
            <a:off x="7192440" y="3301116"/>
            <a:ext cx="5322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수치 (kWh)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77" name="Google Shape;877;p9" descr="gen-dedup-a74e9885f680ebdd6d83ffcd5a905b20.png"/>
          <p:cNvPicPr preferRelativeResize="0"/>
          <p:nvPr/>
        </p:nvPicPr>
        <p:blipFill rotWithShape="1">
          <a:blip r:embed="rId22">
            <a:alphaModFix/>
          </a:blip>
          <a:srcRect l="-10" r="-20"/>
          <a:stretch/>
        </p:blipFill>
        <p:spPr>
          <a:xfrm>
            <a:off x="9067800" y="2698699"/>
            <a:ext cx="2791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9"/>
          <p:cNvSpPr/>
          <p:nvPr/>
        </p:nvSpPr>
        <p:spPr>
          <a:xfrm>
            <a:off x="9575597" y="2141966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9" name="Google Shape;879;p9" descr="gen-dedup-19f8da56e5a167c6aa1f8038f5c19e71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632899" y="2199268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9"/>
          <p:cNvSpPr txBox="1"/>
          <p:nvPr/>
        </p:nvSpPr>
        <p:spPr>
          <a:xfrm>
            <a:off x="9881620" y="2113764"/>
            <a:ext cx="6225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CORE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1" name="Google Shape;881;p9"/>
          <p:cNvSpPr txBox="1"/>
          <p:nvPr/>
        </p:nvSpPr>
        <p:spPr>
          <a:xfrm>
            <a:off x="9881620" y="2216505"/>
            <a:ext cx="8010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900"/>
              <a:buFont typeface="Arial"/>
              <a:buNone/>
            </a:pPr>
            <a:r>
              <a:rPr lang="en-US" sz="10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모니터링 엔진</a:t>
            </a:r>
            <a:endParaRPr sz="10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2" name="Google Shape;882;p9"/>
          <p:cNvSpPr txBox="1"/>
          <p:nvPr/>
        </p:nvSpPr>
        <p:spPr>
          <a:xfrm>
            <a:off x="9651797" y="2417693"/>
            <a:ext cx="16893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Arial"/>
              <a:buNone/>
            </a:pPr>
            <a:r>
              <a:rPr lang="en-US" sz="13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"어떤 상태로</a:t>
            </a:r>
            <a:endParaRPr sz="1300" b="1" i="0" u="none" strike="noStrike" cap="none">
              <a:solidFill>
                <a:srgbClr val="064E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Arial"/>
              <a:buNone/>
            </a:pPr>
            <a:r>
              <a:rPr lang="en-US" sz="13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동작 중이냐"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83" name="Google Shape;883;p9" descr="gen-dedup-9d2785a8227502afbe5c1a21c9c0be19.png"/>
          <p:cNvPicPr preferRelativeResize="0"/>
          <p:nvPr/>
        </p:nvPicPr>
        <p:blipFill rotWithShape="1">
          <a:blip r:embed="rId24">
            <a:alphaModFix/>
          </a:blip>
          <a:srcRect l="-2094" r="-2084"/>
          <a:stretch/>
        </p:blipFill>
        <p:spPr>
          <a:xfrm>
            <a:off x="9575597" y="2858996"/>
            <a:ext cx="1689201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9"/>
          <p:cNvSpPr/>
          <p:nvPr/>
        </p:nvSpPr>
        <p:spPr>
          <a:xfrm>
            <a:off x="9575597" y="3001516"/>
            <a:ext cx="31500" cy="31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9"/>
          <p:cNvSpPr txBox="1"/>
          <p:nvPr/>
        </p:nvSpPr>
        <p:spPr>
          <a:xfrm>
            <a:off x="9645699" y="2955177"/>
            <a:ext cx="4572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가전별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6" name="Google Shape;886;p9"/>
          <p:cNvSpPr txBox="1"/>
          <p:nvPr/>
        </p:nvSpPr>
        <p:spPr>
          <a:xfrm>
            <a:off x="9987432" y="2955249"/>
            <a:ext cx="8229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동작 상태(state)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7" name="Google Shape;887;p9"/>
          <p:cNvSpPr/>
          <p:nvPr/>
        </p:nvSpPr>
        <p:spPr>
          <a:xfrm>
            <a:off x="9575597" y="3412748"/>
            <a:ext cx="31500" cy="31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9"/>
          <p:cNvSpPr txBox="1"/>
          <p:nvPr/>
        </p:nvSpPr>
        <p:spPr>
          <a:xfrm>
            <a:off x="9645701" y="3367028"/>
            <a:ext cx="2211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출력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9" name="Google Shape;889;p9"/>
          <p:cNvSpPr txBox="1"/>
          <p:nvPr/>
        </p:nvSpPr>
        <p:spPr>
          <a:xfrm>
            <a:off x="9884821" y="3367025"/>
            <a:ext cx="8010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의미 + 맥락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90" name="Google Shape;890;p9" descr="gen-dedup-48adf0022ceb731fa9d5d97613177fb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744005" y="4086435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9"/>
          <p:cNvSpPr txBox="1"/>
          <p:nvPr/>
        </p:nvSpPr>
        <p:spPr>
          <a:xfrm>
            <a:off x="6947000" y="4073627"/>
            <a:ext cx="3147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메모리에 누적하는 4가지 상태 신호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2" name="Google Shape;892;p9"/>
          <p:cNvSpPr/>
          <p:nvPr/>
        </p:nvSpPr>
        <p:spPr>
          <a:xfrm>
            <a:off x="6744005" y="4445203"/>
            <a:ext cx="2292000" cy="660300"/>
          </a:xfrm>
          <a:prstGeom prst="roundRect">
            <a:avLst>
              <a:gd name="adj" fmla="val 2130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9"/>
          <p:cNvSpPr/>
          <p:nvPr/>
        </p:nvSpPr>
        <p:spPr>
          <a:xfrm>
            <a:off x="6864096" y="456590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4" name="Google Shape;894;p9" descr="gen-dedup-9ff0415ef15db7d816a7073e132f2e48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921399" y="4622597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9"/>
          <p:cNvSpPr txBox="1"/>
          <p:nvPr/>
        </p:nvSpPr>
        <p:spPr>
          <a:xfrm>
            <a:off x="7156700" y="4613450"/>
            <a:ext cx="7194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모드</a:t>
            </a:r>
            <a:endParaRPr sz="11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6" name="Google Shape;896;p9"/>
          <p:cNvSpPr txBox="1"/>
          <p:nvPr/>
        </p:nvSpPr>
        <p:spPr>
          <a:xfrm>
            <a:off x="6899650" y="4857900"/>
            <a:ext cx="22254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대기 · 정상 · 고출력 · 이상 등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운전 모드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분류 라벨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7" name="Google Shape;897;p9"/>
          <p:cNvSpPr/>
          <p:nvPr/>
        </p:nvSpPr>
        <p:spPr>
          <a:xfrm>
            <a:off x="9125103" y="4445203"/>
            <a:ext cx="2292000" cy="660300"/>
          </a:xfrm>
          <a:prstGeom prst="roundRect">
            <a:avLst>
              <a:gd name="adj" fmla="val 2130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9"/>
          <p:cNvSpPr/>
          <p:nvPr/>
        </p:nvSpPr>
        <p:spPr>
          <a:xfrm>
            <a:off x="9245803" y="456590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Google Shape;899;p9" descr="gen-dedup-6d9e90a73b080aa0321847c7fb785ee2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302496" y="4622597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9"/>
          <p:cNvSpPr txBox="1"/>
          <p:nvPr/>
        </p:nvSpPr>
        <p:spPr>
          <a:xfrm>
            <a:off x="9537799" y="4613450"/>
            <a:ext cx="556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에너지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1" name="Google Shape;901;p9"/>
          <p:cNvSpPr txBox="1"/>
          <p:nvPr/>
        </p:nvSpPr>
        <p:spPr>
          <a:xfrm>
            <a:off x="9281348" y="4857903"/>
            <a:ext cx="20514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모드 구간별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누적 소비량 (kWh)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집계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2" name="Google Shape;902;p9"/>
          <p:cNvSpPr/>
          <p:nvPr/>
        </p:nvSpPr>
        <p:spPr>
          <a:xfrm>
            <a:off x="6744005" y="5191353"/>
            <a:ext cx="2292000" cy="660300"/>
          </a:xfrm>
          <a:prstGeom prst="roundRect">
            <a:avLst>
              <a:gd name="adj" fmla="val 2130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9"/>
          <p:cNvSpPr/>
          <p:nvPr/>
        </p:nvSpPr>
        <p:spPr>
          <a:xfrm>
            <a:off x="6864096" y="531205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4" name="Google Shape;904;p9" descr="gen-dedup-fcae092feb9ee8ebdf3b5a324c37d1fb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6921399" y="5368747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9"/>
          <p:cNvSpPr txBox="1"/>
          <p:nvPr/>
        </p:nvSpPr>
        <p:spPr>
          <a:xfrm>
            <a:off x="7156692" y="5359600"/>
            <a:ext cx="7194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런타임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6" name="Google Shape;906;p9"/>
          <p:cNvSpPr txBox="1"/>
          <p:nvPr/>
        </p:nvSpPr>
        <p:spPr>
          <a:xfrm>
            <a:off x="6899641" y="5604053"/>
            <a:ext cx="20514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가전 ON 상태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지속 시간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추적 (분/시간)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7" name="Google Shape;907;p9"/>
          <p:cNvSpPr/>
          <p:nvPr/>
        </p:nvSpPr>
        <p:spPr>
          <a:xfrm>
            <a:off x="9125103" y="5191353"/>
            <a:ext cx="2292000" cy="660300"/>
          </a:xfrm>
          <a:prstGeom prst="roundRect">
            <a:avLst>
              <a:gd name="adj" fmla="val 2130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9"/>
          <p:cNvSpPr/>
          <p:nvPr/>
        </p:nvSpPr>
        <p:spPr>
          <a:xfrm>
            <a:off x="9245803" y="531205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9" name="Google Shape;909;p9" descr="gen-dedup-eb001bc7fe6c5e9520d565431baca618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9302496" y="5368747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9"/>
          <p:cNvSpPr txBox="1"/>
          <p:nvPr/>
        </p:nvSpPr>
        <p:spPr>
          <a:xfrm>
            <a:off x="9537799" y="5359600"/>
            <a:ext cx="822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대기전력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1" name="Google Shape;911;p9"/>
          <p:cNvSpPr txBox="1"/>
          <p:nvPr/>
        </p:nvSpPr>
        <p:spPr>
          <a:xfrm>
            <a:off x="9281348" y="5604053"/>
            <a:ext cx="20514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OFF 상태에서도 소비되는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잔류 전력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감시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2" name="Google Shape;912;p9"/>
          <p:cNvSpPr txBox="1"/>
          <p:nvPr/>
        </p:nvSpPr>
        <p:spPr>
          <a:xfrm>
            <a:off x="6989329" y="6032005"/>
            <a:ext cx="24021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ShortTermEvent</a:t>
            </a:r>
            <a:r>
              <a:rPr lang="en-US" sz="7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— 가전별 모드 구간 이벤트 </a:t>
            </a:r>
            <a:endParaRPr sz="700" i="0" u="none" strike="noStrike" cap="none">
              <a:solidFill>
                <a:srgbClr val="9CA3A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500"/>
              <a:buFont typeface="Arial"/>
              <a:buNone/>
            </a:pPr>
            <a:r>
              <a:rPr lang="en-US" sz="7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(당일 매시간 누적)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3" name="Google Shape;913;p9"/>
          <p:cNvSpPr txBox="1"/>
          <p:nvPr/>
        </p:nvSpPr>
        <p:spPr>
          <a:xfrm>
            <a:off x="8282025" y="6298997"/>
            <a:ext cx="420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500"/>
              <a:buFont typeface="Arial"/>
              <a:buNone/>
            </a:pPr>
            <a:r>
              <a:rPr lang="en-US" sz="500" b="0" i="0" u="none" strike="noStrike" cap="non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9"/>
          <p:cNvSpPr txBox="1"/>
          <p:nvPr/>
        </p:nvSpPr>
        <p:spPr>
          <a:xfrm>
            <a:off x="9467700" y="5991350"/>
            <a:ext cx="2402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LongTermMemory</a:t>
            </a:r>
            <a:r>
              <a:rPr lang="en-US" sz="7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— 일/주/월 단위 누적 패턴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5" name="Google Shape;915;p9"/>
          <p:cNvSpPr/>
          <p:nvPr/>
        </p:nvSpPr>
        <p:spPr>
          <a:xfrm>
            <a:off x="6845929" y="6071407"/>
            <a:ext cx="50700" cy="50700"/>
          </a:xfrm>
          <a:prstGeom prst="roundRect">
            <a:avLst>
              <a:gd name="adj" fmla="val 602411"/>
            </a:avLst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9"/>
          <p:cNvSpPr/>
          <p:nvPr/>
        </p:nvSpPr>
        <p:spPr>
          <a:xfrm>
            <a:off x="9340044" y="6071407"/>
            <a:ext cx="50700" cy="50700"/>
          </a:xfrm>
          <a:prstGeom prst="roundRect">
            <a:avLst>
              <a:gd name="adj" fmla="val 602411"/>
            </a:avLst>
          </a:prstGeom>
          <a:solidFill>
            <a:srgbClr val="059669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9"/>
          <p:cNvSpPr/>
          <p:nvPr/>
        </p:nvSpPr>
        <p:spPr>
          <a:xfrm>
            <a:off x="5140995" y="3656317"/>
            <a:ext cx="735300" cy="203100"/>
          </a:xfrm>
          <a:prstGeom prst="roundRect">
            <a:avLst>
              <a:gd name="adj" fmla="val 150150"/>
            </a:avLst>
          </a:prstGeom>
          <a:solidFill>
            <a:schemeClr val="lt1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8" name="Google Shape;918;p9" descr="gen-dedup-cf39f1dcf322b51f3545dd4490cc5ac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288068" y="3708746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9"/>
          <p:cNvSpPr/>
          <p:nvPr/>
        </p:nvSpPr>
        <p:spPr>
          <a:xfrm>
            <a:off x="4271352" y="3651692"/>
            <a:ext cx="822900" cy="203100"/>
          </a:xfrm>
          <a:prstGeom prst="roundRect">
            <a:avLst>
              <a:gd name="adj" fmla="val 150150"/>
            </a:avLst>
          </a:prstGeom>
          <a:solidFill>
            <a:schemeClr val="lt1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9"/>
          <p:cNvSpPr txBox="1"/>
          <p:nvPr/>
        </p:nvSpPr>
        <p:spPr>
          <a:xfrm>
            <a:off x="3517088" y="3653467"/>
            <a:ext cx="7194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675" tIns="42325" rIns="84675" bIns="4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900" b="1" i="0" u="none" strike="noStrike" cap="none" dirty="0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모드</a:t>
            </a:r>
            <a:r>
              <a:rPr lang="en-US" sz="900" b="1" i="0" u="none" strike="noStrike" cap="none" dirty="0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r>
              <a:rPr lang="en-US" sz="900" b="1" i="0" u="none" strike="noStrike" cap="none" dirty="0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1" name="Google Shape;921;p9"/>
          <p:cNvSpPr txBox="1"/>
          <p:nvPr/>
        </p:nvSpPr>
        <p:spPr>
          <a:xfrm>
            <a:off x="4335760" y="3655717"/>
            <a:ext cx="8229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675" tIns="42325" rIns="84675" bIns="4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메모리 관리 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2" name="Google Shape;922;p9"/>
          <p:cNvSpPr txBox="1"/>
          <p:nvPr/>
        </p:nvSpPr>
        <p:spPr>
          <a:xfrm>
            <a:off x="5244041" y="3656386"/>
            <a:ext cx="7194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675" tIns="42325" rIns="84675" bIns="4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맥락 누적 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23" name="Google Shape;923;p9" descr="gen-dedup-cf39f1dcf322b51f3545dd4490cc5ac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216087" y="3708928"/>
            <a:ext cx="89001" cy="8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9" descr="gen-dedup-cf39f1dcf322b51f3545dd4490cc5ac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335750" y="3705221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9"/>
          <p:cNvSpPr/>
          <p:nvPr/>
        </p:nvSpPr>
        <p:spPr>
          <a:xfrm>
            <a:off x="9575597" y="3163060"/>
            <a:ext cx="31500" cy="31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9"/>
          <p:cNvSpPr txBox="1"/>
          <p:nvPr/>
        </p:nvSpPr>
        <p:spPr>
          <a:xfrm>
            <a:off x="9645699" y="3117352"/>
            <a:ext cx="406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메모리: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7" name="Google Shape;927;p9"/>
          <p:cNvSpPr txBox="1"/>
          <p:nvPr/>
        </p:nvSpPr>
        <p:spPr>
          <a:xfrm>
            <a:off x="10019305" y="3116668"/>
            <a:ext cx="98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ShortTermEvent / </a:t>
            </a:r>
            <a:endParaRPr sz="800" b="1" i="0" u="none" strike="noStrike" cap="none">
              <a:solidFill>
                <a:srgbClr val="065F4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LongTermMemory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8" name="Google Shape;928;p9"/>
          <p:cNvSpPr/>
          <p:nvPr/>
        </p:nvSpPr>
        <p:spPr>
          <a:xfrm>
            <a:off x="1265077" y="4273705"/>
            <a:ext cx="1842600" cy="2286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"/>
          <p:cNvSpPr txBox="1"/>
          <p:nvPr/>
        </p:nvSpPr>
        <p:spPr>
          <a:xfrm>
            <a:off x="1257600" y="4262976"/>
            <a:ext cx="18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ShortTermEvent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30" name="Google Shape;930;p9" descr="gen-dedup-b02b2b2a789ee2cb57a49fd7b96ef20d.png"/>
          <p:cNvPicPr preferRelativeResize="0"/>
          <p:nvPr/>
        </p:nvPicPr>
        <p:blipFill rotWithShape="1">
          <a:blip r:embed="rId13">
            <a:alphaModFix/>
          </a:blip>
          <a:srcRect t="-3430" b="-3419"/>
          <a:stretch/>
        </p:blipFill>
        <p:spPr>
          <a:xfrm>
            <a:off x="4594026" y="4489527"/>
            <a:ext cx="240287" cy="1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>
            <a:off x="4699488" y="4389427"/>
            <a:ext cx="25514" cy="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 rot="-5400000">
            <a:off x="3933455" y="3619534"/>
            <a:ext cx="18900" cy="155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>
            <a:off x="3502583" y="4910421"/>
            <a:ext cx="25514" cy="1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9" descr="gen-dedup-b02b2b2a789ee2cb57a49fd7b96ef20d.png"/>
          <p:cNvPicPr preferRelativeResize="0"/>
          <p:nvPr/>
        </p:nvPicPr>
        <p:blipFill rotWithShape="1">
          <a:blip r:embed="rId13">
            <a:alphaModFix/>
          </a:blip>
          <a:srcRect t="-3430" b="-3419"/>
          <a:stretch/>
        </p:blipFill>
        <p:spPr>
          <a:xfrm>
            <a:off x="3394787" y="5026885"/>
            <a:ext cx="240291" cy="126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>
            <a:off x="2208641" y="4533818"/>
            <a:ext cx="25514" cy="39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 rot="-5400000">
            <a:off x="3451709" y="3666717"/>
            <a:ext cx="19325" cy="2507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9" descr="gen-dedup-0ac59c7a01987bfc12a47bffec4b1f8f.png"/>
          <p:cNvPicPr preferRelativeResize="0"/>
          <p:nvPr/>
        </p:nvPicPr>
        <p:blipFill rotWithShape="1">
          <a:blip r:embed="rId12">
            <a:alphaModFix/>
          </a:blip>
          <a:srcRect t="-413" b="-403"/>
          <a:stretch/>
        </p:blipFill>
        <p:spPr>
          <a:xfrm>
            <a:off x="4699488" y="4867433"/>
            <a:ext cx="25514" cy="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9"/>
          <p:cNvSpPr txBox="1"/>
          <p:nvPr/>
        </p:nvSpPr>
        <p:spPr>
          <a:xfrm>
            <a:off x="3691250" y="4113783"/>
            <a:ext cx="121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매일 00시 압축 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9" name="Google Shape;939;p9"/>
          <p:cNvSpPr txBox="1"/>
          <p:nvPr/>
        </p:nvSpPr>
        <p:spPr>
          <a:xfrm>
            <a:off x="1416100" y="4016111"/>
            <a:ext cx="822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매시간 누적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0" name="Google Shape;940;p9"/>
          <p:cNvSpPr txBox="1"/>
          <p:nvPr/>
        </p:nvSpPr>
        <p:spPr>
          <a:xfrm>
            <a:off x="1686075" y="707729"/>
            <a:ext cx="761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1" name="Google Shape;941;p9"/>
          <p:cNvSpPr txBox="1"/>
          <p:nvPr/>
        </p:nvSpPr>
        <p:spPr>
          <a:xfrm>
            <a:off x="4815368" y="42213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역할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0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10" descr="gen-dedup-5196fec89ab3c8d967e4aa4ab3654819.png"/>
          <p:cNvPicPr preferRelativeResize="0"/>
          <p:nvPr/>
        </p:nvPicPr>
        <p:blipFill rotWithShape="1">
          <a:blip r:embed="rId4">
            <a:alphaModFix/>
          </a:blip>
          <a:srcRect t="-10" b="-20"/>
          <a:stretch/>
        </p:blipFill>
        <p:spPr>
          <a:xfrm>
            <a:off x="571800" y="1439400"/>
            <a:ext cx="10995225" cy="106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10" descr="gen-dedup-048fbc32c4204cbd4c62b13084850378.png"/>
          <p:cNvPicPr preferRelativeResize="0"/>
          <p:nvPr/>
        </p:nvPicPr>
        <p:blipFill rotWithShape="1">
          <a:blip r:embed="rId5">
            <a:alphaModFix/>
          </a:blip>
          <a:srcRect t="-10"/>
          <a:stretch/>
        </p:blipFill>
        <p:spPr>
          <a:xfrm>
            <a:off x="571805" y="2882799"/>
            <a:ext cx="3631997" cy="353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10" descr="gen-dedup-048fbc32c4204cbd4c62b13084850378.png"/>
          <p:cNvPicPr preferRelativeResize="0"/>
          <p:nvPr/>
        </p:nvPicPr>
        <p:blipFill rotWithShape="1">
          <a:blip r:embed="rId5">
            <a:alphaModFix/>
          </a:blip>
          <a:srcRect t="-10"/>
          <a:stretch/>
        </p:blipFill>
        <p:spPr>
          <a:xfrm>
            <a:off x="4280001" y="2882799"/>
            <a:ext cx="3631997" cy="353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10" descr="gen-dedup-048fbc32c4204cbd4c62b13084850378.png"/>
          <p:cNvPicPr preferRelativeResize="0"/>
          <p:nvPr/>
        </p:nvPicPr>
        <p:blipFill rotWithShape="1">
          <a:blip r:embed="rId5">
            <a:alphaModFix/>
          </a:blip>
          <a:srcRect t="-10"/>
          <a:stretch/>
        </p:blipFill>
        <p:spPr>
          <a:xfrm>
            <a:off x="7988199" y="2882799"/>
            <a:ext cx="3631997" cy="353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10" descr="gen-dedup-0feca515910054b79bbcef479cf14b75.png"/>
          <p:cNvPicPr preferRelativeResize="0"/>
          <p:nvPr/>
        </p:nvPicPr>
        <p:blipFill rotWithShape="1">
          <a:blip r:embed="rId6">
            <a:alphaModFix/>
          </a:blip>
          <a:srcRect l="-383" r="-393"/>
          <a:stretch/>
        </p:blipFill>
        <p:spPr>
          <a:xfrm>
            <a:off x="561200" y="1439400"/>
            <a:ext cx="38400" cy="107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10" descr="gen-dedup-b49858eda732d8a703577c1da685e62d.png"/>
          <p:cNvPicPr preferRelativeResize="0"/>
          <p:nvPr/>
        </p:nvPicPr>
        <p:blipFill rotWithShape="1">
          <a:blip r:embed="rId7">
            <a:alphaModFix/>
          </a:blip>
          <a:srcRect l="-201" r="-191"/>
          <a:stretch/>
        </p:blipFill>
        <p:spPr>
          <a:xfrm>
            <a:off x="571805" y="2882799"/>
            <a:ext cx="3631997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10" descr="gen-dedup-e1ebe84394c83e0e560e2468a29d58cb.png"/>
          <p:cNvPicPr preferRelativeResize="0"/>
          <p:nvPr/>
        </p:nvPicPr>
        <p:blipFill rotWithShape="1">
          <a:blip r:embed="rId8">
            <a:alphaModFix/>
          </a:blip>
          <a:srcRect l="-201" r="-191"/>
          <a:stretch/>
        </p:blipFill>
        <p:spPr>
          <a:xfrm>
            <a:off x="4280001" y="2882799"/>
            <a:ext cx="3631997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10" descr="gen-dedup-7f7ae28632027e6eb7e5048b6dc71af4.png"/>
          <p:cNvPicPr preferRelativeResize="0"/>
          <p:nvPr/>
        </p:nvPicPr>
        <p:blipFill rotWithShape="1">
          <a:blip r:embed="rId9">
            <a:alphaModFix/>
          </a:blip>
          <a:srcRect l="-201" r="-191"/>
          <a:stretch/>
        </p:blipFill>
        <p:spPr>
          <a:xfrm>
            <a:off x="7988199" y="2882799"/>
            <a:ext cx="3631997" cy="5059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10"/>
          <p:cNvSpPr txBox="1"/>
          <p:nvPr/>
        </p:nvSpPr>
        <p:spPr>
          <a:xfrm>
            <a:off x="1193597" y="863803"/>
            <a:ext cx="8255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가전의 </a:t>
            </a: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모드 구조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에 따라 W-range / TDA / Cycle HMM / PWM HMM 을 선택적으로 적용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7" name="Google Shape;957;p10"/>
          <p:cNvSpPr/>
          <p:nvPr/>
        </p:nvSpPr>
        <p:spPr>
          <a:xfrm>
            <a:off x="774800" y="1680675"/>
            <a:ext cx="425700" cy="133500"/>
          </a:xfrm>
          <a:prstGeom prst="roundRect">
            <a:avLst>
              <a:gd name="adj" fmla="val 217438"/>
            </a:avLst>
          </a:prstGeom>
          <a:solidFill>
            <a:srgbClr val="F3F4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0"/>
          <p:cNvSpPr txBox="1"/>
          <p:nvPr/>
        </p:nvSpPr>
        <p:spPr>
          <a:xfrm>
            <a:off x="774800" y="1702447"/>
            <a:ext cx="475832" cy="7820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① 기본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9" name="Google Shape;959;p10"/>
          <p:cNvSpPr txBox="1"/>
          <p:nvPr/>
        </p:nvSpPr>
        <p:spPr>
          <a:xfrm>
            <a:off x="1283401" y="1696525"/>
            <a:ext cx="679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BASELINE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10"/>
          <p:cNvSpPr txBox="1"/>
          <p:nvPr/>
        </p:nvSpPr>
        <p:spPr>
          <a:xfrm>
            <a:off x="774801" y="1836602"/>
            <a:ext cx="20325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W-range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1" name="Google Shape;961;p10"/>
          <p:cNvSpPr txBox="1"/>
          <p:nvPr/>
        </p:nvSpPr>
        <p:spPr>
          <a:xfrm>
            <a:off x="774800" y="2109950"/>
            <a:ext cx="21306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순간 전력값을 임계값 범위에 대입해 모드 분류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2" name="Google Shape;962;p10"/>
          <p:cNvSpPr txBox="1"/>
          <p:nvPr/>
        </p:nvSpPr>
        <p:spPr>
          <a:xfrm>
            <a:off x="3020850" y="1697736"/>
            <a:ext cx="41661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가전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3" name="Google Shape;963;p10"/>
          <p:cNvSpPr/>
          <p:nvPr/>
        </p:nvSpPr>
        <p:spPr>
          <a:xfrm>
            <a:off x="3020850" y="1837944"/>
            <a:ext cx="267000" cy="171300"/>
          </a:xfrm>
          <a:prstGeom prst="roundRect">
            <a:avLst>
              <a:gd name="adj" fmla="val 158166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0"/>
          <p:cNvSpPr txBox="1"/>
          <p:nvPr/>
        </p:nvSpPr>
        <p:spPr>
          <a:xfrm>
            <a:off x="3020850" y="1837944"/>
            <a:ext cx="2670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TV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5" name="Google Shape;965;p10"/>
          <p:cNvSpPr/>
          <p:nvPr/>
        </p:nvSpPr>
        <p:spPr>
          <a:xfrm>
            <a:off x="3323826" y="1837950"/>
            <a:ext cx="501900" cy="171300"/>
          </a:xfrm>
          <a:prstGeom prst="roundRect">
            <a:avLst>
              <a:gd name="adj" fmla="val 158166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0"/>
          <p:cNvSpPr txBox="1"/>
          <p:nvPr/>
        </p:nvSpPr>
        <p:spPr>
          <a:xfrm>
            <a:off x="3323826" y="1837950"/>
            <a:ext cx="5442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전기포트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7" name="Google Shape;967;p10"/>
          <p:cNvSpPr/>
          <p:nvPr/>
        </p:nvSpPr>
        <p:spPr>
          <a:xfrm>
            <a:off x="3868026" y="1837950"/>
            <a:ext cx="571800" cy="171300"/>
          </a:xfrm>
          <a:prstGeom prst="roundRect">
            <a:avLst>
              <a:gd name="adj" fmla="val 158166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10"/>
          <p:cNvSpPr txBox="1"/>
          <p:nvPr/>
        </p:nvSpPr>
        <p:spPr>
          <a:xfrm flipH="1">
            <a:off x="3867975" y="1837950"/>
            <a:ext cx="7749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전자레인지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9" name="Google Shape;969;p10"/>
          <p:cNvSpPr/>
          <p:nvPr/>
        </p:nvSpPr>
        <p:spPr>
          <a:xfrm>
            <a:off x="4482126" y="1837950"/>
            <a:ext cx="616500" cy="171300"/>
          </a:xfrm>
          <a:prstGeom prst="roundRect">
            <a:avLst>
              <a:gd name="adj" fmla="val 158166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0"/>
          <p:cNvSpPr txBox="1"/>
          <p:nvPr/>
        </p:nvSpPr>
        <p:spPr>
          <a:xfrm>
            <a:off x="4492525" y="1837950"/>
            <a:ext cx="6798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의류건조기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1" name="Google Shape;971;p10"/>
          <p:cNvSpPr txBox="1"/>
          <p:nvPr/>
        </p:nvSpPr>
        <p:spPr>
          <a:xfrm>
            <a:off x="3020850" y="2084579"/>
            <a:ext cx="41661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모드 경계가 단순 · TDA/HMM 불필요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2" name="Google Shape;972;p10"/>
          <p:cNvSpPr/>
          <p:nvPr/>
        </p:nvSpPr>
        <p:spPr>
          <a:xfrm>
            <a:off x="6058200" y="1681875"/>
            <a:ext cx="5276700" cy="476100"/>
          </a:xfrm>
          <a:prstGeom prst="roundRect">
            <a:avLst>
              <a:gd name="adj" fmla="val 24188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10"/>
          <p:cNvSpPr/>
          <p:nvPr/>
        </p:nvSpPr>
        <p:spPr>
          <a:xfrm>
            <a:off x="6058200" y="1719675"/>
            <a:ext cx="24000" cy="438300"/>
          </a:xfrm>
          <a:prstGeom prst="roundRect">
            <a:avLst>
              <a:gd name="adj" fmla="val 561018"/>
            </a:avLst>
          </a:prstGeom>
          <a:solidFill>
            <a:srgbClr val="E63946"/>
          </a:solidFill>
          <a:ln w="9525" cap="flat" cmpd="sng">
            <a:solidFill>
              <a:srgbClr val="E6394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4" name="Google Shape;974;p10" descr="gen-dedup-1bf4e5a5a881061426a1a0e3252cc9b7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79785" y="1804383"/>
            <a:ext cx="101800" cy="1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10"/>
          <p:cNvSpPr txBox="1"/>
          <p:nvPr/>
        </p:nvSpPr>
        <p:spPr>
          <a:xfrm>
            <a:off x="6311470" y="1808675"/>
            <a:ext cx="2988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10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한계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6" name="Google Shape;976;p10"/>
          <p:cNvSpPr txBox="1"/>
          <p:nvPr/>
        </p:nvSpPr>
        <p:spPr>
          <a:xfrm>
            <a:off x="6184076" y="1935475"/>
            <a:ext cx="5757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모드 경계가 촘촘한 가전(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세탁기</a:t>
            </a: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등)에서 노이즈로 경계선 근처 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수백 번 진동</a:t>
            </a: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→ LLM 맥락이 의미 없어짐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77" name="Google Shape;977;p10" descr="gen-dedup-2f37f4ff310ebed5909d4077604f46c0.png"/>
          <p:cNvPicPr preferRelativeResize="0"/>
          <p:nvPr/>
        </p:nvPicPr>
        <p:blipFill rotWithShape="1">
          <a:blip r:embed="rId11">
            <a:alphaModFix/>
          </a:blip>
          <a:srcRect l="-2083" r="-2083"/>
          <a:stretch/>
        </p:blipFill>
        <p:spPr>
          <a:xfrm rot="10800000" flipH="1">
            <a:off x="522050" y="2643211"/>
            <a:ext cx="4432399" cy="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10"/>
          <p:cNvSpPr/>
          <p:nvPr/>
        </p:nvSpPr>
        <p:spPr>
          <a:xfrm>
            <a:off x="4954450" y="2565200"/>
            <a:ext cx="2514900" cy="171300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95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9" name="Google Shape;979;p10" descr="gen-dedup-c5ed04b467e4977b717d5387d5252c65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7205" y="2606649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0"/>
          <p:cNvSpPr txBox="1"/>
          <p:nvPr/>
        </p:nvSpPr>
        <p:spPr>
          <a:xfrm>
            <a:off x="5161375" y="2565200"/>
            <a:ext cx="22821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모드 구조가 복잡한 가전에 한해 TDA / HMM 도입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1" name="Google Shape;981;p10"/>
          <p:cNvSpPr/>
          <p:nvPr/>
        </p:nvSpPr>
        <p:spPr>
          <a:xfrm>
            <a:off x="762000" y="3102864"/>
            <a:ext cx="241500" cy="241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0"/>
          <p:cNvSpPr/>
          <p:nvPr/>
        </p:nvSpPr>
        <p:spPr>
          <a:xfrm>
            <a:off x="762000" y="3102864"/>
            <a:ext cx="241500" cy="241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②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3" name="Google Shape;983;p10"/>
          <p:cNvSpPr txBox="1"/>
          <p:nvPr/>
        </p:nvSpPr>
        <p:spPr>
          <a:xfrm>
            <a:off x="1066800" y="3134563"/>
            <a:ext cx="635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TRACK 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4" name="Google Shape;984;p10"/>
          <p:cNvSpPr txBox="1"/>
          <p:nvPr/>
        </p:nvSpPr>
        <p:spPr>
          <a:xfrm>
            <a:off x="1066800" y="3236300"/>
            <a:ext cx="1439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TDA로 충분한 가전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5" name="Google Shape;985;p10"/>
          <p:cNvSpPr txBox="1"/>
          <p:nvPr/>
        </p:nvSpPr>
        <p:spPr>
          <a:xfrm>
            <a:off x="3674669" y="3086405"/>
            <a:ext cx="3933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2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6" name="Google Shape;986;p10"/>
          <p:cNvSpPr txBox="1"/>
          <p:nvPr/>
        </p:nvSpPr>
        <p:spPr>
          <a:xfrm>
            <a:off x="762000" y="3449117"/>
            <a:ext cx="325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TDA 분류만으로 충분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7" name="Google Shape;987;p10"/>
          <p:cNvSpPr txBox="1"/>
          <p:nvPr/>
        </p:nvSpPr>
        <p:spPr>
          <a:xfrm>
            <a:off x="762000" y="3720999"/>
            <a:ext cx="3251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가전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8" name="Google Shape;988;p10"/>
          <p:cNvSpPr/>
          <p:nvPr/>
        </p:nvSpPr>
        <p:spPr>
          <a:xfrm>
            <a:off x="762000" y="3890132"/>
            <a:ext cx="425700" cy="158400"/>
          </a:xfrm>
          <a:prstGeom prst="roundRect">
            <a:avLst>
              <a:gd name="adj" fmla="val 184615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10"/>
          <p:cNvSpPr txBox="1"/>
          <p:nvPr/>
        </p:nvSpPr>
        <p:spPr>
          <a:xfrm>
            <a:off x="771901" y="3890125"/>
            <a:ext cx="4524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에어컨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0" name="Google Shape;990;p10"/>
          <p:cNvSpPr/>
          <p:nvPr/>
        </p:nvSpPr>
        <p:spPr>
          <a:xfrm>
            <a:off x="1250632" y="3890132"/>
            <a:ext cx="425700" cy="158400"/>
          </a:xfrm>
          <a:prstGeom prst="roundRect">
            <a:avLst>
              <a:gd name="adj" fmla="val 184615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0"/>
          <p:cNvSpPr txBox="1"/>
          <p:nvPr/>
        </p:nvSpPr>
        <p:spPr>
          <a:xfrm>
            <a:off x="1255364" y="3890125"/>
            <a:ext cx="4524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냉장고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2" name="Google Shape;992;p10"/>
          <p:cNvSpPr/>
          <p:nvPr/>
        </p:nvSpPr>
        <p:spPr>
          <a:xfrm>
            <a:off x="2421279" y="3890132"/>
            <a:ext cx="457200" cy="158400"/>
          </a:xfrm>
          <a:prstGeom prst="roundRect">
            <a:avLst>
              <a:gd name="adj" fmla="val 184615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0"/>
          <p:cNvSpPr txBox="1"/>
          <p:nvPr/>
        </p:nvSpPr>
        <p:spPr>
          <a:xfrm>
            <a:off x="2439443" y="3890125"/>
            <a:ext cx="4659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제습기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94" name="Google Shape;994;p10" descr="gen-dedup-4476a18994dd9026eb1405c811bf0623.png"/>
          <p:cNvPicPr preferRelativeResize="0"/>
          <p:nvPr/>
        </p:nvPicPr>
        <p:blipFill rotWithShape="1">
          <a:blip r:embed="rId13">
            <a:alphaModFix/>
          </a:blip>
          <a:srcRect l="-2083" r="-2073"/>
          <a:stretch/>
        </p:blipFill>
        <p:spPr>
          <a:xfrm>
            <a:off x="762000" y="4114800"/>
            <a:ext cx="3250998" cy="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10" descr="gen-dedup-a97755b8225e3b2b4a0c5ba49928d1e8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2000" y="4262413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10"/>
          <p:cNvSpPr txBox="1"/>
          <p:nvPr/>
        </p:nvSpPr>
        <p:spPr>
          <a:xfrm>
            <a:off x="914400" y="4243518"/>
            <a:ext cx="2106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모드 간 파형의 </a:t>
            </a: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위상 구조 차이</a:t>
            </a: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가 명확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97" name="Google Shape;997;p10" descr="gen-dedup-a97755b8225e3b2b4a0c5ba49928d1e8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2000" y="4455047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10"/>
          <p:cNvSpPr txBox="1"/>
          <p:nvPr/>
        </p:nvSpPr>
        <p:spPr>
          <a:xfrm>
            <a:off x="914400" y="4436143"/>
            <a:ext cx="2259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모드에 </a:t>
            </a: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순서 제약 없음</a:t>
            </a:r>
            <a:r>
              <a:rPr lang="en-US" sz="9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→ HMM 불필요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9" name="Google Shape;999;p10"/>
          <p:cNvSpPr/>
          <p:nvPr/>
        </p:nvSpPr>
        <p:spPr>
          <a:xfrm>
            <a:off x="761900" y="4884900"/>
            <a:ext cx="3251100" cy="672900"/>
          </a:xfrm>
          <a:prstGeom prst="roundRect">
            <a:avLst>
              <a:gd name="adj" fmla="val 18096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0"/>
          <p:cNvSpPr txBox="1"/>
          <p:nvPr/>
        </p:nvSpPr>
        <p:spPr>
          <a:xfrm>
            <a:off x="857097" y="4969459"/>
            <a:ext cx="306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분류 파이프라인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1" name="Google Shape;1001;p10"/>
          <p:cNvSpPr/>
          <p:nvPr/>
        </p:nvSpPr>
        <p:spPr>
          <a:xfrm>
            <a:off x="857102" y="5102950"/>
            <a:ext cx="14397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0"/>
          <p:cNvSpPr txBox="1"/>
          <p:nvPr/>
        </p:nvSpPr>
        <p:spPr>
          <a:xfrm>
            <a:off x="857099" y="5102950"/>
            <a:ext cx="14244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Persistence Image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3" name="Google Shape;1003;p10"/>
          <p:cNvSpPr txBox="1"/>
          <p:nvPr/>
        </p:nvSpPr>
        <p:spPr>
          <a:xfrm>
            <a:off x="2332939" y="5124907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10"/>
          <p:cNvSpPr/>
          <p:nvPr/>
        </p:nvSpPr>
        <p:spPr>
          <a:xfrm>
            <a:off x="2460152" y="5102950"/>
            <a:ext cx="11559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0"/>
          <p:cNvSpPr txBox="1"/>
          <p:nvPr/>
        </p:nvSpPr>
        <p:spPr>
          <a:xfrm>
            <a:off x="2460150" y="5102950"/>
            <a:ext cx="11559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cosine attention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6" name="Google Shape;1006;p10"/>
          <p:cNvSpPr txBox="1"/>
          <p:nvPr/>
        </p:nvSpPr>
        <p:spPr>
          <a:xfrm>
            <a:off x="1274248" y="5333074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0"/>
          <p:cNvSpPr/>
          <p:nvPr/>
        </p:nvSpPr>
        <p:spPr>
          <a:xfrm>
            <a:off x="1394908" y="5314951"/>
            <a:ext cx="9312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0"/>
          <p:cNvSpPr txBox="1"/>
          <p:nvPr/>
        </p:nvSpPr>
        <p:spPr>
          <a:xfrm>
            <a:off x="1393700" y="5313800"/>
            <a:ext cx="9312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entropy gate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9" name="Google Shape;1009;p10"/>
          <p:cNvSpPr txBox="1"/>
          <p:nvPr/>
        </p:nvSpPr>
        <p:spPr>
          <a:xfrm>
            <a:off x="2470279" y="5333074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0"/>
          <p:cNvSpPr/>
          <p:nvPr/>
        </p:nvSpPr>
        <p:spPr>
          <a:xfrm>
            <a:off x="2670600" y="5313800"/>
            <a:ext cx="457200" cy="139500"/>
          </a:xfrm>
          <a:prstGeom prst="roundRect">
            <a:avLst>
              <a:gd name="adj" fmla="val 198491"/>
            </a:avLst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0"/>
          <p:cNvSpPr txBox="1"/>
          <p:nvPr/>
        </p:nvSpPr>
        <p:spPr>
          <a:xfrm flipH="1">
            <a:off x="2668192" y="5308508"/>
            <a:ext cx="438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mode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2" name="Google Shape;1012;p10"/>
          <p:cNvSpPr/>
          <p:nvPr/>
        </p:nvSpPr>
        <p:spPr>
          <a:xfrm>
            <a:off x="762000" y="5681775"/>
            <a:ext cx="3251100" cy="355500"/>
          </a:xfrm>
          <a:prstGeom prst="roundRect">
            <a:avLst>
              <a:gd name="adj" fmla="val 78278"/>
            </a:avLst>
          </a:prstGeom>
          <a:solidFill>
            <a:srgbClr val="FEFC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0"/>
          <p:cNvSpPr/>
          <p:nvPr/>
        </p:nvSpPr>
        <p:spPr>
          <a:xfrm>
            <a:off x="762000" y="5681776"/>
            <a:ext cx="18900" cy="343200"/>
          </a:xfrm>
          <a:prstGeom prst="roundRect">
            <a:avLst>
              <a:gd name="adj" fmla="val 921672"/>
            </a:avLst>
          </a:prstGeom>
          <a:solidFill>
            <a:srgbClr val="EAB308"/>
          </a:solidFill>
          <a:ln w="9525" cap="flat" cmpd="sng">
            <a:solidFill>
              <a:srgbClr val="EAB30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4" name="Google Shape;1014;p10" descr="gen-dedup-60bbaef78dd248425c46eb73045c1c01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57097" y="5788287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10"/>
          <p:cNvSpPr txBox="1"/>
          <p:nvPr/>
        </p:nvSpPr>
        <p:spPr>
          <a:xfrm>
            <a:off x="996700" y="5681772"/>
            <a:ext cx="22671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3F1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entropy gate</a:t>
            </a:r>
            <a:r>
              <a:rPr lang="en-US" sz="800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: attention 분포가 고르게 퍼지면(불확실) </a:t>
            </a:r>
            <a:r>
              <a:rPr lang="en-US" sz="800" b="1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W-range로 폴백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6" name="Google Shape;1016;p10"/>
          <p:cNvSpPr/>
          <p:nvPr/>
        </p:nvSpPr>
        <p:spPr>
          <a:xfrm>
            <a:off x="4470197" y="3102864"/>
            <a:ext cx="241500" cy="241500"/>
          </a:xfrm>
          <a:prstGeom prst="ellipse">
            <a:avLst/>
          </a:prstGeom>
          <a:solidFill>
            <a:srgbClr val="3B82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"/>
          <p:cNvSpPr/>
          <p:nvPr/>
        </p:nvSpPr>
        <p:spPr>
          <a:xfrm>
            <a:off x="4470197" y="3102864"/>
            <a:ext cx="241500" cy="241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10"/>
          <p:cNvSpPr txBox="1"/>
          <p:nvPr/>
        </p:nvSpPr>
        <p:spPr>
          <a:xfrm>
            <a:off x="4774997" y="3134563"/>
            <a:ext cx="965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TRACK 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9" name="Google Shape;1019;p10"/>
          <p:cNvSpPr txBox="1"/>
          <p:nvPr/>
        </p:nvSpPr>
        <p:spPr>
          <a:xfrm>
            <a:off x="4775002" y="3236300"/>
            <a:ext cx="1881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TDA만으로 부족 → 순서 필요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0" name="Google Shape;1020;p10"/>
          <p:cNvSpPr txBox="1"/>
          <p:nvPr/>
        </p:nvSpPr>
        <p:spPr>
          <a:xfrm>
            <a:off x="7340803" y="3086405"/>
            <a:ext cx="3810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2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1" name="Google Shape;1021;p10"/>
          <p:cNvSpPr txBox="1"/>
          <p:nvPr/>
        </p:nvSpPr>
        <p:spPr>
          <a:xfrm>
            <a:off x="4470197" y="3449117"/>
            <a:ext cx="325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Cycle HMM 도입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2" name="Google Shape;1022;p10"/>
          <p:cNvSpPr txBox="1"/>
          <p:nvPr/>
        </p:nvSpPr>
        <p:spPr>
          <a:xfrm>
            <a:off x="4470197" y="3720999"/>
            <a:ext cx="3251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가전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3" name="Google Shape;1023;p10"/>
          <p:cNvSpPr/>
          <p:nvPr/>
        </p:nvSpPr>
        <p:spPr>
          <a:xfrm>
            <a:off x="4470200" y="3890132"/>
            <a:ext cx="3939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0"/>
          <p:cNvSpPr txBox="1"/>
          <p:nvPr/>
        </p:nvSpPr>
        <p:spPr>
          <a:xfrm>
            <a:off x="4435876" y="3890125"/>
            <a:ext cx="5145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세탁기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5" name="Google Shape;1025;p10"/>
          <p:cNvSpPr/>
          <p:nvPr/>
        </p:nvSpPr>
        <p:spPr>
          <a:xfrm>
            <a:off x="4912875" y="3890132"/>
            <a:ext cx="9084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0"/>
          <p:cNvSpPr txBox="1"/>
          <p:nvPr/>
        </p:nvSpPr>
        <p:spPr>
          <a:xfrm flipH="1">
            <a:off x="4914283" y="3890132"/>
            <a:ext cx="10161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식기세척기/건조기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7" name="Google Shape;1027;p10"/>
          <p:cNvSpPr/>
          <p:nvPr/>
        </p:nvSpPr>
        <p:spPr>
          <a:xfrm>
            <a:off x="4476191" y="4165404"/>
            <a:ext cx="3251100" cy="552900"/>
          </a:xfrm>
          <a:prstGeom prst="roundRect">
            <a:avLst>
              <a:gd name="adj" fmla="val 22745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10"/>
          <p:cNvSpPr/>
          <p:nvPr/>
        </p:nvSpPr>
        <p:spPr>
          <a:xfrm>
            <a:off x="4470200" y="4165405"/>
            <a:ext cx="18900" cy="512700"/>
          </a:xfrm>
          <a:prstGeom prst="roundRect">
            <a:avLst>
              <a:gd name="adj" fmla="val 576045"/>
            </a:avLst>
          </a:prstGeom>
          <a:solidFill>
            <a:srgbClr val="E63946"/>
          </a:solidFill>
          <a:ln w="9525" cap="flat" cmpd="sng">
            <a:solidFill>
              <a:srgbClr val="E6394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9" name="Google Shape;1029;p10" descr="gen-dedup-6686df464a2a05db65853f4777f51a78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571895" y="4238444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0"/>
          <p:cNvSpPr txBox="1"/>
          <p:nvPr/>
        </p:nvSpPr>
        <p:spPr>
          <a:xfrm>
            <a:off x="4685892" y="4234791"/>
            <a:ext cx="298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문제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1" name="Google Shape;1031;p10"/>
          <p:cNvSpPr txBox="1"/>
          <p:nvPr/>
        </p:nvSpPr>
        <p:spPr>
          <a:xfrm>
            <a:off x="4565900" y="4336075"/>
            <a:ext cx="34863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모드에 </a:t>
            </a:r>
            <a:r>
              <a:rPr lang="en-US" sz="8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물리적 순서</a:t>
            </a: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존재 — wash → rinse → spin </a:t>
            </a:r>
            <a:endParaRPr sz="800" i="0" u="none" strike="noStrike" cap="none">
              <a:solidFill>
                <a:srgbClr val="7F1D1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TDA만으로는 순서 미반영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2" name="Google Shape;1032;p10"/>
          <p:cNvSpPr/>
          <p:nvPr/>
        </p:nvSpPr>
        <p:spPr>
          <a:xfrm>
            <a:off x="4470197" y="4855550"/>
            <a:ext cx="3251100" cy="672900"/>
          </a:xfrm>
          <a:prstGeom prst="roundRect">
            <a:avLst>
              <a:gd name="adj" fmla="val 17091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"/>
          <p:cNvSpPr txBox="1"/>
          <p:nvPr/>
        </p:nvSpPr>
        <p:spPr>
          <a:xfrm>
            <a:off x="4565904" y="4950645"/>
            <a:ext cx="306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분류 파이프라인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4" name="Google Shape;1034;p10"/>
          <p:cNvSpPr/>
          <p:nvPr/>
        </p:nvSpPr>
        <p:spPr>
          <a:xfrm>
            <a:off x="4565900" y="5093900"/>
            <a:ext cx="12555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0"/>
          <p:cNvSpPr txBox="1"/>
          <p:nvPr/>
        </p:nvSpPr>
        <p:spPr>
          <a:xfrm>
            <a:off x="4565900" y="5093900"/>
            <a:ext cx="12555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Persistence Image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6" name="Google Shape;1036;p10"/>
          <p:cNvSpPr txBox="1"/>
          <p:nvPr/>
        </p:nvSpPr>
        <p:spPr>
          <a:xfrm>
            <a:off x="5911545" y="5115792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10"/>
          <p:cNvSpPr/>
          <p:nvPr/>
        </p:nvSpPr>
        <p:spPr>
          <a:xfrm>
            <a:off x="6049253" y="5084150"/>
            <a:ext cx="832500" cy="171300"/>
          </a:xfrm>
          <a:prstGeom prst="roundRect">
            <a:avLst>
              <a:gd name="adj" fmla="val 131805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0"/>
          <p:cNvSpPr txBox="1"/>
          <p:nvPr/>
        </p:nvSpPr>
        <p:spPr>
          <a:xfrm>
            <a:off x="6058200" y="5084150"/>
            <a:ext cx="798600" cy="171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L2 → index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9" name="Google Shape;1039;p10"/>
          <p:cNvSpPr txBox="1"/>
          <p:nvPr/>
        </p:nvSpPr>
        <p:spPr>
          <a:xfrm>
            <a:off x="5057448" y="5314043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0"/>
          <p:cNvSpPr/>
          <p:nvPr/>
        </p:nvSpPr>
        <p:spPr>
          <a:xfrm>
            <a:off x="5172050" y="5297657"/>
            <a:ext cx="10755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0"/>
          <p:cNvSpPr txBox="1"/>
          <p:nvPr/>
        </p:nvSpPr>
        <p:spPr>
          <a:xfrm>
            <a:off x="5172050" y="5292100"/>
            <a:ext cx="10416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Categorical HMM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2" name="Google Shape;1042;p10"/>
          <p:cNvSpPr txBox="1"/>
          <p:nvPr/>
        </p:nvSpPr>
        <p:spPr>
          <a:xfrm>
            <a:off x="6345911" y="5314043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0"/>
          <p:cNvSpPr/>
          <p:nvPr/>
        </p:nvSpPr>
        <p:spPr>
          <a:xfrm>
            <a:off x="6500697" y="5297657"/>
            <a:ext cx="715800" cy="139500"/>
          </a:xfrm>
          <a:prstGeom prst="roundRect">
            <a:avLst>
              <a:gd name="adj" fmla="val 198491"/>
            </a:avLst>
          </a:prstGeom>
          <a:solidFill>
            <a:srgbClr val="3B82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0"/>
          <p:cNvSpPr txBox="1"/>
          <p:nvPr/>
        </p:nvSpPr>
        <p:spPr>
          <a:xfrm>
            <a:off x="6500700" y="5304400"/>
            <a:ext cx="7158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Viterbi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45" name="Google Shape;1045;p10" descr="gen-dedup-9a7add397adddcd7853e43912cf3995b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241597" y="7367016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0"/>
          <p:cNvSpPr txBox="1"/>
          <p:nvPr/>
        </p:nvSpPr>
        <p:spPr>
          <a:xfrm>
            <a:off x="4441226" y="7390225"/>
            <a:ext cx="30282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Persistence Image를 레퍼런스와 </a:t>
            </a: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L2 비교 → 이산 인덱스</a:t>
            </a: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변환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7" name="Google Shape;1047;p10" descr="gen-dedup-9a7add397adddcd7853e43912cf3995b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241597" y="7538923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10"/>
          <p:cNvSpPr txBox="1"/>
          <p:nvPr/>
        </p:nvSpPr>
        <p:spPr>
          <a:xfrm>
            <a:off x="4441227" y="7561525"/>
            <a:ext cx="2559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Categorical HMM</a:t>
            </a: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이 모드 전이 확률 학습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9" name="Google Shape;1049;p10" descr="gen-dedup-9a7add397adddcd7853e43912cf3995b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241597" y="7710221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10"/>
          <p:cNvSpPr txBox="1"/>
          <p:nvPr/>
        </p:nvSpPr>
        <p:spPr>
          <a:xfrm>
            <a:off x="4441226" y="7733425"/>
            <a:ext cx="28275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Viterbi 전역 최적 경로</a:t>
            </a: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로 spin→rinse 같은 불가능 전환 억제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0"/>
          <p:cNvSpPr/>
          <p:nvPr/>
        </p:nvSpPr>
        <p:spPr>
          <a:xfrm>
            <a:off x="4470200" y="5679622"/>
            <a:ext cx="3251100" cy="355500"/>
          </a:xfrm>
          <a:prstGeom prst="roundRect">
            <a:avLst>
              <a:gd name="adj" fmla="val 78278"/>
            </a:avLst>
          </a:prstGeom>
          <a:solidFill>
            <a:srgbClr val="FEFC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2" name="Google Shape;1052;p10" descr="gen-dedup-60bbaef78dd248425c46eb73045c1c01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65904" y="5731459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10"/>
          <p:cNvSpPr txBox="1"/>
          <p:nvPr/>
        </p:nvSpPr>
        <p:spPr>
          <a:xfrm>
            <a:off x="4711697" y="5730072"/>
            <a:ext cx="2559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3F12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HMM 시퀀스 부족시 </a:t>
            </a:r>
            <a:r>
              <a:rPr lang="en-US" sz="800" b="1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TDA</a:t>
            </a:r>
            <a:r>
              <a:rPr lang="en-US" sz="800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800" i="0" u="none" strike="noStrike" cap="none">
              <a:solidFill>
                <a:srgbClr val="713F1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3F1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800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 TDA 레퍼런스 없을 시 </a:t>
            </a:r>
            <a:r>
              <a:rPr lang="en-US" sz="800" b="1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W-range 풀백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4" name="Google Shape;1054;p10"/>
          <p:cNvSpPr/>
          <p:nvPr/>
        </p:nvSpPr>
        <p:spPr>
          <a:xfrm>
            <a:off x="8179003" y="3102864"/>
            <a:ext cx="241500" cy="241500"/>
          </a:xfrm>
          <a:prstGeom prst="ellipse">
            <a:avLst/>
          </a:prstGeom>
          <a:solidFill>
            <a:srgbClr val="F59E0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0"/>
          <p:cNvSpPr/>
          <p:nvPr/>
        </p:nvSpPr>
        <p:spPr>
          <a:xfrm>
            <a:off x="8179003" y="3102864"/>
            <a:ext cx="241500" cy="241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0"/>
          <p:cNvSpPr txBox="1"/>
          <p:nvPr/>
        </p:nvSpPr>
        <p:spPr>
          <a:xfrm>
            <a:off x="8483803" y="3134563"/>
            <a:ext cx="895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TRACK 3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7" name="Google Shape;1057;p10"/>
          <p:cNvSpPr txBox="1"/>
          <p:nvPr/>
        </p:nvSpPr>
        <p:spPr>
          <a:xfrm>
            <a:off x="8483799" y="3236300"/>
            <a:ext cx="1424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TDA 적용 불가 → 서모스탯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8" name="Google Shape;1058;p10"/>
          <p:cNvSpPr txBox="1"/>
          <p:nvPr/>
        </p:nvSpPr>
        <p:spPr>
          <a:xfrm>
            <a:off x="11040465" y="3086405"/>
            <a:ext cx="393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2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9" name="Google Shape;1059;p10"/>
          <p:cNvSpPr txBox="1"/>
          <p:nvPr/>
        </p:nvSpPr>
        <p:spPr>
          <a:xfrm>
            <a:off x="8179003" y="3449117"/>
            <a:ext cx="325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PWM HMM 도입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0" name="Google Shape;1060;p10"/>
          <p:cNvSpPr txBox="1"/>
          <p:nvPr/>
        </p:nvSpPr>
        <p:spPr>
          <a:xfrm>
            <a:off x="8179003" y="3720999"/>
            <a:ext cx="3251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가전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1" name="Google Shape;1061;p10"/>
          <p:cNvSpPr/>
          <p:nvPr/>
        </p:nvSpPr>
        <p:spPr>
          <a:xfrm>
            <a:off x="8178999" y="3890132"/>
            <a:ext cx="571800" cy="158400"/>
          </a:xfrm>
          <a:prstGeom prst="roundRect">
            <a:avLst>
              <a:gd name="adj" fmla="val 184615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0"/>
          <p:cNvSpPr txBox="1"/>
          <p:nvPr/>
        </p:nvSpPr>
        <p:spPr>
          <a:xfrm>
            <a:off x="8179000" y="3890132"/>
            <a:ext cx="5718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온수매트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3" name="Google Shape;1063;p10"/>
          <p:cNvSpPr/>
          <p:nvPr/>
        </p:nvSpPr>
        <p:spPr>
          <a:xfrm>
            <a:off x="8803974" y="3890132"/>
            <a:ext cx="774900" cy="158400"/>
          </a:xfrm>
          <a:prstGeom prst="roundRect">
            <a:avLst>
              <a:gd name="adj" fmla="val 184615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0"/>
          <p:cNvSpPr txBox="1"/>
          <p:nvPr/>
        </p:nvSpPr>
        <p:spPr>
          <a:xfrm>
            <a:off x="8823175" y="3890125"/>
            <a:ext cx="8325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전기장판/담요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5" name="Google Shape;1065;p10"/>
          <p:cNvSpPr/>
          <p:nvPr/>
        </p:nvSpPr>
        <p:spPr>
          <a:xfrm>
            <a:off x="9639000" y="3890132"/>
            <a:ext cx="679800" cy="158400"/>
          </a:xfrm>
          <a:prstGeom prst="roundRect">
            <a:avLst>
              <a:gd name="adj" fmla="val 184615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10"/>
          <p:cNvSpPr txBox="1"/>
          <p:nvPr/>
        </p:nvSpPr>
        <p:spPr>
          <a:xfrm>
            <a:off x="9601401" y="3890125"/>
            <a:ext cx="7749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에어프라이어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7" name="Google Shape;1067;p10"/>
          <p:cNvSpPr/>
          <p:nvPr/>
        </p:nvSpPr>
        <p:spPr>
          <a:xfrm>
            <a:off x="8179001" y="4165400"/>
            <a:ext cx="3251100" cy="552900"/>
          </a:xfrm>
          <a:prstGeom prst="roundRect">
            <a:avLst>
              <a:gd name="adj" fmla="val 17527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"/>
          <p:cNvSpPr/>
          <p:nvPr/>
        </p:nvSpPr>
        <p:spPr>
          <a:xfrm>
            <a:off x="8179000" y="4165400"/>
            <a:ext cx="18900" cy="549900"/>
          </a:xfrm>
          <a:prstGeom prst="roundRect">
            <a:avLst>
              <a:gd name="adj" fmla="val 435926"/>
            </a:avLst>
          </a:prstGeom>
          <a:solidFill>
            <a:srgbClr val="E63946"/>
          </a:solidFill>
          <a:ln w="9525" cap="flat" cmpd="sng">
            <a:solidFill>
              <a:srgbClr val="E6394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9" name="Google Shape;1069;p10" descr="gen-dedup-6686df464a2a05db65853f4777f51a78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280092" y="4238444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0"/>
          <p:cNvSpPr txBox="1"/>
          <p:nvPr/>
        </p:nvSpPr>
        <p:spPr>
          <a:xfrm>
            <a:off x="8394091" y="4234833"/>
            <a:ext cx="2988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문제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1" name="Google Shape;1071;p10"/>
          <p:cNvSpPr txBox="1"/>
          <p:nvPr/>
        </p:nvSpPr>
        <p:spPr>
          <a:xfrm>
            <a:off x="8274100" y="4359431"/>
            <a:ext cx="30804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히터 W_max ON / 0W OFF 반복 → </a:t>
            </a:r>
            <a:r>
              <a:rPr lang="en-US" sz="8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파형 구조 자체가 없음</a:t>
            </a:r>
            <a:endParaRPr sz="800" i="0" u="none" strike="noStrike" cap="none">
              <a:solidFill>
                <a:srgbClr val="7F1D1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TDA · W-range 모두 단수 구분 불가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2" name="Google Shape;1072;p10"/>
          <p:cNvSpPr/>
          <p:nvPr/>
        </p:nvSpPr>
        <p:spPr>
          <a:xfrm>
            <a:off x="8179000" y="4855550"/>
            <a:ext cx="3251100" cy="672900"/>
          </a:xfrm>
          <a:prstGeom prst="roundRect">
            <a:avLst>
              <a:gd name="adj" fmla="val 15600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"/>
          <p:cNvSpPr txBox="1"/>
          <p:nvPr/>
        </p:nvSpPr>
        <p:spPr>
          <a:xfrm>
            <a:off x="8274701" y="4969790"/>
            <a:ext cx="306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분류 파이프라인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4" name="Google Shape;1074;p10"/>
          <p:cNvSpPr/>
          <p:nvPr/>
        </p:nvSpPr>
        <p:spPr>
          <a:xfrm>
            <a:off x="8274100" y="5101125"/>
            <a:ext cx="8751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"/>
          <p:cNvSpPr txBox="1"/>
          <p:nvPr/>
        </p:nvSpPr>
        <p:spPr>
          <a:xfrm>
            <a:off x="8274100" y="5101125"/>
            <a:ext cx="8751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60s window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6" name="Google Shape;1076;p10"/>
          <p:cNvSpPr txBox="1"/>
          <p:nvPr/>
        </p:nvSpPr>
        <p:spPr>
          <a:xfrm>
            <a:off x="9300872" y="5123700"/>
            <a:ext cx="1488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0"/>
          <p:cNvSpPr/>
          <p:nvPr/>
        </p:nvSpPr>
        <p:spPr>
          <a:xfrm>
            <a:off x="9620700" y="5101125"/>
            <a:ext cx="7557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0"/>
          <p:cNvSpPr txBox="1"/>
          <p:nvPr/>
        </p:nvSpPr>
        <p:spPr>
          <a:xfrm>
            <a:off x="9683977" y="5101125"/>
            <a:ext cx="7434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duty cycle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9" name="Google Shape;1079;p10"/>
          <p:cNvSpPr txBox="1"/>
          <p:nvPr/>
        </p:nvSpPr>
        <p:spPr>
          <a:xfrm>
            <a:off x="8735846" y="5345026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0"/>
          <p:cNvSpPr/>
          <p:nvPr/>
        </p:nvSpPr>
        <p:spPr>
          <a:xfrm>
            <a:off x="8895194" y="5304400"/>
            <a:ext cx="875100" cy="15240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0"/>
          <p:cNvSpPr txBox="1"/>
          <p:nvPr/>
        </p:nvSpPr>
        <p:spPr>
          <a:xfrm>
            <a:off x="8895201" y="5304400"/>
            <a:ext cx="8751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Gaussian HMM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2" name="Google Shape;1082;p10"/>
          <p:cNvSpPr txBox="1"/>
          <p:nvPr/>
        </p:nvSpPr>
        <p:spPr>
          <a:xfrm>
            <a:off x="9966756" y="5345026"/>
            <a:ext cx="831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600" b="0" i="0" u="none" strike="noStrike" cap="none">
                <a:solidFill>
                  <a:srgbClr val="9CA3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0"/>
          <p:cNvSpPr/>
          <p:nvPr/>
        </p:nvSpPr>
        <p:spPr>
          <a:xfrm>
            <a:off x="10314950" y="5304400"/>
            <a:ext cx="544200" cy="139500"/>
          </a:xfrm>
          <a:prstGeom prst="roundRect">
            <a:avLst>
              <a:gd name="adj" fmla="val 198491"/>
            </a:avLst>
          </a:prstGeom>
          <a:solidFill>
            <a:srgbClr val="F59E0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0"/>
          <p:cNvSpPr txBox="1"/>
          <p:nvPr/>
        </p:nvSpPr>
        <p:spPr>
          <a:xfrm>
            <a:off x="10354637" y="5311000"/>
            <a:ext cx="5442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25400" rIns="5927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Viterbi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85" name="Google Shape;1085;p10" descr="gen-dedup-7044b4b58867353a18f47353d3346bcb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950403" y="7373309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10"/>
          <p:cNvSpPr txBox="1"/>
          <p:nvPr/>
        </p:nvSpPr>
        <p:spPr>
          <a:xfrm>
            <a:off x="8150024" y="7396520"/>
            <a:ext cx="28764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60s 윈도우의 </a:t>
            </a: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duty cycle(켜진 비율)</a:t>
            </a: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을 관측값으로 사용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7" name="Google Shape;1087;p10" descr="gen-dedup-7044b4b58867353a18f47353d3346bcb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950403" y="7544607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"/>
          <p:cNvSpPr txBox="1"/>
          <p:nvPr/>
        </p:nvSpPr>
        <p:spPr>
          <a:xfrm>
            <a:off x="8150024" y="7567820"/>
            <a:ext cx="25725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단수별 duty cycle 분포를 </a:t>
            </a: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Gaussian</a:t>
            </a: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으로 모델링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9" name="Google Shape;1089;p10" descr="gen-dedup-7044b4b58867353a18f47353d3346bcb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950403" y="7715905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"/>
          <p:cNvSpPr txBox="1"/>
          <p:nvPr/>
        </p:nvSpPr>
        <p:spPr>
          <a:xfrm>
            <a:off x="8150024" y="7739095"/>
            <a:ext cx="2682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단수↑ → duty cycle 평균↑, </a:t>
            </a: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Viterbi</a:t>
            </a: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로 단수 시퀀스 추론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0"/>
          <p:cNvSpPr/>
          <p:nvPr/>
        </p:nvSpPr>
        <p:spPr>
          <a:xfrm>
            <a:off x="8179003" y="5736336"/>
            <a:ext cx="3251100" cy="222600"/>
          </a:xfrm>
          <a:prstGeom prst="roundRect">
            <a:avLst>
              <a:gd name="adj" fmla="val 78278"/>
            </a:avLst>
          </a:prstGeom>
          <a:solidFill>
            <a:srgbClr val="FEFC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0"/>
          <p:cNvSpPr/>
          <p:nvPr/>
        </p:nvSpPr>
        <p:spPr>
          <a:xfrm>
            <a:off x="8179003" y="5736336"/>
            <a:ext cx="18900" cy="222600"/>
          </a:xfrm>
          <a:prstGeom prst="roundRect">
            <a:avLst>
              <a:gd name="adj" fmla="val 921672"/>
            </a:avLst>
          </a:prstGeom>
          <a:solidFill>
            <a:srgbClr val="EAB308"/>
          </a:solidFill>
          <a:ln w="9525" cap="flat" cmpd="sng">
            <a:solidFill>
              <a:srgbClr val="EAB30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3" name="Google Shape;1093;p10" descr="gen-dedup-60bbaef78dd248425c46eb73045c1c01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74101" y="5802173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0"/>
          <p:cNvSpPr txBox="1"/>
          <p:nvPr/>
        </p:nvSpPr>
        <p:spPr>
          <a:xfrm>
            <a:off x="8413701" y="5799725"/>
            <a:ext cx="11055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3F1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13F12"/>
                </a:solidFill>
                <a:latin typeface="Noto Sans"/>
                <a:ea typeface="Noto Sans"/>
                <a:cs typeface="Noto Sans"/>
                <a:sym typeface="Noto Sans"/>
              </a:rPr>
              <a:t>W-range 폴백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95" name="Google Shape;1095;p10" descr="gen-dedup-26471d32594c94059de0a6c813721381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" descr="gen-dedup-508f2c56c57a992cb7cd8d866506991a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"/>
          <p:cNvSpPr/>
          <p:nvPr/>
        </p:nvSpPr>
        <p:spPr>
          <a:xfrm>
            <a:off x="1752853" y="3890132"/>
            <a:ext cx="600900" cy="158400"/>
          </a:xfrm>
          <a:prstGeom prst="roundRect">
            <a:avLst>
              <a:gd name="adj" fmla="val 184615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0"/>
          <p:cNvSpPr txBox="1"/>
          <p:nvPr/>
        </p:nvSpPr>
        <p:spPr>
          <a:xfrm>
            <a:off x="1748425" y="3890125"/>
            <a:ext cx="6675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김치냉장고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9" name="Google Shape;1099;p10"/>
          <p:cNvSpPr/>
          <p:nvPr/>
        </p:nvSpPr>
        <p:spPr>
          <a:xfrm>
            <a:off x="4457700" y="5676414"/>
            <a:ext cx="18900" cy="343200"/>
          </a:xfrm>
          <a:prstGeom prst="roundRect">
            <a:avLst>
              <a:gd name="adj" fmla="val 921672"/>
            </a:avLst>
          </a:prstGeom>
          <a:solidFill>
            <a:srgbClr val="EAB308"/>
          </a:solidFill>
          <a:ln w="9525" cap="flat" cmpd="sng">
            <a:solidFill>
              <a:srgbClr val="EAB30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0" name="Google Shape;1100;p10" descr="gen-dedup-2f37f4ff310ebed5909d4077604f46c0.png"/>
          <p:cNvPicPr preferRelativeResize="0"/>
          <p:nvPr/>
        </p:nvPicPr>
        <p:blipFill rotWithShape="1">
          <a:blip r:embed="rId11">
            <a:alphaModFix/>
          </a:blip>
          <a:srcRect l="-2083" r="-2083"/>
          <a:stretch/>
        </p:blipFill>
        <p:spPr>
          <a:xfrm rot="10800000" flipH="1">
            <a:off x="7532450" y="2643850"/>
            <a:ext cx="3955049" cy="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10"/>
          <p:cNvSpPr txBox="1"/>
          <p:nvPr/>
        </p:nvSpPr>
        <p:spPr>
          <a:xfrm>
            <a:off x="1193599" y="495600"/>
            <a:ext cx="3823606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27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sz="27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모니터링</a:t>
            </a:r>
            <a:endParaRPr sz="2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941;p9">
            <a:extLst>
              <a:ext uri="{FF2B5EF4-FFF2-40B4-BE49-F238E27FC236}">
                <a16:creationId xmlns:a16="http://schemas.microsoft.com/office/drawing/2014/main" id="{095B9E78-9BFD-B169-5141-6F382A12DF76}"/>
              </a:ext>
            </a:extLst>
          </p:cNvPr>
          <p:cNvSpPr txBox="1"/>
          <p:nvPr/>
        </p:nvSpPr>
        <p:spPr>
          <a:xfrm>
            <a:off x="4815368" y="42213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기술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선택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근거</a:t>
            </a:r>
            <a:endParaRPr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8" name="Google Shape;1108;p11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2" y="-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11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11" descr="gen-dedup-0b1b65155cc53ceaa78386428892803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11" descr="gen-dedup-119c2ba8c4bf3058ff71f7e1d68734e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39400"/>
            <a:ext cx="7429801" cy="4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" descr="gen-dedup-bf30c23cc28e4c70f704c4d3f764322a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7797" y="1384401"/>
            <a:ext cx="3492398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1" descr="gen-dedup-79e81fb9c0224bb082f5211732d3c283.png"/>
          <p:cNvPicPr preferRelativeResize="0"/>
          <p:nvPr/>
        </p:nvPicPr>
        <p:blipFill rotWithShape="1">
          <a:blip r:embed="rId8">
            <a:alphaModFix/>
          </a:blip>
          <a:srcRect l="-10"/>
          <a:stretch/>
        </p:blipFill>
        <p:spPr>
          <a:xfrm>
            <a:off x="8318601" y="5512003"/>
            <a:ext cx="3111398" cy="59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1"/>
          <p:cNvSpPr txBox="1"/>
          <p:nvPr/>
        </p:nvSpPr>
        <p:spPr>
          <a:xfrm>
            <a:off x="1193597" y="839703"/>
            <a:ext cx="8255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동일한 세탁기 신호를 두 방식으로 분류 — </a:t>
            </a:r>
            <a:r>
              <a:rPr lang="en-US" sz="13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3215회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진동이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2회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로 정리된다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5" name="Google Shape;1115;p11"/>
          <p:cNvSpPr/>
          <p:nvPr/>
        </p:nvSpPr>
        <p:spPr>
          <a:xfrm>
            <a:off x="762000" y="1584598"/>
            <a:ext cx="571800" cy="120900"/>
          </a:xfrm>
          <a:prstGeom prst="roundRect">
            <a:avLst>
              <a:gd name="adj" fmla="val 265816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1"/>
          <p:cNvSpPr txBox="1"/>
          <p:nvPr/>
        </p:nvSpPr>
        <p:spPr>
          <a:xfrm>
            <a:off x="762000" y="1586671"/>
            <a:ext cx="5718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GRAPH 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7" name="Google Shape;1117;p11"/>
          <p:cNvSpPr txBox="1"/>
          <p:nvPr/>
        </p:nvSpPr>
        <p:spPr>
          <a:xfrm>
            <a:off x="1423427" y="1577371"/>
            <a:ext cx="16782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모드 전환 횟수 비교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8" name="Google Shape;1118;p11"/>
          <p:cNvSpPr txBox="1"/>
          <p:nvPr/>
        </p:nvSpPr>
        <p:spPr>
          <a:xfrm>
            <a:off x="762000" y="1905000"/>
            <a:ext cx="1904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① 세탁기 전력 파형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9" name="Google Shape;1119;p11"/>
          <p:cNvSpPr txBox="1"/>
          <p:nvPr/>
        </p:nvSpPr>
        <p:spPr>
          <a:xfrm>
            <a:off x="762000" y="3334608"/>
            <a:ext cx="3202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② W-range 분류 결과 — </a:t>
            </a: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전환 3215 </a:t>
            </a:r>
            <a:r>
              <a:rPr lang="en-US" sz="1100" b="1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과도함 복잡함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0" name="Google Shape;1120;p11"/>
          <p:cNvSpPr txBox="1"/>
          <p:nvPr/>
        </p:nvSpPr>
        <p:spPr>
          <a:xfrm>
            <a:off x="762000" y="4812275"/>
            <a:ext cx="2339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③ HMM 분류 결과 — </a:t>
            </a: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전환 2회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1" name="Google Shape;1121;p11"/>
          <p:cNvSpPr/>
          <p:nvPr/>
        </p:nvSpPr>
        <p:spPr>
          <a:xfrm>
            <a:off x="8318600" y="1549600"/>
            <a:ext cx="522000" cy="120900"/>
          </a:xfrm>
          <a:prstGeom prst="roundRect">
            <a:avLst>
              <a:gd name="adj" fmla="val 265816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11"/>
          <p:cNvSpPr txBox="1"/>
          <p:nvPr/>
        </p:nvSpPr>
        <p:spPr>
          <a:xfrm>
            <a:off x="8318600" y="1549600"/>
            <a:ext cx="5220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GRAPH 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3" name="Google Shape;1123;p11"/>
          <p:cNvSpPr txBox="1"/>
          <p:nvPr/>
        </p:nvSpPr>
        <p:spPr>
          <a:xfrm>
            <a:off x="8362225" y="1708100"/>
            <a:ext cx="34107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HMM 전이 확률 행렬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4" name="Google Shape;1124;p11"/>
          <p:cNvSpPr txBox="1"/>
          <p:nvPr/>
        </p:nvSpPr>
        <p:spPr>
          <a:xfrm>
            <a:off x="8318601" y="1886103"/>
            <a:ext cx="3111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세탁기 · P(next | current)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5" name="Google Shape;1125;p11"/>
          <p:cNvSpPr/>
          <p:nvPr/>
        </p:nvSpPr>
        <p:spPr>
          <a:xfrm>
            <a:off x="8318600" y="4010325"/>
            <a:ext cx="3175800" cy="254100"/>
          </a:xfrm>
          <a:prstGeom prst="roundRect">
            <a:avLst>
              <a:gd name="adj" fmla="val 59952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1"/>
          <p:cNvSpPr/>
          <p:nvPr/>
        </p:nvSpPr>
        <p:spPr>
          <a:xfrm>
            <a:off x="8318601" y="4010323"/>
            <a:ext cx="18900" cy="254100"/>
          </a:xfrm>
          <a:prstGeom prst="roundRect">
            <a:avLst>
              <a:gd name="adj" fmla="val 806463"/>
            </a:avLst>
          </a:prstGeom>
          <a:solidFill>
            <a:srgbClr val="F59E0B"/>
          </a:solidFill>
          <a:ln w="9525" cap="flat" cmpd="sng">
            <a:solidFill>
              <a:srgbClr val="F59E0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7" name="Google Shape;1127;p11" descr="gen-dedup-7d16b72547e58c66e88748d4a0c8ef70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699" y="4093229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"/>
          <p:cNvSpPr txBox="1"/>
          <p:nvPr/>
        </p:nvSpPr>
        <p:spPr>
          <a:xfrm>
            <a:off x="8531400" y="4074950"/>
            <a:ext cx="2963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spin → spin = 1.00</a:t>
            </a:r>
            <a:r>
              <a:rPr lang="en-US" sz="800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 · spin에서 다른 모드로 돌아가지 않는 흡수 상태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9" name="Google Shape;1129;p11"/>
          <p:cNvSpPr txBox="1"/>
          <p:nvPr/>
        </p:nvSpPr>
        <p:spPr>
          <a:xfrm>
            <a:off x="8318601" y="4470197"/>
            <a:ext cx="31119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INITIAL STATE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0" name="Google Shape;1130;p11"/>
          <p:cNvSpPr/>
          <p:nvPr/>
        </p:nvSpPr>
        <p:spPr>
          <a:xfrm>
            <a:off x="8318601" y="4610405"/>
            <a:ext cx="3111300" cy="635100"/>
          </a:xfrm>
          <a:prstGeom prst="roundRect">
            <a:avLst>
              <a:gd name="adj" fmla="val 19194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"/>
          <p:cNvSpPr txBox="1"/>
          <p:nvPr/>
        </p:nvSpPr>
        <p:spPr>
          <a:xfrm>
            <a:off x="8426500" y="4797447"/>
            <a:ext cx="1204800" cy="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초기 상태 — wash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2" name="Google Shape;1132;p11"/>
          <p:cNvSpPr txBox="1"/>
          <p:nvPr/>
        </p:nvSpPr>
        <p:spPr>
          <a:xfrm>
            <a:off x="10889285" y="4705503"/>
            <a:ext cx="47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~0.95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33" name="Google Shape;1133;p11" descr="gen-dedup-749629b1be5fc0925a250f717e55f454.png"/>
          <p:cNvPicPr preferRelativeResize="0"/>
          <p:nvPr/>
        </p:nvPicPr>
        <p:blipFill rotWithShape="1">
          <a:blip r:embed="rId10">
            <a:alphaModFix/>
          </a:blip>
          <a:srcRect l="-201" r="-201"/>
          <a:stretch/>
        </p:blipFill>
        <p:spPr>
          <a:xfrm>
            <a:off x="8426501" y="4940199"/>
            <a:ext cx="2895600" cy="5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11" descr="gen-dedup-cf2cce623d622d96d39a720bdfaf7160.png"/>
          <p:cNvPicPr preferRelativeResize="0"/>
          <p:nvPr/>
        </p:nvPicPr>
        <p:blipFill rotWithShape="1">
          <a:blip r:embed="rId11">
            <a:alphaModFix/>
          </a:blip>
          <a:srcRect l="-201" r="-191"/>
          <a:stretch/>
        </p:blipFill>
        <p:spPr>
          <a:xfrm>
            <a:off x="8426501" y="4940199"/>
            <a:ext cx="2750516" cy="5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11"/>
          <p:cNvSpPr txBox="1"/>
          <p:nvPr/>
        </p:nvSpPr>
        <p:spPr>
          <a:xfrm>
            <a:off x="8426501" y="5042001"/>
            <a:ext cx="28956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세탁은 항상 wash부터 시작 → 자동 학습됨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36" name="Google Shape;1136;p11" descr="gen-dedup-318121bfe5b6f9cb278005636e18392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45399" y="562599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1"/>
          <p:cNvSpPr txBox="1"/>
          <p:nvPr/>
        </p:nvSpPr>
        <p:spPr>
          <a:xfrm>
            <a:off x="8649005" y="5613197"/>
            <a:ext cx="2540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결론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8" name="Google Shape;1138;p11"/>
          <p:cNvSpPr txBox="1"/>
          <p:nvPr/>
        </p:nvSpPr>
        <p:spPr>
          <a:xfrm>
            <a:off x="8649000" y="5734242"/>
            <a:ext cx="2750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물리적 순서 wash → rinse → spin 이 전이 확률로 </a:t>
            </a:r>
            <a:endParaRPr sz="900" b="1" i="0" u="none" strike="noStrike" cap="none">
              <a:solidFill>
                <a:srgbClr val="0F2A2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자동 인코딩</a:t>
            </a:r>
            <a:r>
              <a:rPr lang="en-US" sz="900" b="1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됨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39" name="Google Shape;1139;p11"/>
          <p:cNvPicPr preferRelativeResize="0"/>
          <p:nvPr/>
        </p:nvPicPr>
        <p:blipFill rotWithShape="1">
          <a:blip r:embed="rId13">
            <a:alphaModFix/>
          </a:blip>
          <a:srcRect t="15190"/>
          <a:stretch/>
        </p:blipFill>
        <p:spPr>
          <a:xfrm>
            <a:off x="811050" y="2137125"/>
            <a:ext cx="7004667" cy="1125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1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025340" y="1807200"/>
            <a:ext cx="834510" cy="640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1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47900" y="3531500"/>
            <a:ext cx="6715151" cy="10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1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13525" y="5086206"/>
            <a:ext cx="6715151" cy="118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11"/>
          <p:cNvPicPr preferRelativeResize="0"/>
          <p:nvPr/>
        </p:nvPicPr>
        <p:blipFill rotWithShape="1">
          <a:blip r:embed="rId17">
            <a:alphaModFix/>
          </a:blip>
          <a:srcRect t="7369" b="-297"/>
          <a:stretch/>
        </p:blipFill>
        <p:spPr>
          <a:xfrm>
            <a:off x="8364300" y="2023220"/>
            <a:ext cx="3020501" cy="19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11"/>
          <p:cNvSpPr txBox="1"/>
          <p:nvPr/>
        </p:nvSpPr>
        <p:spPr>
          <a:xfrm>
            <a:off x="1193599" y="495600"/>
            <a:ext cx="3846487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27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sz="27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모니터링</a:t>
            </a:r>
            <a:endParaRPr sz="2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941;p9">
            <a:extLst>
              <a:ext uri="{FF2B5EF4-FFF2-40B4-BE49-F238E27FC236}">
                <a16:creationId xmlns:a16="http://schemas.microsoft.com/office/drawing/2014/main" id="{E3651B94-080A-7CE9-5EF7-D3745185FE45}"/>
              </a:ext>
            </a:extLst>
          </p:cNvPr>
          <p:cNvSpPr txBox="1"/>
          <p:nvPr/>
        </p:nvSpPr>
        <p:spPr>
          <a:xfrm>
            <a:off x="4815368" y="422138"/>
            <a:ext cx="402523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가전별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맞춤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전략</a:t>
            </a:r>
            <a:endParaRPr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1" name="Google Shape;1151;p12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12" descr="gen-dedup-119c2ba8c4bf3058ff71f7e1d68734e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0" y="1439400"/>
            <a:ext cx="7429801" cy="4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12" descr="gen-dedup-bf30c23cc28e4c70f704c4d3f764322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03683" y="1384401"/>
            <a:ext cx="3492398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12" descr="gen-dedup-2a247cf7304487d69a5b0dd62ee58248.png"/>
          <p:cNvPicPr preferRelativeResize="0"/>
          <p:nvPr/>
        </p:nvPicPr>
        <p:blipFill rotWithShape="1">
          <a:blip r:embed="rId6">
            <a:alphaModFix/>
          </a:blip>
          <a:srcRect t="-10" b="-10"/>
          <a:stretch/>
        </p:blipFill>
        <p:spPr>
          <a:xfrm>
            <a:off x="9030000" y="8744799"/>
            <a:ext cx="7048805" cy="94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2" descr="gen-dedup-7b91101984ebb0ecc38b4082d88f076d.png"/>
          <p:cNvPicPr preferRelativeResize="0"/>
          <p:nvPr/>
        </p:nvPicPr>
        <p:blipFill rotWithShape="1">
          <a:blip r:embed="rId7">
            <a:alphaModFix/>
          </a:blip>
          <a:srcRect l="-10"/>
          <a:stretch/>
        </p:blipFill>
        <p:spPr>
          <a:xfrm>
            <a:off x="8318601" y="5664403"/>
            <a:ext cx="3111398" cy="59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12"/>
          <p:cNvSpPr txBox="1"/>
          <p:nvPr/>
        </p:nvSpPr>
        <p:spPr>
          <a:xfrm>
            <a:off x="1193597" y="863803"/>
            <a:ext cx="8255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서모스탯 ON/OFF 반복 신호 — </a:t>
            </a:r>
            <a:r>
              <a:rPr lang="en-US" sz="13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84회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진동이 </a:t>
            </a:r>
            <a:r>
              <a:rPr lang="en-US" sz="13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2회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로, duty cycle 분포로 </a:t>
            </a:r>
            <a:r>
              <a:rPr lang="en-US" sz="13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5단계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분리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7" name="Google Shape;1157;p12"/>
          <p:cNvSpPr/>
          <p:nvPr/>
        </p:nvSpPr>
        <p:spPr>
          <a:xfrm>
            <a:off x="762000" y="1571550"/>
            <a:ext cx="514800" cy="120900"/>
          </a:xfrm>
          <a:prstGeom prst="roundRect">
            <a:avLst>
              <a:gd name="adj" fmla="val 265816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2"/>
          <p:cNvSpPr txBox="1"/>
          <p:nvPr/>
        </p:nvSpPr>
        <p:spPr>
          <a:xfrm>
            <a:off x="762000" y="1571550"/>
            <a:ext cx="5148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GRAPH 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9" name="Google Shape;1159;p12"/>
          <p:cNvSpPr txBox="1"/>
          <p:nvPr/>
        </p:nvSpPr>
        <p:spPr>
          <a:xfrm>
            <a:off x="1295223" y="1549600"/>
            <a:ext cx="17910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모드 전환 횟수 비교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0" name="Google Shape;1160;p12"/>
          <p:cNvSpPr/>
          <p:nvPr/>
        </p:nvSpPr>
        <p:spPr>
          <a:xfrm>
            <a:off x="9220805" y="8916096"/>
            <a:ext cx="1930500" cy="596700"/>
          </a:xfrm>
          <a:prstGeom prst="roundRect">
            <a:avLst>
              <a:gd name="adj" fmla="val 21733"/>
            </a:avLst>
          </a:prstGeom>
          <a:solidFill>
            <a:srgbClr val="FFFFFF"/>
          </a:solidFill>
          <a:ln w="9525" cap="flat" cmpd="sng">
            <a:solidFill>
              <a:srgbClr val="FBD5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2"/>
          <p:cNvSpPr txBox="1"/>
          <p:nvPr/>
        </p:nvSpPr>
        <p:spPr>
          <a:xfrm>
            <a:off x="9290299" y="8986200"/>
            <a:ext cx="17910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W-RANGE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12"/>
          <p:cNvSpPr txBox="1"/>
          <p:nvPr/>
        </p:nvSpPr>
        <p:spPr>
          <a:xfrm>
            <a:off x="9290299" y="9088003"/>
            <a:ext cx="1791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Arial"/>
              <a:buNone/>
            </a:pPr>
            <a:r>
              <a:rPr lang="en-US" sz="2200" b="1" i="0" u="none" strike="noStrike" cap="non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12"/>
          <p:cNvSpPr txBox="1"/>
          <p:nvPr/>
        </p:nvSpPr>
        <p:spPr>
          <a:xfrm>
            <a:off x="9290299" y="9361104"/>
            <a:ext cx="17910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전환 횟수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4" name="Google Shape;1164;p12" descr="gen-dedup-79917723846ab64a54b432f4ed74fd35.png"/>
          <p:cNvPicPr preferRelativeResize="0"/>
          <p:nvPr/>
        </p:nvPicPr>
        <p:blipFill rotWithShape="1">
          <a:blip r:embed="rId8">
            <a:alphaModFix/>
          </a:blip>
          <a:srcRect l="-5519" r="-5530"/>
          <a:stretch/>
        </p:blipFill>
        <p:spPr>
          <a:xfrm>
            <a:off x="11350137" y="9046551"/>
            <a:ext cx="35539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2"/>
          <p:cNvSpPr txBox="1"/>
          <p:nvPr/>
        </p:nvSpPr>
        <p:spPr>
          <a:xfrm>
            <a:off x="11378179" y="9300753"/>
            <a:ext cx="364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97% 감소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12"/>
          <p:cNvSpPr/>
          <p:nvPr/>
        </p:nvSpPr>
        <p:spPr>
          <a:xfrm>
            <a:off x="11908531" y="8916096"/>
            <a:ext cx="1930500" cy="596700"/>
          </a:xfrm>
          <a:prstGeom prst="roundRect">
            <a:avLst>
              <a:gd name="adj" fmla="val 21733"/>
            </a:avLst>
          </a:prstGeom>
          <a:solidFill>
            <a:srgbClr val="FFFFFF"/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F59E0B">
                <a:alpha val="18039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12"/>
          <p:cNvSpPr txBox="1"/>
          <p:nvPr/>
        </p:nvSpPr>
        <p:spPr>
          <a:xfrm>
            <a:off x="11978635" y="8986200"/>
            <a:ext cx="17910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PWM HMM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2"/>
          <p:cNvSpPr txBox="1"/>
          <p:nvPr/>
        </p:nvSpPr>
        <p:spPr>
          <a:xfrm>
            <a:off x="11978635" y="9088003"/>
            <a:ext cx="1791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Arial"/>
              <a:buNone/>
            </a:pPr>
            <a:r>
              <a:rPr lang="en-US" sz="22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12"/>
          <p:cNvSpPr txBox="1"/>
          <p:nvPr/>
        </p:nvSpPr>
        <p:spPr>
          <a:xfrm>
            <a:off x="11978635" y="9361104"/>
            <a:ext cx="17910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전환 횟수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2"/>
          <p:cNvSpPr txBox="1"/>
          <p:nvPr/>
        </p:nvSpPr>
        <p:spPr>
          <a:xfrm>
            <a:off x="13961664" y="9030091"/>
            <a:ext cx="1930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2"/>
          <p:cNvSpPr txBox="1"/>
          <p:nvPr/>
        </p:nvSpPr>
        <p:spPr>
          <a:xfrm>
            <a:off x="13961664" y="9150792"/>
            <a:ext cx="1930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51A03"/>
                </a:solidFill>
                <a:latin typeface="Arial"/>
                <a:ea typeface="Arial"/>
                <a:cs typeface="Arial"/>
                <a:sym typeface="Arial"/>
              </a:rPr>
              <a:t>P(t)는 항상 0 또는 W_max → 단수 식별 불가, </a:t>
            </a:r>
            <a:r>
              <a:rPr lang="en-US" sz="9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duty cycle 윈도우</a:t>
            </a:r>
            <a:r>
              <a:rPr lang="en-US" sz="900" b="1" i="0" u="none" strike="noStrike" cap="none">
                <a:solidFill>
                  <a:srgbClr val="451A03"/>
                </a:solidFill>
                <a:latin typeface="Arial"/>
                <a:ea typeface="Arial"/>
                <a:cs typeface="Arial"/>
                <a:sym typeface="Arial"/>
              </a:rPr>
              <a:t>로 보면 단계가 드러남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2"/>
          <p:cNvSpPr/>
          <p:nvPr/>
        </p:nvSpPr>
        <p:spPr>
          <a:xfrm>
            <a:off x="8318600" y="1549600"/>
            <a:ext cx="558900" cy="120900"/>
          </a:xfrm>
          <a:prstGeom prst="roundRect">
            <a:avLst>
              <a:gd name="adj" fmla="val 265816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2"/>
          <p:cNvSpPr txBox="1"/>
          <p:nvPr/>
        </p:nvSpPr>
        <p:spPr>
          <a:xfrm>
            <a:off x="8318600" y="1549600"/>
            <a:ext cx="5589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GRAPH 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4" name="Google Shape;1174;p12"/>
          <p:cNvSpPr txBox="1"/>
          <p:nvPr/>
        </p:nvSpPr>
        <p:spPr>
          <a:xfrm>
            <a:off x="8885437" y="1579976"/>
            <a:ext cx="814500" cy="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GAUSSIAN HMM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5" name="Google Shape;1175;p12"/>
          <p:cNvSpPr txBox="1"/>
          <p:nvPr/>
        </p:nvSpPr>
        <p:spPr>
          <a:xfrm>
            <a:off x="8420655" y="1719439"/>
            <a:ext cx="31119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단수별 Duty Cycle 분포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6" name="Google Shape;1176;p12"/>
          <p:cNvSpPr txBox="1"/>
          <p:nvPr/>
        </p:nvSpPr>
        <p:spPr>
          <a:xfrm>
            <a:off x="8420655" y="1923658"/>
            <a:ext cx="3111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5개 Gaussian — 서로 겹치지 않고 분리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7" name="Google Shape;1177;p12"/>
          <p:cNvSpPr txBox="1"/>
          <p:nvPr/>
        </p:nvSpPr>
        <p:spPr>
          <a:xfrm>
            <a:off x="8394801" y="4165397"/>
            <a:ext cx="3111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학습된 파라미터 (μ, σ)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8" name="Google Shape;1178;p12"/>
          <p:cNvSpPr/>
          <p:nvPr/>
        </p:nvSpPr>
        <p:spPr>
          <a:xfrm>
            <a:off x="8318601" y="4298899"/>
            <a:ext cx="3111300" cy="158400"/>
          </a:xfrm>
          <a:prstGeom prst="roundRect">
            <a:avLst>
              <a:gd name="adj" fmla="val 184615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2"/>
          <p:cNvSpPr txBox="1"/>
          <p:nvPr/>
        </p:nvSpPr>
        <p:spPr>
          <a:xfrm>
            <a:off x="8471001" y="4337304"/>
            <a:ext cx="558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LEVEL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0" name="Google Shape;1180;p12"/>
          <p:cNvSpPr txBox="1"/>
          <p:nvPr/>
        </p:nvSpPr>
        <p:spPr>
          <a:xfrm>
            <a:off x="9030005" y="4337304"/>
            <a:ext cx="482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μ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1" name="Google Shape;1181;p12"/>
          <p:cNvSpPr txBox="1"/>
          <p:nvPr/>
        </p:nvSpPr>
        <p:spPr>
          <a:xfrm>
            <a:off x="9816999" y="4337304"/>
            <a:ext cx="444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σ</a:t>
            </a:r>
            <a:endParaRPr sz="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2" name="Google Shape;1182;p12"/>
          <p:cNvSpPr txBox="1"/>
          <p:nvPr/>
        </p:nvSpPr>
        <p:spPr>
          <a:xfrm>
            <a:off x="10566198" y="4337300"/>
            <a:ext cx="6954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해석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3" name="Google Shape;1183;p12"/>
          <p:cNvSpPr/>
          <p:nvPr/>
        </p:nvSpPr>
        <p:spPr>
          <a:xfrm>
            <a:off x="8394801" y="4705503"/>
            <a:ext cx="3111300" cy="60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2"/>
          <p:cNvSpPr/>
          <p:nvPr/>
        </p:nvSpPr>
        <p:spPr>
          <a:xfrm>
            <a:off x="8471001" y="4568952"/>
            <a:ext cx="63300" cy="63300"/>
          </a:xfrm>
          <a:prstGeom prst="ellipse">
            <a:avLst/>
          </a:prstGeom>
          <a:solidFill>
            <a:srgbClr val="FEF3C7"/>
          </a:solidFill>
          <a:ln w="16925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12"/>
          <p:cNvSpPr txBox="1"/>
          <p:nvPr/>
        </p:nvSpPr>
        <p:spPr>
          <a:xfrm>
            <a:off x="8572805" y="4553103"/>
            <a:ext cx="397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level_1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6" name="Google Shape;1186;p12"/>
          <p:cNvSpPr txBox="1"/>
          <p:nvPr/>
        </p:nvSpPr>
        <p:spPr>
          <a:xfrm>
            <a:off x="9030005" y="4553103"/>
            <a:ext cx="482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3.8%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7" name="Google Shape;1187;p12"/>
          <p:cNvSpPr txBox="1"/>
          <p:nvPr/>
        </p:nvSpPr>
        <p:spPr>
          <a:xfrm>
            <a:off x="9816999" y="4553103"/>
            <a:ext cx="444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0.014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8" name="Google Shape;1188;p12"/>
          <p:cNvSpPr txBox="1"/>
          <p:nvPr/>
        </p:nvSpPr>
        <p:spPr>
          <a:xfrm>
            <a:off x="10566198" y="4553100"/>
            <a:ext cx="695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대기 / 꺼짐 직전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9" name="Google Shape;1189;p12"/>
          <p:cNvSpPr/>
          <p:nvPr/>
        </p:nvSpPr>
        <p:spPr>
          <a:xfrm>
            <a:off x="8394801" y="4921301"/>
            <a:ext cx="3111300" cy="60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12"/>
          <p:cNvSpPr/>
          <p:nvPr/>
        </p:nvSpPr>
        <p:spPr>
          <a:xfrm>
            <a:off x="8471001" y="4784751"/>
            <a:ext cx="63300" cy="63300"/>
          </a:xfrm>
          <a:prstGeom prst="ellipse">
            <a:avLst/>
          </a:prstGeom>
          <a:solidFill>
            <a:srgbClr val="FDE68A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2"/>
          <p:cNvSpPr txBox="1"/>
          <p:nvPr/>
        </p:nvSpPr>
        <p:spPr>
          <a:xfrm>
            <a:off x="8572805" y="4768901"/>
            <a:ext cx="400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level_2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2" name="Google Shape;1192;p12"/>
          <p:cNvSpPr txBox="1"/>
          <p:nvPr/>
        </p:nvSpPr>
        <p:spPr>
          <a:xfrm>
            <a:off x="9030005" y="4768901"/>
            <a:ext cx="482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20.6%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3" name="Google Shape;1193;p12"/>
          <p:cNvSpPr txBox="1"/>
          <p:nvPr/>
        </p:nvSpPr>
        <p:spPr>
          <a:xfrm>
            <a:off x="9816999" y="4768901"/>
            <a:ext cx="444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0.080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4" name="Google Shape;1194;p12"/>
          <p:cNvSpPr txBox="1"/>
          <p:nvPr/>
        </p:nvSpPr>
        <p:spPr>
          <a:xfrm>
            <a:off x="10566198" y="4768900"/>
            <a:ext cx="695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낮은 온도 설정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5" name="Google Shape;1195;p12"/>
          <p:cNvSpPr/>
          <p:nvPr/>
        </p:nvSpPr>
        <p:spPr>
          <a:xfrm>
            <a:off x="8394801" y="5137099"/>
            <a:ext cx="3111300" cy="60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2"/>
          <p:cNvSpPr/>
          <p:nvPr/>
        </p:nvSpPr>
        <p:spPr>
          <a:xfrm>
            <a:off x="8471001" y="5000549"/>
            <a:ext cx="63300" cy="63300"/>
          </a:xfrm>
          <a:prstGeom prst="ellipse">
            <a:avLst/>
          </a:prstGeom>
          <a:solidFill>
            <a:srgbClr val="FBBF24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12"/>
          <p:cNvSpPr txBox="1"/>
          <p:nvPr/>
        </p:nvSpPr>
        <p:spPr>
          <a:xfrm>
            <a:off x="8572805" y="4984699"/>
            <a:ext cx="400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level_3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8" name="Google Shape;1198;p12"/>
          <p:cNvSpPr txBox="1"/>
          <p:nvPr/>
        </p:nvSpPr>
        <p:spPr>
          <a:xfrm>
            <a:off x="9030005" y="4984699"/>
            <a:ext cx="482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47.3%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9" name="Google Shape;1199;p12"/>
          <p:cNvSpPr txBox="1"/>
          <p:nvPr/>
        </p:nvSpPr>
        <p:spPr>
          <a:xfrm>
            <a:off x="9816999" y="4984699"/>
            <a:ext cx="444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0.054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0" name="Google Shape;1200;p12"/>
          <p:cNvSpPr txBox="1"/>
          <p:nvPr/>
        </p:nvSpPr>
        <p:spPr>
          <a:xfrm>
            <a:off x="10566198" y="4984700"/>
            <a:ext cx="695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중간 온도 설정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1" name="Google Shape;1201;p12"/>
          <p:cNvSpPr/>
          <p:nvPr/>
        </p:nvSpPr>
        <p:spPr>
          <a:xfrm>
            <a:off x="8394801" y="5353507"/>
            <a:ext cx="3111300" cy="60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12"/>
          <p:cNvSpPr/>
          <p:nvPr/>
        </p:nvSpPr>
        <p:spPr>
          <a:xfrm>
            <a:off x="8471001" y="5216347"/>
            <a:ext cx="63300" cy="63300"/>
          </a:xfrm>
          <a:prstGeom prst="ellipse">
            <a:avLst/>
          </a:prstGeom>
          <a:solidFill>
            <a:srgbClr val="F59E0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2"/>
          <p:cNvSpPr txBox="1"/>
          <p:nvPr/>
        </p:nvSpPr>
        <p:spPr>
          <a:xfrm>
            <a:off x="8572805" y="5200497"/>
            <a:ext cx="400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level_4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4" name="Google Shape;1204;p12"/>
          <p:cNvSpPr txBox="1"/>
          <p:nvPr/>
        </p:nvSpPr>
        <p:spPr>
          <a:xfrm>
            <a:off x="9030005" y="5200497"/>
            <a:ext cx="482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63.6%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5" name="Google Shape;1205;p12"/>
          <p:cNvSpPr txBox="1"/>
          <p:nvPr/>
        </p:nvSpPr>
        <p:spPr>
          <a:xfrm>
            <a:off x="9816999" y="5200497"/>
            <a:ext cx="444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0.015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6" name="Google Shape;1206;p12"/>
          <p:cNvSpPr txBox="1"/>
          <p:nvPr/>
        </p:nvSpPr>
        <p:spPr>
          <a:xfrm>
            <a:off x="10566198" y="5200499"/>
            <a:ext cx="695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높은 온도 설정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7" name="Google Shape;1207;p12"/>
          <p:cNvSpPr/>
          <p:nvPr/>
        </p:nvSpPr>
        <p:spPr>
          <a:xfrm>
            <a:off x="8471001" y="5432145"/>
            <a:ext cx="63300" cy="63300"/>
          </a:xfrm>
          <a:prstGeom prst="ellipse">
            <a:avLst/>
          </a:prstGeom>
          <a:solidFill>
            <a:srgbClr val="D9770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2"/>
          <p:cNvSpPr txBox="1"/>
          <p:nvPr/>
        </p:nvSpPr>
        <p:spPr>
          <a:xfrm>
            <a:off x="8572805" y="5416296"/>
            <a:ext cx="400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level_5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9" name="Google Shape;1209;p12"/>
          <p:cNvSpPr txBox="1"/>
          <p:nvPr/>
        </p:nvSpPr>
        <p:spPr>
          <a:xfrm>
            <a:off x="9030005" y="5416296"/>
            <a:ext cx="4827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88.7%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0" name="Google Shape;1210;p12"/>
          <p:cNvSpPr txBox="1"/>
          <p:nvPr/>
        </p:nvSpPr>
        <p:spPr>
          <a:xfrm>
            <a:off x="9816999" y="5416296"/>
            <a:ext cx="444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JetBrains Mono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0.133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1" name="Google Shape;1211;p12"/>
          <p:cNvSpPr txBox="1"/>
          <p:nvPr/>
        </p:nvSpPr>
        <p:spPr>
          <a:xfrm>
            <a:off x="10566198" y="5416299"/>
            <a:ext cx="695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최고 온도 설정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12" name="Google Shape;1212;p12" descr="gen-dedup-212de0c23198bf573513359b40337c8c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45399" y="577839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12"/>
          <p:cNvSpPr txBox="1"/>
          <p:nvPr/>
        </p:nvSpPr>
        <p:spPr>
          <a:xfrm>
            <a:off x="8649005" y="5765597"/>
            <a:ext cx="2654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결론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4" name="Google Shape;1214;p12"/>
          <p:cNvSpPr txBox="1"/>
          <p:nvPr/>
        </p:nvSpPr>
        <p:spPr>
          <a:xfrm>
            <a:off x="8649005" y="5890919"/>
            <a:ext cx="2654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duty cycle은 </a:t>
            </a:r>
            <a:r>
              <a:rPr lang="en-US" sz="9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윈도우 단위</a:t>
            </a: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로만 드러나는 특징 </a:t>
            </a:r>
            <a:endParaRPr sz="900" b="1" i="0" u="none" strike="noStrike" cap="none">
              <a:solidFill>
                <a:srgbClr val="451A0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— W-range는 절대 볼 수 없음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15" name="Google Shape;1215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96600" y="2075025"/>
            <a:ext cx="2654701" cy="2060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12"/>
          <p:cNvPicPr preferRelativeResize="0"/>
          <p:nvPr/>
        </p:nvPicPr>
        <p:blipFill rotWithShape="1">
          <a:blip r:embed="rId11">
            <a:alphaModFix/>
          </a:blip>
          <a:srcRect t="2968" b="66987"/>
          <a:stretch/>
        </p:blipFill>
        <p:spPr>
          <a:xfrm>
            <a:off x="1066800" y="2044924"/>
            <a:ext cx="6379850" cy="12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2" descr="gen-dedup-26471d32594c94059de0a6c813721381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12"/>
          <p:cNvPicPr preferRelativeResize="0"/>
          <p:nvPr/>
        </p:nvPicPr>
        <p:blipFill rotWithShape="1">
          <a:blip r:embed="rId11">
            <a:alphaModFix/>
          </a:blip>
          <a:srcRect l="3303" t="35647" r="967" b="35824"/>
          <a:stretch/>
        </p:blipFill>
        <p:spPr>
          <a:xfrm>
            <a:off x="1279885" y="3540223"/>
            <a:ext cx="6108150" cy="11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2"/>
          <p:cNvSpPr txBox="1"/>
          <p:nvPr/>
        </p:nvSpPr>
        <p:spPr>
          <a:xfrm>
            <a:off x="762000" y="1905000"/>
            <a:ext cx="43986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① 온수매트 전력 파형 — </a:t>
            </a:r>
            <a:r>
              <a:rPr lang="en-US" sz="11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히터 ~160W ON / 0W OFF PWM 반복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0" name="Google Shape;1220;p12"/>
          <p:cNvSpPr txBox="1"/>
          <p:nvPr/>
        </p:nvSpPr>
        <p:spPr>
          <a:xfrm>
            <a:off x="762000" y="3334600"/>
            <a:ext cx="41898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② W-range 분류 결과 — </a:t>
            </a: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전환 84회 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· </a:t>
            </a:r>
            <a:r>
              <a:rPr lang="en-US" sz="11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low/mid만 구분, 단수 구분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1" name="Google Shape;1221;p12"/>
          <p:cNvSpPr txBox="1"/>
          <p:nvPr/>
        </p:nvSpPr>
        <p:spPr>
          <a:xfrm>
            <a:off x="762000" y="4844675"/>
            <a:ext cx="4319100" cy="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③ PWM HMM 분류 결과 — </a:t>
            </a: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전환 2회 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· </a:t>
            </a:r>
            <a:r>
              <a:rPr lang="en-US" sz="11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가열 / 안정화 깔끔하게 분리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22" name="Google Shape;1222;p12"/>
          <p:cNvPicPr preferRelativeResize="0"/>
          <p:nvPr/>
        </p:nvPicPr>
        <p:blipFill rotWithShape="1">
          <a:blip r:embed="rId11">
            <a:alphaModFix/>
          </a:blip>
          <a:srcRect l="3512" t="67998" b="3576"/>
          <a:stretch/>
        </p:blipFill>
        <p:spPr>
          <a:xfrm>
            <a:off x="1262375" y="5039950"/>
            <a:ext cx="6184273" cy="1175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12" descr="gen-dedup-17b9568543ea489964bdb4e133b20700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"/>
          <p:cNvSpPr txBox="1"/>
          <p:nvPr/>
        </p:nvSpPr>
        <p:spPr>
          <a:xfrm>
            <a:off x="1193600" y="495600"/>
            <a:ext cx="37582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27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sz="27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모니터링</a:t>
            </a:r>
            <a:endParaRPr sz="2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941;p9">
            <a:extLst>
              <a:ext uri="{FF2B5EF4-FFF2-40B4-BE49-F238E27FC236}">
                <a16:creationId xmlns:a16="http://schemas.microsoft.com/office/drawing/2014/main" id="{C7352419-204A-55F7-EF34-9F9460956616}"/>
              </a:ext>
            </a:extLst>
          </p:cNvPr>
          <p:cNvSpPr txBox="1"/>
          <p:nvPr/>
        </p:nvSpPr>
        <p:spPr>
          <a:xfrm>
            <a:off x="4815368" y="422138"/>
            <a:ext cx="402523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가전별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맞춤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전략</a:t>
            </a:r>
            <a:endParaRPr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1" name="Google Shape;1231;p13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13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13" descr="gen-dedup-1e30711a397198e7037db5c40b9be97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13" descr="gen-dedup-73d82bfeb83f8169bfe5d6f68b27703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39400"/>
            <a:ext cx="4826203" cy="4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13" descr="gen-dedup-7bd54b2db5938c52e9ed0a0683802690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24800" y="1439400"/>
            <a:ext cx="6096000" cy="242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13" descr="gen-dedup-7bd54b2db5938c52e9ed0a0683802690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24805" y="3968800"/>
            <a:ext cx="6096000" cy="245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13"/>
          <p:cNvSpPr/>
          <p:nvPr/>
        </p:nvSpPr>
        <p:spPr>
          <a:xfrm>
            <a:off x="964997" y="1879397"/>
            <a:ext cx="4038600" cy="571800"/>
          </a:xfrm>
          <a:prstGeom prst="roundRect">
            <a:avLst>
              <a:gd name="adj" fmla="val 23691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8" name="Google Shape;1238;p13"/>
          <p:cNvPicPr preferRelativeResize="0"/>
          <p:nvPr/>
        </p:nvPicPr>
        <p:blipFill rotWithShape="1">
          <a:blip r:embed="rId8">
            <a:alphaModFix amt="63000"/>
          </a:blip>
          <a:srcRect/>
          <a:stretch/>
        </p:blipFill>
        <p:spPr>
          <a:xfrm>
            <a:off x="964997" y="2819400"/>
            <a:ext cx="4038600" cy="1451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13" descr="gen-dedup-81683cd7fc1e0c9cde29edf9fe455b4c.png"/>
          <p:cNvPicPr preferRelativeResize="0"/>
          <p:nvPr/>
        </p:nvPicPr>
        <p:blipFill rotWithShape="1">
          <a:blip r:embed="rId9">
            <a:alphaModFix/>
          </a:blip>
          <a:srcRect l="-10" r="-10"/>
          <a:stretch/>
        </p:blipFill>
        <p:spPr>
          <a:xfrm>
            <a:off x="964997" y="4635399"/>
            <a:ext cx="4038600" cy="1269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13" descr="gen-dedup-dd4391b9083e0d773fd51abd65591839.png"/>
          <p:cNvPicPr preferRelativeResize="0"/>
          <p:nvPr/>
        </p:nvPicPr>
        <p:blipFill rotWithShape="1">
          <a:blip r:embed="rId10">
            <a:alphaModFix/>
          </a:blip>
          <a:srcRect l="-393" r="-403"/>
          <a:stretch/>
        </p:blipFill>
        <p:spPr>
          <a:xfrm>
            <a:off x="5524805" y="1384401"/>
            <a:ext cx="38405" cy="245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13" descr="gen-dedup-04b4686e4c241c054ae7e17996e7309e.png"/>
          <p:cNvPicPr preferRelativeResize="0"/>
          <p:nvPr/>
        </p:nvPicPr>
        <p:blipFill rotWithShape="1">
          <a:blip r:embed="rId11">
            <a:alphaModFix/>
          </a:blip>
          <a:srcRect r="-10"/>
          <a:stretch/>
        </p:blipFill>
        <p:spPr>
          <a:xfrm>
            <a:off x="5765597" y="2882799"/>
            <a:ext cx="5702199" cy="82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13" descr="gen-dedup-d2365e4c36a0bb60c87e9575db8a1c70.png"/>
          <p:cNvPicPr preferRelativeResize="0"/>
          <p:nvPr/>
        </p:nvPicPr>
        <p:blipFill rotWithShape="1">
          <a:blip r:embed="rId12">
            <a:alphaModFix/>
          </a:blip>
          <a:srcRect l="-393" r="-403"/>
          <a:stretch/>
        </p:blipFill>
        <p:spPr>
          <a:xfrm>
            <a:off x="5524805" y="3972322"/>
            <a:ext cx="38405" cy="24512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3"/>
          <p:cNvSpPr/>
          <p:nvPr/>
        </p:nvSpPr>
        <p:spPr>
          <a:xfrm>
            <a:off x="5765597" y="5499201"/>
            <a:ext cx="5702100" cy="7620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3"/>
          <p:cNvSpPr txBox="1"/>
          <p:nvPr/>
        </p:nvSpPr>
        <p:spPr>
          <a:xfrm>
            <a:off x="1193597" y="901599"/>
            <a:ext cx="8255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최근 사용량과 평소 사용패턴을 비교해 과다 사용 가전을 찾는 구조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45" name="Google Shape;1245;p13" descr="gen-dedup-08be0f7f1edac8043beb2ec0e9d95f2c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000" y="1588631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3"/>
          <p:cNvSpPr txBox="1"/>
          <p:nvPr/>
        </p:nvSpPr>
        <p:spPr>
          <a:xfrm>
            <a:off x="965001" y="1575826"/>
            <a:ext cx="10170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데이터 흐름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7" name="Google Shape;1247;p13"/>
          <p:cNvSpPr txBox="1"/>
          <p:nvPr/>
        </p:nvSpPr>
        <p:spPr>
          <a:xfrm>
            <a:off x="1868469" y="1575826"/>
            <a:ext cx="22542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NILM → 단기 → 장기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8" name="Google Shape;1248;p13"/>
          <p:cNvSpPr/>
          <p:nvPr/>
        </p:nvSpPr>
        <p:spPr>
          <a:xfrm>
            <a:off x="1130199" y="2006803"/>
            <a:ext cx="279300" cy="279300"/>
          </a:xfrm>
          <a:prstGeom prst="roundRect">
            <a:avLst>
              <a:gd name="adj" fmla="val 99246"/>
            </a:avLst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9" name="Google Shape;1249;p13" descr="gen-dedup-9ded9c1100defe133bdaf60e9a0ccf10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00303" y="2076297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13"/>
          <p:cNvSpPr txBox="1"/>
          <p:nvPr/>
        </p:nvSpPr>
        <p:spPr>
          <a:xfrm>
            <a:off x="1498397" y="2033625"/>
            <a:ext cx="3340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SOURCE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1" name="Google Shape;1251;p13"/>
          <p:cNvSpPr txBox="1"/>
          <p:nvPr/>
        </p:nvSpPr>
        <p:spPr>
          <a:xfrm>
            <a:off x="1498397" y="2129333"/>
            <a:ext cx="33405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 분해 결과 </a:t>
            </a:r>
            <a:r>
              <a:rPr lang="en-US" sz="8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— 가전별 전력 시계열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52" name="Google Shape;1252;p13" descr="gen-dedup-58ac94381906ef2b2eebd54007058849.png"/>
          <p:cNvPicPr preferRelativeResize="0"/>
          <p:nvPr/>
        </p:nvPicPr>
        <p:blipFill rotWithShape="1">
          <a:blip r:embed="rId15">
            <a:alphaModFix/>
          </a:blip>
          <a:srcRect t="-485" b="-485"/>
          <a:stretch/>
        </p:blipFill>
        <p:spPr>
          <a:xfrm>
            <a:off x="2981553" y="2501799"/>
            <a:ext cx="18897" cy="145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13" descr="gen-dedup-b02b2b2a789ee2cb57a49fd7b96ef20d.png"/>
          <p:cNvPicPr preferRelativeResize="0"/>
          <p:nvPr/>
        </p:nvPicPr>
        <p:blipFill rotWithShape="1">
          <a:blip r:embed="rId16">
            <a:alphaModFix/>
          </a:blip>
          <a:srcRect t="-3430" b="-3419"/>
          <a:stretch/>
        </p:blipFill>
        <p:spPr>
          <a:xfrm>
            <a:off x="2901696" y="2647493"/>
            <a:ext cx="178003" cy="126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13" descr="gen-dedup-b5ae6b64467133f2dc3cd07f8ad984df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213201" y="256519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13" descr="gen-dedup-f61a829e8220553679f537ded661b5a9.png"/>
          <p:cNvPicPr preferRelativeResize="0"/>
          <p:nvPr/>
        </p:nvPicPr>
        <p:blipFill rotWithShape="1">
          <a:blip r:embed="rId18">
            <a:alphaModFix/>
          </a:blip>
          <a:srcRect l="-221" r="-221"/>
          <a:stretch/>
        </p:blipFill>
        <p:spPr>
          <a:xfrm>
            <a:off x="3143097" y="2527401"/>
            <a:ext cx="60350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3"/>
          <p:cNvSpPr/>
          <p:nvPr/>
        </p:nvSpPr>
        <p:spPr>
          <a:xfrm>
            <a:off x="3143101" y="2527400"/>
            <a:ext cx="702600" cy="152400"/>
          </a:xfrm>
          <a:prstGeom prst="roundRect">
            <a:avLst>
              <a:gd name="adj" fmla="val 200000"/>
            </a:avLst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3"/>
          <p:cNvSpPr txBox="1"/>
          <p:nvPr/>
        </p:nvSpPr>
        <p:spPr>
          <a:xfrm>
            <a:off x="3151100" y="2527400"/>
            <a:ext cx="7026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매시간 누적 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8" name="Google Shape;1258;p13"/>
          <p:cNvSpPr/>
          <p:nvPr/>
        </p:nvSpPr>
        <p:spPr>
          <a:xfrm>
            <a:off x="1079599" y="2914500"/>
            <a:ext cx="1242300" cy="120900"/>
          </a:xfrm>
          <a:prstGeom prst="roundRect">
            <a:avLst>
              <a:gd name="adj" fmla="val 265816"/>
            </a:avLst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3"/>
          <p:cNvSpPr txBox="1"/>
          <p:nvPr/>
        </p:nvSpPr>
        <p:spPr>
          <a:xfrm>
            <a:off x="1079600" y="2903613"/>
            <a:ext cx="1283300" cy="156379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단기</a:t>
            </a:r>
            <a:r>
              <a:rPr lang="en-US" sz="700" b="1" i="0" u="none" strike="noStrike" cap="non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00" b="1" i="0" u="none" strike="noStrike" cap="non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메모리</a:t>
            </a:r>
            <a:r>
              <a:rPr lang="en-US" sz="700" b="1" i="0" u="none" strike="noStrike" cap="non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· SHORT-TERM</a:t>
            </a:r>
            <a:endParaRPr sz="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0" name="Google Shape;1260;p13"/>
          <p:cNvSpPr/>
          <p:nvPr/>
        </p:nvSpPr>
        <p:spPr>
          <a:xfrm>
            <a:off x="4191900" y="2908400"/>
            <a:ext cx="702600" cy="133500"/>
          </a:xfrm>
          <a:prstGeom prst="roundRect">
            <a:avLst>
              <a:gd name="adj" fmla="val 217438"/>
            </a:avLst>
          </a:prstGeom>
          <a:solidFill>
            <a:srgbClr val="FFFFFF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3"/>
          <p:cNvSpPr txBox="1"/>
          <p:nvPr/>
        </p:nvSpPr>
        <p:spPr>
          <a:xfrm>
            <a:off x="4113314" y="2908400"/>
            <a:ext cx="8766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1시간 단위 누적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2" name="Google Shape;1262;p13"/>
          <p:cNvSpPr/>
          <p:nvPr/>
        </p:nvSpPr>
        <p:spPr>
          <a:xfrm>
            <a:off x="1168603" y="3162605"/>
            <a:ext cx="330300" cy="330300"/>
          </a:xfrm>
          <a:prstGeom prst="roundRect">
            <a:avLst>
              <a:gd name="adj" fmla="val 85155"/>
            </a:avLst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10B981">
                <a:alpha val="30196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3" name="Google Shape;1263;p13" descr="gen-dedup-35a0f2d88deef7e210e1effca1b19a71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250899" y="3244901"/>
            <a:ext cx="165201" cy="16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3"/>
          <p:cNvSpPr txBox="1"/>
          <p:nvPr/>
        </p:nvSpPr>
        <p:spPr>
          <a:xfrm>
            <a:off x="1600200" y="3162605"/>
            <a:ext cx="3200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MonitoringEvents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5" name="Google Shape;1265;p13"/>
          <p:cNvSpPr txBox="1"/>
          <p:nvPr/>
        </p:nvSpPr>
        <p:spPr>
          <a:xfrm>
            <a:off x="1600200" y="3372227"/>
            <a:ext cx="3200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가전 모드 구간 = 이벤트 1개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6" name="Google Shape;1266;p13"/>
          <p:cNvSpPr/>
          <p:nvPr/>
        </p:nvSpPr>
        <p:spPr>
          <a:xfrm>
            <a:off x="1600200" y="3578329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3"/>
          <p:cNvSpPr txBox="1"/>
          <p:nvPr/>
        </p:nvSpPr>
        <p:spPr>
          <a:xfrm>
            <a:off x="1663601" y="3549674"/>
            <a:ext cx="724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appliance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8" name="Google Shape;1268;p13"/>
          <p:cNvSpPr/>
          <p:nvPr/>
        </p:nvSpPr>
        <p:spPr>
          <a:xfrm>
            <a:off x="3232099" y="3578329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3"/>
          <p:cNvSpPr txBox="1"/>
          <p:nvPr/>
        </p:nvSpPr>
        <p:spPr>
          <a:xfrm>
            <a:off x="3295507" y="3549674"/>
            <a:ext cx="6282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mode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0" name="Google Shape;1270;p13"/>
          <p:cNvSpPr/>
          <p:nvPr/>
        </p:nvSpPr>
        <p:spPr>
          <a:xfrm>
            <a:off x="1600200" y="3692325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13"/>
          <p:cNvSpPr txBox="1"/>
          <p:nvPr/>
        </p:nvSpPr>
        <p:spPr>
          <a:xfrm>
            <a:off x="1663600" y="3664274"/>
            <a:ext cx="7248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started_at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2" name="Google Shape;1272;p13"/>
          <p:cNvSpPr/>
          <p:nvPr/>
        </p:nvSpPr>
        <p:spPr>
          <a:xfrm>
            <a:off x="3232099" y="3692325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3"/>
          <p:cNvSpPr txBox="1"/>
          <p:nvPr/>
        </p:nvSpPr>
        <p:spPr>
          <a:xfrm>
            <a:off x="3295502" y="3664274"/>
            <a:ext cx="901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duration_min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4" name="Google Shape;1274;p13"/>
          <p:cNvSpPr/>
          <p:nvPr/>
        </p:nvSpPr>
        <p:spPr>
          <a:xfrm>
            <a:off x="1600200" y="3806929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3"/>
          <p:cNvSpPr txBox="1"/>
          <p:nvPr/>
        </p:nvSpPr>
        <p:spPr>
          <a:xfrm>
            <a:off x="1663600" y="3778274"/>
            <a:ext cx="7026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energy_wh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6" name="Google Shape;1276;p13"/>
          <p:cNvSpPr/>
          <p:nvPr/>
        </p:nvSpPr>
        <p:spPr>
          <a:xfrm>
            <a:off x="3232099" y="3806929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3"/>
          <p:cNvSpPr txBox="1"/>
          <p:nvPr/>
        </p:nvSpPr>
        <p:spPr>
          <a:xfrm>
            <a:off x="3295509" y="3778274"/>
            <a:ext cx="922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avg_w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8" name="Google Shape;1278;p13"/>
          <p:cNvSpPr/>
          <p:nvPr/>
        </p:nvSpPr>
        <p:spPr>
          <a:xfrm>
            <a:off x="1600200" y="3920925"/>
            <a:ext cx="25500" cy="255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3"/>
          <p:cNvSpPr txBox="1"/>
          <p:nvPr/>
        </p:nvSpPr>
        <p:spPr>
          <a:xfrm>
            <a:off x="1663603" y="3892874"/>
            <a:ext cx="724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peak_w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80" name="Google Shape;1280;p13" descr="gen-dedup-58ac94381906ef2b2eebd54007058849.png"/>
          <p:cNvPicPr preferRelativeResize="0"/>
          <p:nvPr/>
        </p:nvPicPr>
        <p:blipFill rotWithShape="1">
          <a:blip r:embed="rId15">
            <a:alphaModFix/>
          </a:blip>
          <a:srcRect t="-485" b="-485"/>
          <a:stretch/>
        </p:blipFill>
        <p:spPr>
          <a:xfrm>
            <a:off x="2981553" y="4317797"/>
            <a:ext cx="18897" cy="145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13" descr="gen-dedup-b02b2b2a789ee2cb57a49fd7b96ef20d.png"/>
          <p:cNvPicPr preferRelativeResize="0"/>
          <p:nvPr/>
        </p:nvPicPr>
        <p:blipFill rotWithShape="1">
          <a:blip r:embed="rId16">
            <a:alphaModFix/>
          </a:blip>
          <a:srcRect t="-3430" b="-3419"/>
          <a:stretch/>
        </p:blipFill>
        <p:spPr>
          <a:xfrm>
            <a:off x="2901696" y="4463491"/>
            <a:ext cx="178003" cy="126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13" descr="gen-dedup-10d97216c4c0884b807d8a3da4a91c04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213201" y="4381805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13"/>
          <p:cNvSpPr/>
          <p:nvPr/>
        </p:nvSpPr>
        <p:spPr>
          <a:xfrm>
            <a:off x="3151100" y="4343800"/>
            <a:ext cx="1374600" cy="152400"/>
          </a:xfrm>
          <a:prstGeom prst="roundRect">
            <a:avLst>
              <a:gd name="adj" fmla="val 200000"/>
            </a:avLst>
          </a:prstGeom>
          <a:noFill/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3"/>
          <p:cNvSpPr txBox="1"/>
          <p:nvPr/>
        </p:nvSpPr>
        <p:spPr>
          <a:xfrm>
            <a:off x="3271573" y="4343800"/>
            <a:ext cx="13746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 자정 압축 · EWM α=0.2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5" name="Google Shape;1285;p13"/>
          <p:cNvSpPr/>
          <p:nvPr/>
        </p:nvSpPr>
        <p:spPr>
          <a:xfrm>
            <a:off x="1079600" y="4730500"/>
            <a:ext cx="1171500" cy="120900"/>
          </a:xfrm>
          <a:prstGeom prst="roundRect">
            <a:avLst>
              <a:gd name="adj" fmla="val 265816"/>
            </a:avLst>
          </a:prstGeom>
          <a:solidFill>
            <a:srgbClr val="047857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3"/>
          <p:cNvSpPr txBox="1"/>
          <p:nvPr/>
        </p:nvSpPr>
        <p:spPr>
          <a:xfrm>
            <a:off x="1079599" y="4730500"/>
            <a:ext cx="1242299" cy="1274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장기</a:t>
            </a:r>
            <a:r>
              <a:rPr lang="en-US" sz="700" b="1" i="0" u="none" strike="noStrike" cap="non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00" b="1" i="0" u="none" strike="noStrike" cap="non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메모리</a:t>
            </a:r>
            <a:r>
              <a:rPr lang="en-US" sz="700" b="1" i="0" u="none" strike="noStrike" cap="non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· LONG-TERM</a:t>
            </a:r>
            <a:endParaRPr sz="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7" name="Google Shape;1287;p13"/>
          <p:cNvSpPr/>
          <p:nvPr/>
        </p:nvSpPr>
        <p:spPr>
          <a:xfrm>
            <a:off x="4115025" y="4724400"/>
            <a:ext cx="777000" cy="133500"/>
          </a:xfrm>
          <a:prstGeom prst="roundRect">
            <a:avLst>
              <a:gd name="adj" fmla="val 217438"/>
            </a:avLst>
          </a:prstGeom>
          <a:solidFill>
            <a:srgbClr val="FFFFFF"/>
          </a:solidFill>
          <a:ln w="9525" cap="flat" cmpd="sng">
            <a:solidFill>
              <a:srgbClr val="047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13"/>
          <p:cNvSpPr txBox="1"/>
          <p:nvPr/>
        </p:nvSpPr>
        <p:spPr>
          <a:xfrm>
            <a:off x="4115400" y="4724400"/>
            <a:ext cx="7770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24시간 1회 갱신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9" name="Google Shape;1289;p13"/>
          <p:cNvSpPr/>
          <p:nvPr/>
        </p:nvSpPr>
        <p:spPr>
          <a:xfrm>
            <a:off x="1168603" y="4978603"/>
            <a:ext cx="330300" cy="330300"/>
          </a:xfrm>
          <a:prstGeom prst="roundRect">
            <a:avLst>
              <a:gd name="adj" fmla="val 85155"/>
            </a:avLst>
          </a:prstGeom>
          <a:solidFill>
            <a:srgbClr val="047857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047857">
                <a:alpha val="30196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0" name="Google Shape;1290;p13" descr="gen-dedup-a7c156ee99c1f246521e41f7153dc1a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250899" y="5060899"/>
            <a:ext cx="165201" cy="16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3"/>
          <p:cNvSpPr txBox="1"/>
          <p:nvPr/>
        </p:nvSpPr>
        <p:spPr>
          <a:xfrm>
            <a:off x="1600200" y="4978603"/>
            <a:ext cx="3200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ApplianceBaseline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2" name="Google Shape;1292;p13"/>
          <p:cNvSpPr txBox="1"/>
          <p:nvPr/>
        </p:nvSpPr>
        <p:spPr>
          <a:xfrm>
            <a:off x="1600200" y="5188050"/>
            <a:ext cx="32004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가전별·모드별 기준값 누적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3" name="Google Shape;1293;p13"/>
          <p:cNvSpPr/>
          <p:nvPr/>
        </p:nvSpPr>
        <p:spPr>
          <a:xfrm>
            <a:off x="1600200" y="5364480"/>
            <a:ext cx="25500" cy="25500"/>
          </a:xfrm>
          <a:prstGeom prst="ellipse">
            <a:avLst/>
          </a:prstGeom>
          <a:solidFill>
            <a:srgbClr val="047857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3"/>
          <p:cNvSpPr txBox="1"/>
          <p:nvPr/>
        </p:nvSpPr>
        <p:spPr>
          <a:xfrm>
            <a:off x="1663601" y="5335825"/>
            <a:ext cx="822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avg_energy_wh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5" name="Google Shape;1295;p13"/>
          <p:cNvSpPr/>
          <p:nvPr/>
        </p:nvSpPr>
        <p:spPr>
          <a:xfrm>
            <a:off x="3232099" y="5364480"/>
            <a:ext cx="25500" cy="25500"/>
          </a:xfrm>
          <a:prstGeom prst="ellipse">
            <a:avLst/>
          </a:prstGeom>
          <a:solidFill>
            <a:srgbClr val="047857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3"/>
          <p:cNvSpPr txBox="1"/>
          <p:nvPr/>
        </p:nvSpPr>
        <p:spPr>
          <a:xfrm>
            <a:off x="3295500" y="5335825"/>
            <a:ext cx="1038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500"/>
              <a:buFont typeface="JetBrains Mono"/>
              <a:buNone/>
            </a:pPr>
            <a:r>
              <a:rPr lang="en-US" sz="7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avg_duration_min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7" name="Google Shape;1297;p13"/>
          <p:cNvSpPr/>
          <p:nvPr/>
        </p:nvSpPr>
        <p:spPr>
          <a:xfrm>
            <a:off x="964997" y="6032601"/>
            <a:ext cx="4038600" cy="234600"/>
          </a:xfrm>
          <a:prstGeom prst="roundRect">
            <a:avLst>
              <a:gd name="adj" fmla="val 112320"/>
            </a:avLst>
          </a:prstGeom>
          <a:solidFill>
            <a:srgbClr val="F9FAFB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8" name="Google Shape;1298;p13" descr="gen-dedup-baf58eeafd1b66da73e8e23f1fb13f6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3999" y="6104535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13"/>
          <p:cNvSpPr txBox="1"/>
          <p:nvPr/>
        </p:nvSpPr>
        <p:spPr>
          <a:xfrm>
            <a:off x="1193604" y="6032600"/>
            <a:ext cx="38403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단기는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고해상도 raw 이벤트</a:t>
            </a: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, 장기는 </a:t>
            </a: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압축된 가구별 기준값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0" name="Google Shape;1300;p13"/>
          <p:cNvSpPr/>
          <p:nvPr/>
        </p:nvSpPr>
        <p:spPr>
          <a:xfrm>
            <a:off x="5765600" y="1606300"/>
            <a:ext cx="541800" cy="120900"/>
          </a:xfrm>
          <a:prstGeom prst="roundRect">
            <a:avLst>
              <a:gd name="adj" fmla="val 265816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3"/>
          <p:cNvSpPr txBox="1"/>
          <p:nvPr/>
        </p:nvSpPr>
        <p:spPr>
          <a:xfrm>
            <a:off x="5746067" y="1638958"/>
            <a:ext cx="638695" cy="45719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 dirty="0" err="1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단기</a:t>
            </a:r>
            <a:r>
              <a:rPr lang="en-US" sz="700" b="1" i="0" u="none" strike="noStrike" cap="none" dirty="0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00" b="1" i="0" u="none" strike="noStrike" cap="none" dirty="0" err="1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메모리</a:t>
            </a:r>
            <a:endParaRPr sz="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2" name="Google Shape;1302;p13"/>
          <p:cNvSpPr txBox="1"/>
          <p:nvPr/>
        </p:nvSpPr>
        <p:spPr>
          <a:xfrm>
            <a:off x="6406535" y="1574600"/>
            <a:ext cx="156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MonitoringEvents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3" name="Google Shape;1303;p13"/>
          <p:cNvSpPr txBox="1"/>
          <p:nvPr/>
        </p:nvSpPr>
        <p:spPr>
          <a:xfrm>
            <a:off x="7984423" y="1622900"/>
            <a:ext cx="28827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고해상도 이벤트 로그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4" name="Google Shape;1304;p13"/>
          <p:cNvSpPr/>
          <p:nvPr/>
        </p:nvSpPr>
        <p:spPr>
          <a:xfrm>
            <a:off x="5765597" y="1968399"/>
            <a:ext cx="203100" cy="203100"/>
          </a:xfrm>
          <a:prstGeom prst="ellipse">
            <a:avLst/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3"/>
          <p:cNvSpPr/>
          <p:nvPr/>
        </p:nvSpPr>
        <p:spPr>
          <a:xfrm>
            <a:off x="5765600" y="1968400"/>
            <a:ext cx="2169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6" name="Google Shape;1306;p13"/>
          <p:cNvSpPr txBox="1"/>
          <p:nvPr/>
        </p:nvSpPr>
        <p:spPr>
          <a:xfrm>
            <a:off x="6077299" y="1968400"/>
            <a:ext cx="26994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 모드 구간 = 이벤트 1개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7" name="Google Shape;1307;p13"/>
          <p:cNvSpPr txBox="1"/>
          <p:nvPr/>
        </p:nvSpPr>
        <p:spPr>
          <a:xfrm>
            <a:off x="6077300" y="2128125"/>
            <a:ext cx="3840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모드 분류 결과 포함 — 어떤 가전이, 어떤 모드로, 얼마나 동작했는지 기록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8" name="Google Shape;1308;p13"/>
          <p:cNvSpPr/>
          <p:nvPr/>
        </p:nvSpPr>
        <p:spPr>
          <a:xfrm>
            <a:off x="5765597" y="2425599"/>
            <a:ext cx="203100" cy="203100"/>
          </a:xfrm>
          <a:prstGeom prst="ellipse">
            <a:avLst/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13"/>
          <p:cNvSpPr/>
          <p:nvPr/>
        </p:nvSpPr>
        <p:spPr>
          <a:xfrm>
            <a:off x="5765600" y="2425598"/>
            <a:ext cx="2169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0" name="Google Shape;1310;p13"/>
          <p:cNvSpPr txBox="1"/>
          <p:nvPr/>
        </p:nvSpPr>
        <p:spPr>
          <a:xfrm>
            <a:off x="6077299" y="2425598"/>
            <a:ext cx="30306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자정에 장기 메모리로 압축 후 리셋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1" name="Google Shape;1311;p13"/>
          <p:cNvSpPr txBox="1"/>
          <p:nvPr/>
        </p:nvSpPr>
        <p:spPr>
          <a:xfrm>
            <a:off x="6077300" y="2585300"/>
            <a:ext cx="48885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하루 단위 라이프사이클 — 24시간 후 단기는 비워지고, 정보는 baseline에 누적됨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2" name="Google Shape;1312;p13"/>
          <p:cNvSpPr/>
          <p:nvPr/>
        </p:nvSpPr>
        <p:spPr>
          <a:xfrm>
            <a:off x="5917997" y="3060801"/>
            <a:ext cx="203100" cy="203100"/>
          </a:xfrm>
          <a:prstGeom prst="ellipse">
            <a:avLst/>
          </a:prstGeom>
          <a:solidFill>
            <a:srgbClr val="10B98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3"/>
          <p:cNvSpPr/>
          <p:nvPr/>
        </p:nvSpPr>
        <p:spPr>
          <a:xfrm>
            <a:off x="5927944" y="3060798"/>
            <a:ext cx="2169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4" name="Google Shape;1314;p13"/>
          <p:cNvSpPr txBox="1"/>
          <p:nvPr/>
        </p:nvSpPr>
        <p:spPr>
          <a:xfrm>
            <a:off x="6307178" y="3092769"/>
            <a:ext cx="541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E2E 실측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5" name="Google Shape;1315;p13"/>
          <p:cNvSpPr txBox="1"/>
          <p:nvPr/>
        </p:nvSpPr>
        <p:spPr>
          <a:xfrm>
            <a:off x="6307174" y="3310725"/>
            <a:ext cx="8229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하루 이벤트 수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6" name="Google Shape;1316;p13"/>
          <p:cNvSpPr txBox="1"/>
          <p:nvPr/>
        </p:nvSpPr>
        <p:spPr>
          <a:xfrm>
            <a:off x="7084051" y="3162601"/>
            <a:ext cx="103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2400"/>
              <a:buFont typeface="Arial"/>
              <a:buNone/>
            </a:pPr>
            <a:r>
              <a:rPr lang="en-US" sz="26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3,859</a:t>
            </a:r>
            <a:endParaRPr sz="2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7" name="Google Shape;1317;p13"/>
          <p:cNvSpPr txBox="1"/>
          <p:nvPr/>
        </p:nvSpPr>
        <p:spPr>
          <a:xfrm>
            <a:off x="7944307" y="3310733"/>
            <a:ext cx="1086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개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3"/>
          <p:cNvSpPr/>
          <p:nvPr/>
        </p:nvSpPr>
        <p:spPr>
          <a:xfrm>
            <a:off x="8489289" y="3196133"/>
            <a:ext cx="6000" cy="241500"/>
          </a:xfrm>
          <a:prstGeom prst="rect">
            <a:avLst/>
          </a:prstGeom>
          <a:solidFill>
            <a:srgbClr val="BBF7D0"/>
          </a:solidFill>
          <a:ln w="9525" cap="flat" cmpd="sng">
            <a:solidFill>
              <a:srgbClr val="BBF7D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13"/>
          <p:cNvSpPr txBox="1"/>
          <p:nvPr/>
        </p:nvSpPr>
        <p:spPr>
          <a:xfrm>
            <a:off x="8689550" y="3086075"/>
            <a:ext cx="14967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측정 조건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0" name="Google Shape;1320;p13"/>
          <p:cNvSpPr/>
          <p:nvPr/>
        </p:nvSpPr>
        <p:spPr>
          <a:xfrm>
            <a:off x="8659475" y="3306163"/>
            <a:ext cx="751500" cy="133500"/>
          </a:xfrm>
          <a:prstGeom prst="roundRect">
            <a:avLst>
              <a:gd name="adj" fmla="val 236407"/>
            </a:avLst>
          </a:prstGeom>
          <a:solidFill>
            <a:srgbClr val="FFFFFF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3"/>
          <p:cNvSpPr txBox="1"/>
          <p:nvPr/>
        </p:nvSpPr>
        <p:spPr>
          <a:xfrm>
            <a:off x="8660950" y="3300075"/>
            <a:ext cx="751500" cy="139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600"/>
              <a:buFont typeface="JetBrains Mono"/>
              <a:buNone/>
            </a:pPr>
            <a:r>
              <a:rPr lang="en-US" sz="9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house_054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2" name="Google Shape;1322;p13"/>
          <p:cNvSpPr txBox="1"/>
          <p:nvPr/>
        </p:nvSpPr>
        <p:spPr>
          <a:xfrm>
            <a:off x="9442616" y="3310733"/>
            <a:ext cx="10170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0F2A26"/>
                </a:solidFill>
                <a:latin typeface="Noto Sans"/>
                <a:ea typeface="Noto Sans"/>
                <a:cs typeface="Noto Sans"/>
                <a:sym typeface="Noto Sans"/>
              </a:rPr>
              <a:t>17종 가전 · 24시간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3" name="Google Shape;1323;p13"/>
          <p:cNvSpPr/>
          <p:nvPr/>
        </p:nvSpPr>
        <p:spPr>
          <a:xfrm>
            <a:off x="5765600" y="4184900"/>
            <a:ext cx="514500" cy="120900"/>
          </a:xfrm>
          <a:prstGeom prst="roundRect">
            <a:avLst>
              <a:gd name="adj" fmla="val 265816"/>
            </a:avLst>
          </a:prstGeom>
          <a:solidFill>
            <a:srgbClr val="D1FAE5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3"/>
          <p:cNvSpPr txBox="1"/>
          <p:nvPr/>
        </p:nvSpPr>
        <p:spPr>
          <a:xfrm>
            <a:off x="5740947" y="4184900"/>
            <a:ext cx="6525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장기 메모리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5" name="Google Shape;1325;p13"/>
          <p:cNvSpPr txBox="1"/>
          <p:nvPr/>
        </p:nvSpPr>
        <p:spPr>
          <a:xfrm>
            <a:off x="6318961" y="4153205"/>
            <a:ext cx="1594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ApplianceBaseline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6" name="Google Shape;1326;p13"/>
          <p:cNvSpPr txBox="1"/>
          <p:nvPr/>
        </p:nvSpPr>
        <p:spPr>
          <a:xfrm>
            <a:off x="7984426" y="4208840"/>
            <a:ext cx="12066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가전별 기준값 누적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7" name="Google Shape;1327;p13"/>
          <p:cNvSpPr/>
          <p:nvPr/>
        </p:nvSpPr>
        <p:spPr>
          <a:xfrm>
            <a:off x="5765597" y="4521403"/>
            <a:ext cx="203100" cy="203100"/>
          </a:xfrm>
          <a:prstGeom prst="ellipse">
            <a:avLst/>
          </a:prstGeom>
          <a:solidFill>
            <a:srgbClr val="D1FAE5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3"/>
          <p:cNvSpPr/>
          <p:nvPr/>
        </p:nvSpPr>
        <p:spPr>
          <a:xfrm>
            <a:off x="5765597" y="4521403"/>
            <a:ext cx="2037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9" name="Google Shape;1329;p13"/>
          <p:cNvSpPr txBox="1"/>
          <p:nvPr/>
        </p:nvSpPr>
        <p:spPr>
          <a:xfrm>
            <a:off x="6058200" y="4521400"/>
            <a:ext cx="10668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EWM 점진적 갱신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0" name="Google Shape;1330;p13"/>
          <p:cNvSpPr/>
          <p:nvPr/>
        </p:nvSpPr>
        <p:spPr>
          <a:xfrm>
            <a:off x="7123774" y="4528100"/>
            <a:ext cx="558000" cy="126900"/>
          </a:xfrm>
          <a:prstGeom prst="roundRect">
            <a:avLst>
              <a:gd name="adj" fmla="val 192308"/>
            </a:avLst>
          </a:prstGeom>
          <a:solidFill>
            <a:srgbClr val="F9FAFB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13"/>
          <p:cNvSpPr txBox="1"/>
          <p:nvPr/>
        </p:nvSpPr>
        <p:spPr>
          <a:xfrm>
            <a:off x="7123775" y="4528100"/>
            <a:ext cx="548100" cy="127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16925" rIns="50800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α = 0.2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2" name="Google Shape;1332;p13"/>
          <p:cNvSpPr txBox="1"/>
          <p:nvPr/>
        </p:nvSpPr>
        <p:spPr>
          <a:xfrm>
            <a:off x="6058205" y="4693468"/>
            <a:ext cx="5410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새 데이터가 기존 기준값을 </a:t>
            </a:r>
            <a:r>
              <a:rPr lang="en-US" sz="9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서서히 대체</a:t>
            </a: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— 갑작스러운 일회성 이상치에 흔들리지 않음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3" name="Google Shape;1333;p13"/>
          <p:cNvSpPr/>
          <p:nvPr/>
        </p:nvSpPr>
        <p:spPr>
          <a:xfrm>
            <a:off x="6058205" y="4990330"/>
            <a:ext cx="5410200" cy="273300"/>
          </a:xfrm>
          <a:prstGeom prst="roundRect">
            <a:avLst>
              <a:gd name="adj" fmla="val 83057"/>
            </a:avLst>
          </a:prstGeom>
          <a:solidFill>
            <a:srgbClr val="F9FAFB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13"/>
          <p:cNvSpPr txBox="1"/>
          <p:nvPr/>
        </p:nvSpPr>
        <p:spPr>
          <a:xfrm>
            <a:off x="6166098" y="5085430"/>
            <a:ext cx="8766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UPDATE RULE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5" name="Google Shape;1335;p13"/>
          <p:cNvSpPr txBox="1"/>
          <p:nvPr/>
        </p:nvSpPr>
        <p:spPr>
          <a:xfrm>
            <a:off x="7067703" y="5066530"/>
            <a:ext cx="26367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baseline</a:t>
            </a:r>
            <a:r>
              <a:rPr lang="en-US" sz="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new</a:t>
            </a: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= α · today + (1−α) · baseline</a:t>
            </a:r>
            <a:r>
              <a:rPr lang="en-US" sz="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prev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6" name="Google Shape;1336;p13"/>
          <p:cNvSpPr txBox="1"/>
          <p:nvPr/>
        </p:nvSpPr>
        <p:spPr>
          <a:xfrm>
            <a:off x="9984000" y="5081775"/>
            <a:ext cx="15654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α=0.2 → 오늘 20% : 누적 80%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7" name="Google Shape;1337;p13"/>
          <p:cNvSpPr/>
          <p:nvPr/>
        </p:nvSpPr>
        <p:spPr>
          <a:xfrm>
            <a:off x="5917997" y="5613197"/>
            <a:ext cx="203100" cy="203100"/>
          </a:xfrm>
          <a:prstGeom prst="ellipse">
            <a:avLst/>
          </a:prstGeom>
          <a:solidFill>
            <a:srgbClr val="FEF3C7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13"/>
          <p:cNvSpPr/>
          <p:nvPr/>
        </p:nvSpPr>
        <p:spPr>
          <a:xfrm>
            <a:off x="5917997" y="5613197"/>
            <a:ext cx="203700" cy="2037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39" name="Google Shape;1339;p13" descr="gen-dedup-1dea0da3df6f4e748d980e1f81325a28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210605" y="5631186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3"/>
          <p:cNvSpPr txBox="1"/>
          <p:nvPr/>
        </p:nvSpPr>
        <p:spPr>
          <a:xfrm>
            <a:off x="6362998" y="5621275"/>
            <a:ext cx="1206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Cold Start 전략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1" name="Google Shape;1341;p13"/>
          <p:cNvSpPr txBox="1"/>
          <p:nvPr/>
        </p:nvSpPr>
        <p:spPr>
          <a:xfrm>
            <a:off x="7346825" y="5822515"/>
            <a:ext cx="4244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 로 초기값 구축 </a:t>
            </a:r>
            <a:endParaRPr sz="900" i="0" u="none" strike="noStrike" cap="none">
              <a:solidFill>
                <a:srgbClr val="78350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700"/>
              <a:buFont typeface="Arial"/>
              <a:buNone/>
            </a:pPr>
            <a:r>
              <a:rPr lang="en-US" sz="900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→ </a:t>
            </a:r>
            <a:r>
              <a:rPr lang="en-US" sz="900" b="1" i="0" u="none" strike="noStrike" cap="none">
                <a:solidFill>
                  <a:srgbClr val="451A03"/>
                </a:solidFill>
                <a:latin typeface="Noto Sans"/>
                <a:ea typeface="Noto Sans"/>
                <a:cs typeface="Noto Sans"/>
                <a:sym typeface="Noto Sans"/>
              </a:rPr>
              <a:t>EWM으로 가구별 기준값으로 수렴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2" name="Google Shape;1342;p13"/>
          <p:cNvSpPr/>
          <p:nvPr/>
        </p:nvSpPr>
        <p:spPr>
          <a:xfrm>
            <a:off x="6164239" y="5835317"/>
            <a:ext cx="1122900" cy="114600"/>
          </a:xfrm>
          <a:prstGeom prst="roundRect">
            <a:avLst>
              <a:gd name="adj" fmla="val 236407"/>
            </a:avLst>
          </a:prstGeom>
          <a:solidFill>
            <a:srgbClr val="FFFFFF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13"/>
          <p:cNvSpPr txBox="1"/>
          <p:nvPr/>
        </p:nvSpPr>
        <p:spPr>
          <a:xfrm>
            <a:off x="6154500" y="5835325"/>
            <a:ext cx="11229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AI Hub 10가구 샘플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4" name="Google Shape;1344;p13"/>
          <p:cNvSpPr txBox="1"/>
          <p:nvPr/>
        </p:nvSpPr>
        <p:spPr>
          <a:xfrm>
            <a:off x="1193600" y="495600"/>
            <a:ext cx="36070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r>
              <a:rPr lang="en-US" sz="27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</a:t>
            </a:r>
            <a:r>
              <a:rPr lang="en-US" sz="27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7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모니터링</a:t>
            </a:r>
            <a:endParaRPr sz="27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941;p9">
            <a:extLst>
              <a:ext uri="{FF2B5EF4-FFF2-40B4-BE49-F238E27FC236}">
                <a16:creationId xmlns:a16="http://schemas.microsoft.com/office/drawing/2014/main" id="{A5E3D37E-0EA0-50FF-9C06-E1E258B9718D}"/>
              </a:ext>
            </a:extLst>
          </p:cNvPr>
          <p:cNvSpPr txBox="1"/>
          <p:nvPr/>
        </p:nvSpPr>
        <p:spPr>
          <a:xfrm>
            <a:off x="4815368" y="422138"/>
            <a:ext cx="402523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전력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사용량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변화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감지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구조</a:t>
            </a:r>
            <a:endParaRPr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g3eaa469dcba_0_242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g3eaa469dcba_0_242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g3eaa469dcba_0_242" descr="gen-dedup-12964a59c8adbfa7fc19f6c964a8d1d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g3eaa469dcba_0_242" descr="gen-dedup-dc8939f341d17290805e74a6b285d07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7286" y="1439400"/>
            <a:ext cx="5841802" cy="3333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g3eaa469dcba_0_242" descr="gen-dedup-f23be18b5828d1a95ff9f00fa47e7b45.png"/>
          <p:cNvPicPr preferRelativeResize="0"/>
          <p:nvPr/>
        </p:nvPicPr>
        <p:blipFill rotWithShape="1">
          <a:blip r:embed="rId7">
            <a:alphaModFix/>
          </a:blip>
          <a:srcRect r="-10"/>
          <a:stretch/>
        </p:blipFill>
        <p:spPr>
          <a:xfrm>
            <a:off x="571800" y="4975550"/>
            <a:ext cx="5841800" cy="14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g3eaa469dcba_0_242" descr="gen-dedup-c0cb1581a54d0da23e18ab3dcfa89789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40400" y="1439401"/>
            <a:ext cx="5079800" cy="49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g3eaa469dcba_0_242"/>
          <p:cNvSpPr/>
          <p:nvPr/>
        </p:nvSpPr>
        <p:spPr>
          <a:xfrm>
            <a:off x="762000" y="1879397"/>
            <a:ext cx="5460900" cy="812700"/>
          </a:xfrm>
          <a:prstGeom prst="roundRect">
            <a:avLst>
              <a:gd name="adj" fmla="val 14066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8" name="Google Shape;1358;g3eaa469dcba_0_242" descr="gen-dedup-6fca65212881cf9a6250f77b185b015d.png"/>
          <p:cNvPicPr preferRelativeResize="0"/>
          <p:nvPr/>
        </p:nvPicPr>
        <p:blipFill rotWithShape="1">
          <a:blip r:embed="rId9">
            <a:alphaModFix/>
          </a:blip>
          <a:srcRect l="-10"/>
          <a:stretch/>
        </p:blipFill>
        <p:spPr>
          <a:xfrm>
            <a:off x="762000" y="3149800"/>
            <a:ext cx="5460800" cy="14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g3eaa469dcba_0_242"/>
          <p:cNvSpPr txBox="1"/>
          <p:nvPr/>
        </p:nvSpPr>
        <p:spPr>
          <a:xfrm>
            <a:off x="1193597" y="495600"/>
            <a:ext cx="2185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추천시스템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0" name="Google Shape;1360;g3eaa469dcba_0_242"/>
          <p:cNvSpPr txBox="1"/>
          <p:nvPr/>
        </p:nvSpPr>
        <p:spPr>
          <a:xfrm>
            <a:off x="1193597" y="852831"/>
            <a:ext cx="8890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LLM만으로는 전기세 절감 추천이 </a:t>
            </a:r>
            <a:r>
              <a:rPr lang="en-US" sz="13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일반론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으로 흐른다 — Neo4j KG로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근거 추적 가능한 조치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로 전환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61" name="Google Shape;1361;g3eaa469dcba_0_242" descr="gen-dedup-46bd78cf0448f8b7204946621a935992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1562405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g3eaa469dcba_0_242"/>
          <p:cNvSpPr txBox="1"/>
          <p:nvPr/>
        </p:nvSpPr>
        <p:spPr>
          <a:xfrm>
            <a:off x="965002" y="1549600"/>
            <a:ext cx="1016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정성 비교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3" name="Google Shape;1363;g3eaa469dcba_0_242"/>
          <p:cNvSpPr/>
          <p:nvPr/>
        </p:nvSpPr>
        <p:spPr>
          <a:xfrm>
            <a:off x="914400" y="2006800"/>
            <a:ext cx="1169100" cy="139500"/>
          </a:xfrm>
          <a:prstGeom prst="roundRect">
            <a:avLst>
              <a:gd name="adj" fmla="val 198491"/>
            </a:avLst>
          </a:prstGeom>
          <a:solidFill>
            <a:srgbClr val="E5E7E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g3eaa469dcba_0_242"/>
          <p:cNvSpPr txBox="1"/>
          <p:nvPr/>
        </p:nvSpPr>
        <p:spPr>
          <a:xfrm>
            <a:off x="914400" y="2006800"/>
            <a:ext cx="11691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B · PROMPT + LLM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5" name="Google Shape;1365;g3eaa469dcba_0_242"/>
          <p:cNvSpPr/>
          <p:nvPr/>
        </p:nvSpPr>
        <p:spPr>
          <a:xfrm>
            <a:off x="2120800" y="2015950"/>
            <a:ext cx="385800" cy="120900"/>
          </a:xfrm>
          <a:prstGeom prst="roundRect">
            <a:avLst>
              <a:gd name="adj" fmla="val 212653"/>
            </a:avLst>
          </a:prstGeom>
          <a:solidFill>
            <a:srgbClr val="FEF2F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g3eaa469dcba_0_242"/>
          <p:cNvSpPr txBox="1"/>
          <p:nvPr/>
        </p:nvSpPr>
        <p:spPr>
          <a:xfrm>
            <a:off x="1977026" y="2015950"/>
            <a:ext cx="6759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16925" rIns="50800" bIns="16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일반론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7" name="Google Shape;1367;g3eaa469dcba_0_242"/>
          <p:cNvSpPr/>
          <p:nvPr/>
        </p:nvSpPr>
        <p:spPr>
          <a:xfrm>
            <a:off x="914400" y="2209800"/>
            <a:ext cx="2159700" cy="254100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g3eaa469dcba_0_242"/>
          <p:cNvSpPr txBox="1"/>
          <p:nvPr/>
        </p:nvSpPr>
        <p:spPr>
          <a:xfrm>
            <a:off x="914400" y="2219624"/>
            <a:ext cx="2299410" cy="225689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125" tIns="50800" rIns="93125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"</a:t>
            </a:r>
            <a:r>
              <a:rPr lang="en-US" sz="10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에어컨</a:t>
            </a: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설정</a:t>
            </a: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온도를</a:t>
            </a: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2도 </a:t>
            </a:r>
            <a:r>
              <a:rPr lang="en-US" sz="10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높이세요</a:t>
            </a: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."</a:t>
            </a:r>
            <a:endParaRPr sz="10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9" name="Google Shape;1369;g3eaa469dcba_0_242"/>
          <p:cNvSpPr/>
          <p:nvPr/>
        </p:nvSpPr>
        <p:spPr>
          <a:xfrm>
            <a:off x="3099538" y="2209800"/>
            <a:ext cx="1338300" cy="254100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g3eaa469dcba_0_242"/>
          <p:cNvSpPr txBox="1"/>
          <p:nvPr/>
        </p:nvSpPr>
        <p:spPr>
          <a:xfrm>
            <a:off x="3090176" y="2200242"/>
            <a:ext cx="1446300" cy="263657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125" tIns="50800" rIns="93125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"</a:t>
            </a:r>
            <a:r>
              <a:rPr lang="en-US" sz="10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자연</a:t>
            </a:r>
            <a:r>
              <a:rPr lang="en-US" sz="1000" b="1" i="0" u="none" strike="noStrike" cap="non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 b="1" i="0" u="none" strike="noStrike" cap="non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환기</a:t>
            </a:r>
            <a:r>
              <a:rPr lang="en-US" sz="10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를</a:t>
            </a: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 i="0" u="none" strike="noStrike" cap="non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하세요</a:t>
            </a:r>
            <a:r>
              <a:rPr lang="en-US" sz="1000" i="0" u="none" strike="noStrike" cap="non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."</a:t>
            </a:r>
            <a:endParaRPr sz="10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1" name="Google Shape;1371;g3eaa469dcba_0_242"/>
          <p:cNvSpPr/>
          <p:nvPr/>
        </p:nvSpPr>
        <p:spPr>
          <a:xfrm>
            <a:off x="3007350" y="2829150"/>
            <a:ext cx="964200" cy="183900"/>
          </a:xfrm>
          <a:prstGeom prst="roundRect">
            <a:avLst>
              <a:gd name="adj" fmla="val 331126"/>
            </a:avLst>
          </a:prstGeom>
          <a:solidFill>
            <a:srgbClr val="FFFFFF"/>
          </a:solidFill>
          <a:ln w="847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16200000" algn="bl" rotWithShape="0">
              <a:srgbClr val="10B981">
                <a:alpha val="14900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2" name="Google Shape;1372;g3eaa469dcba_0_242" descr="gen-dedup-855db265f40b513f0ede0273108a0bc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24809" y="2876703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g3eaa469dcba_0_242"/>
          <p:cNvSpPr txBox="1"/>
          <p:nvPr/>
        </p:nvSpPr>
        <p:spPr>
          <a:xfrm>
            <a:off x="3099703" y="2829150"/>
            <a:ext cx="80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KG 추가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4" name="Google Shape;1374;g3eaa469dcba_0_242"/>
          <p:cNvSpPr/>
          <p:nvPr/>
        </p:nvSpPr>
        <p:spPr>
          <a:xfrm>
            <a:off x="914400" y="3263800"/>
            <a:ext cx="855900" cy="139500"/>
          </a:xfrm>
          <a:prstGeom prst="roundRect">
            <a:avLst>
              <a:gd name="adj" fmla="val 198491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g3eaa469dcba_0_242"/>
          <p:cNvSpPr txBox="1"/>
          <p:nvPr/>
        </p:nvSpPr>
        <p:spPr>
          <a:xfrm>
            <a:off x="914400" y="3263800"/>
            <a:ext cx="8559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25400" rIns="67725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 · KG + LLM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6" name="Google Shape;1376;g3eaa469dcba_0_242"/>
          <p:cNvSpPr/>
          <p:nvPr/>
        </p:nvSpPr>
        <p:spPr>
          <a:xfrm>
            <a:off x="1869525" y="3266850"/>
            <a:ext cx="760200" cy="133500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g3eaa469dcba_0_242"/>
          <p:cNvSpPr txBox="1"/>
          <p:nvPr/>
        </p:nvSpPr>
        <p:spPr>
          <a:xfrm>
            <a:off x="1869525" y="3273022"/>
            <a:ext cx="9642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16925" rIns="50800" bIns="16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근거 추적 가능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8" name="Google Shape;1378;g3eaa469dcba_0_242"/>
          <p:cNvSpPr/>
          <p:nvPr/>
        </p:nvSpPr>
        <p:spPr>
          <a:xfrm>
            <a:off x="914400" y="3489052"/>
            <a:ext cx="5156100" cy="267000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g3eaa469dcba_0_242"/>
          <p:cNvSpPr/>
          <p:nvPr/>
        </p:nvSpPr>
        <p:spPr>
          <a:xfrm>
            <a:off x="914400" y="3830591"/>
            <a:ext cx="5156100" cy="267000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g3eaa469dcba_0_242"/>
          <p:cNvSpPr/>
          <p:nvPr/>
        </p:nvSpPr>
        <p:spPr>
          <a:xfrm>
            <a:off x="914400" y="4161916"/>
            <a:ext cx="5156100" cy="267000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g3eaa469dcba_0_242"/>
          <p:cNvSpPr/>
          <p:nvPr/>
        </p:nvSpPr>
        <p:spPr>
          <a:xfrm>
            <a:off x="1041200" y="3567050"/>
            <a:ext cx="1023900" cy="111000"/>
          </a:xfrm>
          <a:prstGeom prst="roundRect">
            <a:avLst>
              <a:gd name="adj" fmla="val 224551"/>
            </a:avLst>
          </a:prstGeom>
          <a:solidFill>
            <a:srgbClr val="ECFDF5"/>
          </a:solidFill>
          <a:ln w="89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25" tIns="64025" rIns="64025" bIns="64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1"/>
          </a:p>
        </p:txBody>
      </p:sp>
      <p:sp>
        <p:nvSpPr>
          <p:cNvPr id="1382" name="Google Shape;1382;g3eaa469dcba_0_242"/>
          <p:cNvSpPr txBox="1"/>
          <p:nvPr/>
        </p:nvSpPr>
        <p:spPr>
          <a:xfrm>
            <a:off x="1032199" y="3575464"/>
            <a:ext cx="1097400" cy="95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JetBrains Mono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피크 전력 1kW↑</a:t>
            </a:r>
            <a:endParaRPr sz="10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3" name="Google Shape;1383;g3eaa469dcba_0_242"/>
          <p:cNvSpPr txBox="1"/>
          <p:nvPr/>
        </p:nvSpPr>
        <p:spPr>
          <a:xfrm>
            <a:off x="2079244" y="3556973"/>
            <a:ext cx="89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g3eaa469dcba_0_242"/>
          <p:cNvSpPr/>
          <p:nvPr/>
        </p:nvSpPr>
        <p:spPr>
          <a:xfrm>
            <a:off x="2186514" y="3571350"/>
            <a:ext cx="687600" cy="101700"/>
          </a:xfrm>
          <a:prstGeom prst="roundRect">
            <a:avLst>
              <a:gd name="adj" fmla="val 224551"/>
            </a:avLst>
          </a:prstGeom>
          <a:solidFill>
            <a:srgbClr val="ECFDF5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g3eaa469dcba_0_242"/>
          <p:cNvSpPr txBox="1"/>
          <p:nvPr/>
        </p:nvSpPr>
        <p:spPr>
          <a:xfrm>
            <a:off x="2186539" y="3583693"/>
            <a:ext cx="675900" cy="95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JetBrains Mono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필터 막힘</a:t>
            </a:r>
            <a:endParaRPr sz="10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6" name="Google Shape;1386;g3eaa469dcba_0_242"/>
          <p:cNvSpPr txBox="1"/>
          <p:nvPr/>
        </p:nvSpPr>
        <p:spPr>
          <a:xfrm>
            <a:off x="2890064" y="3558547"/>
            <a:ext cx="89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g3eaa469dcba_0_242"/>
          <p:cNvSpPr txBox="1"/>
          <p:nvPr/>
        </p:nvSpPr>
        <p:spPr>
          <a:xfrm>
            <a:off x="3001837" y="3558548"/>
            <a:ext cx="10974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에어컨 필터 청소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8" name="Google Shape;1388;g3eaa469dcba_0_242"/>
          <p:cNvSpPr/>
          <p:nvPr/>
        </p:nvSpPr>
        <p:spPr>
          <a:xfrm>
            <a:off x="1041200" y="3908591"/>
            <a:ext cx="925200" cy="111000"/>
          </a:xfrm>
          <a:prstGeom prst="roundRect">
            <a:avLst>
              <a:gd name="adj" fmla="val 224551"/>
            </a:avLst>
          </a:prstGeom>
          <a:solidFill>
            <a:srgbClr val="ECFDF5"/>
          </a:solidFill>
          <a:ln w="89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25" tIns="64025" rIns="64025" bIns="64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1"/>
          </a:p>
        </p:txBody>
      </p:sp>
      <p:sp>
        <p:nvSpPr>
          <p:cNvPr id="1389" name="Google Shape;1389;g3eaa469dcba_0_242"/>
          <p:cNvSpPr txBox="1"/>
          <p:nvPr/>
        </p:nvSpPr>
        <p:spPr>
          <a:xfrm>
            <a:off x="1032199" y="3913550"/>
            <a:ext cx="1169100" cy="101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JetBrains Mono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실외기 통풍 저하</a:t>
            </a:r>
            <a:endParaRPr sz="10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0" name="Google Shape;1390;g3eaa469dcba_0_242"/>
          <p:cNvSpPr txBox="1"/>
          <p:nvPr/>
        </p:nvSpPr>
        <p:spPr>
          <a:xfrm>
            <a:off x="2065481" y="3900695"/>
            <a:ext cx="89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g3eaa469dcba_0_242"/>
          <p:cNvSpPr txBox="1"/>
          <p:nvPr/>
        </p:nvSpPr>
        <p:spPr>
          <a:xfrm>
            <a:off x="2191759" y="3900694"/>
            <a:ext cx="18483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실외기 주변 1m 통풍 확보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2" name="Google Shape;1392;g3eaa469dcba_0_242"/>
          <p:cNvSpPr/>
          <p:nvPr/>
        </p:nvSpPr>
        <p:spPr>
          <a:xfrm>
            <a:off x="1041200" y="4239916"/>
            <a:ext cx="755400" cy="111000"/>
          </a:xfrm>
          <a:prstGeom prst="roundRect">
            <a:avLst>
              <a:gd name="adj" fmla="val 224551"/>
            </a:avLst>
          </a:prstGeom>
          <a:solidFill>
            <a:srgbClr val="ECFDF5"/>
          </a:solidFill>
          <a:ln w="89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25" tIns="64025" rIns="64025" bIns="64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g3eaa469dcba_0_242"/>
          <p:cNvSpPr txBox="1"/>
          <p:nvPr/>
        </p:nvSpPr>
        <p:spPr>
          <a:xfrm>
            <a:off x="1013880" y="4217353"/>
            <a:ext cx="10512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600"/>
              <a:buFont typeface="JetBrains Mono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과냉방 가능성</a:t>
            </a:r>
            <a:endParaRPr sz="10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4" name="Google Shape;1394;g3eaa469dcba_0_242"/>
          <p:cNvSpPr txBox="1"/>
          <p:nvPr/>
        </p:nvSpPr>
        <p:spPr>
          <a:xfrm>
            <a:off x="1900514" y="4232020"/>
            <a:ext cx="89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g3eaa469dcba_0_242"/>
          <p:cNvSpPr txBox="1"/>
          <p:nvPr/>
        </p:nvSpPr>
        <p:spPr>
          <a:xfrm>
            <a:off x="2041425" y="4232017"/>
            <a:ext cx="16893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설정 온도 26~28℃ 권장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96" name="Google Shape;1396;g3eaa469dcba_0_242" descr="gen-dedup-b9935034413031afd238e69aa6504396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000" y="516879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g3eaa469dcba_0_242"/>
          <p:cNvSpPr txBox="1"/>
          <p:nvPr/>
        </p:nvSpPr>
        <p:spPr>
          <a:xfrm>
            <a:off x="965002" y="5156000"/>
            <a:ext cx="3523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LLM만 사용했을 때의 3가지 한계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8" name="Google Shape;1398;g3eaa469dcba_0_242"/>
          <p:cNvSpPr/>
          <p:nvPr/>
        </p:nvSpPr>
        <p:spPr>
          <a:xfrm>
            <a:off x="762000" y="5486400"/>
            <a:ext cx="1771500" cy="596700"/>
          </a:xfrm>
          <a:prstGeom prst="roundRect">
            <a:avLst>
              <a:gd name="adj" fmla="val 21733"/>
            </a:avLst>
          </a:prstGeom>
          <a:solidFill>
            <a:srgbClr val="FFFFFF"/>
          </a:solidFill>
          <a:ln w="8475" cap="flat" cmpd="sng">
            <a:solidFill>
              <a:srgbClr val="FBCF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g3eaa469dcba_0_242"/>
          <p:cNvSpPr/>
          <p:nvPr/>
        </p:nvSpPr>
        <p:spPr>
          <a:xfrm>
            <a:off x="869899" y="5581497"/>
            <a:ext cx="126900" cy="1269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g3eaa469dcba_0_242"/>
          <p:cNvSpPr/>
          <p:nvPr/>
        </p:nvSpPr>
        <p:spPr>
          <a:xfrm>
            <a:off x="869899" y="5581497"/>
            <a:ext cx="127500" cy="1275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1" name="Google Shape;1401;g3eaa469dcba_0_242"/>
          <p:cNvSpPr txBox="1"/>
          <p:nvPr/>
        </p:nvSpPr>
        <p:spPr>
          <a:xfrm>
            <a:off x="1035100" y="5601000"/>
            <a:ext cx="760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수치 미반영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2" name="Google Shape;1402;g3eaa469dcba_0_242"/>
          <p:cNvSpPr txBox="1"/>
          <p:nvPr/>
        </p:nvSpPr>
        <p:spPr>
          <a:xfrm>
            <a:off x="869899" y="5765600"/>
            <a:ext cx="15564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피크 전력·사용 시간·모드 정보가 있어도 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반영하지 못함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3" name="Google Shape;1403;g3eaa469dcba_0_242"/>
          <p:cNvSpPr/>
          <p:nvPr/>
        </p:nvSpPr>
        <p:spPr>
          <a:xfrm>
            <a:off x="2607869" y="5486400"/>
            <a:ext cx="1771500" cy="596700"/>
          </a:xfrm>
          <a:prstGeom prst="roundRect">
            <a:avLst>
              <a:gd name="adj" fmla="val 21733"/>
            </a:avLst>
          </a:prstGeom>
          <a:solidFill>
            <a:srgbClr val="FFFFFF"/>
          </a:solidFill>
          <a:ln w="8475" cap="flat" cmpd="sng">
            <a:solidFill>
              <a:srgbClr val="FBCF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g3eaa469dcba_0_242"/>
          <p:cNvSpPr/>
          <p:nvPr/>
        </p:nvSpPr>
        <p:spPr>
          <a:xfrm>
            <a:off x="2715768" y="5581497"/>
            <a:ext cx="126900" cy="1269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g3eaa469dcba_0_242"/>
          <p:cNvSpPr/>
          <p:nvPr/>
        </p:nvSpPr>
        <p:spPr>
          <a:xfrm>
            <a:off x="2715768" y="5581497"/>
            <a:ext cx="127500" cy="1275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6" name="Google Shape;1406;g3eaa469dcba_0_242"/>
          <p:cNvSpPr txBox="1"/>
          <p:nvPr/>
        </p:nvSpPr>
        <p:spPr>
          <a:xfrm>
            <a:off x="2880983" y="5601000"/>
            <a:ext cx="9642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추적 불가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7" name="Google Shape;1407;g3eaa469dcba_0_242"/>
          <p:cNvSpPr txBox="1"/>
          <p:nvPr/>
        </p:nvSpPr>
        <p:spPr>
          <a:xfrm>
            <a:off x="2715775" y="5746700"/>
            <a:ext cx="18483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조치가 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어떤 원인</a:t>
            </a: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에서 나왔는지 </a:t>
            </a:r>
            <a:endParaRPr sz="900" i="0" u="none" strike="noStrike" cap="none">
              <a:solidFill>
                <a:srgbClr val="7F1D1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추적 어려움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8" name="Google Shape;1408;g3eaa469dcba_0_242"/>
          <p:cNvSpPr/>
          <p:nvPr/>
        </p:nvSpPr>
        <p:spPr>
          <a:xfrm>
            <a:off x="4453737" y="5486400"/>
            <a:ext cx="1771500" cy="596700"/>
          </a:xfrm>
          <a:prstGeom prst="roundRect">
            <a:avLst>
              <a:gd name="adj" fmla="val 21733"/>
            </a:avLst>
          </a:prstGeom>
          <a:solidFill>
            <a:srgbClr val="FFFFFF"/>
          </a:solidFill>
          <a:ln w="8475" cap="flat" cmpd="sng">
            <a:solidFill>
              <a:srgbClr val="FBCF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g3eaa469dcba_0_242"/>
          <p:cNvSpPr/>
          <p:nvPr/>
        </p:nvSpPr>
        <p:spPr>
          <a:xfrm>
            <a:off x="4561637" y="5581497"/>
            <a:ext cx="126900" cy="1269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g3eaa469dcba_0_242"/>
          <p:cNvSpPr/>
          <p:nvPr/>
        </p:nvSpPr>
        <p:spPr>
          <a:xfrm>
            <a:off x="4561637" y="5581497"/>
            <a:ext cx="127500" cy="1275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1" name="Google Shape;1411;g3eaa469dcba_0_242"/>
          <p:cNvSpPr txBox="1"/>
          <p:nvPr/>
        </p:nvSpPr>
        <p:spPr>
          <a:xfrm>
            <a:off x="4726222" y="5601000"/>
            <a:ext cx="8226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재현성 부족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2" name="Google Shape;1412;g3eaa469dcba_0_242"/>
          <p:cNvSpPr txBox="1"/>
          <p:nvPr/>
        </p:nvSpPr>
        <p:spPr>
          <a:xfrm>
            <a:off x="4561625" y="5765600"/>
            <a:ext cx="16296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900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같은</a:t>
            </a:r>
            <a:r>
              <a:rPr lang="en-US" sz="900" i="0" u="none" strike="noStrike" cap="none" dirty="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입력에도</a:t>
            </a:r>
            <a:r>
              <a:rPr lang="en-US" sz="900" i="0" u="none" strike="noStrike" cap="none" dirty="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예상</a:t>
            </a:r>
            <a:r>
              <a:rPr lang="en-US" sz="900" b="1" i="0" u="none" strike="noStrike" cap="none" dirty="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절감액이</a:t>
            </a:r>
            <a:r>
              <a:rPr lang="en-US" sz="900" b="1" dirty="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달라짐</a:t>
            </a:r>
            <a:r>
              <a:rPr lang="en-US" sz="900" i="0" u="none" strike="noStrike" cap="none" dirty="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→ </a:t>
            </a:r>
            <a:r>
              <a:rPr lang="en-US" sz="900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운영</a:t>
            </a:r>
            <a:r>
              <a:rPr lang="en-US" sz="900" i="0" u="none" strike="noStrike" cap="none" dirty="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i="0" u="none" strike="noStrike" cap="none" dirty="0" err="1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어려움</a:t>
            </a:r>
            <a:endParaRPr sz="90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13" name="Google Shape;1413;g3eaa469dcba_0_242" descr="gen-dedup-553e0018960db00146387b82dfcabf07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31203" y="1562405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g3eaa469dcba_0_242"/>
          <p:cNvSpPr txBox="1"/>
          <p:nvPr/>
        </p:nvSpPr>
        <p:spPr>
          <a:xfrm>
            <a:off x="6934200" y="1549600"/>
            <a:ext cx="20829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Neo4j KG 추론 체인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5" name="Google Shape;1415;g3eaa469dcba_0_242"/>
          <p:cNvSpPr/>
          <p:nvPr/>
        </p:nvSpPr>
        <p:spPr>
          <a:xfrm>
            <a:off x="6731203" y="1905000"/>
            <a:ext cx="4698900" cy="590700"/>
          </a:xfrm>
          <a:prstGeom prst="roundRect">
            <a:avLst>
              <a:gd name="adj" fmla="val 26632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g3eaa469dcba_0_242"/>
          <p:cNvSpPr/>
          <p:nvPr/>
        </p:nvSpPr>
        <p:spPr>
          <a:xfrm>
            <a:off x="6864096" y="2058009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E5E7E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7" name="Google Shape;1417;g3eaa469dcba_0_242" descr="gen-dedup-4f3c385fb0eda728d10cd39a356ccf4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934200" y="2128113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g3eaa469dcba_0_242"/>
          <p:cNvSpPr txBox="1"/>
          <p:nvPr/>
        </p:nvSpPr>
        <p:spPr>
          <a:xfrm>
            <a:off x="7232904" y="2000635"/>
            <a:ext cx="3727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NODE 01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9" name="Google Shape;1419;g3eaa469dcba_0_242"/>
          <p:cNvSpPr txBox="1"/>
          <p:nvPr/>
        </p:nvSpPr>
        <p:spPr>
          <a:xfrm>
            <a:off x="7232904" y="2107997"/>
            <a:ext cx="37278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Event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0" name="Google Shape;1420;g3eaa469dcba_0_242"/>
          <p:cNvSpPr txBox="1"/>
          <p:nvPr/>
        </p:nvSpPr>
        <p:spPr>
          <a:xfrm>
            <a:off x="7232904" y="2299483"/>
            <a:ext cx="37278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이상 이벤트 — 가전 피크·과용·이상 패턴 감지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1" name="Google Shape;1421;g3eaa469dcba_0_242"/>
          <p:cNvSpPr/>
          <p:nvPr/>
        </p:nvSpPr>
        <p:spPr>
          <a:xfrm>
            <a:off x="6731203" y="2799653"/>
            <a:ext cx="4698900" cy="590700"/>
          </a:xfrm>
          <a:prstGeom prst="roundRect">
            <a:avLst>
              <a:gd name="adj" fmla="val 26632"/>
            </a:avLst>
          </a:prstGeom>
          <a:solidFill>
            <a:srgbClr val="EFF6FF"/>
          </a:solidFill>
          <a:ln w="847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g3eaa469dcba_0_242"/>
          <p:cNvSpPr/>
          <p:nvPr/>
        </p:nvSpPr>
        <p:spPr>
          <a:xfrm>
            <a:off x="6864096" y="2952663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3" name="Google Shape;1423;g3eaa469dcba_0_242" descr="gen-dedup-a58b43d03db39a98591c2d6ab4f70aa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34200" y="3022767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g3eaa469dcba_0_242"/>
          <p:cNvSpPr txBox="1"/>
          <p:nvPr/>
        </p:nvSpPr>
        <p:spPr>
          <a:xfrm>
            <a:off x="7232904" y="2861271"/>
            <a:ext cx="3556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NODE 02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5" name="Google Shape;1425;g3eaa469dcba_0_242"/>
          <p:cNvSpPr txBox="1"/>
          <p:nvPr/>
        </p:nvSpPr>
        <p:spPr>
          <a:xfrm>
            <a:off x="7232904" y="3002650"/>
            <a:ext cx="3556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Appliance / Mode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6" name="Google Shape;1426;g3eaa469dcba_0_242"/>
          <p:cNvSpPr txBox="1"/>
          <p:nvPr/>
        </p:nvSpPr>
        <p:spPr>
          <a:xfrm>
            <a:off x="7232904" y="3216815"/>
            <a:ext cx="3556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가전 종류 · 운전 모드 (냉방·세탁·가열 등)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7" name="Google Shape;1427;g3eaa469dcba_0_242"/>
          <p:cNvSpPr/>
          <p:nvPr/>
        </p:nvSpPr>
        <p:spPr>
          <a:xfrm>
            <a:off x="6731203" y="3705646"/>
            <a:ext cx="4698900" cy="590700"/>
          </a:xfrm>
          <a:prstGeom prst="roundRect">
            <a:avLst>
              <a:gd name="adj" fmla="val 26632"/>
            </a:avLst>
          </a:prstGeom>
          <a:solidFill>
            <a:srgbClr val="FFFBEB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g3eaa469dcba_0_242"/>
          <p:cNvSpPr/>
          <p:nvPr/>
        </p:nvSpPr>
        <p:spPr>
          <a:xfrm>
            <a:off x="6864096" y="3858655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9" name="Google Shape;1429;g3eaa469dcba_0_242" descr="gen-dedup-4c51a0d07f8140fa33eac563809e1035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934200" y="392875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g3eaa469dcba_0_242"/>
          <p:cNvSpPr txBox="1"/>
          <p:nvPr/>
        </p:nvSpPr>
        <p:spPr>
          <a:xfrm>
            <a:off x="7232904" y="3801281"/>
            <a:ext cx="3645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NODE 03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1" name="Google Shape;1431;g3eaa469dcba_0_242"/>
          <p:cNvSpPr txBox="1"/>
          <p:nvPr/>
        </p:nvSpPr>
        <p:spPr>
          <a:xfrm>
            <a:off x="7232904" y="3909252"/>
            <a:ext cx="36453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AnomalyPattern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2" name="Google Shape;1432;g3eaa469dcba_0_242"/>
          <p:cNvSpPr txBox="1"/>
          <p:nvPr/>
        </p:nvSpPr>
        <p:spPr>
          <a:xfrm>
            <a:off x="7232904" y="4111468"/>
            <a:ext cx="36453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이상 패턴 — 피크 전력 1kW↑·연속 동작 12h↑ 등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3" name="Google Shape;1433;g3eaa469dcba_0_242"/>
          <p:cNvSpPr/>
          <p:nvPr/>
        </p:nvSpPr>
        <p:spPr>
          <a:xfrm>
            <a:off x="6731203" y="4622978"/>
            <a:ext cx="4698900" cy="590700"/>
          </a:xfrm>
          <a:prstGeom prst="roundRect">
            <a:avLst>
              <a:gd name="adj" fmla="val 26632"/>
            </a:avLst>
          </a:prstGeom>
          <a:solidFill>
            <a:srgbClr val="FEF2F2"/>
          </a:solidFill>
          <a:ln w="847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g3eaa469dcba_0_242"/>
          <p:cNvSpPr/>
          <p:nvPr/>
        </p:nvSpPr>
        <p:spPr>
          <a:xfrm>
            <a:off x="6864096" y="4775988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5" name="Google Shape;1435;g3eaa469dcba_0_242" descr="gen-dedup-4112ffd03bbb063a9614a036cb9f2a93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934200" y="4846092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g3eaa469dcba_0_242"/>
          <p:cNvSpPr txBox="1"/>
          <p:nvPr/>
        </p:nvSpPr>
        <p:spPr>
          <a:xfrm>
            <a:off x="7232904" y="4718613"/>
            <a:ext cx="3727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NODE 04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7" name="Google Shape;1437;g3eaa469dcba_0_242"/>
          <p:cNvSpPr txBox="1"/>
          <p:nvPr/>
        </p:nvSpPr>
        <p:spPr>
          <a:xfrm>
            <a:off x="7232904" y="4826584"/>
            <a:ext cx="37278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RootCause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8" name="Google Shape;1438;g3eaa469dcba_0_242"/>
          <p:cNvSpPr txBox="1"/>
          <p:nvPr/>
        </p:nvSpPr>
        <p:spPr>
          <a:xfrm>
            <a:off x="7232904" y="5028801"/>
            <a:ext cx="37278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근본 원인 — 필터 막힘·실외기 통풍 저하·과냉방 등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39" name="Google Shape;1439;g3eaa469dcba_0_242" descr="gen-dedup-0b16fa6c9b430601b4b117334a07dba5.png"/>
          <p:cNvPicPr preferRelativeResize="0"/>
          <p:nvPr/>
        </p:nvPicPr>
        <p:blipFill rotWithShape="1">
          <a:blip r:embed="rId18">
            <a:alphaModFix/>
          </a:blip>
          <a:srcRect r="-10"/>
          <a:stretch/>
        </p:blipFill>
        <p:spPr>
          <a:xfrm>
            <a:off x="6731203" y="5528971"/>
            <a:ext cx="4698797" cy="59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g3eaa469dcba_0_242"/>
          <p:cNvSpPr/>
          <p:nvPr/>
        </p:nvSpPr>
        <p:spPr>
          <a:xfrm>
            <a:off x="6870801" y="5688685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1" name="Google Shape;1441;g3eaa469dcba_0_242" descr="gen-dedup-87a828d048d6b5e71868bcc010b8fb12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940296" y="5758180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g3eaa469dcba_0_242"/>
          <p:cNvSpPr txBox="1"/>
          <p:nvPr/>
        </p:nvSpPr>
        <p:spPr>
          <a:xfrm>
            <a:off x="7239000" y="5631311"/>
            <a:ext cx="36705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NODE 05 · 최종 출력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3" name="Google Shape;1443;g3eaa469dcba_0_242"/>
          <p:cNvSpPr txBox="1"/>
          <p:nvPr/>
        </p:nvSpPr>
        <p:spPr>
          <a:xfrm>
            <a:off x="7239000" y="5738673"/>
            <a:ext cx="3670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Action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4" name="Google Shape;1444;g3eaa469dcba_0_242"/>
          <p:cNvSpPr txBox="1"/>
          <p:nvPr/>
        </p:nvSpPr>
        <p:spPr>
          <a:xfrm>
            <a:off x="7239000" y="5930159"/>
            <a:ext cx="3670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사용자가 바로 실행 가능한 구체 조치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45" name="Google Shape;1445;g3eaa469dcba_0_242" descr="gen-dedup-64dd157743a22005318eb5d3c20f772a.png"/>
          <p:cNvPicPr preferRelativeResize="0"/>
          <p:nvPr/>
        </p:nvPicPr>
        <p:blipFill rotWithShape="1">
          <a:blip r:embed="rId20">
            <a:alphaModFix/>
          </a:blip>
          <a:srcRect t="-40" b="-50"/>
          <a:stretch/>
        </p:blipFill>
        <p:spPr>
          <a:xfrm>
            <a:off x="9017203" y="2562639"/>
            <a:ext cx="126797" cy="13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g3eaa469dcba_0_242" descr="gen-dedup-64dd157743a22005318eb5d3c20f772a.png"/>
          <p:cNvPicPr preferRelativeResize="0"/>
          <p:nvPr/>
        </p:nvPicPr>
        <p:blipFill rotWithShape="1">
          <a:blip r:embed="rId20">
            <a:alphaModFix/>
          </a:blip>
          <a:srcRect t="-40" b="-50"/>
          <a:stretch/>
        </p:blipFill>
        <p:spPr>
          <a:xfrm>
            <a:off x="9017203" y="3457292"/>
            <a:ext cx="126797" cy="13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g3eaa469dcba_0_242" descr="gen-dedup-64dd157743a22005318eb5d3c20f772a.png"/>
          <p:cNvPicPr preferRelativeResize="0"/>
          <p:nvPr/>
        </p:nvPicPr>
        <p:blipFill rotWithShape="1">
          <a:blip r:embed="rId20">
            <a:alphaModFix/>
          </a:blip>
          <a:srcRect t="-40" b="-50"/>
          <a:stretch/>
        </p:blipFill>
        <p:spPr>
          <a:xfrm>
            <a:off x="9017203" y="4374624"/>
            <a:ext cx="126797" cy="13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g3eaa469dcba_0_242" descr="gen-dedup-64dd157743a22005318eb5d3c20f772a.png"/>
          <p:cNvPicPr preferRelativeResize="0"/>
          <p:nvPr/>
        </p:nvPicPr>
        <p:blipFill rotWithShape="1">
          <a:blip r:embed="rId20">
            <a:alphaModFix/>
          </a:blip>
          <a:srcRect t="-40" b="-50"/>
          <a:stretch/>
        </p:blipFill>
        <p:spPr>
          <a:xfrm>
            <a:off x="9017203" y="5291955"/>
            <a:ext cx="126797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g3eaa469dcba_0_242"/>
          <p:cNvSpPr txBox="1"/>
          <p:nvPr/>
        </p:nvSpPr>
        <p:spPr>
          <a:xfrm>
            <a:off x="3215180" y="422150"/>
            <a:ext cx="431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한계 및 지식그래프 도입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g3eaa469dcba_0_445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g3eaa469dcba_0_445" descr="gen-dedup-26471d32594c94059de0a6c81372138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g3eaa469dcba_0_445" descr="gen-dedup-0b1b65155cc53ceaa78386428892803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g3eaa469dcba_0_445" descr="gen-dedup-c049c86e4c62c91477190a49abd3a45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39400"/>
            <a:ext cx="5378874" cy="28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g3eaa469dcba_0_445" descr="gen-dedup-8589ef207737a41e4655e68b725aa365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3625" y="1439400"/>
            <a:ext cx="5268001" cy="28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g3eaa469dcba_0_445" descr="gen-dedup-e1ba5ddec62c6dec7baea5c91434d65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56390" y="4510823"/>
            <a:ext cx="5268002" cy="1944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g3eaa469dcba_0_445"/>
          <p:cNvSpPr txBox="1"/>
          <p:nvPr/>
        </p:nvSpPr>
        <p:spPr>
          <a:xfrm>
            <a:off x="1193597" y="852831"/>
            <a:ext cx="8890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동일 입력 </a:t>
            </a: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100건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· 4축 LLM-as-judge — </a:t>
            </a:r>
            <a:r>
              <a:rPr lang="en-US" sz="13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KG + LLM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이 모든 시드 비율 구간에서 최고 점수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2" name="Google Shape;1462;g3eaa469dcba_0_445"/>
          <p:cNvSpPr/>
          <p:nvPr/>
        </p:nvSpPr>
        <p:spPr>
          <a:xfrm>
            <a:off x="762000" y="1607465"/>
            <a:ext cx="888900" cy="120900"/>
          </a:xfrm>
          <a:prstGeom prst="roundRect">
            <a:avLst>
              <a:gd name="adj" fmla="val 265816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g3eaa469dcba_0_445"/>
          <p:cNvSpPr txBox="1"/>
          <p:nvPr/>
        </p:nvSpPr>
        <p:spPr>
          <a:xfrm>
            <a:off x="750094" y="1617319"/>
            <a:ext cx="962100" cy="101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GRAPH 1 · MAIN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4" name="Google Shape;1464;g3eaa469dcba_0_445"/>
          <p:cNvSpPr txBox="1"/>
          <p:nvPr/>
        </p:nvSpPr>
        <p:spPr>
          <a:xfrm>
            <a:off x="1684598" y="1585515"/>
            <a:ext cx="23073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4축 평가 점수 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5" name="Google Shape;1465;g3eaa469dcba_0_445"/>
          <p:cNvSpPr txBox="1"/>
          <p:nvPr/>
        </p:nvSpPr>
        <p:spPr>
          <a:xfrm>
            <a:off x="3679810" y="1607719"/>
            <a:ext cx="20613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1000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N=20 배치 · 합성 100건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6" name="Google Shape;1466;g3eaa469dcba_0_445"/>
          <p:cNvSpPr/>
          <p:nvPr/>
        </p:nvSpPr>
        <p:spPr>
          <a:xfrm>
            <a:off x="6534029" y="1596615"/>
            <a:ext cx="829500" cy="120900"/>
          </a:xfrm>
          <a:prstGeom prst="roundRect">
            <a:avLst>
              <a:gd name="adj" fmla="val 265816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g3eaa469dcba_0_445"/>
          <p:cNvSpPr txBox="1"/>
          <p:nvPr/>
        </p:nvSpPr>
        <p:spPr>
          <a:xfrm>
            <a:off x="6574275" y="1607719"/>
            <a:ext cx="962100" cy="120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GRAPH 2 · SUB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8" name="Google Shape;1468;g3eaa469dcba_0_445"/>
          <p:cNvSpPr txBox="1"/>
          <p:nvPr/>
        </p:nvSpPr>
        <p:spPr>
          <a:xfrm>
            <a:off x="7444679" y="1602790"/>
            <a:ext cx="25404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시드 매칭 비율별 종합 점수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69" name="Google Shape;1469;g3eaa469dcba_0_445" descr="gen-dedup-6983523aa78c8620c8ff7c1001ad8043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800" y="4510825"/>
            <a:ext cx="5378875" cy="19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g3eaa469dcba_0_445"/>
          <p:cNvSpPr txBox="1"/>
          <p:nvPr/>
        </p:nvSpPr>
        <p:spPr>
          <a:xfrm>
            <a:off x="1104785" y="4702955"/>
            <a:ext cx="2027400" cy="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4축 평가 지표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1" name="Google Shape;1471;g3eaa469dcba_0_445"/>
          <p:cNvSpPr/>
          <p:nvPr/>
        </p:nvSpPr>
        <p:spPr>
          <a:xfrm>
            <a:off x="915375" y="4933650"/>
            <a:ext cx="4197300" cy="310200"/>
          </a:xfrm>
          <a:prstGeom prst="roundRect">
            <a:avLst>
              <a:gd name="adj" fmla="val 3307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g3eaa469dcba_0_445"/>
          <p:cNvSpPr/>
          <p:nvPr/>
        </p:nvSpPr>
        <p:spPr>
          <a:xfrm>
            <a:off x="915375" y="4933651"/>
            <a:ext cx="28500" cy="310200"/>
          </a:xfrm>
          <a:prstGeom prst="roundRect">
            <a:avLst>
              <a:gd name="adj" fmla="val 656105"/>
            </a:avLst>
          </a:prstGeom>
          <a:solidFill>
            <a:srgbClr val="10B981"/>
          </a:solidFill>
          <a:ln w="8475" cap="flat" cmpd="sng">
            <a:solidFill>
              <a:srgbClr val="10B981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g3eaa469dcba_0_445"/>
          <p:cNvSpPr txBox="1"/>
          <p:nvPr/>
        </p:nvSpPr>
        <p:spPr>
          <a:xfrm>
            <a:off x="1063958" y="4991650"/>
            <a:ext cx="3927000" cy="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근거성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4" name="Google Shape;1474;g3eaa469dcba_0_445"/>
          <p:cNvSpPr txBox="1"/>
          <p:nvPr/>
        </p:nvSpPr>
        <p:spPr>
          <a:xfrm>
            <a:off x="1063958" y="5138005"/>
            <a:ext cx="3927000" cy="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입력 수치와 모드를 추천 근거에 반영했는가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5" name="Google Shape;1475;g3eaa469dcba_0_445"/>
          <p:cNvSpPr/>
          <p:nvPr/>
        </p:nvSpPr>
        <p:spPr>
          <a:xfrm>
            <a:off x="915375" y="5293253"/>
            <a:ext cx="4197300" cy="310200"/>
          </a:xfrm>
          <a:prstGeom prst="roundRect">
            <a:avLst>
              <a:gd name="adj" fmla="val 3307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g3eaa469dcba_0_445"/>
          <p:cNvSpPr/>
          <p:nvPr/>
        </p:nvSpPr>
        <p:spPr>
          <a:xfrm>
            <a:off x="915375" y="5293252"/>
            <a:ext cx="28500" cy="310200"/>
          </a:xfrm>
          <a:prstGeom prst="roundRect">
            <a:avLst>
              <a:gd name="adj" fmla="val 656105"/>
            </a:avLst>
          </a:prstGeom>
          <a:solidFill>
            <a:srgbClr val="10B981"/>
          </a:solidFill>
          <a:ln w="8475" cap="flat" cmpd="sng">
            <a:solidFill>
              <a:srgbClr val="10B981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g3eaa469dcba_0_445"/>
          <p:cNvSpPr txBox="1"/>
          <p:nvPr/>
        </p:nvSpPr>
        <p:spPr>
          <a:xfrm>
            <a:off x="1063958" y="5350748"/>
            <a:ext cx="3927000" cy="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구체성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8" name="Google Shape;1478;g3eaa469dcba_0_445"/>
          <p:cNvSpPr txBox="1"/>
          <p:nvPr/>
        </p:nvSpPr>
        <p:spPr>
          <a:xfrm>
            <a:off x="1063958" y="5497103"/>
            <a:ext cx="3927000" cy="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사용자가 바로 실행할 수 있는 조치인가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9" name="Google Shape;1479;g3eaa469dcba_0_445"/>
          <p:cNvSpPr/>
          <p:nvPr/>
        </p:nvSpPr>
        <p:spPr>
          <a:xfrm>
            <a:off x="915375" y="5652351"/>
            <a:ext cx="4197300" cy="310200"/>
          </a:xfrm>
          <a:prstGeom prst="roundRect">
            <a:avLst>
              <a:gd name="adj" fmla="val 3307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g3eaa469dcba_0_445"/>
          <p:cNvSpPr/>
          <p:nvPr/>
        </p:nvSpPr>
        <p:spPr>
          <a:xfrm>
            <a:off x="915375" y="5652349"/>
            <a:ext cx="28500" cy="310200"/>
          </a:xfrm>
          <a:prstGeom prst="roundRect">
            <a:avLst>
              <a:gd name="adj" fmla="val 656105"/>
            </a:avLst>
          </a:prstGeom>
          <a:solidFill>
            <a:srgbClr val="E63946"/>
          </a:solidFill>
          <a:ln w="8475" cap="flat" cmpd="sng">
            <a:solidFill>
              <a:srgbClr val="E6394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g3eaa469dcba_0_445"/>
          <p:cNvSpPr txBox="1"/>
          <p:nvPr/>
        </p:nvSpPr>
        <p:spPr>
          <a:xfrm>
            <a:off x="1078466" y="5710343"/>
            <a:ext cx="497100" cy="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환각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2" name="Google Shape;1482;g3eaa469dcba_0_445"/>
          <p:cNvSpPr txBox="1"/>
          <p:nvPr/>
        </p:nvSpPr>
        <p:spPr>
          <a:xfrm>
            <a:off x="1524739" y="5717914"/>
            <a:ext cx="12537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↓ 낮을수록 좋음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3" name="Google Shape;1483;g3eaa469dcba_0_445"/>
          <p:cNvSpPr txBox="1"/>
          <p:nvPr/>
        </p:nvSpPr>
        <p:spPr>
          <a:xfrm>
            <a:off x="1063958" y="5856201"/>
            <a:ext cx="3927000" cy="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입력에 없는 가전·수치·모드를 만들어냈는가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4" name="Google Shape;1484;g3eaa469dcba_0_445"/>
          <p:cNvSpPr/>
          <p:nvPr/>
        </p:nvSpPr>
        <p:spPr>
          <a:xfrm>
            <a:off x="915375" y="6011449"/>
            <a:ext cx="4197300" cy="310200"/>
          </a:xfrm>
          <a:prstGeom prst="roundRect">
            <a:avLst>
              <a:gd name="adj" fmla="val 3307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g3eaa469dcba_0_445"/>
          <p:cNvSpPr/>
          <p:nvPr/>
        </p:nvSpPr>
        <p:spPr>
          <a:xfrm>
            <a:off x="915375" y="6011446"/>
            <a:ext cx="28500" cy="310200"/>
          </a:xfrm>
          <a:prstGeom prst="roundRect">
            <a:avLst>
              <a:gd name="adj" fmla="val 656105"/>
            </a:avLst>
          </a:prstGeom>
          <a:solidFill>
            <a:srgbClr val="10B981"/>
          </a:solidFill>
          <a:ln w="8475" cap="flat" cmpd="sng">
            <a:solidFill>
              <a:srgbClr val="10B981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g3eaa469dcba_0_445"/>
          <p:cNvSpPr txBox="1"/>
          <p:nvPr/>
        </p:nvSpPr>
        <p:spPr>
          <a:xfrm>
            <a:off x="1063958" y="6069449"/>
            <a:ext cx="3927000" cy="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도메인 정확도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7" name="Google Shape;1487;g3eaa469dcba_0_445"/>
          <p:cNvSpPr txBox="1"/>
          <p:nvPr/>
        </p:nvSpPr>
        <p:spPr>
          <a:xfrm>
            <a:off x="1063958" y="6215804"/>
            <a:ext cx="3927000" cy="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9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에너지 절감 관점에서 타당한 추천인가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8" name="Google Shape;1488;g3eaa469dcba_0_445"/>
          <p:cNvSpPr txBox="1"/>
          <p:nvPr/>
        </p:nvSpPr>
        <p:spPr>
          <a:xfrm>
            <a:off x="6900577" y="4701953"/>
            <a:ext cx="1220700" cy="1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2C22"/>
              </a:buClr>
              <a:buSzPts val="1000"/>
              <a:buFont typeface="Arial"/>
              <a:buNone/>
            </a:pPr>
            <a:r>
              <a:rPr lang="en-US" sz="1300" b="1" i="0" u="none" strike="noStrike" cap="none">
                <a:solidFill>
                  <a:srgbClr val="022C22"/>
                </a:solidFill>
                <a:latin typeface="Noto Sans"/>
                <a:ea typeface="Noto Sans"/>
                <a:cs typeface="Noto Sans"/>
                <a:sym typeface="Noto Sans"/>
              </a:rPr>
              <a:t>최종 정량 결과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9" name="Google Shape;1489;g3eaa469dcba_0_445"/>
          <p:cNvSpPr/>
          <p:nvPr/>
        </p:nvSpPr>
        <p:spPr>
          <a:xfrm>
            <a:off x="6847011" y="4907425"/>
            <a:ext cx="4197300" cy="235500"/>
          </a:xfrm>
          <a:prstGeom prst="roundRect">
            <a:avLst>
              <a:gd name="adj" fmla="val 50769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g3eaa469dcba_0_445"/>
          <p:cNvSpPr txBox="1"/>
          <p:nvPr/>
        </p:nvSpPr>
        <p:spPr>
          <a:xfrm>
            <a:off x="6977967" y="4987996"/>
            <a:ext cx="3147900" cy="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Prompt only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1" name="Google Shape;1491;g3eaa469dcba_0_445"/>
          <p:cNvSpPr txBox="1"/>
          <p:nvPr/>
        </p:nvSpPr>
        <p:spPr>
          <a:xfrm>
            <a:off x="10125962" y="4964958"/>
            <a:ext cx="7875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JetBrains Mono"/>
              <a:buNone/>
            </a:pPr>
            <a:r>
              <a:rPr lang="en-US" sz="1500" b="1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64.3%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2" name="Google Shape;1492;g3eaa469dcba_0_445"/>
          <p:cNvSpPr/>
          <p:nvPr/>
        </p:nvSpPr>
        <p:spPr>
          <a:xfrm>
            <a:off x="6847011" y="5209854"/>
            <a:ext cx="4197300" cy="235500"/>
          </a:xfrm>
          <a:prstGeom prst="roundRect">
            <a:avLst>
              <a:gd name="adj" fmla="val 50769"/>
            </a:avLst>
          </a:prstGeom>
          <a:solidFill>
            <a:srgbClr val="FFFFFF"/>
          </a:solidFill>
          <a:ln w="847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g3eaa469dcba_0_445"/>
          <p:cNvSpPr txBox="1"/>
          <p:nvPr/>
        </p:nvSpPr>
        <p:spPr>
          <a:xfrm>
            <a:off x="6977967" y="5283856"/>
            <a:ext cx="3147900" cy="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Prompt + LLM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4" name="Google Shape;1494;g3eaa469dcba_0_445"/>
          <p:cNvSpPr txBox="1"/>
          <p:nvPr/>
        </p:nvSpPr>
        <p:spPr>
          <a:xfrm>
            <a:off x="10125962" y="5267387"/>
            <a:ext cx="7875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JetBrains Mono"/>
              <a:buNone/>
            </a:pPr>
            <a:r>
              <a:rPr lang="en-US" sz="1500" b="1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79.3%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5" name="Google Shape;1495;g3eaa469dcba_0_445"/>
          <p:cNvSpPr/>
          <p:nvPr/>
        </p:nvSpPr>
        <p:spPr>
          <a:xfrm>
            <a:off x="6847004" y="5503082"/>
            <a:ext cx="4197300" cy="235500"/>
          </a:xfrm>
          <a:prstGeom prst="roundRect">
            <a:avLst>
              <a:gd name="adj" fmla="val 46852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16200000" algn="bl" rotWithShape="0">
              <a:srgbClr val="10B981">
                <a:alpha val="30199"/>
              </a:srgbClr>
            </a:outerShdw>
          </a:effectLst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g3eaa469dcba_0_445"/>
          <p:cNvSpPr txBox="1"/>
          <p:nvPr/>
        </p:nvSpPr>
        <p:spPr>
          <a:xfrm>
            <a:off x="6969573" y="5572754"/>
            <a:ext cx="2991000" cy="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KG + LLM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7" name="Google Shape;1497;g3eaa469dcba_0_445"/>
          <p:cNvSpPr txBox="1"/>
          <p:nvPr/>
        </p:nvSpPr>
        <p:spPr>
          <a:xfrm>
            <a:off x="9959748" y="5548054"/>
            <a:ext cx="9621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9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94.0%</a:t>
            </a:r>
            <a:endParaRPr sz="1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8" name="Google Shape;1498;g3eaa469dcba_0_445"/>
          <p:cNvSpPr/>
          <p:nvPr/>
        </p:nvSpPr>
        <p:spPr>
          <a:xfrm>
            <a:off x="6847004" y="5848925"/>
            <a:ext cx="2055300" cy="457200"/>
          </a:xfrm>
          <a:prstGeom prst="roundRect">
            <a:avLst>
              <a:gd name="adj" fmla="val 32387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g3eaa469dcba_0_445"/>
          <p:cNvSpPr txBox="1"/>
          <p:nvPr/>
        </p:nvSpPr>
        <p:spPr>
          <a:xfrm>
            <a:off x="6995597" y="5934669"/>
            <a:ext cx="1757700" cy="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vs B (Prompt+LLM)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0" name="Google Shape;1500;g3eaa469dcba_0_445"/>
          <p:cNvSpPr txBox="1"/>
          <p:nvPr/>
        </p:nvSpPr>
        <p:spPr>
          <a:xfrm>
            <a:off x="7465697" y="6121959"/>
            <a:ext cx="105000" cy="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g3eaa469dcba_0_445"/>
          <p:cNvSpPr txBox="1"/>
          <p:nvPr/>
        </p:nvSpPr>
        <p:spPr>
          <a:xfrm>
            <a:off x="7599172" y="6062371"/>
            <a:ext cx="534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18.7</a:t>
            </a:r>
            <a:endParaRPr sz="1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2" name="Google Shape;1502;g3eaa469dcba_0_445"/>
          <p:cNvSpPr txBox="1"/>
          <p:nvPr/>
        </p:nvSpPr>
        <p:spPr>
          <a:xfrm>
            <a:off x="8161613" y="6109219"/>
            <a:ext cx="1227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g3eaa469dcba_0_445"/>
          <p:cNvSpPr/>
          <p:nvPr/>
        </p:nvSpPr>
        <p:spPr>
          <a:xfrm>
            <a:off x="8989332" y="5848925"/>
            <a:ext cx="2055300" cy="457200"/>
          </a:xfrm>
          <a:prstGeom prst="roundRect">
            <a:avLst>
              <a:gd name="adj" fmla="val 32387"/>
            </a:avLst>
          </a:prstGeom>
          <a:solidFill>
            <a:srgbClr val="FFFFFF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g3eaa469dcba_0_445"/>
          <p:cNvSpPr txBox="1"/>
          <p:nvPr/>
        </p:nvSpPr>
        <p:spPr>
          <a:xfrm>
            <a:off x="9137912" y="5934669"/>
            <a:ext cx="1757700" cy="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vs A (Prompt only)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5" name="Google Shape;1505;g3eaa469dcba_0_445"/>
          <p:cNvSpPr txBox="1"/>
          <p:nvPr/>
        </p:nvSpPr>
        <p:spPr>
          <a:xfrm>
            <a:off x="9608013" y="6121959"/>
            <a:ext cx="105000" cy="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g3eaa469dcba_0_445"/>
          <p:cNvSpPr txBox="1"/>
          <p:nvPr/>
        </p:nvSpPr>
        <p:spPr>
          <a:xfrm>
            <a:off x="9741487" y="6062371"/>
            <a:ext cx="534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46.1</a:t>
            </a:r>
            <a:endParaRPr sz="1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7" name="Google Shape;1507;g3eaa469dcba_0_445"/>
          <p:cNvSpPr txBox="1"/>
          <p:nvPr/>
        </p:nvSpPr>
        <p:spPr>
          <a:xfrm>
            <a:off x="10303929" y="6109219"/>
            <a:ext cx="1227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8" name="Google Shape;1508;g3eaa469dcba_0_445" descr="gen-dedup-eb80e469ab73f03569d0a3eb21674651.jpg"/>
          <p:cNvPicPr preferRelativeResize="0"/>
          <p:nvPr/>
        </p:nvPicPr>
        <p:blipFill rotWithShape="1">
          <a:blip r:embed="rId10">
            <a:alphaModFix/>
          </a:blip>
          <a:srcRect l="-700" t="5908" r="700" b="2214"/>
          <a:stretch/>
        </p:blipFill>
        <p:spPr>
          <a:xfrm>
            <a:off x="711625" y="1894944"/>
            <a:ext cx="5004628" cy="229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g3eaa469dcba_0_445" descr="gen-dedup-522553dfb06d02e6816d49115c9202d7.jpg"/>
          <p:cNvPicPr preferRelativeResize="0"/>
          <p:nvPr/>
        </p:nvPicPr>
        <p:blipFill rotWithShape="1">
          <a:blip r:embed="rId11">
            <a:alphaModFix/>
          </a:blip>
          <a:srcRect t="7104" b="-448"/>
          <a:stretch/>
        </p:blipFill>
        <p:spPr>
          <a:xfrm>
            <a:off x="6427429" y="1894944"/>
            <a:ext cx="5119949" cy="23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0" name="Google Shape;1510;g3eaa469dcba_0_445" descr="gen-dedup-5cf9e04f80d6994c01cc0e0cccfd729a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98873" y="4683454"/>
            <a:ext cx="139599" cy="13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g3eaa469dcba_0_445" descr="gen-dedup-08be0f7f1edac8043beb2ec0e9d95f2c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481" y="468961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g3eaa469dcba_0_445"/>
          <p:cNvSpPr txBox="1"/>
          <p:nvPr/>
        </p:nvSpPr>
        <p:spPr>
          <a:xfrm>
            <a:off x="1193597" y="495600"/>
            <a:ext cx="2185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추천시스템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3" name="Google Shape;1513;g3eaa469dcba_0_445"/>
          <p:cNvSpPr txBox="1"/>
          <p:nvPr/>
        </p:nvSpPr>
        <p:spPr>
          <a:xfrm>
            <a:off x="3378464" y="422150"/>
            <a:ext cx="431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지식그래프 실험 결과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9" name="Google Shape;1519;g3eaa469dcba_0_524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g3eaa469dcba_0_524" descr="gen-dedup-3ea1fb9cdc78527b6b65b36c29ef24b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g3eaa469dcba_0_524" descr="gen-dedup-43d9a98793d654e4648a41a853cbf72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g3eaa469dcba_0_524" descr="gen-dedup-85920c9bd33d9db550fdc346639d712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39400"/>
            <a:ext cx="4698802" cy="496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g3eaa469dcba_0_524" descr="gen-dedup-7682913b6e210a897394e83a289f2aca.png"/>
          <p:cNvPicPr preferRelativeResize="0"/>
          <p:nvPr/>
        </p:nvPicPr>
        <p:blipFill rotWithShape="1">
          <a:blip r:embed="rId7">
            <a:alphaModFix/>
          </a:blip>
          <a:srcRect r="-10"/>
          <a:stretch/>
        </p:blipFill>
        <p:spPr>
          <a:xfrm>
            <a:off x="5397398" y="1439400"/>
            <a:ext cx="6222802" cy="163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g3eaa469dcba_0_524" descr="gen-dedup-bbc594e2d0ee6014735b1fccd8a992e6.png"/>
          <p:cNvPicPr preferRelativeResize="0"/>
          <p:nvPr/>
        </p:nvPicPr>
        <p:blipFill rotWithShape="1">
          <a:blip r:embed="rId8">
            <a:alphaModFix/>
          </a:blip>
          <a:srcRect t="-10"/>
          <a:stretch/>
        </p:blipFill>
        <p:spPr>
          <a:xfrm>
            <a:off x="5397399" y="3162605"/>
            <a:ext cx="6222797" cy="177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g3eaa469dcba_0_524" descr="gen-dedup-ceb2e3d87c506823dba1db91dba5bf00.png"/>
          <p:cNvPicPr preferRelativeResize="0"/>
          <p:nvPr/>
        </p:nvPicPr>
        <p:blipFill rotWithShape="1">
          <a:blip r:embed="rId9">
            <a:alphaModFix/>
          </a:blip>
          <a:srcRect l="-10"/>
          <a:stretch/>
        </p:blipFill>
        <p:spPr>
          <a:xfrm>
            <a:off x="5397401" y="5059234"/>
            <a:ext cx="6222799" cy="1342892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g3eaa469dcba_0_524"/>
          <p:cNvSpPr/>
          <p:nvPr/>
        </p:nvSpPr>
        <p:spPr>
          <a:xfrm>
            <a:off x="762000" y="1905000"/>
            <a:ext cx="4317900" cy="685800"/>
          </a:xfrm>
          <a:prstGeom prst="roundRect">
            <a:avLst>
              <a:gd name="adj" fmla="val 19753"/>
            </a:avLst>
          </a:prstGeom>
          <a:solidFill>
            <a:srgbClr val="F3F4F6"/>
          </a:solidFill>
          <a:ln w="169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g3eaa469dcba_0_524"/>
          <p:cNvSpPr/>
          <p:nvPr/>
        </p:nvSpPr>
        <p:spPr>
          <a:xfrm>
            <a:off x="762000" y="2946197"/>
            <a:ext cx="4317900" cy="685800"/>
          </a:xfrm>
          <a:prstGeom prst="roundRect">
            <a:avLst>
              <a:gd name="adj" fmla="val 19753"/>
            </a:avLst>
          </a:prstGeom>
          <a:solidFill>
            <a:srgbClr val="EFF6FF"/>
          </a:solidFill>
          <a:ln w="169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g3eaa469dcba_0_524"/>
          <p:cNvSpPr/>
          <p:nvPr/>
        </p:nvSpPr>
        <p:spPr>
          <a:xfrm>
            <a:off x="762000" y="3988003"/>
            <a:ext cx="4317900" cy="685800"/>
          </a:xfrm>
          <a:prstGeom prst="roundRect">
            <a:avLst>
              <a:gd name="adj" fmla="val 19753"/>
            </a:avLst>
          </a:prstGeom>
          <a:solidFill>
            <a:srgbClr val="F0FDF4"/>
          </a:solidFill>
          <a:ln w="169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g3eaa469dcba_0_524"/>
          <p:cNvSpPr/>
          <p:nvPr/>
        </p:nvSpPr>
        <p:spPr>
          <a:xfrm>
            <a:off x="762000" y="5029200"/>
            <a:ext cx="4317900" cy="685800"/>
          </a:xfrm>
          <a:prstGeom prst="roundRect">
            <a:avLst>
              <a:gd name="adj" fmla="val 19753"/>
            </a:avLst>
          </a:prstGeom>
          <a:solidFill>
            <a:srgbClr val="FFFBEB"/>
          </a:solidFill>
          <a:ln w="169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0" name="Google Shape;1530;g3eaa469dcba_0_524" descr="gen-dedup-8750e48cddae3bcf950b276c1f75a964.png"/>
          <p:cNvPicPr preferRelativeResize="0"/>
          <p:nvPr/>
        </p:nvPicPr>
        <p:blipFill rotWithShape="1">
          <a:blip r:embed="rId10">
            <a:alphaModFix/>
          </a:blip>
          <a:srcRect l="-403" r="-413"/>
          <a:stretch/>
        </p:blipFill>
        <p:spPr>
          <a:xfrm>
            <a:off x="5400269" y="1455100"/>
            <a:ext cx="36755" cy="1580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g3eaa469dcba_0_524"/>
          <p:cNvSpPr txBox="1"/>
          <p:nvPr/>
        </p:nvSpPr>
        <p:spPr>
          <a:xfrm>
            <a:off x="1193597" y="852831"/>
            <a:ext cx="88905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4 컴포넌트 구성 — </a:t>
            </a: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Signal Layer 1</a:t>
            </a:r>
            <a:r>
              <a:rPr lang="en-US" sz="12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+ </a:t>
            </a:r>
            <a:r>
              <a:rPr lang="en-US" sz="12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LLM Agent 3</a:t>
            </a:r>
            <a:r>
              <a:rPr lang="en-US" sz="12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· LangGraph 단방향 파이프라인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32" name="Google Shape;1532;g3eaa469dcba_0_524" descr="gen-dedup-ae51d3e5b58bbc5b2e710b3fe243a2bc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1562405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g3eaa469dcba_0_524"/>
          <p:cNvSpPr txBox="1"/>
          <p:nvPr/>
        </p:nvSpPr>
        <p:spPr>
          <a:xfrm>
            <a:off x="965003" y="1549600"/>
            <a:ext cx="2381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단방향 파이프라인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4" name="Google Shape;1534;g3eaa469dcba_0_524"/>
          <p:cNvSpPr/>
          <p:nvPr/>
        </p:nvSpPr>
        <p:spPr>
          <a:xfrm>
            <a:off x="876605" y="2046427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6B7280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5" name="Google Shape;1535;g3eaa469dcba_0_524" descr="gen-dedup-4c51a0d07f8140fa33eac563809e1035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6099" y="2116531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g3eaa469dcba_0_524"/>
          <p:cNvSpPr txBox="1"/>
          <p:nvPr/>
        </p:nvSpPr>
        <p:spPr>
          <a:xfrm>
            <a:off x="1232001" y="2015947"/>
            <a:ext cx="666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SIGNAL LAYER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7" name="Google Shape;1537;g3eaa469dcba_0_524"/>
          <p:cNvSpPr/>
          <p:nvPr/>
        </p:nvSpPr>
        <p:spPr>
          <a:xfrm>
            <a:off x="1919025" y="2006800"/>
            <a:ext cx="616500" cy="101700"/>
          </a:xfrm>
          <a:prstGeom prst="roundRect">
            <a:avLst>
              <a:gd name="adj" fmla="val 299401"/>
            </a:avLst>
          </a:prstGeom>
          <a:solidFill>
            <a:srgbClr val="FFFFFF"/>
          </a:solidFill>
          <a:ln w="847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g3eaa469dcba_0_524"/>
          <p:cNvSpPr txBox="1"/>
          <p:nvPr/>
        </p:nvSpPr>
        <p:spPr>
          <a:xfrm>
            <a:off x="1919025" y="2006800"/>
            <a:ext cx="616500" cy="101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결정적 코드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9" name="Google Shape;1539;g3eaa469dcba_0_524"/>
          <p:cNvSpPr txBox="1"/>
          <p:nvPr/>
        </p:nvSpPr>
        <p:spPr>
          <a:xfrm>
            <a:off x="1232001" y="2120799"/>
            <a:ext cx="37338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Signal Layer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0" name="Google Shape;1540;g3eaa469dcba_0_524"/>
          <p:cNvSpPr txBox="1"/>
          <p:nvPr/>
        </p:nvSpPr>
        <p:spPr>
          <a:xfrm>
            <a:off x="1232001" y="2300278"/>
            <a:ext cx="37338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NILM · 상태모니터링 · 단기/장기 메모리 비교 → </a:t>
            </a:r>
            <a:r>
              <a:rPr lang="en-US" sz="8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 이벤트·진단 신호</a:t>
            </a:r>
            <a:r>
              <a:rPr lang="en-US" sz="800" i="0" u="none" strike="noStrike" cap="none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 생성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1" name="Google Shape;1541;g3eaa469dcba_0_524"/>
          <p:cNvSpPr txBox="1"/>
          <p:nvPr/>
        </p:nvSpPr>
        <p:spPr>
          <a:xfrm>
            <a:off x="2945342" y="2674044"/>
            <a:ext cx="8931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JetBrains Mon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state event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42" name="Google Shape;1542;g3eaa469dcba_0_524" descr="gen-dedup-71d70d6fc9e8fee744bf8b3f07d35d59.png"/>
          <p:cNvPicPr preferRelativeResize="0"/>
          <p:nvPr/>
        </p:nvPicPr>
        <p:blipFill rotWithShape="1">
          <a:blip r:embed="rId13">
            <a:alphaModFix/>
          </a:blip>
          <a:srcRect l="-322" r="-322"/>
          <a:stretch/>
        </p:blipFill>
        <p:spPr>
          <a:xfrm>
            <a:off x="2914497" y="2590800"/>
            <a:ext cx="12801" cy="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g3eaa469dcba_0_524" descr="gen-dedup-9eeb502c291a058e4ca7d13076f18f01.png"/>
          <p:cNvPicPr preferRelativeResize="0"/>
          <p:nvPr/>
        </p:nvPicPr>
        <p:blipFill rotWithShape="1">
          <a:blip r:embed="rId14">
            <a:alphaModFix/>
          </a:blip>
          <a:srcRect l="-60" r="-50"/>
          <a:stretch/>
        </p:blipFill>
        <p:spPr>
          <a:xfrm>
            <a:off x="2876703" y="2781605"/>
            <a:ext cx="89001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g3eaa469dcba_0_524"/>
          <p:cNvSpPr/>
          <p:nvPr/>
        </p:nvSpPr>
        <p:spPr>
          <a:xfrm>
            <a:off x="876605" y="3081528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5" name="Google Shape;1545;g3eaa469dcba_0_524" descr="gen-dedup-4112ffd03bbb063a9614a036cb9f2a93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46099" y="3151632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g3eaa469dcba_0_524"/>
          <p:cNvSpPr txBox="1"/>
          <p:nvPr/>
        </p:nvSpPr>
        <p:spPr>
          <a:xfrm>
            <a:off x="1232001" y="3051048"/>
            <a:ext cx="665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LLM AGENT 01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7" name="Google Shape;1547;g3eaa469dcba_0_524"/>
          <p:cNvSpPr/>
          <p:nvPr/>
        </p:nvSpPr>
        <p:spPr>
          <a:xfrm>
            <a:off x="1915375" y="3048000"/>
            <a:ext cx="798600" cy="114600"/>
          </a:xfrm>
          <a:prstGeom prst="roundRect">
            <a:avLst>
              <a:gd name="adj" fmla="val 391391"/>
            </a:avLst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g3eaa469dcba_0_524"/>
          <p:cNvSpPr txBox="1"/>
          <p:nvPr/>
        </p:nvSpPr>
        <p:spPr>
          <a:xfrm>
            <a:off x="1915375" y="3048000"/>
            <a:ext cx="777300" cy="108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LLM + KG/RAG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9" name="Google Shape;1549;g3eaa469dcba_0_524"/>
          <p:cNvSpPr txBox="1"/>
          <p:nvPr/>
        </p:nvSpPr>
        <p:spPr>
          <a:xfrm>
            <a:off x="1232001" y="3181033"/>
            <a:ext cx="37338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Diagnosis Agent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0" name="Google Shape;1550;g3eaa469dcba_0_524"/>
          <p:cNvSpPr txBox="1"/>
          <p:nvPr/>
        </p:nvSpPr>
        <p:spPr>
          <a:xfrm>
            <a:off x="1232001" y="3360512"/>
            <a:ext cx="37338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이상 사용 </a:t>
            </a:r>
            <a:r>
              <a:rPr lang="en-US" sz="8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원인 진단</a:t>
            </a:r>
            <a:r>
              <a:rPr lang="en-US" sz="800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 · 사용자 친화 문장 생성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1" name="Google Shape;1551;g3eaa469dcba_0_524"/>
          <p:cNvSpPr txBox="1"/>
          <p:nvPr/>
        </p:nvSpPr>
        <p:spPr>
          <a:xfrm>
            <a:off x="2960630" y="3750597"/>
            <a:ext cx="8763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JetBrains Mon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diagnosis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52" name="Google Shape;1552;g3eaa469dcba_0_524" descr="gen-dedup-71d70d6fc9e8fee744bf8b3f07d35d59.png"/>
          <p:cNvPicPr preferRelativeResize="0"/>
          <p:nvPr/>
        </p:nvPicPr>
        <p:blipFill rotWithShape="1">
          <a:blip r:embed="rId13">
            <a:alphaModFix/>
          </a:blip>
          <a:srcRect l="-322" r="-322"/>
          <a:stretch/>
        </p:blipFill>
        <p:spPr>
          <a:xfrm>
            <a:off x="2914497" y="3631997"/>
            <a:ext cx="12801" cy="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g3eaa469dcba_0_524" descr="gen-dedup-9eeb502c291a058e4ca7d13076f18f01.png"/>
          <p:cNvPicPr preferRelativeResize="0"/>
          <p:nvPr/>
        </p:nvPicPr>
        <p:blipFill rotWithShape="1">
          <a:blip r:embed="rId14">
            <a:alphaModFix/>
          </a:blip>
          <a:srcRect l="-60" r="-50"/>
          <a:stretch/>
        </p:blipFill>
        <p:spPr>
          <a:xfrm>
            <a:off x="2876703" y="3822801"/>
            <a:ext cx="89001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g3eaa469dcba_0_524"/>
          <p:cNvSpPr/>
          <p:nvPr/>
        </p:nvSpPr>
        <p:spPr>
          <a:xfrm>
            <a:off x="876605" y="4123335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5" name="Google Shape;1555;g3eaa469dcba_0_524" descr="gen-dedup-54431a72f97785bd9e2f0c2928be2b63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46099" y="4192829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g3eaa469dcba_0_524"/>
          <p:cNvSpPr txBox="1"/>
          <p:nvPr/>
        </p:nvSpPr>
        <p:spPr>
          <a:xfrm>
            <a:off x="1232001" y="4092855"/>
            <a:ext cx="666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LLM AGENT 02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7" name="Google Shape;1557;g3eaa469dcba_0_524"/>
          <p:cNvSpPr/>
          <p:nvPr/>
        </p:nvSpPr>
        <p:spPr>
          <a:xfrm>
            <a:off x="1925125" y="4089200"/>
            <a:ext cx="1263900" cy="95700"/>
          </a:xfrm>
          <a:prstGeom prst="roundRect">
            <a:avLst>
              <a:gd name="adj" fmla="val 391391"/>
            </a:avLst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g3eaa469dcba_0_524"/>
          <p:cNvSpPr txBox="1"/>
          <p:nvPr/>
        </p:nvSpPr>
        <p:spPr>
          <a:xfrm>
            <a:off x="1925125" y="4089200"/>
            <a:ext cx="1249800" cy="108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LLM + KG + Cashback Tool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9" name="Google Shape;1559;g3eaa469dcba_0_524"/>
          <p:cNvSpPr txBox="1"/>
          <p:nvPr/>
        </p:nvSpPr>
        <p:spPr>
          <a:xfrm>
            <a:off x="1232001" y="4230037"/>
            <a:ext cx="37338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Mission Agent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0" name="Google Shape;1560;g3eaa469dcba_0_524"/>
          <p:cNvSpPr txBox="1"/>
          <p:nvPr/>
        </p:nvSpPr>
        <p:spPr>
          <a:xfrm>
            <a:off x="1232001" y="4409516"/>
            <a:ext cx="37338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캐시백 미션 · </a:t>
            </a: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실천 방법 · 예상 혜택</a:t>
            </a:r>
            <a:r>
              <a:rPr lang="en-US" sz="8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생성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1" name="Google Shape;1561;g3eaa469dcba_0_524"/>
          <p:cNvSpPr txBox="1"/>
          <p:nvPr/>
        </p:nvSpPr>
        <p:spPr>
          <a:xfrm>
            <a:off x="3072238" y="4791794"/>
            <a:ext cx="6852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JetBrains Mon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mission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62" name="Google Shape;1562;g3eaa469dcba_0_524" descr="gen-dedup-71d70d6fc9e8fee744bf8b3f07d35d59.png"/>
          <p:cNvPicPr preferRelativeResize="0"/>
          <p:nvPr/>
        </p:nvPicPr>
        <p:blipFill rotWithShape="1">
          <a:blip r:embed="rId13">
            <a:alphaModFix/>
          </a:blip>
          <a:srcRect l="-322" r="-322"/>
          <a:stretch/>
        </p:blipFill>
        <p:spPr>
          <a:xfrm>
            <a:off x="2914497" y="4673803"/>
            <a:ext cx="12801" cy="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g3eaa469dcba_0_524" descr="gen-dedup-9eeb502c291a058e4ca7d13076f18f01.png"/>
          <p:cNvPicPr preferRelativeResize="0"/>
          <p:nvPr/>
        </p:nvPicPr>
        <p:blipFill rotWithShape="1">
          <a:blip r:embed="rId14">
            <a:alphaModFix/>
          </a:blip>
          <a:srcRect l="-60" r="-50"/>
          <a:stretch/>
        </p:blipFill>
        <p:spPr>
          <a:xfrm>
            <a:off x="2876703" y="4863999"/>
            <a:ext cx="89001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g3eaa469dcba_0_524"/>
          <p:cNvSpPr/>
          <p:nvPr/>
        </p:nvSpPr>
        <p:spPr>
          <a:xfrm>
            <a:off x="876605" y="5164531"/>
            <a:ext cx="279300" cy="279300"/>
          </a:xfrm>
          <a:prstGeom prst="roundRect">
            <a:avLst>
              <a:gd name="adj" fmla="val 109170"/>
            </a:avLst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5" name="Google Shape;1565;g3eaa469dcba_0_524" descr="gen-dedup-5bd7754696efe086d924e789e5749b79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46099" y="5234025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g3eaa469dcba_0_524"/>
          <p:cNvSpPr txBox="1"/>
          <p:nvPr/>
        </p:nvSpPr>
        <p:spPr>
          <a:xfrm>
            <a:off x="1232001" y="5134051"/>
            <a:ext cx="666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LLM AGENT 03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7" name="Google Shape;1567;g3eaa469dcba_0_524"/>
          <p:cNvSpPr/>
          <p:nvPr/>
        </p:nvSpPr>
        <p:spPr>
          <a:xfrm>
            <a:off x="1926950" y="5131000"/>
            <a:ext cx="1092300" cy="101700"/>
          </a:xfrm>
          <a:prstGeom prst="roundRect">
            <a:avLst>
              <a:gd name="adj" fmla="val 391391"/>
            </a:avLst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g3eaa469dcba_0_524"/>
          <p:cNvSpPr txBox="1"/>
          <p:nvPr/>
        </p:nvSpPr>
        <p:spPr>
          <a:xfrm>
            <a:off x="1926950" y="5131000"/>
            <a:ext cx="1092300" cy="108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325" tIns="8475" rIns="42325" bIns="8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LLM + Policy / Safety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9" name="Google Shape;1569;g3eaa469dcba_0_524"/>
          <p:cNvSpPr txBox="1"/>
          <p:nvPr/>
        </p:nvSpPr>
        <p:spPr>
          <a:xfrm>
            <a:off x="1232001" y="5263426"/>
            <a:ext cx="37338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Evaluator </a:t>
            </a:r>
            <a:r>
              <a:rPr lang="en-US" sz="11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Loop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0" name="Google Shape;1570;g3eaa469dcba_0_524"/>
          <p:cNvSpPr txBox="1"/>
          <p:nvPr/>
        </p:nvSpPr>
        <p:spPr>
          <a:xfrm>
            <a:off x="1232001" y="5443516"/>
            <a:ext cx="37338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진단·미션 검증 · 실패 시 </a:t>
            </a:r>
            <a:r>
              <a:rPr lang="en-US" sz="8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재생성 피드백</a:t>
            </a:r>
            <a:r>
              <a:rPr lang="en-US" sz="800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 생성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1" name="Google Shape;1571;g3eaa469dcba_0_524"/>
          <p:cNvSpPr/>
          <p:nvPr/>
        </p:nvSpPr>
        <p:spPr>
          <a:xfrm>
            <a:off x="762000" y="5829605"/>
            <a:ext cx="2127600" cy="387000"/>
          </a:xfrm>
          <a:prstGeom prst="roundRect">
            <a:avLst>
              <a:gd name="adj" fmla="val 51633"/>
            </a:avLst>
          </a:prstGeom>
          <a:solidFill>
            <a:srgbClr val="ECFDF5"/>
          </a:solidFill>
          <a:ln w="847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2" name="Google Shape;1572;g3eaa469dcba_0_524" descr="gen-dedup-cf39f1dcf322b51f3545dd4490cc5ac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19556" y="5905805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g3eaa469dcba_0_524"/>
          <p:cNvSpPr txBox="1"/>
          <p:nvPr/>
        </p:nvSpPr>
        <p:spPr>
          <a:xfrm>
            <a:off x="1046956" y="5905801"/>
            <a:ext cx="3780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PASS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4" name="Google Shape;1574;g3eaa469dcba_0_524"/>
          <p:cNvSpPr txBox="1"/>
          <p:nvPr/>
        </p:nvSpPr>
        <p:spPr>
          <a:xfrm>
            <a:off x="927364" y="6019800"/>
            <a:ext cx="19374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Frontend</a:t>
            </a:r>
            <a:r>
              <a:rPr lang="en-US" sz="800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 — 진단·추천·미션 표시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5" name="Google Shape;1575;g3eaa469dcba_0_524"/>
          <p:cNvSpPr/>
          <p:nvPr/>
        </p:nvSpPr>
        <p:spPr>
          <a:xfrm>
            <a:off x="2952903" y="5829605"/>
            <a:ext cx="2127600" cy="387000"/>
          </a:xfrm>
          <a:prstGeom prst="roundRect">
            <a:avLst>
              <a:gd name="adj" fmla="val 51633"/>
            </a:avLst>
          </a:prstGeom>
          <a:solidFill>
            <a:srgbClr val="FEF2F2"/>
          </a:solidFill>
          <a:ln w="8475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6" name="Google Shape;1576;g3eaa469dcba_0_524" descr="gen-dedup-7944231c7a6b371071f96a92444116d4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110459" y="5905805"/>
            <a:ext cx="89001" cy="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g3eaa469dcba_0_524"/>
          <p:cNvSpPr txBox="1"/>
          <p:nvPr/>
        </p:nvSpPr>
        <p:spPr>
          <a:xfrm>
            <a:off x="3237256" y="5905805"/>
            <a:ext cx="8661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FAIL · feedback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8" name="Google Shape;1578;g3eaa469dcba_0_524"/>
          <p:cNvSpPr txBox="1"/>
          <p:nvPr/>
        </p:nvSpPr>
        <p:spPr>
          <a:xfrm>
            <a:off x="3118266" y="6019800"/>
            <a:ext cx="19374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Mission </a:t>
            </a:r>
            <a:r>
              <a:rPr lang="en-US" sz="800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Loop </a:t>
            </a:r>
            <a:r>
              <a:rPr lang="en-US" sz="8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재생성</a:t>
            </a: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· max 1 retry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9" name="Google Shape;1579;g3eaa469dcba_0_524"/>
          <p:cNvSpPr/>
          <p:nvPr/>
        </p:nvSpPr>
        <p:spPr>
          <a:xfrm>
            <a:off x="5613201" y="1565450"/>
            <a:ext cx="1167300" cy="114600"/>
          </a:xfrm>
          <a:prstGeom prst="roundRect">
            <a:avLst>
              <a:gd name="adj" fmla="val 265816"/>
            </a:avLst>
          </a:prstGeom>
          <a:solidFill>
            <a:srgbClr val="F3F4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g3eaa469dcba_0_524"/>
          <p:cNvSpPr txBox="1"/>
          <p:nvPr/>
        </p:nvSpPr>
        <p:spPr>
          <a:xfrm>
            <a:off x="5613201" y="1565450"/>
            <a:ext cx="1167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SIGNAL LAYER OUTPUT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1" name="Google Shape;1581;g3eaa469dcba_0_524"/>
          <p:cNvSpPr txBox="1"/>
          <p:nvPr/>
        </p:nvSpPr>
        <p:spPr>
          <a:xfrm>
            <a:off x="6934200" y="1549600"/>
            <a:ext cx="3461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Diagnosis Agent가 해석할 구조화된 신호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2" name="Google Shape;1582;g3eaa469dcba_0_524"/>
          <p:cNvSpPr/>
          <p:nvPr/>
        </p:nvSpPr>
        <p:spPr>
          <a:xfrm>
            <a:off x="5613197" y="1879397"/>
            <a:ext cx="2927100" cy="362100"/>
          </a:xfrm>
          <a:prstGeom prst="roundRect">
            <a:avLst>
              <a:gd name="adj" fmla="val 3544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g3eaa469dcba_0_524"/>
          <p:cNvSpPr/>
          <p:nvPr/>
        </p:nvSpPr>
        <p:spPr>
          <a:xfrm>
            <a:off x="5613197" y="1879397"/>
            <a:ext cx="18900" cy="362100"/>
          </a:xfrm>
          <a:prstGeom prst="roundRect">
            <a:avLst>
              <a:gd name="adj" fmla="val 679127"/>
            </a:avLst>
          </a:prstGeom>
          <a:solidFill>
            <a:srgbClr val="3B82F6"/>
          </a:solidFill>
          <a:ln w="8475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g3eaa469dcba_0_524"/>
          <p:cNvSpPr txBox="1"/>
          <p:nvPr/>
        </p:nvSpPr>
        <p:spPr>
          <a:xfrm>
            <a:off x="5721096" y="1949501"/>
            <a:ext cx="273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가전 정보</a:t>
            </a:r>
            <a:endParaRPr sz="9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5" name="Google Shape;1585;g3eaa469dcba_0_524"/>
          <p:cNvSpPr txBox="1"/>
          <p:nvPr/>
        </p:nvSpPr>
        <p:spPr>
          <a:xfrm>
            <a:off x="5736711" y="2066919"/>
            <a:ext cx="2730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가전명 · 사용 구간 · 운전 상태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6" name="Google Shape;1586;g3eaa469dcba_0_524"/>
          <p:cNvSpPr/>
          <p:nvPr/>
        </p:nvSpPr>
        <p:spPr>
          <a:xfrm>
            <a:off x="8604504" y="1879397"/>
            <a:ext cx="2927100" cy="362100"/>
          </a:xfrm>
          <a:prstGeom prst="roundRect">
            <a:avLst>
              <a:gd name="adj" fmla="val 3544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g3eaa469dcba_0_524"/>
          <p:cNvSpPr/>
          <p:nvPr/>
        </p:nvSpPr>
        <p:spPr>
          <a:xfrm>
            <a:off x="8604504" y="1879397"/>
            <a:ext cx="18900" cy="362100"/>
          </a:xfrm>
          <a:prstGeom prst="roundRect">
            <a:avLst>
              <a:gd name="adj" fmla="val 679127"/>
            </a:avLst>
          </a:prstGeom>
          <a:solidFill>
            <a:srgbClr val="10B981"/>
          </a:solidFill>
          <a:ln w="8475" cap="flat" cmpd="sng">
            <a:solidFill>
              <a:srgbClr val="10B981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g3eaa469dcba_0_524"/>
          <p:cNvSpPr txBox="1"/>
          <p:nvPr/>
        </p:nvSpPr>
        <p:spPr>
          <a:xfrm>
            <a:off x="8712403" y="1949501"/>
            <a:ext cx="273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전력 지표</a:t>
            </a:r>
            <a:endParaRPr sz="9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9" name="Google Shape;1589;g3eaa469dcba_0_524"/>
          <p:cNvSpPr txBox="1"/>
          <p:nvPr/>
        </p:nvSpPr>
        <p:spPr>
          <a:xfrm>
            <a:off x="8728018" y="2066919"/>
            <a:ext cx="27309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JetBrains Mono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avg_w · peak_w · energy_wh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0" name="Google Shape;1590;g3eaa469dcba_0_524"/>
          <p:cNvSpPr/>
          <p:nvPr/>
        </p:nvSpPr>
        <p:spPr>
          <a:xfrm>
            <a:off x="5613197" y="2304288"/>
            <a:ext cx="2927100" cy="362100"/>
          </a:xfrm>
          <a:prstGeom prst="roundRect">
            <a:avLst>
              <a:gd name="adj" fmla="val 3544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g3eaa469dcba_0_524"/>
          <p:cNvSpPr/>
          <p:nvPr/>
        </p:nvSpPr>
        <p:spPr>
          <a:xfrm>
            <a:off x="5613197" y="2304288"/>
            <a:ext cx="18900" cy="362100"/>
          </a:xfrm>
          <a:prstGeom prst="roundRect">
            <a:avLst>
              <a:gd name="adj" fmla="val 679127"/>
            </a:avLst>
          </a:prstGeom>
          <a:solidFill>
            <a:srgbClr val="F59E0B"/>
          </a:solidFill>
          <a:ln w="8475" cap="flat" cmpd="sng">
            <a:solidFill>
              <a:srgbClr val="F59E0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g3eaa469dcba_0_524"/>
          <p:cNvSpPr txBox="1"/>
          <p:nvPr/>
        </p:nvSpPr>
        <p:spPr>
          <a:xfrm>
            <a:off x="5721096" y="2373783"/>
            <a:ext cx="273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비교 지표</a:t>
            </a:r>
            <a:endParaRPr sz="9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3" name="Google Shape;1593;g3eaa469dcba_0_524"/>
          <p:cNvSpPr txBox="1"/>
          <p:nvPr/>
        </p:nvSpPr>
        <p:spPr>
          <a:xfrm>
            <a:off x="5736711" y="2491200"/>
            <a:ext cx="2730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단기·장기 메모리 비교 → 평소 대비 변화율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4" name="Google Shape;1594;g3eaa469dcba_0_524"/>
          <p:cNvSpPr/>
          <p:nvPr/>
        </p:nvSpPr>
        <p:spPr>
          <a:xfrm>
            <a:off x="8604504" y="2304288"/>
            <a:ext cx="2927100" cy="362100"/>
          </a:xfrm>
          <a:prstGeom prst="roundRect">
            <a:avLst>
              <a:gd name="adj" fmla="val 35442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g3eaa469dcba_0_524"/>
          <p:cNvSpPr/>
          <p:nvPr/>
        </p:nvSpPr>
        <p:spPr>
          <a:xfrm>
            <a:off x="8604504" y="2304288"/>
            <a:ext cx="18900" cy="362100"/>
          </a:xfrm>
          <a:prstGeom prst="roundRect">
            <a:avLst>
              <a:gd name="adj" fmla="val 679127"/>
            </a:avLst>
          </a:prstGeom>
          <a:solidFill>
            <a:srgbClr val="7C3AED"/>
          </a:solidFill>
          <a:ln w="8475" cap="flat" cmpd="sng">
            <a:solidFill>
              <a:srgbClr val="7C3AE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g3eaa469dcba_0_524"/>
          <p:cNvSpPr txBox="1"/>
          <p:nvPr/>
        </p:nvSpPr>
        <p:spPr>
          <a:xfrm>
            <a:off x="8712403" y="2373783"/>
            <a:ext cx="273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진단 신호</a:t>
            </a:r>
            <a:endParaRPr sz="9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7" name="Google Shape;1597;g3eaa469dcba_0_524"/>
          <p:cNvSpPr txBox="1"/>
          <p:nvPr/>
        </p:nvSpPr>
        <p:spPr>
          <a:xfrm>
            <a:off x="8728018" y="2491200"/>
            <a:ext cx="2730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reason_code · diag_type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98" name="Google Shape;1598;g3eaa469dcba_0_524" descr="gen-dedup-5fade41a0f794e9adb4a2fc533d7cc16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613197" y="3333903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g3eaa469dcba_0_524"/>
          <p:cNvSpPr txBox="1"/>
          <p:nvPr/>
        </p:nvSpPr>
        <p:spPr>
          <a:xfrm>
            <a:off x="5816800" y="3327200"/>
            <a:ext cx="29907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 / B / C / D 유형별 진단 기준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0" name="Google Shape;1600;g3eaa469dcba_0_524"/>
          <p:cNvSpPr/>
          <p:nvPr/>
        </p:nvSpPr>
        <p:spPr>
          <a:xfrm>
            <a:off x="5613197" y="3644799"/>
            <a:ext cx="2927100" cy="444300"/>
          </a:xfrm>
          <a:prstGeom prst="roundRect">
            <a:avLst>
              <a:gd name="adj" fmla="val 31354"/>
            </a:avLst>
          </a:prstGeom>
          <a:solidFill>
            <a:srgbClr val="FEF2F2"/>
          </a:solidFill>
          <a:ln w="847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g3eaa469dcba_0_524"/>
          <p:cNvSpPr/>
          <p:nvPr/>
        </p:nvSpPr>
        <p:spPr>
          <a:xfrm>
            <a:off x="5708904" y="3720999"/>
            <a:ext cx="152400" cy="1524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g3eaa469dcba_0_524"/>
          <p:cNvSpPr/>
          <p:nvPr/>
        </p:nvSpPr>
        <p:spPr>
          <a:xfrm>
            <a:off x="5708904" y="3720999"/>
            <a:ext cx="1524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g3eaa469dcba_0_524"/>
          <p:cNvSpPr txBox="1"/>
          <p:nvPr/>
        </p:nvSpPr>
        <p:spPr>
          <a:xfrm>
            <a:off x="5911900" y="3746600"/>
            <a:ext cx="561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상시가동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4" name="Google Shape;1604;g3eaa469dcba_0_524"/>
          <p:cNvSpPr txBox="1"/>
          <p:nvPr/>
        </p:nvSpPr>
        <p:spPr>
          <a:xfrm>
            <a:off x="7372325" y="3755750"/>
            <a:ext cx="1167300" cy="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냉장고</a:t>
            </a:r>
            <a:r>
              <a:rPr lang="en-US" sz="800" b="1" i="0" u="none" strike="noStrike" cap="none" dirty="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· </a:t>
            </a:r>
            <a:r>
              <a:rPr lang="en-US" sz="8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공기청정기</a:t>
            </a:r>
            <a:endParaRPr sz="800" b="1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5" name="Google Shape;1605;g3eaa469dcba_0_524"/>
          <p:cNvSpPr txBox="1"/>
          <p:nvPr/>
        </p:nvSpPr>
        <p:spPr>
          <a:xfrm>
            <a:off x="5892534" y="3905097"/>
            <a:ext cx="27372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계속 켜져 있는 가전 → </a:t>
            </a:r>
            <a:r>
              <a:rPr lang="en-US" sz="8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순간 전력 튐 확인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6" name="Google Shape;1606;g3eaa469dcba_0_524"/>
          <p:cNvSpPr/>
          <p:nvPr/>
        </p:nvSpPr>
        <p:spPr>
          <a:xfrm>
            <a:off x="8604504" y="3644799"/>
            <a:ext cx="2927100" cy="444300"/>
          </a:xfrm>
          <a:prstGeom prst="roundRect">
            <a:avLst>
              <a:gd name="adj" fmla="val 31354"/>
            </a:avLst>
          </a:prstGeom>
          <a:solidFill>
            <a:srgbClr val="EFF6FF"/>
          </a:solidFill>
          <a:ln w="847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g3eaa469dcba_0_524"/>
          <p:cNvSpPr/>
          <p:nvPr/>
        </p:nvSpPr>
        <p:spPr>
          <a:xfrm>
            <a:off x="8699601" y="3720999"/>
            <a:ext cx="152400" cy="1524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g3eaa469dcba_0_524"/>
          <p:cNvSpPr/>
          <p:nvPr/>
        </p:nvSpPr>
        <p:spPr>
          <a:xfrm>
            <a:off x="8699601" y="3720999"/>
            <a:ext cx="1524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g3eaa469dcba_0_524"/>
          <p:cNvSpPr txBox="1"/>
          <p:nvPr/>
        </p:nvSpPr>
        <p:spPr>
          <a:xfrm>
            <a:off x="8902601" y="3746600"/>
            <a:ext cx="5292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단계형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0" name="Google Shape;1610;g3eaa469dcba_0_524"/>
          <p:cNvSpPr txBox="1"/>
          <p:nvPr/>
        </p:nvSpPr>
        <p:spPr>
          <a:xfrm>
            <a:off x="10592823" y="3755750"/>
            <a:ext cx="8382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세탁기 · 건조기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1" name="Google Shape;1611;g3eaa469dcba_0_524"/>
          <p:cNvSpPr txBox="1"/>
          <p:nvPr/>
        </p:nvSpPr>
        <p:spPr>
          <a:xfrm>
            <a:off x="8883231" y="3905097"/>
            <a:ext cx="27372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여러 단계 동작 → </a:t>
            </a:r>
            <a:r>
              <a:rPr lang="en-US" sz="8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세션/단계 흐름 확인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2" name="Google Shape;1612;g3eaa469dcba_0_524"/>
          <p:cNvSpPr/>
          <p:nvPr/>
        </p:nvSpPr>
        <p:spPr>
          <a:xfrm>
            <a:off x="5613197" y="4151376"/>
            <a:ext cx="2927100" cy="444300"/>
          </a:xfrm>
          <a:prstGeom prst="roundRect">
            <a:avLst>
              <a:gd name="adj" fmla="val 31354"/>
            </a:avLst>
          </a:prstGeom>
          <a:solidFill>
            <a:srgbClr val="FFFBEB"/>
          </a:solidFill>
          <a:ln w="847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g3eaa469dcba_0_524"/>
          <p:cNvSpPr/>
          <p:nvPr/>
        </p:nvSpPr>
        <p:spPr>
          <a:xfrm>
            <a:off x="5708904" y="4227576"/>
            <a:ext cx="152400" cy="152400"/>
          </a:xfrm>
          <a:prstGeom prst="ellipse">
            <a:avLst/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g3eaa469dcba_0_524"/>
          <p:cNvSpPr/>
          <p:nvPr/>
        </p:nvSpPr>
        <p:spPr>
          <a:xfrm>
            <a:off x="5708904" y="4227576"/>
            <a:ext cx="1524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g3eaa469dcba_0_524"/>
          <p:cNvSpPr txBox="1"/>
          <p:nvPr/>
        </p:nvSpPr>
        <p:spPr>
          <a:xfrm>
            <a:off x="5911900" y="4253175"/>
            <a:ext cx="7206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단기 사용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6" name="Google Shape;1616;g3eaa469dcba_0_524"/>
          <p:cNvSpPr txBox="1"/>
          <p:nvPr/>
        </p:nvSpPr>
        <p:spPr>
          <a:xfrm>
            <a:off x="7374375" y="4262925"/>
            <a:ext cx="10161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전자레인지</a:t>
            </a:r>
            <a:r>
              <a:rPr lang="en-US" sz="800" b="1" i="0" u="none" strike="noStrike" cap="none" dirty="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· </a:t>
            </a:r>
            <a:r>
              <a:rPr lang="en-US" sz="800" b="1" i="0" u="none" strike="noStrike" cap="none" dirty="0" err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전기포트</a:t>
            </a:r>
            <a:endParaRPr sz="800" b="1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7" name="Google Shape;1617;g3eaa469dcba_0_524"/>
          <p:cNvSpPr txBox="1"/>
          <p:nvPr/>
        </p:nvSpPr>
        <p:spPr>
          <a:xfrm>
            <a:off x="5892534" y="4411675"/>
            <a:ext cx="27372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짧게 사용 → </a:t>
            </a:r>
            <a:r>
              <a:rPr lang="en-US" sz="8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1회 사용량·사용시간 확인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8" name="Google Shape;1618;g3eaa469dcba_0_524"/>
          <p:cNvSpPr/>
          <p:nvPr/>
        </p:nvSpPr>
        <p:spPr>
          <a:xfrm>
            <a:off x="8604504" y="4151376"/>
            <a:ext cx="2927100" cy="444300"/>
          </a:xfrm>
          <a:prstGeom prst="roundRect">
            <a:avLst>
              <a:gd name="adj" fmla="val 31354"/>
            </a:avLst>
          </a:prstGeom>
          <a:solidFill>
            <a:srgbClr val="F0FDF4"/>
          </a:solidFill>
          <a:ln w="847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g3eaa469dcba_0_524"/>
          <p:cNvSpPr/>
          <p:nvPr/>
        </p:nvSpPr>
        <p:spPr>
          <a:xfrm>
            <a:off x="8699601" y="4227576"/>
            <a:ext cx="152400" cy="1524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g3eaa469dcba_0_524"/>
          <p:cNvSpPr/>
          <p:nvPr/>
        </p:nvSpPr>
        <p:spPr>
          <a:xfrm>
            <a:off x="8699601" y="4227576"/>
            <a:ext cx="15240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g3eaa469dcba_0_524"/>
          <p:cNvSpPr txBox="1"/>
          <p:nvPr/>
        </p:nvSpPr>
        <p:spPr>
          <a:xfrm>
            <a:off x="8866321" y="4253175"/>
            <a:ext cx="8661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장시간 사용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2" name="Google Shape;1622;g3eaa469dcba_0_524"/>
          <p:cNvSpPr txBox="1"/>
          <p:nvPr/>
        </p:nvSpPr>
        <p:spPr>
          <a:xfrm>
            <a:off x="10592823" y="4262925"/>
            <a:ext cx="8382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제습기 · 에어컨</a:t>
            </a:r>
            <a:endParaRPr sz="8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3" name="Google Shape;1623;g3eaa469dcba_0_524"/>
          <p:cNvSpPr txBox="1"/>
          <p:nvPr/>
        </p:nvSpPr>
        <p:spPr>
          <a:xfrm>
            <a:off x="8883231" y="4411675"/>
            <a:ext cx="2737200" cy="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오래 켜두는 가전 → </a:t>
            </a: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평소 대비 사용량·지속시간 확인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24" name="Google Shape;1624;g3eaa469dcba_0_524" descr="gen-dedup-db00636a7fe37376c221265b0dd50fb5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613197" y="5226101"/>
            <a:ext cx="139599" cy="1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g3eaa469dcba_0_524"/>
          <p:cNvSpPr txBox="1"/>
          <p:nvPr/>
        </p:nvSpPr>
        <p:spPr>
          <a:xfrm>
            <a:off x="5816798" y="5220000"/>
            <a:ext cx="2127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4가지 핵심 설계 결정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6" name="Google Shape;1626;g3eaa469dcba_0_524"/>
          <p:cNvSpPr/>
          <p:nvPr/>
        </p:nvSpPr>
        <p:spPr>
          <a:xfrm>
            <a:off x="5613197" y="5536997"/>
            <a:ext cx="139500" cy="1395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g3eaa469dcba_0_524"/>
          <p:cNvSpPr/>
          <p:nvPr/>
        </p:nvSpPr>
        <p:spPr>
          <a:xfrm>
            <a:off x="5613197" y="5536997"/>
            <a:ext cx="1401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g3eaa469dcba_0_524"/>
          <p:cNvSpPr txBox="1"/>
          <p:nvPr/>
        </p:nvSpPr>
        <p:spPr>
          <a:xfrm>
            <a:off x="5804002" y="5524800"/>
            <a:ext cx="14673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결정적 신호 레이어 분리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9" name="Google Shape;1629;g3eaa469dcba_0_524"/>
          <p:cNvSpPr txBox="1"/>
          <p:nvPr/>
        </p:nvSpPr>
        <p:spPr>
          <a:xfrm>
            <a:off x="5804000" y="5682119"/>
            <a:ext cx="2291700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NILM·상태 추출 = 코드 영역, LLM 환각으로부터 보호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0" name="Google Shape;1630;g3eaa469dcba_0_524"/>
          <p:cNvSpPr/>
          <p:nvPr/>
        </p:nvSpPr>
        <p:spPr>
          <a:xfrm>
            <a:off x="8616696" y="5536997"/>
            <a:ext cx="139500" cy="1395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g3eaa469dcba_0_524"/>
          <p:cNvSpPr/>
          <p:nvPr/>
        </p:nvSpPr>
        <p:spPr>
          <a:xfrm>
            <a:off x="8616696" y="5536997"/>
            <a:ext cx="1401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g3eaa469dcba_0_524"/>
          <p:cNvSpPr txBox="1"/>
          <p:nvPr/>
        </p:nvSpPr>
        <p:spPr>
          <a:xfrm>
            <a:off x="8807501" y="5524800"/>
            <a:ext cx="16326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도구 캡슐화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3" name="Google Shape;1633;g3eaa469dcba_0_524"/>
          <p:cNvSpPr txBox="1"/>
          <p:nvPr/>
        </p:nvSpPr>
        <p:spPr>
          <a:xfrm>
            <a:off x="8807500" y="5682116"/>
            <a:ext cx="2425800" cy="1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KG·RAG·Cashback을 에이전트별 도구로 묶어 일관성 확보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4" name="Google Shape;1634;g3eaa469dcba_0_524"/>
          <p:cNvSpPr/>
          <p:nvPr/>
        </p:nvSpPr>
        <p:spPr>
          <a:xfrm>
            <a:off x="5613197" y="5896462"/>
            <a:ext cx="139500" cy="1395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g3eaa469dcba_0_524"/>
          <p:cNvSpPr/>
          <p:nvPr/>
        </p:nvSpPr>
        <p:spPr>
          <a:xfrm>
            <a:off x="5613197" y="5896462"/>
            <a:ext cx="1401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g3eaa469dcba_0_524"/>
          <p:cNvSpPr txBox="1"/>
          <p:nvPr/>
        </p:nvSpPr>
        <p:spPr>
          <a:xfrm>
            <a:off x="5804002" y="5877992"/>
            <a:ext cx="15942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Evaluator-Optimizer 루프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7" name="Google Shape;1637;g3eaa469dcba_0_524"/>
          <p:cNvSpPr txBox="1"/>
          <p:nvPr/>
        </p:nvSpPr>
        <p:spPr>
          <a:xfrm>
            <a:off x="5804000" y="6036133"/>
            <a:ext cx="2489100" cy="1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검증 실패 시 Mission부터, 필요 시 Diagnosis까지 재생성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8" name="Google Shape;1638;g3eaa469dcba_0_524"/>
          <p:cNvSpPr/>
          <p:nvPr/>
        </p:nvSpPr>
        <p:spPr>
          <a:xfrm>
            <a:off x="8616696" y="5896462"/>
            <a:ext cx="139500" cy="1395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g3eaa469dcba_0_524"/>
          <p:cNvSpPr/>
          <p:nvPr/>
        </p:nvSpPr>
        <p:spPr>
          <a:xfrm>
            <a:off x="8616696" y="5896462"/>
            <a:ext cx="1401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g3eaa469dcba_0_524"/>
          <p:cNvSpPr txBox="1"/>
          <p:nvPr/>
        </p:nvSpPr>
        <p:spPr>
          <a:xfrm>
            <a:off x="8807501" y="5877992"/>
            <a:ext cx="15369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단방향 파이프라인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1" name="Google Shape;1641;g3eaa469dcba_0_524"/>
          <p:cNvSpPr txBox="1"/>
          <p:nvPr/>
        </p:nvSpPr>
        <p:spPr>
          <a:xfrm>
            <a:off x="8807500" y="6036133"/>
            <a:ext cx="2328600" cy="1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신호 → 진단 → 미션 → 검증 강제 → 디버깅·관측 단순화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2" name="Google Shape;1642;g3eaa469dcba_0_524"/>
          <p:cNvSpPr txBox="1"/>
          <p:nvPr/>
        </p:nvSpPr>
        <p:spPr>
          <a:xfrm>
            <a:off x="1193597" y="495600"/>
            <a:ext cx="2185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추천시스템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1513;g3eaa469dcba_0_445">
            <a:extLst>
              <a:ext uri="{FF2B5EF4-FFF2-40B4-BE49-F238E27FC236}">
                <a16:creationId xmlns:a16="http://schemas.microsoft.com/office/drawing/2014/main" id="{5DD67A51-1A04-F8EF-D619-98C184F01C67}"/>
              </a:ext>
            </a:extLst>
          </p:cNvPr>
          <p:cNvSpPr txBox="1"/>
          <p:nvPr/>
        </p:nvSpPr>
        <p:spPr>
          <a:xfrm>
            <a:off x="3378464" y="422150"/>
            <a:ext cx="431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</a:t>
            </a:r>
            <a:r>
              <a:rPr lang="en-US" altLang="ko-KR" sz="1800" b="1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멀티에이전트</a:t>
            </a:r>
            <a:endParaRPr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9" name="Google Shape;1649;g3eaafee75e2_3_268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g3eaafee75e2_3_268" descr="gen-dedup-3ea1fb9cdc78527b6b65b36c29ef24b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g3eaafee75e2_3_268" descr="gen-dedup-802b10b7f59c75a95fa7f72880757d4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g3eaafee75e2_3_268" descr="gen-dedup-46c4533cb2f26157c7bbd5ba7930f67c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42127"/>
            <a:ext cx="5429984" cy="2218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g3eaafee75e2_3_268" descr="gen-dedup-46c4533cb2f26157c7bbd5ba7930f67c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2225" y="1460600"/>
            <a:ext cx="5315925" cy="2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g3eaafee75e2_3_268" descr="gen-dedup-46c4533cb2f26157c7bbd5ba7930f67c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4025" y="3788500"/>
            <a:ext cx="5429976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g3eaafee75e2_3_268" descr="gen-dedup-8b9d832dfa47523a8926275bfd22111b.png"/>
          <p:cNvPicPr preferRelativeResize="0"/>
          <p:nvPr/>
        </p:nvPicPr>
        <p:blipFill rotWithShape="1">
          <a:blip r:embed="rId7">
            <a:alphaModFix/>
          </a:blip>
          <a:srcRect t="-403" b="-403"/>
          <a:stretch/>
        </p:blipFill>
        <p:spPr>
          <a:xfrm>
            <a:off x="589800" y="1440075"/>
            <a:ext cx="5401124" cy="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g3eaafee75e2_3_268" descr="gen-dedup-9baa8b7f45d22f9223d5078ce90a55bf.png"/>
          <p:cNvPicPr preferRelativeResize="0"/>
          <p:nvPr/>
        </p:nvPicPr>
        <p:blipFill rotWithShape="1">
          <a:blip r:embed="rId8">
            <a:alphaModFix/>
          </a:blip>
          <a:srcRect t="-403" b="-403"/>
          <a:stretch/>
        </p:blipFill>
        <p:spPr>
          <a:xfrm>
            <a:off x="6296049" y="1439400"/>
            <a:ext cx="5312101" cy="41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g3eaafee75e2_3_268" descr="gen-dedup-9eb7587f1347cda90401aa4c9a97e493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564015" y="3787350"/>
            <a:ext cx="5401124" cy="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g3eaafee75e2_3_268" descr="gen-dedup-0b6c9fb2c3ac034bd6ececdee1c1f912.png"/>
          <p:cNvPicPr preferRelativeResize="0"/>
          <p:nvPr/>
        </p:nvPicPr>
        <p:blipFill rotWithShape="1">
          <a:blip r:embed="rId10">
            <a:alphaModFix/>
          </a:blip>
          <a:srcRect t="-403" b="-403"/>
          <a:stretch/>
        </p:blipFill>
        <p:spPr>
          <a:xfrm>
            <a:off x="6283368" y="3771600"/>
            <a:ext cx="5323427" cy="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g3eaafee75e2_3_268"/>
          <p:cNvSpPr txBox="1"/>
          <p:nvPr/>
        </p:nvSpPr>
        <p:spPr>
          <a:xfrm>
            <a:off x="1193597" y="826008"/>
            <a:ext cx="8890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「Building effective agents」 가이드의 </a:t>
            </a:r>
            <a:r>
              <a:rPr lang="en-US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lang="en-US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패턴 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0" name="Google Shape;1660;g3eaafee75e2_3_268"/>
          <p:cNvSpPr/>
          <p:nvPr/>
        </p:nvSpPr>
        <p:spPr>
          <a:xfrm>
            <a:off x="842695" y="1625804"/>
            <a:ext cx="355800" cy="2670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g3eaafee75e2_3_268"/>
          <p:cNvSpPr/>
          <p:nvPr/>
        </p:nvSpPr>
        <p:spPr>
          <a:xfrm>
            <a:off x="842695" y="1625804"/>
            <a:ext cx="3558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g3eaafee75e2_3_268"/>
          <p:cNvSpPr txBox="1"/>
          <p:nvPr/>
        </p:nvSpPr>
        <p:spPr>
          <a:xfrm>
            <a:off x="1347245" y="1702006"/>
            <a:ext cx="1019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PATTERN 01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3" name="Google Shape;1663;g3eaafee75e2_3_268"/>
          <p:cNvSpPr txBox="1"/>
          <p:nvPr/>
        </p:nvSpPr>
        <p:spPr>
          <a:xfrm>
            <a:off x="5277533" y="1638607"/>
            <a:ext cx="5256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g3eaafee75e2_3_268"/>
          <p:cNvSpPr txBox="1"/>
          <p:nvPr/>
        </p:nvSpPr>
        <p:spPr>
          <a:xfrm>
            <a:off x="842695" y="1981202"/>
            <a:ext cx="48876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Prompt Chaining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5" name="Google Shape;1665;g3eaafee75e2_3_268"/>
          <p:cNvSpPr/>
          <p:nvPr/>
        </p:nvSpPr>
        <p:spPr>
          <a:xfrm>
            <a:off x="842695" y="2471449"/>
            <a:ext cx="4887600" cy="507900"/>
          </a:xfrm>
          <a:prstGeom prst="roundRect">
            <a:avLst>
              <a:gd name="adj" fmla="val 61420"/>
            </a:avLst>
          </a:prstGeom>
          <a:solidFill>
            <a:srgbClr val="F9FAFB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g3eaafee75e2_3_268"/>
          <p:cNvSpPr txBox="1"/>
          <p:nvPr/>
        </p:nvSpPr>
        <p:spPr>
          <a:xfrm>
            <a:off x="987901" y="2498528"/>
            <a:ext cx="45972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Signal Layer 	</a:t>
            </a: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	Diagnosis </a:t>
            </a:r>
            <a:endParaRPr sz="1100" b="1" i="0" u="none" strike="noStrike" cap="none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	Mission 	</a:t>
            </a: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	Evaluator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7" name="Google Shape;1667;g3eaafee75e2_3_268"/>
          <p:cNvSpPr txBox="1"/>
          <p:nvPr/>
        </p:nvSpPr>
        <p:spPr>
          <a:xfrm>
            <a:off x="842695" y="3111183"/>
            <a:ext cx="48876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사유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8" name="Google Shape;1668;g3eaafee75e2_3_268"/>
          <p:cNvSpPr txBox="1"/>
          <p:nvPr/>
        </p:nvSpPr>
        <p:spPr>
          <a:xfrm>
            <a:off x="842695" y="3279865"/>
            <a:ext cx="4887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단일 프롬프트에 몰지 않고</a:t>
            </a: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단계별 분리 → 환각 방지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9" name="Google Shape;1669;g3eaafee75e2_3_268"/>
          <p:cNvSpPr/>
          <p:nvPr/>
        </p:nvSpPr>
        <p:spPr>
          <a:xfrm>
            <a:off x="6564051" y="1625804"/>
            <a:ext cx="355800" cy="267000"/>
          </a:xfrm>
          <a:prstGeom prst="ellipse">
            <a:avLst/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g3eaafee75e2_3_268"/>
          <p:cNvSpPr/>
          <p:nvPr/>
        </p:nvSpPr>
        <p:spPr>
          <a:xfrm>
            <a:off x="6508998" y="1595902"/>
            <a:ext cx="474600" cy="317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g3eaafee75e2_3_268"/>
          <p:cNvSpPr txBox="1"/>
          <p:nvPr/>
        </p:nvSpPr>
        <p:spPr>
          <a:xfrm>
            <a:off x="7068597" y="1702006"/>
            <a:ext cx="1019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PATTERN 02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2" name="Google Shape;1672;g3eaafee75e2_3_268"/>
          <p:cNvSpPr txBox="1"/>
          <p:nvPr/>
        </p:nvSpPr>
        <p:spPr>
          <a:xfrm>
            <a:off x="10942099" y="1638607"/>
            <a:ext cx="515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g3eaafee75e2_3_268"/>
          <p:cNvSpPr txBox="1"/>
          <p:nvPr/>
        </p:nvSpPr>
        <p:spPr>
          <a:xfrm>
            <a:off x="6564046" y="1981202"/>
            <a:ext cx="48876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Routing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4" name="Google Shape;1674;g3eaafee75e2_3_268"/>
          <p:cNvSpPr/>
          <p:nvPr/>
        </p:nvSpPr>
        <p:spPr>
          <a:xfrm>
            <a:off x="6564046" y="2445717"/>
            <a:ext cx="4887600" cy="507900"/>
          </a:xfrm>
          <a:prstGeom prst="roundRect">
            <a:avLst>
              <a:gd name="adj" fmla="val 24010"/>
            </a:avLst>
          </a:prstGeom>
          <a:solidFill>
            <a:srgbClr val="F5F3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g3eaafee75e2_3_268"/>
          <p:cNvSpPr txBox="1"/>
          <p:nvPr/>
        </p:nvSpPr>
        <p:spPr>
          <a:xfrm>
            <a:off x="6990401" y="2528622"/>
            <a:ext cx="1949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4C1D95"/>
                </a:solidFill>
                <a:latin typeface="Noto Sans"/>
                <a:ea typeface="Noto Sans"/>
                <a:cs typeface="Noto Sans"/>
                <a:sym typeface="Noto Sans"/>
              </a:rPr>
              <a:t>상시가동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6" name="Google Shape;1676;g3eaafee75e2_3_268"/>
          <p:cNvSpPr/>
          <p:nvPr/>
        </p:nvSpPr>
        <p:spPr>
          <a:xfrm>
            <a:off x="6743833" y="2534728"/>
            <a:ext cx="177300" cy="1395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g3eaafee75e2_3_268"/>
          <p:cNvSpPr/>
          <p:nvPr/>
        </p:nvSpPr>
        <p:spPr>
          <a:xfrm>
            <a:off x="6745352" y="2534728"/>
            <a:ext cx="177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g3eaafee75e2_3_268"/>
          <p:cNvSpPr txBox="1"/>
          <p:nvPr/>
        </p:nvSpPr>
        <p:spPr>
          <a:xfrm>
            <a:off x="9356765" y="2528622"/>
            <a:ext cx="1949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4C1D95"/>
                </a:solidFill>
                <a:latin typeface="Noto Sans"/>
                <a:ea typeface="Noto Sans"/>
                <a:cs typeface="Noto Sans"/>
                <a:sym typeface="Noto Sans"/>
              </a:rPr>
              <a:t>단계형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9" name="Google Shape;1679;g3eaafee75e2_3_268"/>
          <p:cNvSpPr/>
          <p:nvPr/>
        </p:nvSpPr>
        <p:spPr>
          <a:xfrm>
            <a:off x="9099912" y="2534728"/>
            <a:ext cx="177300" cy="1395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g3eaafee75e2_3_268"/>
          <p:cNvSpPr/>
          <p:nvPr/>
        </p:nvSpPr>
        <p:spPr>
          <a:xfrm>
            <a:off x="9108032" y="2534728"/>
            <a:ext cx="177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g3eaafee75e2_3_268"/>
          <p:cNvSpPr txBox="1"/>
          <p:nvPr/>
        </p:nvSpPr>
        <p:spPr>
          <a:xfrm>
            <a:off x="6990401" y="2718817"/>
            <a:ext cx="1949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4C1D95"/>
                </a:solidFill>
                <a:latin typeface="Noto Sans"/>
                <a:ea typeface="Noto Sans"/>
                <a:cs typeface="Noto Sans"/>
                <a:sym typeface="Noto Sans"/>
              </a:rPr>
              <a:t>단기 사용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2" name="Google Shape;1682;g3eaafee75e2_3_268"/>
          <p:cNvSpPr/>
          <p:nvPr/>
        </p:nvSpPr>
        <p:spPr>
          <a:xfrm>
            <a:off x="6743833" y="2725528"/>
            <a:ext cx="177300" cy="139500"/>
          </a:xfrm>
          <a:prstGeom prst="ellipse">
            <a:avLst/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g3eaafee75e2_3_268"/>
          <p:cNvSpPr/>
          <p:nvPr/>
        </p:nvSpPr>
        <p:spPr>
          <a:xfrm>
            <a:off x="6745321" y="2725528"/>
            <a:ext cx="177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g3eaafee75e2_3_268"/>
          <p:cNvSpPr txBox="1"/>
          <p:nvPr/>
        </p:nvSpPr>
        <p:spPr>
          <a:xfrm>
            <a:off x="9356765" y="2718817"/>
            <a:ext cx="1949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4C1D95"/>
                </a:solidFill>
                <a:latin typeface="Noto Sans"/>
                <a:ea typeface="Noto Sans"/>
                <a:cs typeface="Noto Sans"/>
                <a:sym typeface="Noto Sans"/>
              </a:rPr>
              <a:t>장시간 사용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5" name="Google Shape;1685;g3eaafee75e2_3_268"/>
          <p:cNvSpPr/>
          <p:nvPr/>
        </p:nvSpPr>
        <p:spPr>
          <a:xfrm>
            <a:off x="9099913" y="2725528"/>
            <a:ext cx="177300" cy="1395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g3eaafee75e2_3_268"/>
          <p:cNvSpPr/>
          <p:nvPr/>
        </p:nvSpPr>
        <p:spPr>
          <a:xfrm>
            <a:off x="9108033" y="2725528"/>
            <a:ext cx="1773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g3eaafee75e2_3_268"/>
          <p:cNvSpPr txBox="1"/>
          <p:nvPr/>
        </p:nvSpPr>
        <p:spPr>
          <a:xfrm>
            <a:off x="6564046" y="3111183"/>
            <a:ext cx="48876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사유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8" name="Google Shape;1688;g3eaafee75e2_3_268"/>
          <p:cNvSpPr txBox="1"/>
          <p:nvPr/>
        </p:nvSpPr>
        <p:spPr>
          <a:xfrm>
            <a:off x="6564046" y="3279865"/>
            <a:ext cx="4887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가전 특성마다 판단 기준이 다름 → 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유형별 경로 분리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9" name="Google Shape;1689;g3eaafee75e2_3_268"/>
          <p:cNvSpPr/>
          <p:nvPr/>
        </p:nvSpPr>
        <p:spPr>
          <a:xfrm>
            <a:off x="833696" y="3955327"/>
            <a:ext cx="355800" cy="2670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g3eaafee75e2_3_268"/>
          <p:cNvSpPr/>
          <p:nvPr/>
        </p:nvSpPr>
        <p:spPr>
          <a:xfrm>
            <a:off x="835834" y="3952552"/>
            <a:ext cx="3558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g3eaafee75e2_3_268"/>
          <p:cNvSpPr txBox="1"/>
          <p:nvPr/>
        </p:nvSpPr>
        <p:spPr>
          <a:xfrm>
            <a:off x="1340394" y="4028753"/>
            <a:ext cx="1019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PATTERN 03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2" name="Google Shape;1692;g3eaafee75e2_3_268"/>
          <p:cNvSpPr txBox="1"/>
          <p:nvPr/>
        </p:nvSpPr>
        <p:spPr>
          <a:xfrm>
            <a:off x="5202725" y="3965354"/>
            <a:ext cx="5238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g3eaafee75e2_3_268"/>
          <p:cNvSpPr txBox="1"/>
          <p:nvPr/>
        </p:nvSpPr>
        <p:spPr>
          <a:xfrm>
            <a:off x="835842" y="4307949"/>
            <a:ext cx="48876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Parallelization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4" name="Google Shape;1694;g3eaafee75e2_3_268"/>
          <p:cNvSpPr/>
          <p:nvPr/>
        </p:nvSpPr>
        <p:spPr>
          <a:xfrm>
            <a:off x="835842" y="4848664"/>
            <a:ext cx="4887600" cy="520500"/>
          </a:xfrm>
          <a:prstGeom prst="roundRect">
            <a:avLst>
              <a:gd name="adj" fmla="val 22848"/>
            </a:avLst>
          </a:prstGeom>
          <a:solidFill>
            <a:srgbClr val="F0FDF4"/>
          </a:solidFill>
          <a:ln w="847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g3eaafee75e2_3_268"/>
          <p:cNvSpPr txBox="1"/>
          <p:nvPr/>
        </p:nvSpPr>
        <p:spPr>
          <a:xfrm>
            <a:off x="1116976" y="4931569"/>
            <a:ext cx="20949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NILM·상태 이벤트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6" name="Google Shape;1696;g3eaafee75e2_3_268"/>
          <p:cNvSpPr/>
          <p:nvPr/>
        </p:nvSpPr>
        <p:spPr>
          <a:xfrm>
            <a:off x="981064" y="4987653"/>
            <a:ext cx="68100" cy="447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g3eaafee75e2_3_268"/>
          <p:cNvSpPr txBox="1"/>
          <p:nvPr/>
        </p:nvSpPr>
        <p:spPr>
          <a:xfrm>
            <a:off x="3483341" y="4931569"/>
            <a:ext cx="20949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메모리 비교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8" name="Google Shape;1698;g3eaafee75e2_3_268"/>
          <p:cNvSpPr/>
          <p:nvPr/>
        </p:nvSpPr>
        <p:spPr>
          <a:xfrm>
            <a:off x="3347429" y="4987653"/>
            <a:ext cx="68100" cy="447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g3eaafee75e2_3_268"/>
          <p:cNvSpPr txBox="1"/>
          <p:nvPr/>
        </p:nvSpPr>
        <p:spPr>
          <a:xfrm>
            <a:off x="1116976" y="5126641"/>
            <a:ext cx="20949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KG 원인·권고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0" name="Google Shape;1700;g3eaafee75e2_3_268"/>
          <p:cNvSpPr/>
          <p:nvPr/>
        </p:nvSpPr>
        <p:spPr>
          <a:xfrm>
            <a:off x="981064" y="5183334"/>
            <a:ext cx="68100" cy="447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1" name="Google Shape;1701;g3eaafee75e2_3_268" descr="gen-dedup-46c4533cb2f26157c7bbd5ba7930f67c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9300" y="3803725"/>
            <a:ext cx="5356275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g3eaafee75e2_3_268"/>
          <p:cNvSpPr txBox="1"/>
          <p:nvPr/>
        </p:nvSpPr>
        <p:spPr>
          <a:xfrm>
            <a:off x="3483341" y="5126641"/>
            <a:ext cx="20949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64E3B"/>
                </a:solidFill>
                <a:latin typeface="Noto Sans"/>
                <a:ea typeface="Noto Sans"/>
                <a:cs typeface="Noto Sans"/>
                <a:sym typeface="Noto Sans"/>
              </a:rPr>
              <a:t>RAG 절감 팁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3" name="Google Shape;1703;g3eaafee75e2_3_268"/>
          <p:cNvSpPr/>
          <p:nvPr/>
        </p:nvSpPr>
        <p:spPr>
          <a:xfrm>
            <a:off x="3347429" y="5183334"/>
            <a:ext cx="68100" cy="447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g3eaafee75e2_3_268"/>
          <p:cNvSpPr txBox="1"/>
          <p:nvPr/>
        </p:nvSpPr>
        <p:spPr>
          <a:xfrm>
            <a:off x="835842" y="5599474"/>
            <a:ext cx="48876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 사유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5" name="Google Shape;1705;g3eaafee75e2_3_268"/>
          <p:cNvSpPr txBox="1"/>
          <p:nvPr/>
        </p:nvSpPr>
        <p:spPr>
          <a:xfrm>
            <a:off x="835842" y="5760015"/>
            <a:ext cx="4887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4개 컨텍스트 </a:t>
            </a:r>
            <a:r>
              <a:rPr lang="en-US" sz="11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독립 수집</a:t>
            </a:r>
            <a:r>
              <a:rPr lang="en-US" sz="11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→ 근거 누락 ↓, 지연 ↓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6" name="Google Shape;1706;g3eaafee75e2_3_268"/>
          <p:cNvSpPr/>
          <p:nvPr/>
        </p:nvSpPr>
        <p:spPr>
          <a:xfrm>
            <a:off x="6514272" y="3912402"/>
            <a:ext cx="355800" cy="2670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g3eaafee75e2_3_268"/>
          <p:cNvSpPr/>
          <p:nvPr/>
        </p:nvSpPr>
        <p:spPr>
          <a:xfrm>
            <a:off x="6507641" y="3912402"/>
            <a:ext cx="3558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g3eaafee75e2_3_268"/>
          <p:cNvSpPr txBox="1"/>
          <p:nvPr/>
        </p:nvSpPr>
        <p:spPr>
          <a:xfrm>
            <a:off x="7018825" y="3988602"/>
            <a:ext cx="1067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PATTERN 0</a:t>
            </a:r>
            <a:r>
              <a:rPr lang="en-US" sz="1100" b="1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9" name="Google Shape;1709;g3eaafee75e2_3_268"/>
          <p:cNvSpPr txBox="1"/>
          <p:nvPr/>
        </p:nvSpPr>
        <p:spPr>
          <a:xfrm>
            <a:off x="10940742" y="3925195"/>
            <a:ext cx="5238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100" b="1">
                <a:solidFill>
                  <a:srgbClr val="E63946"/>
                </a:solidFill>
              </a:rPr>
              <a:t>4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g3eaafee75e2_3_268"/>
          <p:cNvSpPr txBox="1"/>
          <p:nvPr/>
        </p:nvSpPr>
        <p:spPr>
          <a:xfrm>
            <a:off x="6514282" y="4267789"/>
            <a:ext cx="77484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Evaluator-Optimizer</a:t>
            </a:r>
            <a:endParaRPr sz="1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1" name="Google Shape;1711;g3eaafee75e2_3_268"/>
          <p:cNvSpPr/>
          <p:nvPr/>
        </p:nvSpPr>
        <p:spPr>
          <a:xfrm>
            <a:off x="6514282" y="4732304"/>
            <a:ext cx="3782700" cy="654300"/>
          </a:xfrm>
          <a:prstGeom prst="roundRect">
            <a:avLst>
              <a:gd name="adj" fmla="val 14477"/>
            </a:avLst>
          </a:prstGeom>
          <a:solidFill>
            <a:srgbClr val="FFFFFF"/>
          </a:solidFill>
          <a:ln w="847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2" name="Google Shape;1712;g3eaafee75e2_3_268"/>
          <p:cNvSpPr txBox="1"/>
          <p:nvPr/>
        </p:nvSpPr>
        <p:spPr>
          <a:xfrm>
            <a:off x="6659504" y="4815210"/>
            <a:ext cx="34911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Mission </a:t>
            </a: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11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Evaluator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JetBrains Mono"/>
              <a:buNone/>
            </a:pP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↓ feedback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Mission 재생성 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3" name="Google Shape;1713;g3eaafee75e2_3_268"/>
          <p:cNvSpPr txBox="1"/>
          <p:nvPr/>
        </p:nvSpPr>
        <p:spPr>
          <a:xfrm>
            <a:off x="6591834" y="5580334"/>
            <a:ext cx="3782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검증 </a:t>
            </a:r>
            <a:r>
              <a:rPr lang="en-US" sz="1100" b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lang="en-US" sz="11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축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4" name="Google Shape;1714;g3eaafee75e2_3_268"/>
          <p:cNvSpPr txBox="1"/>
          <p:nvPr/>
        </p:nvSpPr>
        <p:spPr>
          <a:xfrm>
            <a:off x="6591847" y="5753676"/>
            <a:ext cx="185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1100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·</a:t>
            </a:r>
            <a:r>
              <a:rPr lang="en-US" sz="11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진단·미션 일관성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5" name="Google Shape;1715;g3eaafee75e2_3_268"/>
          <p:cNvSpPr txBox="1"/>
          <p:nvPr/>
        </p:nvSpPr>
        <p:spPr>
          <a:xfrm>
            <a:off x="6591847" y="5946780"/>
            <a:ext cx="185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1100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·</a:t>
            </a:r>
            <a:r>
              <a:rPr lang="en-US" sz="11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가전 유형 적합성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6" name="Google Shape;1716;g3eaafee75e2_3_268"/>
          <p:cNvSpPr txBox="1"/>
          <p:nvPr/>
        </p:nvSpPr>
        <p:spPr>
          <a:xfrm>
            <a:off x="9006570" y="5753676"/>
            <a:ext cx="2396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1100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·</a:t>
            </a:r>
            <a:r>
              <a:rPr lang="en-US" sz="11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위험·부정확 권고, 절감액 과장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7" name="Google Shape;1717;g3eaafee75e2_3_268"/>
          <p:cNvSpPr txBox="1"/>
          <p:nvPr/>
        </p:nvSpPr>
        <p:spPr>
          <a:xfrm>
            <a:off x="9006570" y="5946780"/>
            <a:ext cx="2396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1100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·</a:t>
            </a:r>
            <a:r>
              <a:rPr lang="en-US" sz="1100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내부 용어 노출 여부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8" name="Google Shape;1718;g3eaafee75e2_3_268"/>
          <p:cNvSpPr txBox="1"/>
          <p:nvPr/>
        </p:nvSpPr>
        <p:spPr>
          <a:xfrm>
            <a:off x="1193597" y="495600"/>
            <a:ext cx="2185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추천시스템</a:t>
            </a:r>
            <a:endParaRPr sz="15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1513;g3eaa469dcba_0_445">
            <a:extLst>
              <a:ext uri="{FF2B5EF4-FFF2-40B4-BE49-F238E27FC236}">
                <a16:creationId xmlns:a16="http://schemas.microsoft.com/office/drawing/2014/main" id="{C9B34269-5499-982F-27EE-885BD769FC1D}"/>
              </a:ext>
            </a:extLst>
          </p:cNvPr>
          <p:cNvSpPr txBox="1"/>
          <p:nvPr/>
        </p:nvSpPr>
        <p:spPr>
          <a:xfrm>
            <a:off x="3378463" y="422150"/>
            <a:ext cx="597830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</a:t>
            </a:r>
            <a:r>
              <a:rPr lang="en-US" altLang="ko-KR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Anthropic Effective Agent 4</a:t>
            </a:r>
            <a:r>
              <a:rPr lang="ko-KR" altLang="en-US" sz="18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패턴 매핑</a:t>
            </a:r>
            <a:endParaRPr lang="ko-KR" altLang="en-US"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lvl="0"/>
            <a:endParaRPr sz="18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g3eaea90ab4f_6_60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554" y="48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g3eaea90ab4f_6_60"/>
          <p:cNvSpPr txBox="1"/>
          <p:nvPr/>
        </p:nvSpPr>
        <p:spPr>
          <a:xfrm>
            <a:off x="1371600" y="381300"/>
            <a:ext cx="4434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400"/>
              <a:buFont typeface="Noto Sans KR"/>
              <a:buNone/>
            </a:pPr>
            <a:endParaRPr sz="2700" b="1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27" name="Google Shape;1727;g3eaea90ab4f_6_6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7852" y="4055724"/>
            <a:ext cx="2617985" cy="235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g3eaea90ab4f_6_6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7848" y="1439401"/>
            <a:ext cx="2617985" cy="235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g3eaea90ab4f_6_6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02099" y="1439401"/>
            <a:ext cx="2618101" cy="235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g3eaea90ab4f_6_6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026" y="4055722"/>
            <a:ext cx="2617985" cy="235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g3eaea90ab4f_6_6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1670" y="4055722"/>
            <a:ext cx="2618101" cy="235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g3eaea90ab4f_6_60"/>
          <p:cNvSpPr txBox="1"/>
          <p:nvPr/>
        </p:nvSpPr>
        <p:spPr>
          <a:xfrm>
            <a:off x="3667338" y="5670432"/>
            <a:ext cx="4572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React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3" name="Google Shape;1733;g3eaea90ab4f_6_60"/>
          <p:cNvSpPr txBox="1"/>
          <p:nvPr/>
        </p:nvSpPr>
        <p:spPr>
          <a:xfrm>
            <a:off x="9516608" y="3011925"/>
            <a:ext cx="6474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FastAPI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4" name="Google Shape;1734;g3eaea90ab4f_6_60"/>
          <p:cNvSpPr txBox="1"/>
          <p:nvPr/>
        </p:nvSpPr>
        <p:spPr>
          <a:xfrm>
            <a:off x="981743" y="5711925"/>
            <a:ext cx="9081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TimescaleDB</a:t>
            </a:r>
            <a:endParaRPr sz="1116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(PostgreSQL)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5" name="Google Shape;1735;g3eaea90ab4f_6_60"/>
          <p:cNvSpPr txBox="1"/>
          <p:nvPr/>
        </p:nvSpPr>
        <p:spPr>
          <a:xfrm>
            <a:off x="6668033" y="5247091"/>
            <a:ext cx="7617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Pydantic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36" name="Google Shape;1736;g3eaea90ab4f_6_6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5622" y="4205742"/>
            <a:ext cx="418883" cy="4188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g3eaea90ab4f_6_60"/>
          <p:cNvSpPr txBox="1"/>
          <p:nvPr/>
        </p:nvSpPr>
        <p:spPr>
          <a:xfrm>
            <a:off x="4072173" y="4330583"/>
            <a:ext cx="659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Frontend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38" name="Google Shape;1738;g3eaea90ab4f_6_6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5622" y="1581925"/>
            <a:ext cx="429347" cy="41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g3eaea90ab4f_6_60"/>
          <p:cNvSpPr txBox="1"/>
          <p:nvPr/>
        </p:nvSpPr>
        <p:spPr>
          <a:xfrm>
            <a:off x="4072173" y="1710413"/>
            <a:ext cx="924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LLM / Agent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40" name="Google Shape;1740;g3eaea90ab4f_6_6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80068" y="1581927"/>
            <a:ext cx="429356" cy="418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g3eaea90ab4f_6_60"/>
          <p:cNvSpPr txBox="1"/>
          <p:nvPr/>
        </p:nvSpPr>
        <p:spPr>
          <a:xfrm>
            <a:off x="9690629" y="1710413"/>
            <a:ext cx="1812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Backend / Auth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42" name="Google Shape;1742;g3eaea90ab4f_6_6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2604" y="4205742"/>
            <a:ext cx="418883" cy="4188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g3eaea90ab4f_6_60"/>
          <p:cNvSpPr txBox="1"/>
          <p:nvPr/>
        </p:nvSpPr>
        <p:spPr>
          <a:xfrm>
            <a:off x="1287111" y="4330583"/>
            <a:ext cx="1258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Database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44" name="Google Shape;1744;g3eaea90ab4f_6_6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41400" y="4205741"/>
            <a:ext cx="429356" cy="418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g3eaea90ab4f_6_60"/>
          <p:cNvSpPr txBox="1"/>
          <p:nvPr/>
        </p:nvSpPr>
        <p:spPr>
          <a:xfrm>
            <a:off x="6858334" y="4330583"/>
            <a:ext cx="1920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Validation / Tracking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46" name="Google Shape;1746;g3eaea90ab4f_6_6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87843" y="4310462"/>
            <a:ext cx="180479" cy="20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g3eaea90ab4f_6_6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55259" y="1690294"/>
            <a:ext cx="213063" cy="209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g3eaea90ab4f_6_6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372" y="1690292"/>
            <a:ext cx="144383" cy="20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9" name="Google Shape;1749;g3eaea90ab4f_6_6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1588" y="4310462"/>
            <a:ext cx="129945" cy="20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g3eaea90ab4f_6_6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49866" y="4310462"/>
            <a:ext cx="180479" cy="20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1" name="Google Shape;1751;g3eaea90ab4f_6_6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3900" y="1449583"/>
            <a:ext cx="2618101" cy="235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g3eaea90ab4f_6_60"/>
          <p:cNvSpPr txBox="1"/>
          <p:nvPr/>
        </p:nvSpPr>
        <p:spPr>
          <a:xfrm>
            <a:off x="905420" y="3021550"/>
            <a:ext cx="908100" cy="1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r>
              <a:rPr lang="en-US" sz="1042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Google Cloud</a:t>
            </a:r>
            <a:endParaRPr sz="1042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53" name="Google Shape;1753;g3eaea90ab4f_6_6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2604" y="1591550"/>
            <a:ext cx="429347" cy="41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g3eaea90ab4f_6_60"/>
          <p:cNvSpPr txBox="1"/>
          <p:nvPr/>
        </p:nvSpPr>
        <p:spPr>
          <a:xfrm>
            <a:off x="1287111" y="1710413"/>
            <a:ext cx="1812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Infra / DevOps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55" name="Google Shape;1755;g3eaea90ab4f_6_6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14593" y="1690292"/>
            <a:ext cx="180479" cy="20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6" name="Google Shape;1756;g3eaea90ab4f_6_6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86665" y="4055722"/>
            <a:ext cx="2618101" cy="235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g3eaea90ab4f_6_60"/>
          <p:cNvSpPr txBox="1"/>
          <p:nvPr/>
        </p:nvSpPr>
        <p:spPr>
          <a:xfrm>
            <a:off x="9336019" y="5651640"/>
            <a:ext cx="4572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Slack</a:t>
            </a:r>
            <a:endParaRPr sz="1116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58" name="Google Shape;1758;g3eaea90ab4f_6_6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80068" y="4205741"/>
            <a:ext cx="429356" cy="418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g3eaea90ab4f_6_60"/>
          <p:cNvSpPr txBox="1"/>
          <p:nvPr/>
        </p:nvSpPr>
        <p:spPr>
          <a:xfrm>
            <a:off x="9690629" y="4330583"/>
            <a:ext cx="1557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Collaboration 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60" name="Google Shape;1760;g3eaea90ab4f_6_6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14715" y="4310462"/>
            <a:ext cx="180479" cy="20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g3eaea90ab4f_6_6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1674" y="1439400"/>
            <a:ext cx="2617985" cy="235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g3eaea90ab4f_6_60"/>
          <p:cNvSpPr txBox="1"/>
          <p:nvPr/>
        </p:nvSpPr>
        <p:spPr>
          <a:xfrm>
            <a:off x="6449204" y="2654312"/>
            <a:ext cx="9468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CNN Encoder</a:t>
            </a:r>
            <a:endParaRPr sz="1116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3" name="Google Shape;1763;g3eaea90ab4f_6_60"/>
          <p:cNvSpPr txBox="1"/>
          <p:nvPr/>
        </p:nvSpPr>
        <p:spPr>
          <a:xfrm>
            <a:off x="6858334" y="1710413"/>
            <a:ext cx="1812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Model / Algorithm  </a:t>
            </a:r>
            <a:endParaRPr sz="11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64" name="Google Shape;1764;g3eaea90ab4f_6_6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95975" y="2328689"/>
            <a:ext cx="457199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g3eaea90ab4f_6_60"/>
          <p:cNvSpPr txBox="1"/>
          <p:nvPr/>
        </p:nvSpPr>
        <p:spPr>
          <a:xfrm>
            <a:off x="2185064" y="2927264"/>
            <a:ext cx="8181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r>
              <a:rPr lang="en-US" sz="1042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Docker</a:t>
            </a:r>
            <a:endParaRPr sz="1042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66" name="Google Shape;1766;g3eaea90ab4f_6_6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242400" y="2328699"/>
            <a:ext cx="457199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g3eaea90ab4f_6_6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092808" y="5057002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" name="Google Shape;1768;g3eaea90ab4f_6_6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282225" y="50539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" name="Google Shape;1769;g3eaea90ab4f_6_6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151950" y="50539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0" name="Google Shape;1770;g3eaea90ab4f_6_6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637847" y="5097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g3eaea90ab4f_6_60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417704" y="50797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Google Shape;1772;g3eaea90ab4f_6_60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5237496" y="509055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g3eaea90ab4f_6_6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0835375" y="50774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g3eaea90ab4f_6_60"/>
          <p:cNvSpPr txBox="1"/>
          <p:nvPr/>
        </p:nvSpPr>
        <p:spPr>
          <a:xfrm>
            <a:off x="10104984" y="5651640"/>
            <a:ext cx="4572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Github</a:t>
            </a:r>
            <a:endParaRPr sz="1116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5" name="Google Shape;1775;g3eaea90ab4f_6_60"/>
          <p:cNvSpPr txBox="1"/>
          <p:nvPr/>
        </p:nvSpPr>
        <p:spPr>
          <a:xfrm>
            <a:off x="10835373" y="5651640"/>
            <a:ext cx="4572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Notion</a:t>
            </a:r>
            <a:endParaRPr sz="1116" i="0" u="none" strike="noStrike" cap="none">
              <a:solidFill>
                <a:srgbClr val="3341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6" name="Google Shape;1776;g3eaea90ab4f_6_60"/>
          <p:cNvSpPr txBox="1"/>
          <p:nvPr/>
        </p:nvSpPr>
        <p:spPr>
          <a:xfrm>
            <a:off x="4283107" y="5677893"/>
            <a:ext cx="7134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TypeScript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7" name="Google Shape;1777;g3eaea90ab4f_6_60"/>
          <p:cNvSpPr txBox="1"/>
          <p:nvPr/>
        </p:nvSpPr>
        <p:spPr>
          <a:xfrm>
            <a:off x="5065360" y="5688724"/>
            <a:ext cx="10323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Tailwind CSS 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78" name="Google Shape;1778;g3eaea90ab4f_6_6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9538714" y="2329941"/>
            <a:ext cx="457199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g3eaea90ab4f_6_60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0579850" y="2253284"/>
            <a:ext cx="523200" cy="55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g3eaea90ab4f_6_60"/>
          <p:cNvSpPr txBox="1"/>
          <p:nvPr/>
        </p:nvSpPr>
        <p:spPr>
          <a:xfrm>
            <a:off x="10582391" y="2912700"/>
            <a:ext cx="523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JWT</a:t>
            </a:r>
            <a:endParaRPr sz="1042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1" name="Google Shape;1781;g3eaea90ab4f_6_60"/>
          <p:cNvSpPr txBox="1"/>
          <p:nvPr/>
        </p:nvSpPr>
        <p:spPr>
          <a:xfrm>
            <a:off x="7501317" y="2562062"/>
            <a:ext cx="10866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 TDA Encoder </a:t>
            </a:r>
            <a:endParaRPr sz="14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2" name="Google Shape;1782;g3eaea90ab4f_6_60"/>
          <p:cNvSpPr txBox="1"/>
          <p:nvPr/>
        </p:nvSpPr>
        <p:spPr>
          <a:xfrm>
            <a:off x="7612551" y="5154841"/>
            <a:ext cx="7134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pytest </a:t>
            </a:r>
            <a:endParaRPr sz="1042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3" name="Google Shape;1783;g3eaea90ab4f_6_60"/>
          <p:cNvSpPr txBox="1"/>
          <p:nvPr/>
        </p:nvSpPr>
        <p:spPr>
          <a:xfrm>
            <a:off x="6356784" y="5790410"/>
            <a:ext cx="11721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LangSmith </a:t>
            </a:r>
            <a:endParaRPr sz="14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4" name="Google Shape;1784;g3eaea90ab4f_6_60"/>
          <p:cNvSpPr txBox="1"/>
          <p:nvPr/>
        </p:nvSpPr>
        <p:spPr>
          <a:xfrm>
            <a:off x="7215959" y="5790400"/>
            <a:ext cx="7134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MLflow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785" name="Google Shape;1785;g3eaea90ab4f_6_60"/>
          <p:cNvGrpSpPr/>
          <p:nvPr/>
        </p:nvGrpSpPr>
        <p:grpSpPr>
          <a:xfrm>
            <a:off x="3687007" y="2285064"/>
            <a:ext cx="2216145" cy="968707"/>
            <a:chOff x="3608553" y="2285064"/>
            <a:chExt cx="2216145" cy="968707"/>
          </a:xfrm>
        </p:grpSpPr>
        <p:sp>
          <p:nvSpPr>
            <p:cNvPr id="1786" name="Google Shape;1786;g3eaea90ab4f_6_60"/>
            <p:cNvSpPr txBox="1"/>
            <p:nvPr/>
          </p:nvSpPr>
          <p:spPr>
            <a:xfrm>
              <a:off x="3608553" y="3011512"/>
              <a:ext cx="946800" cy="1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6"/>
                <a:buFont typeface="Arial"/>
                <a:buNone/>
              </a:pPr>
              <a:r>
                <a:rPr lang="en-US" sz="1116" i="0" u="none" strike="noStrike" cap="none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GPT-4o-mini</a:t>
              </a:r>
              <a:endParaRPr sz="1042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787" name="Google Shape;1787;g3eaea90ab4f_6_60"/>
            <p:cNvPicPr preferRelativeResize="0"/>
            <p:nvPr/>
          </p:nvPicPr>
          <p:blipFill rotWithShape="1">
            <a:blip r:embed="rId28">
              <a:alphaModFix/>
            </a:blip>
            <a:srcRect r="-14430" b="-5865"/>
            <a:stretch/>
          </p:blipFill>
          <p:spPr>
            <a:xfrm>
              <a:off x="3708471" y="2294050"/>
              <a:ext cx="647400" cy="598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8" name="Google Shape;1788;g3eaea90ab4f_6_60"/>
            <p:cNvSpPr txBox="1"/>
            <p:nvPr/>
          </p:nvSpPr>
          <p:spPr>
            <a:xfrm>
              <a:off x="4652598" y="2897371"/>
              <a:ext cx="11721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6"/>
                <a:buFont typeface="Arial"/>
                <a:buNone/>
              </a:pPr>
              <a:r>
                <a:rPr lang="en-US" sz="1116" i="0" u="none" strike="noStrike" cap="none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LangGraph</a:t>
              </a:r>
              <a:endParaRPr sz="1042" i="0" u="none" strike="noStrike" cap="none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789" name="Google Shape;1789;g3eaea90ab4f_6_60" title="langgraph.png"/>
            <p:cNvPicPr preferRelativeResize="0"/>
            <p:nvPr/>
          </p:nvPicPr>
          <p:blipFill rotWithShape="1">
            <a:blip r:embed="rId29">
              <a:alphaModFix/>
            </a:blip>
            <a:srcRect/>
            <a:stretch/>
          </p:blipFill>
          <p:spPr>
            <a:xfrm>
              <a:off x="4845674" y="2285064"/>
              <a:ext cx="598899" cy="5989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90" name="Google Shape;1790;g3eaea90ab4f_6_60" descr="image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341400" y="1581925"/>
            <a:ext cx="429356" cy="418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g3eaea90ab4f_6_60" descr="image.png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6485962" y="1690292"/>
            <a:ext cx="144383" cy="209442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g3eaea90ab4f_6_60"/>
          <p:cNvSpPr txBox="1"/>
          <p:nvPr/>
        </p:nvSpPr>
        <p:spPr>
          <a:xfrm>
            <a:off x="6261450" y="3454109"/>
            <a:ext cx="13818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HMM</a:t>
            </a:r>
            <a:endParaRPr sz="14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93" name="Google Shape;1793;g3eaea90ab4f_6_60" descr="gen-dedup-ab97c043aaca5438d62dd9b1401da901.png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1805" y="4853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g3eaea90ab4f_6_60"/>
          <p:cNvSpPr txBox="1"/>
          <p:nvPr/>
        </p:nvSpPr>
        <p:spPr>
          <a:xfrm>
            <a:off x="7503450" y="3454109"/>
            <a:ext cx="11721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GMM</a:t>
            </a:r>
            <a:endParaRPr sz="14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95" name="Google Shape;1795;g3eaea90ab4f_6_60"/>
          <p:cNvPicPr preferRelativeResize="0"/>
          <p:nvPr/>
        </p:nvPicPr>
        <p:blipFill rotWithShape="1">
          <a:blip r:embed="rId33">
            <a:alphaModFix/>
          </a:blip>
          <a:srcRect l="12772" t="12325" r="13400" b="39812"/>
          <a:stretch/>
        </p:blipFill>
        <p:spPr>
          <a:xfrm>
            <a:off x="6535372" y="5532300"/>
            <a:ext cx="523200" cy="33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g3eaea90ab4f_6_60"/>
          <p:cNvPicPr preferRelativeResize="0"/>
          <p:nvPr/>
        </p:nvPicPr>
        <p:blipFill rotWithShape="1">
          <a:blip r:embed="rId34">
            <a:alphaModFix/>
          </a:blip>
          <a:srcRect l="19560" t="8926" r="19180" b="31885"/>
          <a:stretch/>
        </p:blipFill>
        <p:spPr>
          <a:xfrm>
            <a:off x="7336428" y="5545152"/>
            <a:ext cx="340894" cy="29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g3eaea90ab4f_6_60"/>
          <p:cNvPicPr preferRelativeResize="0"/>
          <p:nvPr/>
        </p:nvPicPr>
        <p:blipFill rotWithShape="1">
          <a:blip r:embed="rId35">
            <a:alphaModFix/>
          </a:blip>
          <a:srcRect l="20442" t="11815" r="22694" b="35084"/>
          <a:stretch/>
        </p:blipFill>
        <p:spPr>
          <a:xfrm>
            <a:off x="6773240" y="4853222"/>
            <a:ext cx="381667" cy="35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g3eaea90ab4f_6_60"/>
          <p:cNvPicPr preferRelativeResize="0"/>
          <p:nvPr/>
        </p:nvPicPr>
        <p:blipFill rotWithShape="1">
          <a:blip r:embed="rId36">
            <a:alphaModFix/>
          </a:blip>
          <a:srcRect l="24586" t="10332" r="22970" b="33237"/>
          <a:stretch/>
        </p:blipFill>
        <p:spPr>
          <a:xfrm>
            <a:off x="7776973" y="4826063"/>
            <a:ext cx="381674" cy="410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g3eaea90ab4f_6_60"/>
          <p:cNvPicPr preferRelativeResize="0"/>
          <p:nvPr/>
        </p:nvPicPr>
        <p:blipFill rotWithShape="1">
          <a:blip r:embed="rId37">
            <a:alphaModFix/>
          </a:blip>
          <a:srcRect t="11386" b="9"/>
          <a:stretch/>
        </p:blipFill>
        <p:spPr>
          <a:xfrm>
            <a:off x="6489100" y="2882760"/>
            <a:ext cx="946800" cy="617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g3eaea90ab4f_6_60"/>
          <p:cNvPicPr preferRelativeResize="0"/>
          <p:nvPr/>
        </p:nvPicPr>
        <p:blipFill rotWithShape="1">
          <a:blip r:embed="rId38">
            <a:alphaModFix/>
          </a:blip>
          <a:srcRect b="9371"/>
          <a:stretch/>
        </p:blipFill>
        <p:spPr>
          <a:xfrm>
            <a:off x="7566005" y="2907635"/>
            <a:ext cx="981965" cy="5989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01" name="Google Shape;1801;g3eaea90ab4f_6_60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6222369" y="2017121"/>
            <a:ext cx="1258486" cy="44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g3eaea90ab4f_6_60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7301141" y="2052633"/>
            <a:ext cx="1316571" cy="457202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g3eaea90ab4f_6_60"/>
          <p:cNvSpPr txBox="1"/>
          <p:nvPr/>
        </p:nvSpPr>
        <p:spPr>
          <a:xfrm>
            <a:off x="1145972" y="499455"/>
            <a:ext cx="88905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기술 스택 및 개발 </a:t>
            </a:r>
            <a:r>
              <a:rPr lang="en-US" sz="2700" b="1">
                <a:solidFill>
                  <a:srgbClr val="212529"/>
                </a:solidFill>
                <a:latin typeface="Noto Sans"/>
                <a:ea typeface="Noto Sans"/>
                <a:cs typeface="Noto Sans"/>
                <a:sym typeface="Noto Sans"/>
              </a:rPr>
              <a:t>검증 도구 </a:t>
            </a:r>
            <a:endParaRPr sz="27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4" name="Google Shape;1804;g3eaea90ab4f_6_60"/>
          <p:cNvSpPr txBox="1"/>
          <p:nvPr/>
        </p:nvSpPr>
        <p:spPr>
          <a:xfrm>
            <a:off x="1193597" y="901599"/>
            <a:ext cx="88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Noto Sans KR"/>
              <a:buNone/>
            </a:pPr>
            <a:r>
              <a:rPr lang="en-US" sz="1300">
                <a:solidFill>
                  <a:srgbClr val="6C757D"/>
                </a:solidFill>
                <a:latin typeface="Noto Sans"/>
                <a:ea typeface="Noto Sans"/>
                <a:cs typeface="Noto Sans"/>
                <a:sym typeface="Noto Sans"/>
              </a:rPr>
              <a:t>AI 모델·백엔드·프론트엔드·검증 도구를 기능별로 구성</a:t>
            </a:r>
            <a:endParaRPr sz="1300">
              <a:solidFill>
                <a:srgbClr val="6B728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5" name="Google Shape;1805;g3eaea90ab4f_6_60"/>
          <p:cNvSpPr txBox="1"/>
          <p:nvPr/>
        </p:nvSpPr>
        <p:spPr>
          <a:xfrm>
            <a:off x="2328322" y="5711925"/>
            <a:ext cx="5232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neo4j</a:t>
            </a:r>
            <a:endParaRPr sz="1042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806" name="Google Shape;1806;g3eaea90ab4f_6_60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2083038" y="5121387"/>
            <a:ext cx="908100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g3eaea90ab4f_6_60"/>
          <p:cNvSpPr txBox="1"/>
          <p:nvPr/>
        </p:nvSpPr>
        <p:spPr>
          <a:xfrm>
            <a:off x="7929709" y="5789276"/>
            <a:ext cx="7134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rPr>
              <a:t>ragas</a:t>
            </a:r>
            <a:endParaRPr sz="14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808" name="Google Shape;1808;g3eaea90ab4f_6_60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8036738" y="5563071"/>
            <a:ext cx="301388" cy="309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g3eaea90ab4f_6_60" descr="preencoded.png"/>
          <p:cNvPicPr preferRelativeResize="0"/>
          <p:nvPr/>
        </p:nvPicPr>
        <p:blipFill rotWithShape="1">
          <a:blip r:embed="rId43">
            <a:alphaModFix/>
          </a:blip>
          <a:srcRect t="-40" b="-50"/>
          <a:stretch/>
        </p:blipFill>
        <p:spPr>
          <a:xfrm>
            <a:off x="684479" y="599846"/>
            <a:ext cx="256946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5" name="Google Shape;1815;g3ea66c3de90_6_1225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554" y="214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g3ea66c3de90_6_1225" descr="gen-dedup-ab97c043aaca5438d62dd9b1401da9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g3ea66c3de90_6_1225" descr="gen-dedup-14029340c0e087db8d5bfda4f178d5e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g3ea66c3de90_6_1225" descr="gen-dedup-f404bf66f8c3eb4ca9534ed2d090db4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800" y="1439400"/>
            <a:ext cx="5207199" cy="49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9" name="Google Shape;1819;g3ea66c3de90_6_1225" descr="gen-dedup-91a19637ca8b3b540b214d1b04c841cd.png"/>
          <p:cNvPicPr preferRelativeResize="0"/>
          <p:nvPr/>
        </p:nvPicPr>
        <p:blipFill rotWithShape="1">
          <a:blip r:embed="rId7">
            <a:alphaModFix/>
          </a:blip>
          <a:srcRect t="-10" b="-10"/>
          <a:stretch/>
        </p:blipFill>
        <p:spPr>
          <a:xfrm>
            <a:off x="5905805" y="1791005"/>
            <a:ext cx="5715000" cy="10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g3ea66c3de90_6_1225" descr="gen-dedup-91a19637ca8b3b540b214d1b04c841cd.png"/>
          <p:cNvPicPr preferRelativeResize="0"/>
          <p:nvPr/>
        </p:nvPicPr>
        <p:blipFill rotWithShape="1">
          <a:blip r:embed="rId7">
            <a:alphaModFix/>
          </a:blip>
          <a:srcRect t="-10" b="-10"/>
          <a:stretch/>
        </p:blipFill>
        <p:spPr>
          <a:xfrm>
            <a:off x="5905805" y="2997403"/>
            <a:ext cx="5715000" cy="10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g3ea66c3de90_6_1225" descr="gen-dedup-91a19637ca8b3b540b214d1b04c841cd.png"/>
          <p:cNvPicPr preferRelativeResize="0"/>
          <p:nvPr/>
        </p:nvPicPr>
        <p:blipFill rotWithShape="1">
          <a:blip r:embed="rId7">
            <a:alphaModFix/>
          </a:blip>
          <a:srcRect t="-10" b="-10"/>
          <a:stretch/>
        </p:blipFill>
        <p:spPr>
          <a:xfrm>
            <a:off x="5905805" y="4203801"/>
            <a:ext cx="5715000" cy="10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g3ea66c3de90_6_1225" descr="gen-dedup-f536ae397d42d5f2cc35da43223cd109.png"/>
          <p:cNvPicPr preferRelativeResize="0"/>
          <p:nvPr/>
        </p:nvPicPr>
        <p:blipFill rotWithShape="1">
          <a:blip r:embed="rId8">
            <a:alphaModFix/>
          </a:blip>
          <a:srcRect t="-20" b="-10"/>
          <a:stretch/>
        </p:blipFill>
        <p:spPr>
          <a:xfrm>
            <a:off x="5905800" y="5410200"/>
            <a:ext cx="5715000" cy="10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g3ea66c3de90_6_1225" descr="gen-dedup-04fcb632947d9a80de3edfa75bc2af1a.png"/>
          <p:cNvPicPr preferRelativeResize="0"/>
          <p:nvPr/>
        </p:nvPicPr>
        <p:blipFill rotWithShape="1">
          <a:blip r:embed="rId9">
            <a:alphaModFix/>
          </a:blip>
          <a:srcRect l="-393" r="-393"/>
          <a:stretch/>
        </p:blipFill>
        <p:spPr>
          <a:xfrm>
            <a:off x="5905805" y="1791005"/>
            <a:ext cx="38405" cy="109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g3ea66c3de90_6_1225" descr="gen-dedup-1078b81d04fba34967db44fe83e81c79.png"/>
          <p:cNvPicPr preferRelativeResize="0"/>
          <p:nvPr/>
        </p:nvPicPr>
        <p:blipFill rotWithShape="1">
          <a:blip r:embed="rId10">
            <a:alphaModFix/>
          </a:blip>
          <a:srcRect l="-393" r="-393"/>
          <a:stretch/>
        </p:blipFill>
        <p:spPr>
          <a:xfrm>
            <a:off x="5905805" y="2997403"/>
            <a:ext cx="38405" cy="109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g3ea66c3de90_6_1225" descr="gen-dedup-18eb14d32926beb87c3d83ca29a6ec7f.png"/>
          <p:cNvPicPr preferRelativeResize="0"/>
          <p:nvPr/>
        </p:nvPicPr>
        <p:blipFill rotWithShape="1">
          <a:blip r:embed="rId11">
            <a:alphaModFix/>
          </a:blip>
          <a:srcRect l="-393" r="-393"/>
          <a:stretch/>
        </p:blipFill>
        <p:spPr>
          <a:xfrm>
            <a:off x="5905805" y="4203801"/>
            <a:ext cx="38405" cy="109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" name="Google Shape;1826;g3ea66c3de90_6_1225" descr="gen-dedup-b58d19c2aa0899c879b48f7bacdf7fb2.png"/>
          <p:cNvPicPr preferRelativeResize="0"/>
          <p:nvPr/>
        </p:nvPicPr>
        <p:blipFill rotWithShape="1">
          <a:blip r:embed="rId12">
            <a:alphaModFix/>
          </a:blip>
          <a:srcRect l="-383" r="-383"/>
          <a:stretch/>
        </p:blipFill>
        <p:spPr>
          <a:xfrm>
            <a:off x="5905800" y="5410200"/>
            <a:ext cx="38400" cy="10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g3ea66c3de90_6_1225" descr="gen-dedup-3bca9071645a987176503a2e85f4fb2b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4801" y="1574597"/>
            <a:ext cx="4800602" cy="4648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g3ea66c3de90_6_1225"/>
          <p:cNvSpPr/>
          <p:nvPr/>
        </p:nvSpPr>
        <p:spPr>
          <a:xfrm>
            <a:off x="599999" y="3594200"/>
            <a:ext cx="936900" cy="585600"/>
          </a:xfrm>
          <a:prstGeom prst="roundRect">
            <a:avLst>
              <a:gd name="adj" fmla="val 30012"/>
            </a:avLst>
          </a:prstGeom>
          <a:solidFill>
            <a:srgbClr val="FFFFFF"/>
          </a:solidFill>
          <a:ln w="9775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  <a:effectLst>
            <a:outerShdw blurRad="87845" dist="29282" dir="162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70275" tIns="70275" rIns="70275" bIns="70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g3ea66c3de90_6_1225"/>
          <p:cNvSpPr txBox="1"/>
          <p:nvPr/>
        </p:nvSpPr>
        <p:spPr>
          <a:xfrm>
            <a:off x="774801" y="1879397"/>
            <a:ext cx="48006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400"/>
              <a:buFont typeface="Arial"/>
              <a:buNone/>
            </a:pPr>
            <a:r>
              <a:rPr lang="en-US" b="1" i="0" u="none" strike="noStrike" cap="none">
                <a:solidFill>
                  <a:srgbClr val="1E40AF"/>
                </a:solidFill>
                <a:latin typeface="Noto Sans"/>
                <a:ea typeface="Noto Sans"/>
                <a:cs typeface="Noto Sans"/>
                <a:sym typeface="Noto Sans"/>
              </a:rPr>
              <a:t>Frameworks &amp; Drivers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0" name="Google Shape;1830;g3ea66c3de90_6_1225"/>
          <p:cNvSpPr txBox="1"/>
          <p:nvPr/>
        </p:nvSpPr>
        <p:spPr>
          <a:xfrm>
            <a:off x="774801" y="2091537"/>
            <a:ext cx="48006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FRAMEWORKS LAYER · 외부 기술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1" name="Google Shape;1831;g3ea66c3de90_6_1225"/>
          <p:cNvSpPr txBox="1"/>
          <p:nvPr/>
        </p:nvSpPr>
        <p:spPr>
          <a:xfrm>
            <a:off x="774801" y="2375001"/>
            <a:ext cx="4800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047857"/>
                </a:solidFill>
                <a:latin typeface="Noto Sans"/>
                <a:ea typeface="Noto Sans"/>
                <a:cs typeface="Noto Sans"/>
                <a:sym typeface="Noto Sans"/>
              </a:rPr>
              <a:t>Interface Adapters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2" name="Google Shape;1832;g3ea66c3de90_6_1225"/>
          <p:cNvSpPr txBox="1"/>
          <p:nvPr/>
        </p:nvSpPr>
        <p:spPr>
          <a:xfrm>
            <a:off x="774801" y="2546909"/>
            <a:ext cx="48006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ADAPTER LAYER · 변환·중개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3" name="Google Shape;1833;g3ea66c3de90_6_1225"/>
          <p:cNvSpPr txBox="1"/>
          <p:nvPr/>
        </p:nvSpPr>
        <p:spPr>
          <a:xfrm>
            <a:off x="774801" y="2862975"/>
            <a:ext cx="4800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Use Cases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4" name="Google Shape;1834;g3ea66c3de90_6_1225"/>
          <p:cNvSpPr txBox="1"/>
          <p:nvPr/>
        </p:nvSpPr>
        <p:spPr>
          <a:xfrm>
            <a:off x="774801" y="3015375"/>
            <a:ext cx="48006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APPLICATION LAYER · 비즈니스 로직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5" name="Google Shape;1835;g3ea66c3de90_6_1225"/>
          <p:cNvSpPr txBox="1"/>
          <p:nvPr/>
        </p:nvSpPr>
        <p:spPr>
          <a:xfrm>
            <a:off x="2387803" y="3663627"/>
            <a:ext cx="15753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991B1B"/>
                </a:solidFill>
                <a:latin typeface="Noto Sans"/>
                <a:ea typeface="Noto Sans"/>
                <a:cs typeface="Noto Sans"/>
                <a:sym typeface="Noto Sans"/>
              </a:rPr>
              <a:t>Entities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6" name="Google Shape;1836;g3ea66c3de90_6_1225"/>
          <p:cNvSpPr txBox="1"/>
          <p:nvPr/>
        </p:nvSpPr>
        <p:spPr>
          <a:xfrm>
            <a:off x="2387803" y="3989154"/>
            <a:ext cx="1575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가구 · 가전 · 사용량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이상 이벤트 · 진단 리포트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캐시백 미션 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7" name="Google Shape;1837;g3ea66c3de90_6_1225"/>
          <p:cNvSpPr txBox="1"/>
          <p:nvPr/>
        </p:nvSpPr>
        <p:spPr>
          <a:xfrm>
            <a:off x="2387803" y="3842850"/>
            <a:ext cx="1575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500"/>
              <a:buFont typeface="Arial"/>
              <a:buNone/>
            </a:pPr>
            <a:r>
              <a:rPr lang="en-US" sz="6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DOMAIN · 핵심</a:t>
            </a:r>
            <a:endParaRPr sz="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8" name="Google Shape;1838;g3ea66c3de90_6_1225"/>
          <p:cNvSpPr txBox="1"/>
          <p:nvPr/>
        </p:nvSpPr>
        <p:spPr>
          <a:xfrm>
            <a:off x="1269797" y="4830661"/>
            <a:ext cx="3810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 AI 진단 생성 · 캐시백 미션 생성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78350F"/>
                </a:solidFill>
                <a:latin typeface="Noto Sans"/>
                <a:ea typeface="Noto Sans"/>
                <a:cs typeface="Noto Sans"/>
                <a:sym typeface="Noto Sans"/>
              </a:rPr>
              <a:t> 절감액 계산 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9" name="Google Shape;1839;g3ea66c3de90_6_1225"/>
          <p:cNvSpPr txBox="1"/>
          <p:nvPr/>
        </p:nvSpPr>
        <p:spPr>
          <a:xfrm>
            <a:off x="1269797" y="5284758"/>
            <a:ext cx="3810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API Controller · Repository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 RAG · LLM · Tool Adapter 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0" name="Google Shape;1840;g3ea66c3de90_6_1225"/>
          <p:cNvSpPr txBox="1"/>
          <p:nvPr/>
        </p:nvSpPr>
        <p:spPr>
          <a:xfrm>
            <a:off x="1269797" y="5791200"/>
            <a:ext cx="3810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 React · FastAPI · DB · LangGraph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 OpenAI API · NILM / ML 모델 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1" name="Google Shape;1841;g3ea66c3de90_6_1225"/>
          <p:cNvSpPr txBox="1"/>
          <p:nvPr/>
        </p:nvSpPr>
        <p:spPr>
          <a:xfrm>
            <a:off x="1193600" y="495600"/>
            <a:ext cx="27696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클린 아키텍처 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2" name="Google Shape;1842;g3ea66c3de90_6_1225"/>
          <p:cNvSpPr txBox="1"/>
          <p:nvPr/>
        </p:nvSpPr>
        <p:spPr>
          <a:xfrm>
            <a:off x="1193597" y="901599"/>
            <a:ext cx="88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의존성은 </a:t>
            </a:r>
            <a:r>
              <a:rPr lang="en-US" sz="13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바깥 → 안쪽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으로 — 도메인은 외부 기술 변화에 흔들리지 않는다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3" name="Google Shape;1843;g3ea66c3de90_6_1225"/>
          <p:cNvSpPr txBox="1"/>
          <p:nvPr/>
        </p:nvSpPr>
        <p:spPr>
          <a:xfrm>
            <a:off x="701900" y="3682045"/>
            <a:ext cx="7323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76"/>
              <a:buFont typeface="Arial"/>
              <a:buNone/>
            </a:pPr>
            <a:r>
              <a:rPr lang="en-US" sz="692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의존성 방향</a:t>
            </a:r>
            <a:endParaRPr sz="692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4" name="Google Shape;1844;g3ea66c3de90_6_1225"/>
          <p:cNvSpPr txBox="1"/>
          <p:nvPr/>
        </p:nvSpPr>
        <p:spPr>
          <a:xfrm>
            <a:off x="701900" y="3806434"/>
            <a:ext cx="732300" cy="1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7"/>
              <a:buFont typeface="Arial"/>
              <a:buNone/>
            </a:pPr>
            <a:r>
              <a:rPr lang="en-US" sz="922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바깥 → 안쪽</a:t>
            </a:r>
            <a:endParaRPr sz="922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5" name="Google Shape;1845;g3ea66c3de90_6_1225"/>
          <p:cNvSpPr txBox="1"/>
          <p:nvPr/>
        </p:nvSpPr>
        <p:spPr>
          <a:xfrm>
            <a:off x="701900" y="3954014"/>
            <a:ext cx="732300" cy="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76"/>
              <a:buFont typeface="Arial"/>
              <a:buNone/>
            </a:pPr>
            <a:r>
              <a:rPr lang="en-US" sz="692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Dependency Rule</a:t>
            </a:r>
            <a:endParaRPr sz="692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846" name="Google Shape;1846;g3ea66c3de90_6_1225" descr="gen-dedup-6cab63c39b1fb7ebea4f05b7f67f08b9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31199" y="1437075"/>
            <a:ext cx="161134" cy="161134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g3ea66c3de90_6_1225"/>
          <p:cNvSpPr txBox="1"/>
          <p:nvPr/>
        </p:nvSpPr>
        <p:spPr>
          <a:xfrm>
            <a:off x="6165501" y="1444657"/>
            <a:ext cx="14868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0"/>
              <a:buFont typeface="Arial"/>
              <a:buNone/>
            </a:pPr>
            <a:r>
              <a:rPr lang="en-US" sz="1616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4 레이어 구성</a:t>
            </a:r>
            <a:endParaRPr sz="1616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8" name="Google Shape;1848;g3ea66c3de90_6_1225"/>
          <p:cNvSpPr/>
          <p:nvPr/>
        </p:nvSpPr>
        <p:spPr>
          <a:xfrm>
            <a:off x="6108801" y="2145792"/>
            <a:ext cx="215700" cy="2157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g3ea66c3de90_6_1225"/>
          <p:cNvSpPr/>
          <p:nvPr/>
        </p:nvSpPr>
        <p:spPr>
          <a:xfrm>
            <a:off x="6102045" y="2145798"/>
            <a:ext cx="2358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L1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0" name="Google Shape;1850;g3ea66c3de90_6_1225"/>
          <p:cNvSpPr txBox="1"/>
          <p:nvPr/>
        </p:nvSpPr>
        <p:spPr>
          <a:xfrm>
            <a:off x="6413244" y="2120853"/>
            <a:ext cx="8409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CORE · 가장 안쪽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1" name="Google Shape;1851;g3ea66c3de90_6_1225"/>
          <p:cNvSpPr txBox="1"/>
          <p:nvPr/>
        </p:nvSpPr>
        <p:spPr>
          <a:xfrm>
            <a:off x="6413245" y="2225056"/>
            <a:ext cx="10875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Entities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2" name="Google Shape;1852;g3ea66c3de90_6_1225"/>
          <p:cNvSpPr txBox="1"/>
          <p:nvPr/>
        </p:nvSpPr>
        <p:spPr>
          <a:xfrm>
            <a:off x="6108800" y="2415850"/>
            <a:ext cx="23724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도메인 핵심 — 외부 기술과 무관한 비즈니스 객체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3" name="Google Shape;1853;g3ea66c3de90_6_1225"/>
          <p:cNvSpPr txBox="1"/>
          <p:nvPr/>
        </p:nvSpPr>
        <p:spPr>
          <a:xfrm>
            <a:off x="8432597" y="2104949"/>
            <a:ext cx="3645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도메인 객체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4" name="Google Shape;1854;g3ea66c3de90_6_1225"/>
          <p:cNvSpPr/>
          <p:nvPr/>
        </p:nvSpPr>
        <p:spPr>
          <a:xfrm>
            <a:off x="8474772" y="2269978"/>
            <a:ext cx="310800" cy="177900"/>
          </a:xfrm>
          <a:prstGeom prst="roundRect">
            <a:avLst>
              <a:gd name="adj" fmla="val 146771"/>
            </a:avLst>
          </a:prstGeom>
          <a:solidFill>
            <a:srgbClr val="FDECE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5" name="Google Shape;1855;g3ea66c3de90_6_1225"/>
          <p:cNvSpPr txBox="1"/>
          <p:nvPr/>
        </p:nvSpPr>
        <p:spPr>
          <a:xfrm>
            <a:off x="8459957" y="2269978"/>
            <a:ext cx="3621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가구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6" name="Google Shape;1856;g3ea66c3de90_6_1225"/>
          <p:cNvSpPr/>
          <p:nvPr/>
        </p:nvSpPr>
        <p:spPr>
          <a:xfrm>
            <a:off x="8819196" y="2269978"/>
            <a:ext cx="310800" cy="177900"/>
          </a:xfrm>
          <a:prstGeom prst="roundRect">
            <a:avLst>
              <a:gd name="adj" fmla="val 146771"/>
            </a:avLst>
          </a:prstGeom>
          <a:solidFill>
            <a:srgbClr val="FDECE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g3ea66c3de90_6_1225"/>
          <p:cNvSpPr txBox="1"/>
          <p:nvPr/>
        </p:nvSpPr>
        <p:spPr>
          <a:xfrm>
            <a:off x="8797168" y="2269978"/>
            <a:ext cx="3621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가전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8" name="Google Shape;1858;g3ea66c3de90_6_1225"/>
          <p:cNvSpPr/>
          <p:nvPr/>
        </p:nvSpPr>
        <p:spPr>
          <a:xfrm>
            <a:off x="9163620" y="2269978"/>
            <a:ext cx="387000" cy="177900"/>
          </a:xfrm>
          <a:prstGeom prst="roundRect">
            <a:avLst>
              <a:gd name="adj" fmla="val 146771"/>
            </a:avLst>
          </a:prstGeom>
          <a:solidFill>
            <a:srgbClr val="FDECE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9" name="Google Shape;1859;g3ea66c3de90_6_1225"/>
          <p:cNvSpPr txBox="1"/>
          <p:nvPr/>
        </p:nvSpPr>
        <p:spPr>
          <a:xfrm>
            <a:off x="9141599" y="2269975"/>
            <a:ext cx="6351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사용량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0" name="Google Shape;1860;g3ea66c3de90_6_1225"/>
          <p:cNvSpPr/>
          <p:nvPr/>
        </p:nvSpPr>
        <p:spPr>
          <a:xfrm>
            <a:off x="9584251" y="2269978"/>
            <a:ext cx="691800" cy="177900"/>
          </a:xfrm>
          <a:prstGeom prst="roundRect">
            <a:avLst>
              <a:gd name="adj" fmla="val 146771"/>
            </a:avLst>
          </a:prstGeom>
          <a:solidFill>
            <a:srgbClr val="FDECE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g3ea66c3de90_6_1225"/>
          <p:cNvSpPr txBox="1"/>
          <p:nvPr/>
        </p:nvSpPr>
        <p:spPr>
          <a:xfrm>
            <a:off x="9617552" y="2269978"/>
            <a:ext cx="7365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이상 이벤트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2" name="Google Shape;1862;g3ea66c3de90_6_1225"/>
          <p:cNvSpPr/>
          <p:nvPr/>
        </p:nvSpPr>
        <p:spPr>
          <a:xfrm>
            <a:off x="8477500" y="2511128"/>
            <a:ext cx="698700" cy="177900"/>
          </a:xfrm>
          <a:prstGeom prst="roundRect">
            <a:avLst>
              <a:gd name="adj" fmla="val 146771"/>
            </a:avLst>
          </a:prstGeom>
          <a:solidFill>
            <a:srgbClr val="FDECE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g3ea66c3de90_6_1225"/>
          <p:cNvSpPr txBox="1"/>
          <p:nvPr/>
        </p:nvSpPr>
        <p:spPr>
          <a:xfrm>
            <a:off x="8474782" y="2511128"/>
            <a:ext cx="6987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진단 리포트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4" name="Google Shape;1864;g3ea66c3de90_6_1225"/>
          <p:cNvSpPr/>
          <p:nvPr/>
        </p:nvSpPr>
        <p:spPr>
          <a:xfrm>
            <a:off x="9224877" y="2511128"/>
            <a:ext cx="724200" cy="177900"/>
          </a:xfrm>
          <a:prstGeom prst="roundRect">
            <a:avLst>
              <a:gd name="adj" fmla="val 146771"/>
            </a:avLst>
          </a:prstGeom>
          <a:solidFill>
            <a:srgbClr val="FDECE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g3ea66c3de90_6_1225"/>
          <p:cNvSpPr txBox="1"/>
          <p:nvPr/>
        </p:nvSpPr>
        <p:spPr>
          <a:xfrm>
            <a:off x="9232775" y="2511128"/>
            <a:ext cx="6918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캐시백 미션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6" name="Google Shape;1866;g3ea66c3de90_6_1225"/>
          <p:cNvSpPr/>
          <p:nvPr/>
        </p:nvSpPr>
        <p:spPr>
          <a:xfrm>
            <a:off x="6108801" y="3352191"/>
            <a:ext cx="215700" cy="215700"/>
          </a:xfrm>
          <a:prstGeom prst="ellipse">
            <a:avLst/>
          </a:prstGeom>
          <a:solidFill>
            <a:srgbClr val="F59E0B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7" name="Google Shape;1867;g3ea66c3de90_6_1225"/>
          <p:cNvSpPr/>
          <p:nvPr/>
        </p:nvSpPr>
        <p:spPr>
          <a:xfrm>
            <a:off x="6102045" y="3352197"/>
            <a:ext cx="2358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L2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8" name="Google Shape;1868;g3ea66c3de90_6_1225"/>
          <p:cNvSpPr txBox="1"/>
          <p:nvPr/>
        </p:nvSpPr>
        <p:spPr>
          <a:xfrm>
            <a:off x="6413244" y="3327253"/>
            <a:ext cx="6924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APPLICATION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9" name="Google Shape;1869;g3ea66c3de90_6_1225"/>
          <p:cNvSpPr txBox="1"/>
          <p:nvPr/>
        </p:nvSpPr>
        <p:spPr>
          <a:xfrm>
            <a:off x="6413245" y="3431451"/>
            <a:ext cx="12219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Use Cases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0" name="Google Shape;1870;g3ea66c3de90_6_1225"/>
          <p:cNvSpPr txBox="1"/>
          <p:nvPr/>
        </p:nvSpPr>
        <p:spPr>
          <a:xfrm>
            <a:off x="6108800" y="3622250"/>
            <a:ext cx="24456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비즈니스 로직 — 엔티티를 조합한 서비스 시나리오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1" name="Google Shape;1871;g3ea66c3de90_6_1225"/>
          <p:cNvSpPr txBox="1"/>
          <p:nvPr/>
        </p:nvSpPr>
        <p:spPr>
          <a:xfrm>
            <a:off x="8432597" y="3311347"/>
            <a:ext cx="3645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시나리오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2" name="Google Shape;1872;g3ea66c3de90_6_1225"/>
          <p:cNvSpPr/>
          <p:nvPr/>
        </p:nvSpPr>
        <p:spPr>
          <a:xfrm>
            <a:off x="8459949" y="3527300"/>
            <a:ext cx="724200" cy="177900"/>
          </a:xfrm>
          <a:prstGeom prst="roundRect">
            <a:avLst>
              <a:gd name="adj" fmla="val 146771"/>
            </a:avLst>
          </a:prstGeom>
          <a:solidFill>
            <a:srgbClr val="FEF3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g3ea66c3de90_6_1225"/>
          <p:cNvSpPr txBox="1"/>
          <p:nvPr/>
        </p:nvSpPr>
        <p:spPr>
          <a:xfrm>
            <a:off x="8466850" y="3527300"/>
            <a:ext cx="936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AI 진단 생성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4" name="Google Shape;1874;g3ea66c3de90_6_1225"/>
          <p:cNvSpPr/>
          <p:nvPr/>
        </p:nvSpPr>
        <p:spPr>
          <a:xfrm>
            <a:off x="9224875" y="3527300"/>
            <a:ext cx="846000" cy="177900"/>
          </a:xfrm>
          <a:prstGeom prst="roundRect">
            <a:avLst>
              <a:gd name="adj" fmla="val 146771"/>
            </a:avLst>
          </a:prstGeom>
          <a:solidFill>
            <a:srgbClr val="FEF3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g3ea66c3de90_6_1225"/>
          <p:cNvSpPr txBox="1"/>
          <p:nvPr/>
        </p:nvSpPr>
        <p:spPr>
          <a:xfrm>
            <a:off x="9224875" y="3527300"/>
            <a:ext cx="11445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캐시백 미션 생성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6" name="Google Shape;1876;g3ea66c3de90_6_1225"/>
          <p:cNvSpPr/>
          <p:nvPr/>
        </p:nvSpPr>
        <p:spPr>
          <a:xfrm>
            <a:off x="10137775" y="3527300"/>
            <a:ext cx="691800" cy="177900"/>
          </a:xfrm>
          <a:prstGeom prst="roundRect">
            <a:avLst>
              <a:gd name="adj" fmla="val 146771"/>
            </a:avLst>
          </a:prstGeom>
          <a:solidFill>
            <a:srgbClr val="FEF3E2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g3ea66c3de90_6_1225"/>
          <p:cNvSpPr txBox="1"/>
          <p:nvPr/>
        </p:nvSpPr>
        <p:spPr>
          <a:xfrm>
            <a:off x="10145500" y="3527300"/>
            <a:ext cx="6918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92400E"/>
                </a:solidFill>
                <a:latin typeface="Noto Sans"/>
                <a:ea typeface="Noto Sans"/>
                <a:cs typeface="Noto Sans"/>
                <a:sym typeface="Noto Sans"/>
              </a:rPr>
              <a:t>절감액 계산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8" name="Google Shape;1878;g3ea66c3de90_6_1225"/>
          <p:cNvSpPr/>
          <p:nvPr/>
        </p:nvSpPr>
        <p:spPr>
          <a:xfrm>
            <a:off x="6108801" y="4558589"/>
            <a:ext cx="215700" cy="2157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g3ea66c3de90_6_1225"/>
          <p:cNvSpPr/>
          <p:nvPr/>
        </p:nvSpPr>
        <p:spPr>
          <a:xfrm>
            <a:off x="6102045" y="4558595"/>
            <a:ext cx="2358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L3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0" name="Google Shape;1880;g3ea66c3de90_6_1225"/>
          <p:cNvSpPr txBox="1"/>
          <p:nvPr/>
        </p:nvSpPr>
        <p:spPr>
          <a:xfrm>
            <a:off x="6413244" y="4533651"/>
            <a:ext cx="12258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ADAPTER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1" name="Google Shape;1881;g3ea66c3de90_6_1225"/>
          <p:cNvSpPr txBox="1"/>
          <p:nvPr/>
        </p:nvSpPr>
        <p:spPr>
          <a:xfrm>
            <a:off x="6413245" y="4637845"/>
            <a:ext cx="22578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Interface Adapters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2" name="Google Shape;1882;g3ea66c3de90_6_1225"/>
          <p:cNvSpPr txBox="1"/>
          <p:nvPr/>
        </p:nvSpPr>
        <p:spPr>
          <a:xfrm>
            <a:off x="6108800" y="4828648"/>
            <a:ext cx="21267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변환·중개 — 외부 기술과 내부 도메인의 어댑터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3" name="Google Shape;1883;g3ea66c3de90_6_1225"/>
          <p:cNvSpPr txBox="1"/>
          <p:nvPr/>
        </p:nvSpPr>
        <p:spPr>
          <a:xfrm>
            <a:off x="8432597" y="4517745"/>
            <a:ext cx="3645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어댑터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4" name="Google Shape;1884;g3ea66c3de90_6_1225"/>
          <p:cNvSpPr/>
          <p:nvPr/>
        </p:nvSpPr>
        <p:spPr>
          <a:xfrm>
            <a:off x="8470700" y="4714578"/>
            <a:ext cx="953400" cy="177900"/>
          </a:xfrm>
          <a:prstGeom prst="roundRect">
            <a:avLst>
              <a:gd name="adj" fmla="val 146771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g3ea66c3de90_6_1225"/>
          <p:cNvSpPr txBox="1"/>
          <p:nvPr/>
        </p:nvSpPr>
        <p:spPr>
          <a:xfrm>
            <a:off x="8470700" y="4714578"/>
            <a:ext cx="936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API Controller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6" name="Google Shape;1886;g3ea66c3de90_6_1225"/>
          <p:cNvSpPr/>
          <p:nvPr/>
        </p:nvSpPr>
        <p:spPr>
          <a:xfrm>
            <a:off x="9463574" y="4714578"/>
            <a:ext cx="771300" cy="177900"/>
          </a:xfrm>
          <a:prstGeom prst="roundRect">
            <a:avLst>
              <a:gd name="adj" fmla="val 146771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g3ea66c3de90_6_1225"/>
          <p:cNvSpPr txBox="1"/>
          <p:nvPr/>
        </p:nvSpPr>
        <p:spPr>
          <a:xfrm>
            <a:off x="9463575" y="4714578"/>
            <a:ext cx="7713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Repository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8" name="Google Shape;1888;g3ea66c3de90_6_1225"/>
          <p:cNvSpPr/>
          <p:nvPr/>
        </p:nvSpPr>
        <p:spPr>
          <a:xfrm>
            <a:off x="10292017" y="4714578"/>
            <a:ext cx="801900" cy="177900"/>
          </a:xfrm>
          <a:prstGeom prst="roundRect">
            <a:avLst>
              <a:gd name="adj" fmla="val 146771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g3ea66c3de90_6_1225"/>
          <p:cNvSpPr txBox="1"/>
          <p:nvPr/>
        </p:nvSpPr>
        <p:spPr>
          <a:xfrm>
            <a:off x="10292016" y="4714578"/>
            <a:ext cx="8019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RAG Adapter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0" name="Google Shape;1890;g3ea66c3de90_6_1225"/>
          <p:cNvSpPr/>
          <p:nvPr/>
        </p:nvSpPr>
        <p:spPr>
          <a:xfrm>
            <a:off x="8470700" y="4968928"/>
            <a:ext cx="936900" cy="177900"/>
          </a:xfrm>
          <a:prstGeom prst="roundRect">
            <a:avLst>
              <a:gd name="adj" fmla="val 146771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g3ea66c3de90_6_1225"/>
          <p:cNvSpPr txBox="1"/>
          <p:nvPr/>
        </p:nvSpPr>
        <p:spPr>
          <a:xfrm>
            <a:off x="8500550" y="4968928"/>
            <a:ext cx="8772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LLM Adapter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2" name="Google Shape;1892;g3ea66c3de90_6_1225"/>
          <p:cNvSpPr/>
          <p:nvPr/>
        </p:nvSpPr>
        <p:spPr>
          <a:xfrm>
            <a:off x="9465350" y="4968928"/>
            <a:ext cx="815100" cy="177900"/>
          </a:xfrm>
          <a:prstGeom prst="roundRect">
            <a:avLst>
              <a:gd name="adj" fmla="val 146771"/>
            </a:avLst>
          </a:prstGeom>
          <a:solidFill>
            <a:srgbClr val="E6F7F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g3ea66c3de90_6_1225"/>
          <p:cNvSpPr txBox="1"/>
          <p:nvPr/>
        </p:nvSpPr>
        <p:spPr>
          <a:xfrm>
            <a:off x="9463575" y="4968928"/>
            <a:ext cx="846000" cy="1779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Tool Adapter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4" name="Google Shape;1894;g3ea66c3de90_6_1225"/>
          <p:cNvSpPr/>
          <p:nvPr/>
        </p:nvSpPr>
        <p:spPr>
          <a:xfrm>
            <a:off x="6108801" y="5669889"/>
            <a:ext cx="215700" cy="215700"/>
          </a:xfrm>
          <a:prstGeom prst="ellipse">
            <a:avLst/>
          </a:prstGeom>
          <a:solidFill>
            <a:srgbClr val="3B82F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g3ea66c3de90_6_1225"/>
          <p:cNvSpPr/>
          <p:nvPr/>
        </p:nvSpPr>
        <p:spPr>
          <a:xfrm>
            <a:off x="6102045" y="5669897"/>
            <a:ext cx="235800" cy="216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L4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6" name="Google Shape;1896;g3ea66c3de90_6_1225"/>
          <p:cNvSpPr txBox="1"/>
          <p:nvPr/>
        </p:nvSpPr>
        <p:spPr>
          <a:xfrm>
            <a:off x="6413244" y="5651658"/>
            <a:ext cx="12882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FRAMEWORK · 가장 바깥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7" name="Google Shape;1897;g3ea66c3de90_6_1225"/>
          <p:cNvSpPr txBox="1"/>
          <p:nvPr/>
        </p:nvSpPr>
        <p:spPr>
          <a:xfrm>
            <a:off x="6413245" y="5756457"/>
            <a:ext cx="23724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Frameworks &amp; Drivers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8" name="Google Shape;1898;g3ea66c3de90_6_1225"/>
          <p:cNvSpPr txBox="1"/>
          <p:nvPr/>
        </p:nvSpPr>
        <p:spPr>
          <a:xfrm>
            <a:off x="6108800" y="5924100"/>
            <a:ext cx="1869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lang="en-US" sz="8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외부 기술 스택 — 교체 가능한 부품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9" name="Google Shape;1899;g3ea66c3de90_6_1225"/>
          <p:cNvSpPr txBox="1"/>
          <p:nvPr/>
        </p:nvSpPr>
        <p:spPr>
          <a:xfrm>
            <a:off x="8432597" y="5632704"/>
            <a:ext cx="36453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기술 스택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0" name="Google Shape;1900;g3ea66c3de90_6_1225"/>
          <p:cNvSpPr/>
          <p:nvPr/>
        </p:nvSpPr>
        <p:spPr>
          <a:xfrm>
            <a:off x="8508800" y="5828928"/>
            <a:ext cx="3870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g3ea66c3de90_6_1225"/>
          <p:cNvSpPr txBox="1"/>
          <p:nvPr/>
        </p:nvSpPr>
        <p:spPr>
          <a:xfrm>
            <a:off x="8508800" y="5828928"/>
            <a:ext cx="3870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React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2" name="Google Shape;1902;g3ea66c3de90_6_1225"/>
          <p:cNvSpPr/>
          <p:nvPr/>
        </p:nvSpPr>
        <p:spPr>
          <a:xfrm>
            <a:off x="8932102" y="5828928"/>
            <a:ext cx="5028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g3ea66c3de90_6_1225"/>
          <p:cNvSpPr txBox="1"/>
          <p:nvPr/>
        </p:nvSpPr>
        <p:spPr>
          <a:xfrm>
            <a:off x="8932700" y="5828928"/>
            <a:ext cx="4839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FastAPI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4" name="Google Shape;1904;g3ea66c3de90_6_1225"/>
          <p:cNvSpPr/>
          <p:nvPr/>
        </p:nvSpPr>
        <p:spPr>
          <a:xfrm>
            <a:off x="9488950" y="5828928"/>
            <a:ext cx="2796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g3ea66c3de90_6_1225"/>
          <p:cNvSpPr txBox="1"/>
          <p:nvPr/>
        </p:nvSpPr>
        <p:spPr>
          <a:xfrm>
            <a:off x="9488774" y="5828928"/>
            <a:ext cx="2796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DB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6" name="Google Shape;1906;g3ea66c3de90_6_1225"/>
          <p:cNvSpPr/>
          <p:nvPr/>
        </p:nvSpPr>
        <p:spPr>
          <a:xfrm>
            <a:off x="9825250" y="5828928"/>
            <a:ext cx="6351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g3ea66c3de90_6_1225"/>
          <p:cNvSpPr txBox="1"/>
          <p:nvPr/>
        </p:nvSpPr>
        <p:spPr>
          <a:xfrm>
            <a:off x="9825250" y="5828928"/>
            <a:ext cx="6351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LangGraph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8" name="Google Shape;1908;g3ea66c3de90_6_1225"/>
          <p:cNvSpPr/>
          <p:nvPr/>
        </p:nvSpPr>
        <p:spPr>
          <a:xfrm>
            <a:off x="8508800" y="6050628"/>
            <a:ext cx="6918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9" name="Google Shape;1909;g3ea66c3de90_6_1225"/>
          <p:cNvSpPr txBox="1"/>
          <p:nvPr/>
        </p:nvSpPr>
        <p:spPr>
          <a:xfrm>
            <a:off x="8508800" y="6050628"/>
            <a:ext cx="7242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OpenAI API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0" name="Google Shape;1910;g3ea66c3de90_6_1225"/>
          <p:cNvSpPr/>
          <p:nvPr/>
        </p:nvSpPr>
        <p:spPr>
          <a:xfrm>
            <a:off x="9256599" y="6050628"/>
            <a:ext cx="801900" cy="158400"/>
          </a:xfrm>
          <a:prstGeom prst="roundRect">
            <a:avLst>
              <a:gd name="adj" fmla="val 184615"/>
            </a:avLst>
          </a:prstGeom>
          <a:solidFill>
            <a:srgbClr val="E8F0FE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g3ea66c3de90_6_1225"/>
          <p:cNvSpPr txBox="1"/>
          <p:nvPr/>
        </p:nvSpPr>
        <p:spPr>
          <a:xfrm>
            <a:off x="9257450" y="6050628"/>
            <a:ext cx="8151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33875" rIns="67725" bIns="33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NILM / ML 모델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g3eecf95ea0e_0_0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74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g3eecf95ea0e_0_0" descr="gen-dedup-6898861cf6e4f7d5d15ed1441aa73eb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1397203"/>
            <a:ext cx="3555797" cy="2031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" name="Google Shape;1919;g3eecf95ea0e_0_0" descr="gen-dedup-6898861cf6e4f7d5d15ed1441aa73eb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4399" y="1397203"/>
            <a:ext cx="3555797" cy="2031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g3eecf95ea0e_0_0" descr="gen-dedup-a63ec8a0a2a9daba5c161b127084c20c.png"/>
          <p:cNvPicPr preferRelativeResize="0"/>
          <p:nvPr/>
        </p:nvPicPr>
        <p:blipFill rotWithShape="1">
          <a:blip r:embed="rId5">
            <a:alphaModFix/>
          </a:blip>
          <a:srcRect l="-10" r="-10"/>
          <a:stretch/>
        </p:blipFill>
        <p:spPr>
          <a:xfrm>
            <a:off x="7937601" y="1397203"/>
            <a:ext cx="3683203" cy="2031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g3eecf95ea0e_0_0" descr="gen-dedup-632d501c5f98ae7cddd5329c6b0ec040.png"/>
          <p:cNvPicPr preferRelativeResize="0"/>
          <p:nvPr/>
        </p:nvPicPr>
        <p:blipFill rotWithShape="1">
          <a:blip r:embed="rId6">
            <a:alphaModFix/>
          </a:blip>
          <a:srcRect r="-10"/>
          <a:stretch/>
        </p:blipFill>
        <p:spPr>
          <a:xfrm>
            <a:off x="571800" y="3810000"/>
            <a:ext cx="2159203" cy="25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g3eecf95ea0e_0_0" descr="gen-dedup-0969a12c71b5cca9d05bd37d7dd7d5e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57800" y="3810000"/>
            <a:ext cx="4826203" cy="25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g3eecf95ea0e_0_0" descr="gen-dedup-ad79f7b1f58afcbb79427a7c9ee75e29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800" y="3810000"/>
            <a:ext cx="3810000" cy="25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g3eecf95ea0e_0_0" descr="gen-dedup-12cadfe486a0b0b2bb6d71e260f9f346.png"/>
          <p:cNvPicPr preferRelativeResize="0"/>
          <p:nvPr/>
        </p:nvPicPr>
        <p:blipFill rotWithShape="1">
          <a:blip r:embed="rId9">
            <a:alphaModFix/>
          </a:blip>
          <a:srcRect t="-403" b="-403"/>
          <a:stretch/>
        </p:blipFill>
        <p:spPr>
          <a:xfrm>
            <a:off x="571805" y="1397203"/>
            <a:ext cx="3555796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g3eecf95ea0e_0_0" descr="gen-dedup-9baa8b7f45d22f9223d5078ce90a55bf.png"/>
          <p:cNvPicPr preferRelativeResize="0"/>
          <p:nvPr/>
        </p:nvPicPr>
        <p:blipFill rotWithShape="1">
          <a:blip r:embed="rId10">
            <a:alphaModFix/>
          </a:blip>
          <a:srcRect t="-403" b="-403"/>
          <a:stretch/>
        </p:blipFill>
        <p:spPr>
          <a:xfrm>
            <a:off x="4254399" y="1397203"/>
            <a:ext cx="3555796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g3eecf95ea0e_0_0" descr="gen-dedup-4311c6cbbeb28f78840f5cbcae630b03.png"/>
          <p:cNvPicPr preferRelativeResize="0"/>
          <p:nvPr/>
        </p:nvPicPr>
        <p:blipFill rotWithShape="1">
          <a:blip r:embed="rId11">
            <a:alphaModFix/>
          </a:blip>
          <a:srcRect t="-393" b="-403"/>
          <a:stretch/>
        </p:blipFill>
        <p:spPr>
          <a:xfrm>
            <a:off x="7937601" y="1397203"/>
            <a:ext cx="3683203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g3eecf95ea0e_0_0" descr="gen-dedup-facff9b4c82eb2e94704618ab51a87b4.png"/>
          <p:cNvPicPr preferRelativeResize="0"/>
          <p:nvPr/>
        </p:nvPicPr>
        <p:blipFill rotWithShape="1">
          <a:blip r:embed="rId12">
            <a:alphaModFix/>
          </a:blip>
          <a:srcRect t="-393" b="-393"/>
          <a:stretch/>
        </p:blipFill>
        <p:spPr>
          <a:xfrm>
            <a:off x="571805" y="3810000"/>
            <a:ext cx="2159202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8" name="Google Shape;1928;g3eecf95ea0e_0_0" descr="gen-dedup-7753a0c78c18d3c31185cbb49adae244.png"/>
          <p:cNvPicPr preferRelativeResize="0"/>
          <p:nvPr/>
        </p:nvPicPr>
        <p:blipFill rotWithShape="1">
          <a:blip r:embed="rId13">
            <a:alphaModFix/>
          </a:blip>
          <a:srcRect t="-393" b="-403"/>
          <a:stretch/>
        </p:blipFill>
        <p:spPr>
          <a:xfrm>
            <a:off x="2857805" y="3810000"/>
            <a:ext cx="4826201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9" name="Google Shape;1929;g3eecf95ea0e_0_0" descr="gen-dedup-e837ff4b959966e2e629d9530105e8a8.png"/>
          <p:cNvPicPr preferRelativeResize="0"/>
          <p:nvPr/>
        </p:nvPicPr>
        <p:blipFill rotWithShape="1">
          <a:blip r:embed="rId14">
            <a:alphaModFix/>
          </a:blip>
          <a:srcRect t="-403" b="-393"/>
          <a:stretch/>
        </p:blipFill>
        <p:spPr>
          <a:xfrm>
            <a:off x="7810805" y="3810000"/>
            <a:ext cx="3810000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g3eecf95ea0e_0_0"/>
          <p:cNvSpPr/>
          <p:nvPr/>
        </p:nvSpPr>
        <p:spPr>
          <a:xfrm>
            <a:off x="685800" y="4165397"/>
            <a:ext cx="1930500" cy="1397100"/>
          </a:xfrm>
          <a:prstGeom prst="roundRect">
            <a:avLst>
              <a:gd name="adj" fmla="val 3173"/>
            </a:avLst>
          </a:prstGeom>
          <a:solidFill>
            <a:srgbClr val="1E1E1E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1" name="Google Shape;1931;g3eecf95ea0e_0_0" descr="gen-dedup-ba5e5b1972a137b62b263b06ccc77899.jpg"/>
          <p:cNvPicPr preferRelativeResize="0"/>
          <p:nvPr/>
        </p:nvPicPr>
        <p:blipFill rotWithShape="1">
          <a:blip r:embed="rId15">
            <a:alphaModFix/>
          </a:blip>
          <a:srcRect t="25590"/>
          <a:stretch/>
        </p:blipFill>
        <p:spPr>
          <a:xfrm>
            <a:off x="691900" y="4172099"/>
            <a:ext cx="1917800" cy="21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2" name="Google Shape;1932;g3eecf95ea0e_0_0"/>
          <p:cNvSpPr/>
          <p:nvPr/>
        </p:nvSpPr>
        <p:spPr>
          <a:xfrm>
            <a:off x="2971800" y="4165397"/>
            <a:ext cx="4597500" cy="1397100"/>
          </a:xfrm>
          <a:prstGeom prst="roundRect">
            <a:avLst>
              <a:gd name="adj" fmla="val 3173"/>
            </a:avLst>
          </a:prstGeom>
          <a:solidFill>
            <a:srgbClr val="1E1E1E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3" name="Google Shape;1933;g3eecf95ea0e_0_0" descr="gen-dedup-3a5a48abd217d22c035fe9d623721c4b.jpg"/>
          <p:cNvPicPr preferRelativeResize="0"/>
          <p:nvPr/>
        </p:nvPicPr>
        <p:blipFill rotWithShape="1">
          <a:blip r:embed="rId16">
            <a:alphaModFix/>
          </a:blip>
          <a:srcRect t="9459" b="799"/>
          <a:stretch/>
        </p:blipFill>
        <p:spPr>
          <a:xfrm>
            <a:off x="2977900" y="4172100"/>
            <a:ext cx="4584800" cy="20914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g3eecf95ea0e_0_0"/>
          <p:cNvSpPr/>
          <p:nvPr/>
        </p:nvSpPr>
        <p:spPr>
          <a:xfrm>
            <a:off x="7924800" y="4165397"/>
            <a:ext cx="3581400" cy="1397100"/>
          </a:xfrm>
          <a:prstGeom prst="roundRect">
            <a:avLst>
              <a:gd name="adj" fmla="val 3173"/>
            </a:avLst>
          </a:prstGeom>
          <a:solidFill>
            <a:srgbClr val="FFFFFF"/>
          </a:solidFill>
          <a:ln w="847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5" name="Google Shape;1935;g3eecf95ea0e_0_0" descr="gen-dedup-7f80000ac08ccc67f7ea7fc7276b1a0d.jpg"/>
          <p:cNvPicPr preferRelativeResize="0"/>
          <p:nvPr/>
        </p:nvPicPr>
        <p:blipFill rotWithShape="1">
          <a:blip r:embed="rId17">
            <a:alphaModFix/>
          </a:blip>
          <a:srcRect l="630" t="9411" r="-630" b="-1045"/>
          <a:stretch/>
        </p:blipFill>
        <p:spPr>
          <a:xfrm>
            <a:off x="7930900" y="4172100"/>
            <a:ext cx="3568601" cy="20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g3eecf95ea0e_0_0"/>
          <p:cNvSpPr txBox="1"/>
          <p:nvPr/>
        </p:nvSpPr>
        <p:spPr>
          <a:xfrm>
            <a:off x="1193598" y="495600"/>
            <a:ext cx="3954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Native Engineering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7" name="Google Shape;1937;g3eecf95ea0e_0_0"/>
          <p:cNvSpPr txBox="1"/>
          <p:nvPr/>
        </p:nvSpPr>
        <p:spPr>
          <a:xfrm>
            <a:off x="1193597" y="852104"/>
            <a:ext cx="8890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AI를 </a:t>
            </a:r>
            <a:r>
              <a:rPr lang="en-US" sz="13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역할 부여 → 지식 제공 → 결과 검증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흐름으로 통제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8" name="Google Shape;1938;g3eecf95ea0e_0_0"/>
          <p:cNvSpPr/>
          <p:nvPr/>
        </p:nvSpPr>
        <p:spPr>
          <a:xfrm>
            <a:off x="749199" y="1562405"/>
            <a:ext cx="267000" cy="2670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g3eecf95ea0e_0_0"/>
          <p:cNvSpPr/>
          <p:nvPr/>
        </p:nvSpPr>
        <p:spPr>
          <a:xfrm>
            <a:off x="749199" y="1562405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g3eecf95ea0e_0_0"/>
          <p:cNvSpPr txBox="1"/>
          <p:nvPr/>
        </p:nvSpPr>
        <p:spPr>
          <a:xfrm>
            <a:off x="1079601" y="1638605"/>
            <a:ext cx="4641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AXIS 01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1" name="Google Shape;1941;g3eecf95ea0e_0_0"/>
          <p:cNvSpPr txBox="1"/>
          <p:nvPr/>
        </p:nvSpPr>
        <p:spPr>
          <a:xfrm>
            <a:off x="3707587" y="1603857"/>
            <a:ext cx="262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g3eecf95ea0e_0_0"/>
          <p:cNvSpPr txBox="1"/>
          <p:nvPr/>
        </p:nvSpPr>
        <p:spPr>
          <a:xfrm>
            <a:off x="749199" y="1881630"/>
            <a:ext cx="32004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Prompt Engineering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3" name="Google Shape;1943;g3eecf95ea0e_0_0"/>
          <p:cNvSpPr txBox="1"/>
          <p:nvPr/>
        </p:nvSpPr>
        <p:spPr>
          <a:xfrm>
            <a:off x="749199" y="2158048"/>
            <a:ext cx="32004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역할과 작업 순서 지시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4" name="Google Shape;1944;g3eecf95ea0e_0_0"/>
          <p:cNvSpPr txBox="1"/>
          <p:nvPr/>
        </p:nvSpPr>
        <p:spPr>
          <a:xfrm>
            <a:off x="749200" y="2308550"/>
            <a:ext cx="306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5" name="Google Shape;1945;g3eecf95ea0e_0_0"/>
          <p:cNvSpPr txBox="1"/>
          <p:nvPr/>
        </p:nvSpPr>
        <p:spPr>
          <a:xfrm>
            <a:off x="1039482" y="2308550"/>
            <a:ext cx="33924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TDD 워크플로우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6" name="Google Shape;1946;g3eecf95ea0e_0_0"/>
          <p:cNvSpPr txBox="1"/>
          <p:nvPr/>
        </p:nvSpPr>
        <p:spPr>
          <a:xfrm>
            <a:off x="749200" y="2493274"/>
            <a:ext cx="306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구현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7" name="Google Shape;1947;g3eecf95ea0e_0_0"/>
          <p:cNvSpPr txBox="1"/>
          <p:nvPr/>
        </p:nvSpPr>
        <p:spPr>
          <a:xfrm>
            <a:off x="1039482" y="2493272"/>
            <a:ext cx="33924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9개 에이전트 템플릿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8" name="Google Shape;1948;g3eecf95ea0e_0_0"/>
          <p:cNvSpPr/>
          <p:nvPr/>
        </p:nvSpPr>
        <p:spPr>
          <a:xfrm>
            <a:off x="749199" y="2702357"/>
            <a:ext cx="3200400" cy="495600"/>
          </a:xfrm>
          <a:prstGeom prst="roundRect">
            <a:avLst>
              <a:gd name="adj" fmla="val 25231"/>
            </a:avLst>
          </a:prstGeom>
          <a:solidFill>
            <a:srgbClr val="FEF2F2"/>
          </a:solidFill>
          <a:ln w="847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g3eecf95ea0e_0_0"/>
          <p:cNvSpPr txBox="1"/>
          <p:nvPr/>
        </p:nvSpPr>
        <p:spPr>
          <a:xfrm>
            <a:off x="832104" y="2772461"/>
            <a:ext cx="3035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9F1239"/>
                </a:solidFill>
                <a:latin typeface="Noto Sans"/>
                <a:ea typeface="Noto Sans"/>
                <a:cs typeface="Noto Sans"/>
                <a:sym typeface="Noto Sans"/>
              </a:rPr>
              <a:t>대표 예시 — 에이전트 체이닝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0" name="Google Shape;1950;g3eecf95ea0e_0_0"/>
          <p:cNvSpPr txBox="1"/>
          <p:nvPr/>
        </p:nvSpPr>
        <p:spPr>
          <a:xfrm>
            <a:off x="832104" y="2893161"/>
            <a:ext cx="30357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ORCHESTRATOR </a:t>
            </a: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TEST_WRITER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JetBrains Mono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DEVELOPER </a:t>
            </a: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 REVIEWER 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1" name="Google Shape;1951;g3eecf95ea0e_0_0"/>
          <p:cNvSpPr/>
          <p:nvPr/>
        </p:nvSpPr>
        <p:spPr>
          <a:xfrm>
            <a:off x="4432401" y="1562405"/>
            <a:ext cx="267000" cy="267000"/>
          </a:xfrm>
          <a:prstGeom prst="ellipse">
            <a:avLst/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g3eecf95ea0e_0_0"/>
          <p:cNvSpPr/>
          <p:nvPr/>
        </p:nvSpPr>
        <p:spPr>
          <a:xfrm>
            <a:off x="4432401" y="1562405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g3eecf95ea0e_0_0"/>
          <p:cNvSpPr txBox="1"/>
          <p:nvPr/>
        </p:nvSpPr>
        <p:spPr>
          <a:xfrm>
            <a:off x="4762805" y="1638605"/>
            <a:ext cx="464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AXIS 02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4" name="Google Shape;1954;g3eecf95ea0e_0_0"/>
          <p:cNvSpPr txBox="1"/>
          <p:nvPr/>
        </p:nvSpPr>
        <p:spPr>
          <a:xfrm>
            <a:off x="7362749" y="1603857"/>
            <a:ext cx="273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g3eecf95ea0e_0_0"/>
          <p:cNvSpPr txBox="1"/>
          <p:nvPr/>
        </p:nvSpPr>
        <p:spPr>
          <a:xfrm>
            <a:off x="4432401" y="1881630"/>
            <a:ext cx="32004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Context Engineering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6" name="Google Shape;1956;g3eecf95ea0e_0_0"/>
          <p:cNvSpPr txBox="1"/>
          <p:nvPr/>
        </p:nvSpPr>
        <p:spPr>
          <a:xfrm>
            <a:off x="4432401" y="2158048"/>
            <a:ext cx="32004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프로젝트 지식 제공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7" name="Google Shape;1957;g3eecf95ea0e_0_0"/>
          <p:cNvSpPr txBox="1"/>
          <p:nvPr/>
        </p:nvSpPr>
        <p:spPr>
          <a:xfrm>
            <a:off x="4432399" y="2308550"/>
            <a:ext cx="306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8" name="Google Shape;1958;g3eecf95ea0e_0_0"/>
          <p:cNvSpPr txBox="1"/>
          <p:nvPr/>
        </p:nvSpPr>
        <p:spPr>
          <a:xfrm>
            <a:off x="4693996" y="2308555"/>
            <a:ext cx="2991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architecture · decisions · MAP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9" name="Google Shape;1959;g3eecf95ea0e_0_0"/>
          <p:cNvSpPr txBox="1"/>
          <p:nvPr/>
        </p:nvSpPr>
        <p:spPr>
          <a:xfrm>
            <a:off x="4432399" y="2493268"/>
            <a:ext cx="306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구현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0" name="Google Shape;1960;g3eecf95ea0e_0_0"/>
          <p:cNvSpPr txBox="1"/>
          <p:nvPr/>
        </p:nvSpPr>
        <p:spPr>
          <a:xfrm>
            <a:off x="4693996" y="2493264"/>
            <a:ext cx="2991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토큰 절감 전략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1" name="Google Shape;1961;g3eecf95ea0e_0_0"/>
          <p:cNvSpPr/>
          <p:nvPr/>
        </p:nvSpPr>
        <p:spPr>
          <a:xfrm>
            <a:off x="4432401" y="2702357"/>
            <a:ext cx="3200400" cy="533400"/>
          </a:xfrm>
          <a:prstGeom prst="roundRect">
            <a:avLst>
              <a:gd name="adj" fmla="val 21769"/>
            </a:avLst>
          </a:prstGeom>
          <a:solidFill>
            <a:srgbClr val="F5F3FF"/>
          </a:solidFill>
          <a:ln w="8475" cap="flat" cmpd="sng">
            <a:solidFill>
              <a:srgbClr val="DCC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g3eecf95ea0e_0_0"/>
          <p:cNvSpPr txBox="1"/>
          <p:nvPr/>
        </p:nvSpPr>
        <p:spPr>
          <a:xfrm>
            <a:off x="4514697" y="2772461"/>
            <a:ext cx="3035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대표 예시 — 토큰 절감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3" name="Google Shape;1963;g3eecf95ea0e_0_0"/>
          <p:cNvSpPr txBox="1"/>
          <p:nvPr/>
        </p:nvSpPr>
        <p:spPr>
          <a:xfrm>
            <a:off x="4514702" y="2893150"/>
            <a:ext cx="1020900" cy="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600"/>
              <a:buFont typeface="JetBrains Mono"/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Noto Sans"/>
                <a:ea typeface="Noto Sans"/>
                <a:cs typeface="Noto Sans"/>
                <a:sym typeface="Noto Sans"/>
              </a:rPr>
              <a:t>5,350 토큰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4" name="Google Shape;1964;g3eecf95ea0e_0_0"/>
          <p:cNvSpPr txBox="1"/>
          <p:nvPr/>
        </p:nvSpPr>
        <p:spPr>
          <a:xfrm>
            <a:off x="4514704" y="3013875"/>
            <a:ext cx="1385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800"/>
              <a:buFont typeface="JetBrains Mono"/>
              <a:buNone/>
            </a:pPr>
            <a:r>
              <a:rPr lang="en-US" sz="1100" b="1" i="0" u="none" strike="noStrike" cap="none">
                <a:solidFill>
                  <a:srgbClr val="5B21B6"/>
                </a:solidFill>
                <a:latin typeface="Noto Sans"/>
                <a:ea typeface="Noto Sans"/>
                <a:cs typeface="Noto Sans"/>
                <a:sym typeface="Noto Sans"/>
              </a:rPr>
              <a:t>→ 800 토큰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5" name="Google Shape;1965;g3eecf95ea0e_0_0"/>
          <p:cNvSpPr/>
          <p:nvPr/>
        </p:nvSpPr>
        <p:spPr>
          <a:xfrm>
            <a:off x="7053681" y="2924861"/>
            <a:ext cx="501900" cy="209700"/>
          </a:xfrm>
          <a:prstGeom prst="roundRect">
            <a:avLst>
              <a:gd name="adj" fmla="val 105708"/>
            </a:avLst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g3eecf95ea0e_0_0"/>
          <p:cNvSpPr txBox="1"/>
          <p:nvPr/>
        </p:nvSpPr>
        <p:spPr>
          <a:xfrm>
            <a:off x="7023337" y="2924850"/>
            <a:ext cx="655500" cy="2097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42325" rIns="76200" bIns="423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−85%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7" name="Google Shape;1967;g3eecf95ea0e_0_0"/>
          <p:cNvSpPr/>
          <p:nvPr/>
        </p:nvSpPr>
        <p:spPr>
          <a:xfrm>
            <a:off x="8115605" y="1562405"/>
            <a:ext cx="267000" cy="2670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g3eecf95ea0e_0_0"/>
          <p:cNvSpPr/>
          <p:nvPr/>
        </p:nvSpPr>
        <p:spPr>
          <a:xfrm>
            <a:off x="8115605" y="1562405"/>
            <a:ext cx="267000" cy="2670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g3eecf95ea0e_0_0"/>
          <p:cNvSpPr txBox="1"/>
          <p:nvPr/>
        </p:nvSpPr>
        <p:spPr>
          <a:xfrm>
            <a:off x="8445399" y="1638605"/>
            <a:ext cx="464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AXIS 03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0" name="Google Shape;1970;g3eecf95ea0e_0_0"/>
          <p:cNvSpPr txBox="1"/>
          <p:nvPr/>
        </p:nvSpPr>
        <p:spPr>
          <a:xfrm>
            <a:off x="11166653" y="1603857"/>
            <a:ext cx="27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g3eecf95ea0e_0_0"/>
          <p:cNvSpPr txBox="1"/>
          <p:nvPr/>
        </p:nvSpPr>
        <p:spPr>
          <a:xfrm>
            <a:off x="8115605" y="1881630"/>
            <a:ext cx="3327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Harness Engineering</a:t>
            </a:r>
            <a:endParaRPr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2" name="Google Shape;1972;g3eecf95ea0e_0_0"/>
          <p:cNvSpPr txBox="1"/>
          <p:nvPr/>
        </p:nvSpPr>
        <p:spPr>
          <a:xfrm>
            <a:off x="8115605" y="2158048"/>
            <a:ext cx="33279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산출물 자동 검증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3" name="Google Shape;1973;g3eecf95ea0e_0_0"/>
          <p:cNvSpPr txBox="1"/>
          <p:nvPr/>
        </p:nvSpPr>
        <p:spPr>
          <a:xfrm>
            <a:off x="8163219" y="2308550"/>
            <a:ext cx="3495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적용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4" name="Google Shape;1974;g3eecf95ea0e_0_0"/>
          <p:cNvSpPr txBox="1"/>
          <p:nvPr/>
        </p:nvSpPr>
        <p:spPr>
          <a:xfrm>
            <a:off x="8448637" y="2308555"/>
            <a:ext cx="3118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Security · Impact · pytest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5" name="Google Shape;1975;g3eecf95ea0e_0_0"/>
          <p:cNvSpPr txBox="1"/>
          <p:nvPr/>
        </p:nvSpPr>
        <p:spPr>
          <a:xfrm>
            <a:off x="8163219" y="2493268"/>
            <a:ext cx="3495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구현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6" name="Google Shape;1976;g3eecf95ea0e_0_0"/>
          <p:cNvSpPr txBox="1"/>
          <p:nvPr/>
        </p:nvSpPr>
        <p:spPr>
          <a:xfrm>
            <a:off x="8448637" y="2493264"/>
            <a:ext cx="3118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PR Gate · MLOps Gate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7" name="Google Shape;1977;g3eecf95ea0e_0_0"/>
          <p:cNvSpPr/>
          <p:nvPr/>
        </p:nvSpPr>
        <p:spPr>
          <a:xfrm>
            <a:off x="8115600" y="2702349"/>
            <a:ext cx="3327300" cy="533400"/>
          </a:xfrm>
          <a:prstGeom prst="roundRect">
            <a:avLst>
              <a:gd name="adj" fmla="val 28839"/>
            </a:avLst>
          </a:prstGeom>
          <a:solidFill>
            <a:srgbClr val="F0FDF4"/>
          </a:solidFill>
          <a:ln w="847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g3eecf95ea0e_0_0"/>
          <p:cNvSpPr txBox="1"/>
          <p:nvPr/>
        </p:nvSpPr>
        <p:spPr>
          <a:xfrm>
            <a:off x="8197901" y="2772461"/>
            <a:ext cx="31626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500"/>
              <a:buFont typeface="Arial"/>
              <a:buNone/>
            </a:pPr>
            <a:r>
              <a:rPr lang="en-US" sz="8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대표 예시 — GitHub Actions</a:t>
            </a:r>
            <a:endParaRPr sz="8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9" name="Google Shape;1979;g3eecf95ea0e_0_0"/>
          <p:cNvSpPr/>
          <p:nvPr/>
        </p:nvSpPr>
        <p:spPr>
          <a:xfrm>
            <a:off x="8197901" y="2893161"/>
            <a:ext cx="203100" cy="2031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0" name="Google Shape;1980;g3eecf95ea0e_0_0" descr="gen-dedup-e01c2fc1a2fddeb456c7e30a108be7aa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242401" y="2937663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g3eecf95ea0e_0_0"/>
          <p:cNvSpPr txBox="1"/>
          <p:nvPr/>
        </p:nvSpPr>
        <p:spPr>
          <a:xfrm>
            <a:off x="8464296" y="2899257"/>
            <a:ext cx="28956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00"/>
              <a:buFont typeface="Arial"/>
              <a:buNone/>
            </a:pPr>
            <a:r>
              <a:rPr lang="en-US" sz="10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검증 자동 통과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2" name="Google Shape;1982;g3eecf95ea0e_0_0"/>
          <p:cNvSpPr txBox="1"/>
          <p:nvPr/>
        </p:nvSpPr>
        <p:spPr>
          <a:xfrm>
            <a:off x="8464296" y="3051487"/>
            <a:ext cx="2895600" cy="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065F46"/>
                </a:solidFill>
                <a:latin typeface="Noto Sans"/>
                <a:ea typeface="Noto Sans"/>
                <a:cs typeface="Noto Sans"/>
                <a:sym typeface="Noto Sans"/>
              </a:rPr>
              <a:t>통과한 결과만 병합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3" name="Google Shape;1983;g3eecf95ea0e_0_0"/>
          <p:cNvSpPr/>
          <p:nvPr/>
        </p:nvSpPr>
        <p:spPr>
          <a:xfrm>
            <a:off x="571805" y="3543605"/>
            <a:ext cx="571800" cy="139500"/>
          </a:xfrm>
          <a:prstGeom prst="roundRect">
            <a:avLst>
              <a:gd name="adj" fmla="val 238189"/>
            </a:avLst>
          </a:prstGeom>
          <a:solidFill>
            <a:srgbClr val="111827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g3eecf95ea0e_0_0"/>
          <p:cNvSpPr txBox="1"/>
          <p:nvPr/>
        </p:nvSpPr>
        <p:spPr>
          <a:xfrm>
            <a:off x="571805" y="3543605"/>
            <a:ext cx="571800" cy="1401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25400" rIns="762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g3eecf95ea0e_0_0"/>
          <p:cNvSpPr txBox="1"/>
          <p:nvPr/>
        </p:nvSpPr>
        <p:spPr>
          <a:xfrm>
            <a:off x="1201521" y="3562503"/>
            <a:ext cx="10443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실제 적용 결과 — 캡처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g3eecf95ea0e_0_0"/>
          <p:cNvSpPr/>
          <p:nvPr/>
        </p:nvSpPr>
        <p:spPr>
          <a:xfrm>
            <a:off x="685800" y="3924605"/>
            <a:ext cx="114600" cy="114600"/>
          </a:xfrm>
          <a:prstGeom prst="ellipse">
            <a:avLst/>
          </a:prstGeom>
          <a:solidFill>
            <a:srgbClr val="E63946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g3eecf95ea0e_0_0"/>
          <p:cNvSpPr/>
          <p:nvPr/>
        </p:nvSpPr>
        <p:spPr>
          <a:xfrm>
            <a:off x="685800" y="3924605"/>
            <a:ext cx="1146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g3eecf95ea0e_0_0"/>
          <p:cNvSpPr txBox="1"/>
          <p:nvPr/>
        </p:nvSpPr>
        <p:spPr>
          <a:xfrm>
            <a:off x="838200" y="3933750"/>
            <a:ext cx="8049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E63946"/>
                </a:solidFill>
                <a:latin typeface="Noto Sans"/>
                <a:ea typeface="Noto Sans"/>
                <a:cs typeface="Noto Sans"/>
                <a:sym typeface="Noto Sans"/>
              </a:rPr>
              <a:t>PROMPT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9" name="Google Shape;1989;g3eecf95ea0e_0_0"/>
          <p:cNvSpPr txBox="1"/>
          <p:nvPr/>
        </p:nvSpPr>
        <p:spPr>
          <a:xfrm>
            <a:off x="1659197" y="3940450"/>
            <a:ext cx="1112700" cy="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500"/>
              <a:buFont typeface="Arial"/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9 에이전트</a:t>
            </a:r>
            <a:r>
              <a:rPr lang="en-US" sz="900" b="1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900" b="1" i="0" u="none" strike="noStrike" cap="non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템플릿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0" name="Google Shape;1990;g3eecf95ea0e_0_0"/>
          <p:cNvSpPr/>
          <p:nvPr/>
        </p:nvSpPr>
        <p:spPr>
          <a:xfrm>
            <a:off x="2971800" y="3933749"/>
            <a:ext cx="114600" cy="114600"/>
          </a:xfrm>
          <a:prstGeom prst="ellipse">
            <a:avLst/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g3eecf95ea0e_0_0"/>
          <p:cNvSpPr/>
          <p:nvPr/>
        </p:nvSpPr>
        <p:spPr>
          <a:xfrm>
            <a:off x="2971800" y="3933749"/>
            <a:ext cx="1146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g3eecf95ea0e_0_0"/>
          <p:cNvSpPr txBox="1"/>
          <p:nvPr/>
        </p:nvSpPr>
        <p:spPr>
          <a:xfrm>
            <a:off x="3124200" y="3943500"/>
            <a:ext cx="13851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CONTEXT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3" name="Google Shape;1993;g3eecf95ea0e_0_0"/>
          <p:cNvSpPr txBox="1"/>
          <p:nvPr/>
        </p:nvSpPr>
        <p:spPr>
          <a:xfrm>
            <a:off x="3765175" y="3943500"/>
            <a:ext cx="1930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— 토큰 절감 규칙 적용 효과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4" name="Google Shape;1994;g3eecf95ea0e_0_0"/>
          <p:cNvSpPr/>
          <p:nvPr/>
        </p:nvSpPr>
        <p:spPr>
          <a:xfrm>
            <a:off x="6780300" y="3924600"/>
            <a:ext cx="792000" cy="133500"/>
          </a:xfrm>
          <a:prstGeom prst="roundRect">
            <a:avLst>
              <a:gd name="adj" fmla="val 217438"/>
            </a:avLst>
          </a:prstGeom>
          <a:solidFill>
            <a:srgbClr val="7C3AED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g3eecf95ea0e_0_0"/>
          <p:cNvSpPr txBox="1"/>
          <p:nvPr/>
        </p:nvSpPr>
        <p:spPr>
          <a:xfrm>
            <a:off x="6774725" y="3921815"/>
            <a:ext cx="920400" cy="1335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725" tIns="16925" rIns="67725" bIns="16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−85% 토큰</a:t>
            </a:r>
            <a:endParaRPr sz="10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6" name="Google Shape;1996;g3eecf95ea0e_0_0"/>
          <p:cNvSpPr/>
          <p:nvPr/>
        </p:nvSpPr>
        <p:spPr>
          <a:xfrm>
            <a:off x="7924800" y="3933749"/>
            <a:ext cx="114600" cy="114600"/>
          </a:xfrm>
          <a:prstGeom prst="ellipse">
            <a:avLst/>
          </a:prstGeom>
          <a:solidFill>
            <a:srgbClr val="10B981"/>
          </a:solidFill>
          <a:ln w="847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7" name="Google Shape;1997;g3eecf95ea0e_0_0"/>
          <p:cNvSpPr/>
          <p:nvPr/>
        </p:nvSpPr>
        <p:spPr>
          <a:xfrm>
            <a:off x="7924800" y="3933749"/>
            <a:ext cx="114600" cy="114600"/>
          </a:xfrm>
          <a:prstGeom prst="rect">
            <a:avLst/>
          </a:prstGeom>
          <a:solidFill>
            <a:srgbClr val="FFFFFF">
              <a:alpha val="0"/>
            </a:srgbClr>
          </a:solidFill>
          <a:ln w="635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g3eecf95ea0e_0_0"/>
          <p:cNvSpPr txBox="1"/>
          <p:nvPr/>
        </p:nvSpPr>
        <p:spPr>
          <a:xfrm>
            <a:off x="8077200" y="3943500"/>
            <a:ext cx="6555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HARNESS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9" name="Google Shape;1999;g3eecf95ea0e_0_0"/>
          <p:cNvSpPr txBox="1"/>
          <p:nvPr/>
        </p:nvSpPr>
        <p:spPr>
          <a:xfrm>
            <a:off x="8728357" y="3943500"/>
            <a:ext cx="1594200" cy="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600"/>
              <a:buFont typeface="Arial"/>
              <a:buNone/>
            </a:pPr>
            <a:r>
              <a:rPr lang="en-US" sz="1100" b="1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— GitHub Actions 검증</a:t>
            </a:r>
            <a:endParaRPr sz="11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000" name="Google Shape;2000;g3eecf95ea0e_0_0" descr="gen-dedup-ab97c043aaca5438d62dd9b1401da901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71805" y="51801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1" name="Google Shape;2001;g3eecf95ea0e_0_0" descr="gen-dedup-c68ab5d697e0c2ce81b0ac954ae91e5b.png"/>
          <p:cNvPicPr preferRelativeResize="0"/>
          <p:nvPr/>
        </p:nvPicPr>
        <p:blipFill rotWithShape="1">
          <a:blip r:embed="rId20">
            <a:alphaModFix/>
          </a:blip>
          <a:srcRect l="-191" r="-191"/>
          <a:stretch/>
        </p:blipFill>
        <p:spPr>
          <a:xfrm>
            <a:off x="10918100" y="3924600"/>
            <a:ext cx="59115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g3eecf95ea0e_0_0"/>
          <p:cNvSpPr txBox="1"/>
          <p:nvPr/>
        </p:nvSpPr>
        <p:spPr>
          <a:xfrm>
            <a:off x="11052048" y="3924605"/>
            <a:ext cx="4578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SUCCESS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3" name="Google Shape;2003;g3eecf95ea0e_0_0" descr="gen-dedup-16ab3156a2a1950b32068f4803a34190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956951" y="3956304"/>
            <a:ext cx="70104" cy="7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4" name="Google Shape;2004;g3eecf95ea0e_0_0" descr="gen-dedup-58ef68f955ce7b7708f505e00056efd7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5800" y="609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g3eecf95ea0e_0_0"/>
          <p:cNvSpPr txBox="1"/>
          <p:nvPr/>
        </p:nvSpPr>
        <p:spPr>
          <a:xfrm>
            <a:off x="4943660" y="422150"/>
            <a:ext cx="53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–   적용 방식</a:t>
            </a:r>
            <a:endParaRPr sz="18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1" name="Google Shape;2011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23"/>
          <p:cNvSpPr/>
          <p:nvPr/>
        </p:nvSpPr>
        <p:spPr>
          <a:xfrm>
            <a:off x="571195" y="49420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8A74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3" name="Google Shape;2013;p23"/>
          <p:cNvPicPr preferRelativeResize="0"/>
          <p:nvPr/>
        </p:nvPicPr>
        <p:blipFill rotWithShape="1">
          <a:blip r:embed="rId4">
            <a:alphaModFix/>
          </a:blip>
          <a:srcRect l="21586" t="32295" r="40120" b="10546"/>
          <a:stretch/>
        </p:blipFill>
        <p:spPr>
          <a:xfrm>
            <a:off x="6443467" y="1439400"/>
            <a:ext cx="5179059" cy="4953708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23"/>
          <p:cNvSpPr txBox="1"/>
          <p:nvPr/>
        </p:nvSpPr>
        <p:spPr>
          <a:xfrm>
            <a:off x="1193600" y="495600"/>
            <a:ext cx="41490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400"/>
              <a:buFont typeface="Noto Sans KR"/>
              <a:buNone/>
            </a:pPr>
            <a:r>
              <a:rPr lang="en-US" sz="2700" b="1">
                <a:solidFill>
                  <a:srgbClr val="212529"/>
                </a:solidFill>
                <a:latin typeface="Noto Sans"/>
                <a:ea typeface="Noto Sans"/>
                <a:cs typeface="Noto Sans"/>
                <a:sym typeface="Noto Sans"/>
              </a:rPr>
              <a:t>개발 협업 </a:t>
            </a:r>
            <a:endParaRPr sz="27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5" name="Google Shape;2015;p23"/>
          <p:cNvSpPr txBox="1"/>
          <p:nvPr/>
        </p:nvSpPr>
        <p:spPr>
          <a:xfrm>
            <a:off x="1193600" y="901600"/>
            <a:ext cx="63447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Noto Sans KR"/>
              <a:buNone/>
            </a:pPr>
            <a:r>
              <a:rPr lang="en-US" sz="1300">
                <a:solidFill>
                  <a:srgbClr val="6C757D"/>
                </a:solidFill>
                <a:latin typeface="Noto Sans"/>
                <a:ea typeface="Noto Sans"/>
                <a:cs typeface="Noto Sans"/>
                <a:sym typeface="Noto Sans"/>
              </a:rPr>
              <a:t>PR 커밋 기반 개발 이력 관리 / </a:t>
            </a:r>
            <a:r>
              <a:rPr lang="en-US" sz="1300">
                <a:solidFill>
                  <a:srgbClr val="6C757D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요구사항을 티켓 단위로 분해하고 진행 상태를 관리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Noto Sans KR"/>
              <a:buNone/>
            </a:pPr>
            <a:r>
              <a:rPr lang="en-US" sz="1300">
                <a:solidFill>
                  <a:srgbClr val="6C757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300">
              <a:solidFill>
                <a:srgbClr val="6C757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016" name="Google Shape;2016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495" y="60849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7" name="Google Shape;2017;p23"/>
          <p:cNvPicPr preferRelativeResize="0"/>
          <p:nvPr/>
        </p:nvPicPr>
        <p:blipFill rotWithShape="1">
          <a:blip r:embed="rId6">
            <a:alphaModFix/>
          </a:blip>
          <a:srcRect r="2563"/>
          <a:stretch/>
        </p:blipFill>
        <p:spPr>
          <a:xfrm>
            <a:off x="570025" y="1438286"/>
            <a:ext cx="5568284" cy="4953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3" name="Google Shape;2023;p25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74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4" name="Google Shape;2024;p25" descr="gen-dedup-b56c04e1a79c86314ec9bcc6e84fb8d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5" name="Google Shape;2025;p25" descr="gen-dedup-7dba7e191ce7b72dacb2d224853c565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896" y="615696"/>
            <a:ext cx="215799" cy="21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6" name="Google Shape;2026;p25"/>
          <p:cNvSpPr txBox="1"/>
          <p:nvPr/>
        </p:nvSpPr>
        <p:spPr>
          <a:xfrm>
            <a:off x="1193597" y="495605"/>
            <a:ext cx="76200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시연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25"/>
          <p:cNvSpPr txBox="1"/>
          <p:nvPr/>
        </p:nvSpPr>
        <p:spPr>
          <a:xfrm>
            <a:off x="1193597" y="901599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시연— 사용자가 직접 마주하는 와트이쓔 화면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3" name="Google Shape;2033;p26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4" name="Google Shape;2034;p26" descr="gen-dedup-b56c04e1a79c86314ec9bcc6e84fb8d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5" name="Google Shape;2035;p26" descr="gen-dedup-5abd8b4bcc7b484288aefefb4f9a4ba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896" y="615696"/>
            <a:ext cx="215799" cy="2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26" descr="gen-dedup-7ce6b7f439456f30fc839d2186edc649.png"/>
          <p:cNvPicPr preferRelativeResize="0"/>
          <p:nvPr/>
        </p:nvPicPr>
        <p:blipFill rotWithShape="1">
          <a:blip r:embed="rId6">
            <a:alphaModFix/>
          </a:blip>
          <a:srcRect l="-10"/>
          <a:stretch/>
        </p:blipFill>
        <p:spPr>
          <a:xfrm>
            <a:off x="571800" y="1439400"/>
            <a:ext cx="5524809" cy="24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7" name="Google Shape;2037;p26" descr="gen-dedup-97796e6eb4973bd300f8becae8559143.png"/>
          <p:cNvPicPr preferRelativeResize="0"/>
          <p:nvPr/>
        </p:nvPicPr>
        <p:blipFill rotWithShape="1">
          <a:blip r:embed="rId7">
            <a:alphaModFix/>
          </a:blip>
          <a:srcRect r="-10"/>
          <a:stretch/>
        </p:blipFill>
        <p:spPr>
          <a:xfrm>
            <a:off x="6222797" y="1439400"/>
            <a:ext cx="5397402" cy="24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8" name="Google Shape;2038;p26" descr="gen-dedup-1a3c61b81f04bb93f7735fa047759424.png"/>
          <p:cNvPicPr preferRelativeResize="0"/>
          <p:nvPr/>
        </p:nvPicPr>
        <p:blipFill rotWithShape="1">
          <a:blip r:embed="rId8">
            <a:alphaModFix/>
          </a:blip>
          <a:srcRect l="-10" r="-10"/>
          <a:stretch/>
        </p:blipFill>
        <p:spPr>
          <a:xfrm>
            <a:off x="571805" y="4452793"/>
            <a:ext cx="3619805" cy="195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26" descr="gen-dedup-1a3c61b81f04bb93f7735fa047759424.png"/>
          <p:cNvPicPr preferRelativeResize="0"/>
          <p:nvPr/>
        </p:nvPicPr>
        <p:blipFill rotWithShape="1">
          <a:blip r:embed="rId8">
            <a:alphaModFix/>
          </a:blip>
          <a:srcRect l="-10" r="-10"/>
          <a:stretch/>
        </p:blipFill>
        <p:spPr>
          <a:xfrm>
            <a:off x="4495800" y="4452793"/>
            <a:ext cx="3619805" cy="195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26" descr="gen-dedup-12ae154fb9ccb30732289c7649902077.png"/>
          <p:cNvPicPr preferRelativeResize="0"/>
          <p:nvPr/>
        </p:nvPicPr>
        <p:blipFill rotWithShape="1">
          <a:blip r:embed="rId9">
            <a:alphaModFix/>
          </a:blip>
          <a:srcRect r="-10"/>
          <a:stretch/>
        </p:blipFill>
        <p:spPr>
          <a:xfrm>
            <a:off x="8420405" y="4452793"/>
            <a:ext cx="3200400" cy="195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26" descr="gen-dedup-4d63d0924d3f3da3a8ffbb2318c8a397.png"/>
          <p:cNvPicPr preferRelativeResize="0"/>
          <p:nvPr/>
        </p:nvPicPr>
        <p:blipFill rotWithShape="1">
          <a:blip r:embed="rId10">
            <a:alphaModFix/>
          </a:blip>
          <a:srcRect l="-403" r="-403"/>
          <a:stretch/>
        </p:blipFill>
        <p:spPr>
          <a:xfrm>
            <a:off x="571805" y="1468801"/>
            <a:ext cx="38405" cy="241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2" name="Google Shape;2042;p26" descr="gen-dedup-c14ee28645567c5d6e481960b4ad2a07.png"/>
          <p:cNvPicPr preferRelativeResize="0"/>
          <p:nvPr/>
        </p:nvPicPr>
        <p:blipFill rotWithShape="1">
          <a:blip r:embed="rId11">
            <a:alphaModFix/>
          </a:blip>
          <a:srcRect l="-403" r="-403"/>
          <a:stretch/>
        </p:blipFill>
        <p:spPr>
          <a:xfrm>
            <a:off x="6222797" y="1468801"/>
            <a:ext cx="38405" cy="2412797"/>
          </a:xfrm>
          <a:prstGeom prst="rect">
            <a:avLst/>
          </a:prstGeom>
          <a:noFill/>
          <a:ln>
            <a:noFill/>
          </a:ln>
        </p:spPr>
      </p:pic>
      <p:sp>
        <p:nvSpPr>
          <p:cNvPr id="2043" name="Google Shape;2043;p26"/>
          <p:cNvSpPr txBox="1"/>
          <p:nvPr/>
        </p:nvSpPr>
        <p:spPr>
          <a:xfrm>
            <a:off x="1193597" y="495605"/>
            <a:ext cx="8255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수익성 </a:t>
            </a:r>
            <a:r>
              <a:rPr lang="en-US" sz="2700" b="1">
                <a:solidFill>
                  <a:srgbClr val="111827"/>
                </a:solidFill>
              </a:rPr>
              <a:t>·</a:t>
            </a:r>
            <a:r>
              <a:rPr lang="en-US" b="1">
                <a:solidFill>
                  <a:srgbClr val="111827"/>
                </a:solidFill>
              </a:rPr>
              <a:t> </a:t>
            </a:r>
            <a:r>
              <a:rPr lang="en-US" sz="2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확장성 </a:t>
            </a:r>
            <a:r>
              <a:rPr lang="en-US" sz="2700" b="1">
                <a:solidFill>
                  <a:srgbClr val="111827"/>
                </a:solidFill>
              </a:rPr>
              <a:t>·</a:t>
            </a:r>
            <a:r>
              <a:rPr lang="en-US" b="1">
                <a:solidFill>
                  <a:srgbClr val="111827"/>
                </a:solidFill>
              </a:rPr>
              <a:t> </a:t>
            </a:r>
            <a:r>
              <a:rPr lang="en-US" sz="2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기대 효과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26"/>
          <p:cNvSpPr txBox="1"/>
          <p:nvPr/>
        </p:nvSpPr>
        <p:spPr>
          <a:xfrm>
            <a:off x="1193597" y="901599"/>
            <a:ext cx="825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사용자가 얻는 가치 · 운영기관이 얻는 가치 · 확장 방향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26"/>
          <p:cNvSpPr/>
          <p:nvPr/>
        </p:nvSpPr>
        <p:spPr>
          <a:xfrm>
            <a:off x="812597" y="1658996"/>
            <a:ext cx="330300" cy="330300"/>
          </a:xfrm>
          <a:prstGeom prst="ellipse">
            <a:avLst/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6" name="Google Shape;2046;p26" descr="gen-dedup-068d5a28ab54f4fb2f184f184145cf3b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5503" y="1741292"/>
            <a:ext cx="165201" cy="165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26"/>
          <p:cNvSpPr txBox="1"/>
          <p:nvPr/>
        </p:nvSpPr>
        <p:spPr>
          <a:xfrm>
            <a:off x="1232001" y="1773601"/>
            <a:ext cx="17196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사용자가 얻는 가치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26"/>
          <p:cNvSpPr/>
          <p:nvPr/>
        </p:nvSpPr>
        <p:spPr>
          <a:xfrm>
            <a:off x="812597" y="2141799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9" name="Google Shape;2049;p26" descr="gen-dedup-58a05fa1a9b931a27b9edce7324bb80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9899" y="2198492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26"/>
          <p:cNvSpPr txBox="1"/>
          <p:nvPr/>
        </p:nvSpPr>
        <p:spPr>
          <a:xfrm>
            <a:off x="1130199" y="2141799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어떤 가전이 원인인지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26"/>
          <p:cNvSpPr txBox="1"/>
          <p:nvPr/>
        </p:nvSpPr>
        <p:spPr>
          <a:xfrm>
            <a:off x="1130200" y="2309450"/>
            <a:ext cx="28965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NILM 분해로 22가전 식별 → 진단 리포트에 가전 단위로 표시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26"/>
          <p:cNvSpPr/>
          <p:nvPr/>
        </p:nvSpPr>
        <p:spPr>
          <a:xfrm>
            <a:off x="812597" y="2552060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3" name="Google Shape;2053;p26" descr="gen-dedup-7277689280836b3a83f28fd63c9e255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9899" y="2609363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26"/>
          <p:cNvSpPr txBox="1"/>
          <p:nvPr/>
        </p:nvSpPr>
        <p:spPr>
          <a:xfrm>
            <a:off x="1130199" y="2552060"/>
            <a:ext cx="236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예상 절감액 기반 행동 선택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26"/>
          <p:cNvSpPr txBox="1"/>
          <p:nvPr/>
        </p:nvSpPr>
        <p:spPr>
          <a:xfrm>
            <a:off x="1130200" y="2719700"/>
            <a:ext cx="3144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AI가 절감액 내림차순으로 정렬 → 무엇부터 줄여야 효과 큰지 한눈에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26"/>
          <p:cNvSpPr/>
          <p:nvPr/>
        </p:nvSpPr>
        <p:spPr>
          <a:xfrm>
            <a:off x="812597" y="2962931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7" name="Google Shape;2057;p26" descr="gen-dedup-ecae5b983dd20f3a1f1e493b08a75ffa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69899" y="3020233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26"/>
          <p:cNvSpPr txBox="1"/>
          <p:nvPr/>
        </p:nvSpPr>
        <p:spPr>
          <a:xfrm>
            <a:off x="1130199" y="2962931"/>
            <a:ext cx="176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캐시백 진행률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26"/>
          <p:cNvSpPr txBox="1"/>
          <p:nvPr/>
        </p:nvSpPr>
        <p:spPr>
          <a:xfrm>
            <a:off x="1130199" y="3130571"/>
            <a:ext cx="2367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목표 · 누적 · 예상 캐시백을 실시간 게이지로 시각화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26"/>
          <p:cNvSpPr/>
          <p:nvPr/>
        </p:nvSpPr>
        <p:spPr>
          <a:xfrm>
            <a:off x="6464199" y="1658996"/>
            <a:ext cx="330300" cy="330300"/>
          </a:xfrm>
          <a:prstGeom prst="ellipse">
            <a:avLst/>
          </a:prstGeom>
          <a:solidFill>
            <a:srgbClr val="F1EC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1" name="Google Shape;2061;p26" descr="gen-dedup-4a6b121c8a2b4fd6463467eb9e936083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47104" y="1741292"/>
            <a:ext cx="165201" cy="165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26"/>
          <p:cNvSpPr txBox="1"/>
          <p:nvPr/>
        </p:nvSpPr>
        <p:spPr>
          <a:xfrm>
            <a:off x="6883603" y="1773601"/>
            <a:ext cx="19062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운영기관이 얻는 가치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26"/>
          <p:cNvSpPr/>
          <p:nvPr/>
        </p:nvSpPr>
        <p:spPr>
          <a:xfrm>
            <a:off x="6464199" y="2141799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1EC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4" name="Google Shape;2064;p26" descr="gen-dedup-7d95a13d89857dd69a33f5661430047a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21501" y="2198492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p26"/>
          <p:cNvSpPr txBox="1"/>
          <p:nvPr/>
        </p:nvSpPr>
        <p:spPr>
          <a:xfrm>
            <a:off x="6781800" y="2141799"/>
            <a:ext cx="169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가구별 절감 행동 유도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26"/>
          <p:cNvSpPr txBox="1"/>
          <p:nvPr/>
        </p:nvSpPr>
        <p:spPr>
          <a:xfrm>
            <a:off x="6781800" y="2309439"/>
            <a:ext cx="22287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미션 카드 + 캐시백 트래커로 행동 변화 추적 가능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26"/>
          <p:cNvSpPr/>
          <p:nvPr/>
        </p:nvSpPr>
        <p:spPr>
          <a:xfrm>
            <a:off x="6464199" y="2552060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1EC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8" name="Google Shape;2068;p26" descr="gen-dedup-c9f96e7f1ed3682312192e815ec0f8c7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521501" y="2609363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26"/>
          <p:cNvSpPr txBox="1"/>
          <p:nvPr/>
        </p:nvSpPr>
        <p:spPr>
          <a:xfrm>
            <a:off x="6781800" y="2552060"/>
            <a:ext cx="2153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단지·지역 단위 에너지 리포트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26"/>
          <p:cNvSpPr txBox="1"/>
          <p:nvPr/>
        </p:nvSpPr>
        <p:spPr>
          <a:xfrm>
            <a:off x="6781800" y="2719700"/>
            <a:ext cx="30909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가구별 데이터를 집계 → 공동주택 단지 · 지자체 단위 인사이트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26"/>
          <p:cNvSpPr/>
          <p:nvPr/>
        </p:nvSpPr>
        <p:spPr>
          <a:xfrm>
            <a:off x="6464199" y="2962931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1EC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2" name="Google Shape;2072;p26" descr="gen-dedup-45f5bea9c8daa237bc9c221bdd8b680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521501" y="3020233"/>
            <a:ext cx="114605" cy="11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26"/>
          <p:cNvSpPr txBox="1"/>
          <p:nvPr/>
        </p:nvSpPr>
        <p:spPr>
          <a:xfrm>
            <a:off x="6781800" y="2962925"/>
            <a:ext cx="1972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에너지 절감 캠페인 근거 확보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26"/>
          <p:cNvSpPr txBox="1"/>
          <p:nvPr/>
        </p:nvSpPr>
        <p:spPr>
          <a:xfrm>
            <a:off x="6781800" y="3130571"/>
            <a:ext cx="2175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캠페인 전·후 효과를 가전 단위로 정량 측정 가능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26"/>
          <p:cNvSpPr/>
          <p:nvPr/>
        </p:nvSpPr>
        <p:spPr>
          <a:xfrm>
            <a:off x="571805" y="4071793"/>
            <a:ext cx="203100" cy="203100"/>
          </a:xfrm>
          <a:prstGeom prst="ellipse">
            <a:avLst/>
          </a:prstGeom>
          <a:solidFill>
            <a:srgbClr val="14B8A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6" name="Google Shape;2076;p26" descr="gen-dedup-cefeade4b1fe37bb49015c5193c6e759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22401" y="4122999"/>
            <a:ext cx="101803" cy="101803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26"/>
          <p:cNvSpPr txBox="1"/>
          <p:nvPr/>
        </p:nvSpPr>
        <p:spPr>
          <a:xfrm>
            <a:off x="851001" y="4075451"/>
            <a:ext cx="7992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확장 방향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26"/>
          <p:cNvSpPr/>
          <p:nvPr/>
        </p:nvSpPr>
        <p:spPr>
          <a:xfrm>
            <a:off x="762000" y="4688708"/>
            <a:ext cx="330300" cy="158400"/>
          </a:xfrm>
          <a:prstGeom prst="roundRect">
            <a:avLst>
              <a:gd name="adj" fmla="val 246154"/>
            </a:avLst>
          </a:prstGeom>
          <a:solidFill>
            <a:srgbClr val="3B82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6"/>
          <p:cNvSpPr txBox="1"/>
          <p:nvPr/>
        </p:nvSpPr>
        <p:spPr>
          <a:xfrm>
            <a:off x="762000" y="4688708"/>
            <a:ext cx="3303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B2C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26"/>
          <p:cNvSpPr txBox="1"/>
          <p:nvPr/>
        </p:nvSpPr>
        <p:spPr>
          <a:xfrm>
            <a:off x="3661867" y="4630796"/>
            <a:ext cx="3933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26"/>
          <p:cNvSpPr txBox="1"/>
          <p:nvPr/>
        </p:nvSpPr>
        <p:spPr>
          <a:xfrm>
            <a:off x="762000" y="5019111"/>
            <a:ext cx="3238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캐시백 미션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서비스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2" name="Google Shape;2082;p26" descr="gen-dedup-1fc0a47892fe366b458ccf44b928e8cd.png"/>
          <p:cNvPicPr preferRelativeResize="0"/>
          <p:nvPr/>
        </p:nvPicPr>
        <p:blipFill rotWithShape="1">
          <a:blip r:embed="rId21">
            <a:alphaModFix/>
          </a:blip>
          <a:srcRect l="-2094" r="-2084"/>
          <a:stretch/>
        </p:blipFill>
        <p:spPr>
          <a:xfrm>
            <a:off x="762000" y="5489113"/>
            <a:ext cx="3238803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083" name="Google Shape;2083;p26"/>
          <p:cNvSpPr/>
          <p:nvPr/>
        </p:nvSpPr>
        <p:spPr>
          <a:xfrm>
            <a:off x="762000" y="5627492"/>
            <a:ext cx="38400" cy="38400"/>
          </a:xfrm>
          <a:prstGeom prst="ellipse">
            <a:avLst/>
          </a:prstGeom>
          <a:solidFill>
            <a:srgbClr val="3B82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26"/>
          <p:cNvSpPr txBox="1"/>
          <p:nvPr/>
        </p:nvSpPr>
        <p:spPr>
          <a:xfrm>
            <a:off x="851000" y="5584200"/>
            <a:ext cx="19254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가구 단위 진단 + 행동 추천 + 트래커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26"/>
          <p:cNvSpPr/>
          <p:nvPr/>
        </p:nvSpPr>
        <p:spPr>
          <a:xfrm>
            <a:off x="762000" y="5803057"/>
            <a:ext cx="38400" cy="38400"/>
          </a:xfrm>
          <a:prstGeom prst="ellipse">
            <a:avLst/>
          </a:prstGeom>
          <a:solidFill>
            <a:srgbClr val="3B82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26"/>
          <p:cNvSpPr txBox="1"/>
          <p:nvPr/>
        </p:nvSpPr>
        <p:spPr>
          <a:xfrm>
            <a:off x="851000" y="5759775"/>
            <a:ext cx="20952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한전 캐시백과 직접 연동되는 행동 서비스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7" name="Google Shape;2087;p26" descr="gen-dedup-14eca1c53225f9aec90a3a0937fc19e4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241597" y="5329397"/>
            <a:ext cx="2029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26"/>
          <p:cNvSpPr/>
          <p:nvPr/>
        </p:nvSpPr>
        <p:spPr>
          <a:xfrm>
            <a:off x="4686605" y="4688708"/>
            <a:ext cx="578100" cy="158400"/>
          </a:xfrm>
          <a:prstGeom prst="roundRect">
            <a:avLst>
              <a:gd name="adj" fmla="val 246154"/>
            </a:avLst>
          </a:prstGeom>
          <a:solidFill>
            <a:srgbClr val="7C3AED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26"/>
          <p:cNvSpPr txBox="1"/>
          <p:nvPr/>
        </p:nvSpPr>
        <p:spPr>
          <a:xfrm>
            <a:off x="4686605" y="4688708"/>
            <a:ext cx="5781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B2G / B2B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26"/>
          <p:cNvSpPr txBox="1"/>
          <p:nvPr/>
        </p:nvSpPr>
        <p:spPr>
          <a:xfrm>
            <a:off x="7543800" y="4630796"/>
            <a:ext cx="3810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26"/>
          <p:cNvSpPr txBox="1"/>
          <p:nvPr/>
        </p:nvSpPr>
        <p:spPr>
          <a:xfrm>
            <a:off x="4686605" y="5019111"/>
            <a:ext cx="3238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지자체 · 공동주택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단지 리포트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2" name="Google Shape;2092;p26" descr="gen-dedup-1fc0a47892fe366b458ccf44b928e8cd.png"/>
          <p:cNvPicPr preferRelativeResize="0"/>
          <p:nvPr/>
        </p:nvPicPr>
        <p:blipFill rotWithShape="1">
          <a:blip r:embed="rId21">
            <a:alphaModFix/>
          </a:blip>
          <a:srcRect l="-2094" r="-2084"/>
          <a:stretch/>
        </p:blipFill>
        <p:spPr>
          <a:xfrm>
            <a:off x="4686605" y="5489113"/>
            <a:ext cx="3238803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093" name="Google Shape;2093;p26"/>
          <p:cNvSpPr/>
          <p:nvPr/>
        </p:nvSpPr>
        <p:spPr>
          <a:xfrm>
            <a:off x="4686605" y="5627492"/>
            <a:ext cx="38400" cy="38400"/>
          </a:xfrm>
          <a:prstGeom prst="ellipse">
            <a:avLst/>
          </a:prstGeom>
          <a:solidFill>
            <a:srgbClr val="7C3AED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6"/>
          <p:cNvSpPr txBox="1"/>
          <p:nvPr/>
        </p:nvSpPr>
        <p:spPr>
          <a:xfrm>
            <a:off x="4774997" y="5584211"/>
            <a:ext cx="1813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단지 · 지역 단위 에너지 사용 패턴 집계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26"/>
          <p:cNvSpPr/>
          <p:nvPr/>
        </p:nvSpPr>
        <p:spPr>
          <a:xfrm>
            <a:off x="4686605" y="5803057"/>
            <a:ext cx="38400" cy="38400"/>
          </a:xfrm>
          <a:prstGeom prst="ellipse">
            <a:avLst/>
          </a:prstGeom>
          <a:solidFill>
            <a:srgbClr val="7C3AED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26"/>
          <p:cNvSpPr txBox="1"/>
          <p:nvPr/>
        </p:nvSpPr>
        <p:spPr>
          <a:xfrm>
            <a:off x="4774997" y="5759775"/>
            <a:ext cx="18165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절감 캠페인 효과 측정 + 정책 근거 제공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" name="Google Shape;2097;p26" descr="gen-dedup-14eca1c53225f9aec90a3a0937fc19e4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66201" y="5329397"/>
            <a:ext cx="202997" cy="202997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26"/>
          <p:cNvSpPr/>
          <p:nvPr/>
        </p:nvSpPr>
        <p:spPr>
          <a:xfrm>
            <a:off x="8610600" y="4688708"/>
            <a:ext cx="520500" cy="158400"/>
          </a:xfrm>
          <a:prstGeom prst="roundRect">
            <a:avLst>
              <a:gd name="adj" fmla="val 246154"/>
            </a:avLst>
          </a:prstGeom>
          <a:solidFill>
            <a:srgbClr val="14B8A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6"/>
          <p:cNvSpPr txBox="1"/>
          <p:nvPr/>
        </p:nvSpPr>
        <p:spPr>
          <a:xfrm>
            <a:off x="8610600" y="4688708"/>
            <a:ext cx="521100" cy="1593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33875" rIns="76200" bIns="33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26"/>
          <p:cNvSpPr txBox="1"/>
          <p:nvPr/>
        </p:nvSpPr>
        <p:spPr>
          <a:xfrm>
            <a:off x="11040465" y="4630796"/>
            <a:ext cx="393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26"/>
          <p:cNvSpPr txBox="1"/>
          <p:nvPr/>
        </p:nvSpPr>
        <p:spPr>
          <a:xfrm>
            <a:off x="8610600" y="5019111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0F2A26"/>
                </a:solidFill>
                <a:latin typeface="Arial"/>
                <a:ea typeface="Arial"/>
                <a:cs typeface="Arial"/>
                <a:sym typeface="Arial"/>
              </a:rPr>
              <a:t>KPX DR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>
                <a:solidFill>
                  <a:srgbClr val="0F2A26"/>
                </a:solidFill>
                <a:latin typeface="Arial"/>
                <a:ea typeface="Arial"/>
                <a:cs typeface="Arial"/>
                <a:sym typeface="Arial"/>
              </a:rPr>
              <a:t>정산 연계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2" name="Google Shape;2102;p26" descr="gen-dedup-e85e6e96140b834c843601044cda4eaf.png"/>
          <p:cNvPicPr preferRelativeResize="0"/>
          <p:nvPr/>
        </p:nvPicPr>
        <p:blipFill rotWithShape="1">
          <a:blip r:embed="rId23">
            <a:alphaModFix/>
          </a:blip>
          <a:srcRect l="-2083" r="-2083"/>
          <a:stretch/>
        </p:blipFill>
        <p:spPr>
          <a:xfrm>
            <a:off x="8610600" y="5489113"/>
            <a:ext cx="2819400" cy="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26"/>
          <p:cNvSpPr/>
          <p:nvPr/>
        </p:nvSpPr>
        <p:spPr>
          <a:xfrm>
            <a:off x="8610600" y="5627492"/>
            <a:ext cx="38400" cy="38400"/>
          </a:xfrm>
          <a:prstGeom prst="ellipse">
            <a:avLst/>
          </a:prstGeom>
          <a:solidFill>
            <a:srgbClr val="14B8A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26"/>
          <p:cNvSpPr txBox="1"/>
          <p:nvPr/>
        </p:nvSpPr>
        <p:spPr>
          <a:xfrm>
            <a:off x="8699600" y="5584200"/>
            <a:ext cx="15072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0F2A26"/>
                </a:solidFill>
                <a:latin typeface="Arial"/>
                <a:ea typeface="Arial"/>
                <a:cs typeface="Arial"/>
                <a:sym typeface="Arial"/>
              </a:rPr>
              <a:t>전력거래소 수요반응 시장 진입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26"/>
          <p:cNvSpPr/>
          <p:nvPr/>
        </p:nvSpPr>
        <p:spPr>
          <a:xfrm>
            <a:off x="8610600" y="5803057"/>
            <a:ext cx="38400" cy="38400"/>
          </a:xfrm>
          <a:prstGeom prst="ellipse">
            <a:avLst/>
          </a:prstGeom>
          <a:solidFill>
            <a:srgbClr val="14B8A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6"/>
          <p:cNvSpPr txBox="1"/>
          <p:nvPr/>
        </p:nvSpPr>
        <p:spPr>
          <a:xfrm>
            <a:off x="8699600" y="5759775"/>
            <a:ext cx="1872600" cy="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A26"/>
              </a:buClr>
              <a:buSzPts val="700"/>
              <a:buFont typeface="Arial"/>
              <a:buNone/>
            </a:pPr>
            <a:r>
              <a:rPr lang="en-US" sz="800" b="0" i="0" u="none" strike="noStrike" cap="none">
                <a:solidFill>
                  <a:srgbClr val="0F2A26"/>
                </a:solidFill>
                <a:latin typeface="Arial"/>
                <a:ea typeface="Arial"/>
                <a:cs typeface="Arial"/>
                <a:sym typeface="Arial"/>
              </a:rPr>
              <a:t>절감 실적 → DR 정산 수익 모델 확장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2" name="Google Shape;2112;p27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5" y="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3" name="Google Shape;2113;p27" descr="gen-dedup-b56c04e1a79c86314ec9bcc6e84fb8d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805" y="495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4" name="Google Shape;2114;p27" descr="gen-dedup-efc24c9b8e88e4461614fbe15422990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896" y="615696"/>
            <a:ext cx="215799" cy="2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27" descr="gen-dedup-b7ca672391b52f193486d11c05ad0b8a.png"/>
          <p:cNvPicPr preferRelativeResize="0"/>
          <p:nvPr/>
        </p:nvPicPr>
        <p:blipFill rotWithShape="1">
          <a:blip r:embed="rId6">
            <a:alphaModFix/>
          </a:blip>
          <a:srcRect b="-10"/>
          <a:stretch/>
        </p:blipFill>
        <p:spPr>
          <a:xfrm>
            <a:off x="571800" y="1878169"/>
            <a:ext cx="11049004" cy="106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6" name="Google Shape;2116;p27" descr="gen-dedup-b7ca672391b52f193486d11c05ad0b8a.png"/>
          <p:cNvPicPr preferRelativeResize="0"/>
          <p:nvPr/>
        </p:nvPicPr>
        <p:blipFill rotWithShape="1">
          <a:blip r:embed="rId6">
            <a:alphaModFix/>
          </a:blip>
          <a:srcRect b="-10"/>
          <a:stretch/>
        </p:blipFill>
        <p:spPr>
          <a:xfrm>
            <a:off x="574922" y="3029710"/>
            <a:ext cx="11049004" cy="106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7" name="Google Shape;2117;p27" descr="gen-dedup-b7ca672391b52f193486d11c05ad0b8a.png"/>
          <p:cNvPicPr preferRelativeResize="0"/>
          <p:nvPr/>
        </p:nvPicPr>
        <p:blipFill rotWithShape="1">
          <a:blip r:embed="rId6">
            <a:alphaModFix/>
          </a:blip>
          <a:srcRect b="-10"/>
          <a:stretch/>
        </p:blipFill>
        <p:spPr>
          <a:xfrm>
            <a:off x="571800" y="4181258"/>
            <a:ext cx="11049004" cy="106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8" name="Google Shape;2118;p27" descr="gen-dedup-b7ca672391b52f193486d11c05ad0b8a.png"/>
          <p:cNvPicPr preferRelativeResize="0"/>
          <p:nvPr/>
        </p:nvPicPr>
        <p:blipFill rotWithShape="1">
          <a:blip r:embed="rId6">
            <a:alphaModFix/>
          </a:blip>
          <a:srcRect b="-10"/>
          <a:stretch/>
        </p:blipFill>
        <p:spPr>
          <a:xfrm>
            <a:off x="571800" y="5333104"/>
            <a:ext cx="11049004" cy="106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9" name="Google Shape;2119;p27" descr="gen-dedup-5656356d15764f0d9dbf0078e062cb48.png"/>
          <p:cNvPicPr preferRelativeResize="0"/>
          <p:nvPr/>
        </p:nvPicPr>
        <p:blipFill rotWithShape="1">
          <a:blip r:embed="rId7">
            <a:alphaModFix/>
          </a:blip>
          <a:srcRect l="-393" r="-393"/>
          <a:stretch/>
        </p:blipFill>
        <p:spPr>
          <a:xfrm>
            <a:off x="571800" y="1876525"/>
            <a:ext cx="38400" cy="10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0" name="Google Shape;2120;p27" descr="gen-dedup-f5d06255078cd4365b86c7d6f289375d.png"/>
          <p:cNvPicPr preferRelativeResize="0"/>
          <p:nvPr/>
        </p:nvPicPr>
        <p:blipFill rotWithShape="1">
          <a:blip r:embed="rId8">
            <a:alphaModFix/>
          </a:blip>
          <a:srcRect l="-393" r="-393"/>
          <a:stretch/>
        </p:blipFill>
        <p:spPr>
          <a:xfrm>
            <a:off x="571800" y="3040975"/>
            <a:ext cx="38400" cy="10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1" name="Google Shape;2121;p27" descr="gen-dedup-131fa27c2c99548ef5fe6be023533d03.png"/>
          <p:cNvPicPr preferRelativeResize="0"/>
          <p:nvPr/>
        </p:nvPicPr>
        <p:blipFill rotWithShape="1">
          <a:blip r:embed="rId9">
            <a:alphaModFix/>
          </a:blip>
          <a:srcRect l="-393" r="-393"/>
          <a:stretch/>
        </p:blipFill>
        <p:spPr>
          <a:xfrm>
            <a:off x="571800" y="4200525"/>
            <a:ext cx="38400" cy="10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2" name="Google Shape;2122;p27" descr="gen-dedup-03aad25ea820a0e88872a84824801fef.png"/>
          <p:cNvPicPr preferRelativeResize="0"/>
          <p:nvPr/>
        </p:nvPicPr>
        <p:blipFill rotWithShape="1">
          <a:blip r:embed="rId10">
            <a:alphaModFix/>
          </a:blip>
          <a:srcRect l="-393" r="-393"/>
          <a:stretch/>
        </p:blipFill>
        <p:spPr>
          <a:xfrm>
            <a:off x="571800" y="5333200"/>
            <a:ext cx="38400" cy="106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3" name="Google Shape;2123;p27"/>
          <p:cNvSpPr txBox="1"/>
          <p:nvPr/>
        </p:nvSpPr>
        <p:spPr>
          <a:xfrm>
            <a:off x="1193597" y="495605"/>
            <a:ext cx="82551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향후 고도화 로드맵</a:t>
            </a:r>
            <a:endParaRPr sz="2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4" name="Google Shape;2124;p27"/>
          <p:cNvSpPr txBox="1"/>
          <p:nvPr/>
        </p:nvSpPr>
        <p:spPr>
          <a:xfrm>
            <a:off x="1193597" y="901599"/>
            <a:ext cx="825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지금까지가 MVP, 앞으로는 </a:t>
            </a:r>
            <a:r>
              <a:rPr lang="en-US" sz="13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서비스 · AI · NILM · 상태 모니터링</a:t>
            </a:r>
            <a:r>
              <a:rPr lang="en-US" sz="1300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4축 동시 고도화</a:t>
            </a:r>
            <a:endParaRPr sz="13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5" name="Google Shape;2125;p27"/>
          <p:cNvSpPr/>
          <p:nvPr/>
        </p:nvSpPr>
        <p:spPr>
          <a:xfrm>
            <a:off x="571800" y="1427525"/>
            <a:ext cx="11049000" cy="338400"/>
          </a:xfrm>
          <a:prstGeom prst="roundRect">
            <a:avLst>
              <a:gd name="adj" fmla="val 78942"/>
            </a:avLst>
          </a:prstGeom>
          <a:solidFill>
            <a:srgbClr val="111827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7"/>
          <p:cNvSpPr txBox="1"/>
          <p:nvPr/>
        </p:nvSpPr>
        <p:spPr>
          <a:xfrm>
            <a:off x="724200" y="1545894"/>
            <a:ext cx="16515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관점 · PERSPECTIVE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7" name="Google Shape;2127;p27"/>
          <p:cNvSpPr txBox="1"/>
          <p:nvPr/>
        </p:nvSpPr>
        <p:spPr>
          <a:xfrm>
            <a:off x="2629200" y="1545894"/>
            <a:ext cx="4445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현재 MVP · CURRENT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8" name="Google Shape;2128;p27"/>
          <p:cNvSpPr txBox="1"/>
          <p:nvPr/>
        </p:nvSpPr>
        <p:spPr>
          <a:xfrm>
            <a:off x="7023195" y="1545894"/>
            <a:ext cx="10875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향후 고도화 · NEXT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129" name="Google Shape;2129;p27" descr="gen-dedup-475f48e081a241da6d5c3653ae2313af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72978" y="1552503"/>
            <a:ext cx="89001" cy="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7"/>
          <p:cNvSpPr/>
          <p:nvPr/>
        </p:nvSpPr>
        <p:spPr>
          <a:xfrm>
            <a:off x="761995" y="2206238"/>
            <a:ext cx="267000" cy="263400"/>
          </a:xfrm>
          <a:prstGeom prst="roundRect">
            <a:avLst>
              <a:gd name="adj" fmla="val 108719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131" name="Google Shape;2131;p27" descr="gen-dedup-321e7ce13eb9ba7f11de7fee8267ddc0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5394" y="2269328"/>
            <a:ext cx="139599" cy="137597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27"/>
          <p:cNvSpPr txBox="1"/>
          <p:nvPr/>
        </p:nvSpPr>
        <p:spPr>
          <a:xfrm>
            <a:off x="1105200" y="2140143"/>
            <a:ext cx="362100" cy="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3" name="Google Shape;2133;p27"/>
          <p:cNvSpPr txBox="1"/>
          <p:nvPr/>
        </p:nvSpPr>
        <p:spPr>
          <a:xfrm>
            <a:off x="1105198" y="2308996"/>
            <a:ext cx="11310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서비스</a:t>
            </a:r>
            <a:endParaRPr sz="1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4" name="Google Shape;2134;p27"/>
          <p:cNvSpPr txBox="1"/>
          <p:nvPr/>
        </p:nvSpPr>
        <p:spPr>
          <a:xfrm>
            <a:off x="2640959" y="2321098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/>
              <a:buNone/>
            </a:pPr>
            <a:r>
              <a:rPr lang="en-US" sz="12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웹 4페이지, </a:t>
            </a: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캐시백 미션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5" name="Google Shape;2135;p27"/>
          <p:cNvSpPr txBox="1"/>
          <p:nvPr/>
        </p:nvSpPr>
        <p:spPr>
          <a:xfrm>
            <a:off x="7016057" y="2321098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알림 · 모바일 앱 · 챌린지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6" name="Google Shape;2136;p27"/>
          <p:cNvSpPr/>
          <p:nvPr/>
        </p:nvSpPr>
        <p:spPr>
          <a:xfrm>
            <a:off x="2640953" y="2139647"/>
            <a:ext cx="362100" cy="119100"/>
          </a:xfrm>
          <a:prstGeom prst="roundRect">
            <a:avLst>
              <a:gd name="adj" fmla="val 265816"/>
            </a:avLst>
          </a:prstGeom>
          <a:solidFill>
            <a:srgbClr val="F3F4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27"/>
          <p:cNvSpPr txBox="1"/>
          <p:nvPr/>
        </p:nvSpPr>
        <p:spPr>
          <a:xfrm>
            <a:off x="2640953" y="2139647"/>
            <a:ext cx="3621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NOW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8" name="Google Shape;2138;p27"/>
          <p:cNvSpPr/>
          <p:nvPr/>
        </p:nvSpPr>
        <p:spPr>
          <a:xfrm>
            <a:off x="7016057" y="2139647"/>
            <a:ext cx="413400" cy="119100"/>
          </a:xfrm>
          <a:prstGeom prst="roundRect">
            <a:avLst>
              <a:gd name="adj" fmla="val 265816"/>
            </a:avLst>
          </a:prstGeom>
          <a:solidFill>
            <a:srgbClr val="E8F0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27"/>
          <p:cNvSpPr txBox="1"/>
          <p:nvPr/>
        </p:nvSpPr>
        <p:spPr>
          <a:xfrm>
            <a:off x="7016055" y="2139647"/>
            <a:ext cx="3768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NEXT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0" name="Google Shape;2140;p27"/>
          <p:cNvSpPr/>
          <p:nvPr/>
        </p:nvSpPr>
        <p:spPr>
          <a:xfrm>
            <a:off x="761995" y="3358082"/>
            <a:ext cx="267000" cy="263400"/>
          </a:xfrm>
          <a:prstGeom prst="roundRect">
            <a:avLst>
              <a:gd name="adj" fmla="val 108719"/>
            </a:avLst>
          </a:prstGeom>
          <a:solidFill>
            <a:srgbClr val="F1EC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1" name="Google Shape;2141;p27" descr="gen-dedup-293b1d01ae5ee47696d501a4d8e9694f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5394" y="3420572"/>
            <a:ext cx="139599" cy="137597"/>
          </a:xfrm>
          <a:prstGeom prst="rect">
            <a:avLst/>
          </a:prstGeom>
          <a:noFill/>
          <a:ln>
            <a:noFill/>
          </a:ln>
        </p:spPr>
      </p:pic>
      <p:sp>
        <p:nvSpPr>
          <p:cNvPr id="2142" name="Google Shape;2142;p27"/>
          <p:cNvSpPr txBox="1"/>
          <p:nvPr/>
        </p:nvSpPr>
        <p:spPr>
          <a:xfrm>
            <a:off x="1105200" y="3291988"/>
            <a:ext cx="413400" cy="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3" name="Google Shape;2143;p27"/>
          <p:cNvSpPr txBox="1"/>
          <p:nvPr/>
        </p:nvSpPr>
        <p:spPr>
          <a:xfrm>
            <a:off x="1105199" y="3460844"/>
            <a:ext cx="11310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AI 진단</a:t>
            </a:r>
            <a:endParaRPr sz="1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4" name="Google Shape;2144;p27"/>
          <p:cNvSpPr txBox="1"/>
          <p:nvPr/>
        </p:nvSpPr>
        <p:spPr>
          <a:xfrm>
            <a:off x="2640959" y="3472943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KG + LLM</a:t>
            </a:r>
            <a:r>
              <a:rPr lang="en-US" sz="12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추천, </a:t>
            </a: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평가 자동화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5" name="Google Shape;2145;p27"/>
          <p:cNvSpPr txBox="1"/>
          <p:nvPr/>
        </p:nvSpPr>
        <p:spPr>
          <a:xfrm>
            <a:off x="7016057" y="3472943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LangSmith 회귀 평가 · KG 자동 보강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6" name="Google Shape;2146;p27"/>
          <p:cNvSpPr/>
          <p:nvPr/>
        </p:nvSpPr>
        <p:spPr>
          <a:xfrm>
            <a:off x="7016057" y="3291493"/>
            <a:ext cx="413400" cy="119100"/>
          </a:xfrm>
          <a:prstGeom prst="roundRect">
            <a:avLst>
              <a:gd name="adj" fmla="val 265816"/>
            </a:avLst>
          </a:prstGeom>
          <a:solidFill>
            <a:srgbClr val="F1EC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27"/>
          <p:cNvSpPr txBox="1"/>
          <p:nvPr/>
        </p:nvSpPr>
        <p:spPr>
          <a:xfrm>
            <a:off x="7016056" y="3291489"/>
            <a:ext cx="3768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NEXT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8" name="Google Shape;2148;p27"/>
          <p:cNvSpPr/>
          <p:nvPr/>
        </p:nvSpPr>
        <p:spPr>
          <a:xfrm>
            <a:off x="761995" y="4509928"/>
            <a:ext cx="267000" cy="263400"/>
          </a:xfrm>
          <a:prstGeom prst="roundRect">
            <a:avLst>
              <a:gd name="adj" fmla="val 108719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9" name="Google Shape;2149;p27" descr="gen-dedup-19d41999e36b12c9928f8ed5534ab773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5394" y="4572417"/>
            <a:ext cx="139599" cy="137597"/>
          </a:xfrm>
          <a:prstGeom prst="rect">
            <a:avLst/>
          </a:prstGeom>
          <a:noFill/>
          <a:ln>
            <a:noFill/>
          </a:ln>
        </p:spPr>
      </p:pic>
      <p:sp>
        <p:nvSpPr>
          <p:cNvPr id="2150" name="Google Shape;2150;p27"/>
          <p:cNvSpPr txBox="1"/>
          <p:nvPr/>
        </p:nvSpPr>
        <p:spPr>
          <a:xfrm>
            <a:off x="1105200" y="4443233"/>
            <a:ext cx="337200" cy="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1" name="Google Shape;2151;p27"/>
          <p:cNvSpPr txBox="1"/>
          <p:nvPr/>
        </p:nvSpPr>
        <p:spPr>
          <a:xfrm>
            <a:off x="1105197" y="4612689"/>
            <a:ext cx="9837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NILM</a:t>
            </a:r>
            <a:endParaRPr sz="1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2" name="Google Shape;2152;p27"/>
          <p:cNvSpPr txBox="1"/>
          <p:nvPr/>
        </p:nvSpPr>
        <p:spPr>
          <a:xfrm>
            <a:off x="2640959" y="4624788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v10 앙상블</a:t>
            </a:r>
            <a:r>
              <a:rPr lang="en-US" sz="12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22 가전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3" name="Google Shape;2153;p27"/>
          <p:cNvSpPr txBox="1"/>
          <p:nvPr/>
        </p:nvSpPr>
        <p:spPr>
          <a:xfrm>
            <a:off x="7016057" y="4624788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가전 50종+ · 사용자별 LoRA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4" name="Google Shape;2154;p27"/>
          <p:cNvSpPr/>
          <p:nvPr/>
        </p:nvSpPr>
        <p:spPr>
          <a:xfrm>
            <a:off x="7016057" y="4443329"/>
            <a:ext cx="317700" cy="119100"/>
          </a:xfrm>
          <a:prstGeom prst="roundRect">
            <a:avLst>
              <a:gd name="adj" fmla="val 265816"/>
            </a:avLst>
          </a:prstGeom>
          <a:solidFill>
            <a:srgbClr val="E6F7F1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27"/>
          <p:cNvSpPr txBox="1"/>
          <p:nvPr/>
        </p:nvSpPr>
        <p:spPr>
          <a:xfrm>
            <a:off x="7016053" y="4443340"/>
            <a:ext cx="6066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NEXT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6" name="Google Shape;2156;p27"/>
          <p:cNvSpPr/>
          <p:nvPr/>
        </p:nvSpPr>
        <p:spPr>
          <a:xfrm>
            <a:off x="761995" y="5661173"/>
            <a:ext cx="267000" cy="263400"/>
          </a:xfrm>
          <a:prstGeom prst="roundRect">
            <a:avLst>
              <a:gd name="adj" fmla="val 108719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7" name="Google Shape;2157;p27" descr="gen-dedup-2e24b59f776d5ff62ba4d9f076729cb9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5394" y="5724263"/>
            <a:ext cx="139599" cy="137597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27"/>
          <p:cNvSpPr txBox="1"/>
          <p:nvPr/>
        </p:nvSpPr>
        <p:spPr>
          <a:xfrm>
            <a:off x="1105200" y="5595079"/>
            <a:ext cx="749700" cy="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"/>
              <a:buFont typeface="Arial"/>
              <a:buNone/>
            </a:pPr>
            <a:r>
              <a:rPr lang="en-US" sz="9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9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9" name="Google Shape;2159;p27"/>
          <p:cNvSpPr txBox="1"/>
          <p:nvPr/>
        </p:nvSpPr>
        <p:spPr>
          <a:xfrm>
            <a:off x="1105211" y="5763931"/>
            <a:ext cx="13716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상태 모니터링</a:t>
            </a:r>
            <a:endParaRPr sz="16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0" name="Google Shape;2160;p27"/>
          <p:cNvSpPr txBox="1"/>
          <p:nvPr/>
        </p:nvSpPr>
        <p:spPr>
          <a:xfrm>
            <a:off x="2640959" y="5776033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TDA / HMM</a:t>
            </a:r>
            <a:r>
              <a:rPr lang="en-US" sz="1200" i="0" u="none" strike="noStrike" cap="non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운전모드 분류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1" name="Google Shape;2161;p27"/>
          <p:cNvSpPr txBox="1"/>
          <p:nvPr/>
        </p:nvSpPr>
        <p:spPr>
          <a:xfrm>
            <a:off x="7016057" y="5776033"/>
            <a:ext cx="4426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노후·고장 예측 · baseline 자동 갱신</a:t>
            </a:r>
            <a:endParaRPr sz="12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2" name="Google Shape;2162;p27"/>
          <p:cNvSpPr/>
          <p:nvPr/>
        </p:nvSpPr>
        <p:spPr>
          <a:xfrm>
            <a:off x="7016057" y="5594582"/>
            <a:ext cx="413400" cy="119100"/>
          </a:xfrm>
          <a:prstGeom prst="roundRect">
            <a:avLst>
              <a:gd name="adj" fmla="val 265816"/>
            </a:avLst>
          </a:prstGeom>
          <a:solidFill>
            <a:srgbClr val="FEF3E2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27"/>
          <p:cNvSpPr txBox="1"/>
          <p:nvPr/>
        </p:nvSpPr>
        <p:spPr>
          <a:xfrm>
            <a:off x="7016056" y="5594582"/>
            <a:ext cx="3768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NEXT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4" name="Google Shape;2164;p27"/>
          <p:cNvSpPr/>
          <p:nvPr/>
        </p:nvSpPr>
        <p:spPr>
          <a:xfrm>
            <a:off x="2640953" y="3266256"/>
            <a:ext cx="362100" cy="119100"/>
          </a:xfrm>
          <a:prstGeom prst="roundRect">
            <a:avLst>
              <a:gd name="adj" fmla="val 265816"/>
            </a:avLst>
          </a:prstGeom>
          <a:solidFill>
            <a:srgbClr val="F3F4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27"/>
          <p:cNvSpPr txBox="1"/>
          <p:nvPr/>
        </p:nvSpPr>
        <p:spPr>
          <a:xfrm>
            <a:off x="2640953" y="3266256"/>
            <a:ext cx="3621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NOW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6" name="Google Shape;2166;p27"/>
          <p:cNvSpPr/>
          <p:nvPr/>
        </p:nvSpPr>
        <p:spPr>
          <a:xfrm>
            <a:off x="2640953" y="4444208"/>
            <a:ext cx="362100" cy="119100"/>
          </a:xfrm>
          <a:prstGeom prst="roundRect">
            <a:avLst>
              <a:gd name="adj" fmla="val 265816"/>
            </a:avLst>
          </a:prstGeom>
          <a:solidFill>
            <a:srgbClr val="F3F4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27"/>
          <p:cNvSpPr txBox="1"/>
          <p:nvPr/>
        </p:nvSpPr>
        <p:spPr>
          <a:xfrm>
            <a:off x="2640953" y="4444208"/>
            <a:ext cx="3621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NOW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8" name="Google Shape;2168;p27"/>
          <p:cNvSpPr/>
          <p:nvPr/>
        </p:nvSpPr>
        <p:spPr>
          <a:xfrm>
            <a:off x="2640953" y="5594582"/>
            <a:ext cx="362100" cy="119100"/>
          </a:xfrm>
          <a:prstGeom prst="roundRect">
            <a:avLst>
              <a:gd name="adj" fmla="val 265816"/>
            </a:avLst>
          </a:prstGeom>
          <a:solidFill>
            <a:srgbClr val="F3F4F6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27"/>
          <p:cNvSpPr txBox="1"/>
          <p:nvPr/>
        </p:nvSpPr>
        <p:spPr>
          <a:xfrm>
            <a:off x="2640953" y="5594582"/>
            <a:ext cx="362100" cy="1191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275" tIns="16925" rIns="59275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NOW</a:t>
            </a:r>
            <a:endParaRPr sz="70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5" name="Google Shape;2175;g3eaea90ab4f_6_16" descr="gen-dedup-11b7f81ecc5805d9f7cdd63db459e6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74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6" name="Google Shape;2176;g3eaea90ab4f_6_16"/>
          <p:cNvSpPr txBox="1"/>
          <p:nvPr/>
        </p:nvSpPr>
        <p:spPr>
          <a:xfrm>
            <a:off x="1193599" y="495600"/>
            <a:ext cx="51819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400"/>
              <a:buFont typeface="Noto Sans KR"/>
              <a:buNone/>
            </a:pPr>
            <a:r>
              <a:rPr lang="en-US" sz="2700" b="1">
                <a:solidFill>
                  <a:srgbClr val="212529"/>
                </a:solidFill>
                <a:latin typeface="Noto Sans"/>
                <a:ea typeface="Noto Sans"/>
                <a:cs typeface="Noto Sans"/>
                <a:sym typeface="Noto Sans"/>
              </a:rPr>
              <a:t>Q&amp;A</a:t>
            </a:r>
            <a:endParaRPr sz="2700" b="1">
              <a:solidFill>
                <a:srgbClr val="11182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7" name="Google Shape;2177;g3eaea90ab4f_6_16"/>
          <p:cNvSpPr txBox="1"/>
          <p:nvPr/>
        </p:nvSpPr>
        <p:spPr>
          <a:xfrm>
            <a:off x="1193597" y="901599"/>
            <a:ext cx="82551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Noto Sans KR"/>
              <a:buNone/>
            </a:pPr>
            <a:r>
              <a:rPr lang="en-US" sz="1300">
                <a:solidFill>
                  <a:srgbClr val="6C757D"/>
                </a:solidFill>
                <a:latin typeface="Noto Sans"/>
                <a:ea typeface="Noto Sans"/>
                <a:cs typeface="Noto Sans"/>
                <a:sym typeface="Noto Sans"/>
              </a:rPr>
              <a:t>질문</a:t>
            </a:r>
            <a:endParaRPr sz="1300">
              <a:solidFill>
                <a:srgbClr val="6B728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8" name="Google Shape;2178;g3eaea90ab4f_6_16"/>
          <p:cNvSpPr/>
          <p:nvPr/>
        </p:nvSpPr>
        <p:spPr>
          <a:xfrm>
            <a:off x="574017" y="49730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F42C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9" name="Google Shape;2179;g3eaea90ab4f_6_16" descr="gen-dedup-4112ffd03bbb063a9614a036cb9f2a9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9875" y="603157"/>
            <a:ext cx="245500" cy="2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29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6" name="Google Shape;2186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" y="0"/>
            <a:ext cx="121916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29"/>
          <p:cNvSpPr txBox="1"/>
          <p:nvPr/>
        </p:nvSpPr>
        <p:spPr>
          <a:xfrm>
            <a:off x="4686375" y="3209550"/>
            <a:ext cx="3987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400"/>
              <a:buFont typeface="Noto Sans KR"/>
              <a:buNone/>
            </a:pPr>
            <a:r>
              <a:rPr lang="en-US" sz="5000" b="1" i="0" u="none" strike="noStrike" cap="none">
                <a:solidFill>
                  <a:srgbClr val="212529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감사합니다.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4176</Words>
  <Application>Microsoft Macintosh PowerPoint</Application>
  <PresentationFormat>와이드스크린</PresentationFormat>
  <Paragraphs>1181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Noto Sans</vt:lpstr>
      <vt:lpstr>Arial</vt:lpstr>
      <vt:lpstr>JetBrains Mono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박지민</cp:lastModifiedBy>
  <cp:revision>17</cp:revision>
  <dcterms:modified xsi:type="dcterms:W3CDTF">2026-06-12T01:31:39Z</dcterms:modified>
</cp:coreProperties>
</file>