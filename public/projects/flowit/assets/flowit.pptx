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28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5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x="18288000" cy="10287000"/>
  <p:notesSz cx="6858000" cy="9144000"/>
  <p:embeddedFontLst>
    <p:embeddedFont>
      <p:font typeface="Noto Sans Kr Bold" charset="1" panose="020B0200000000000000"/>
      <p:regular r:id="rId47"/>
    </p:embeddedFont>
    <p:embeddedFont>
      <p:font typeface="Noto Sans Kr" charset="1" panose="020B0200000000000000"/>
      <p:regular r:id="rId48"/>
    </p:embeddedFont>
    <p:embeddedFont>
      <p:font typeface="JetBrains Mono" charset="1" panose="02010509020102050004"/>
      <p:regular r:id="rId49"/>
    </p:embeddedFont>
    <p:embeddedFont>
      <p:font typeface="Noto Sans Kr Ultra-Bold" charset="1" panose="020B0200000000000000"/>
      <p:regular r:id="rId5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fonts/font47.fntdata" Type="http://schemas.openxmlformats.org/officeDocument/2006/relationships/font"/><Relationship Id="rId48" Target="fonts/font48.fntdata" Type="http://schemas.openxmlformats.org/officeDocument/2006/relationships/font"/><Relationship Id="rId49" Target="fonts/font49.fntdata" Type="http://schemas.openxmlformats.org/officeDocument/2006/relationships/font"/><Relationship Id="rId5" Target="tableStyles.xml" Type="http://schemas.openxmlformats.org/officeDocument/2006/relationships/tableStyles"/><Relationship Id="rId50" Target="fonts/font50.fntdata" Type="http://schemas.openxmlformats.org/officeDocument/2006/relationships/font"/><Relationship Id="rId51" Target="notesMasters/notesMaster1.xml" Type="http://schemas.openxmlformats.org/officeDocument/2006/relationships/notesMaster"/><Relationship Id="rId52" Target="theme/theme2.xml" Type="http://schemas.openxmlformats.org/officeDocument/2006/relationships/theme"/><Relationship Id="rId53" Target="notesSlides/notesSlide1.xml" Type="http://schemas.openxmlformats.org/officeDocument/2006/relationships/notesSlide"/><Relationship Id="rId54" Target="notesSlides/notesSlide2.xml" Type="http://schemas.openxmlformats.org/officeDocument/2006/relationships/notesSlide"/><Relationship Id="rId55" Target="notesSlides/notesSlide3.xml" Type="http://schemas.openxmlformats.org/officeDocument/2006/relationships/notesSlide"/><Relationship Id="rId56" Target="notesSlides/notesSlide4.xml" Type="http://schemas.openxmlformats.org/officeDocument/2006/relationships/notesSlide"/><Relationship Id="rId57" Target="notesSlides/notesSlide5.xml" Type="http://schemas.openxmlformats.org/officeDocument/2006/relationships/notesSlide"/><Relationship Id="rId58" Target="notesSlides/notesSlide6.xml" Type="http://schemas.openxmlformats.org/officeDocument/2006/relationships/notesSlide"/><Relationship Id="rId59" Target="notesSlides/notesSlide7.xml" Type="http://schemas.openxmlformats.org/officeDocument/2006/relationships/notesSlide"/><Relationship Id="rId6" Target="slides/slide1.xml" Type="http://schemas.openxmlformats.org/officeDocument/2006/relationships/slide"/><Relationship Id="rId60" Target="notesSlides/notesSlide8.xml" Type="http://schemas.openxmlformats.org/officeDocument/2006/relationships/notesSlide"/><Relationship Id="rId61" Target="notesSlides/notesSlide9.xml" Type="http://schemas.openxmlformats.org/officeDocument/2006/relationships/notesSlide"/><Relationship Id="rId62" Target="notesSlides/notesSlide10.xml" Type="http://schemas.openxmlformats.org/officeDocument/2006/relationships/notesSlide"/><Relationship Id="rId63" Target="notesSlides/notesSlide11.xml" Type="http://schemas.openxmlformats.org/officeDocument/2006/relationships/notesSlide"/><Relationship Id="rId64" Target="notesSlides/notesSlide12.xml" Type="http://schemas.openxmlformats.org/officeDocument/2006/relationships/notesSlide"/><Relationship Id="rId65" Target="notesSlides/notesSlide13.xml" Type="http://schemas.openxmlformats.org/officeDocument/2006/relationships/notesSlide"/><Relationship Id="rId66" Target="notesSlides/notesSlide14.xml" Type="http://schemas.openxmlformats.org/officeDocument/2006/relationships/notesSlide"/><Relationship Id="rId67" Target="notesSlides/notesSlide15.xml" Type="http://schemas.openxmlformats.org/officeDocument/2006/relationships/notesSlide"/><Relationship Id="rId68" Target="notesSlides/notesSlide16.xml" Type="http://schemas.openxmlformats.org/officeDocument/2006/relationships/notesSlide"/><Relationship Id="rId69" Target="notesSlides/notesSlide17.xml" Type="http://schemas.openxmlformats.org/officeDocument/2006/relationships/notesSlide"/><Relationship Id="rId7" Target="slides/slide2.xml" Type="http://schemas.openxmlformats.org/officeDocument/2006/relationships/slide"/><Relationship Id="rId70" Target="notesSlides/notesSlide18.xml" Type="http://schemas.openxmlformats.org/officeDocument/2006/relationships/notesSlide"/><Relationship Id="rId71" Target="notesSlides/notesSlide19.xml" Type="http://schemas.openxmlformats.org/officeDocument/2006/relationships/notesSlide"/><Relationship Id="rId72" Target="notesSlides/notesSlide20.xml" Type="http://schemas.openxmlformats.org/officeDocument/2006/relationships/notesSlide"/><Relationship Id="rId73" Target="notesSlides/notesSlide21.xml" Type="http://schemas.openxmlformats.org/officeDocument/2006/relationships/notesSlide"/><Relationship Id="rId74" Target="notesSlides/notesSlide22.xml" Type="http://schemas.openxmlformats.org/officeDocument/2006/relationships/notesSlide"/><Relationship Id="rId75" Target="notesSlides/notesSlide23.xml" Type="http://schemas.openxmlformats.org/officeDocument/2006/relationships/notesSlide"/><Relationship Id="rId76" Target="notesSlides/notesSlide24.xml" Type="http://schemas.openxmlformats.org/officeDocument/2006/relationships/notesSlide"/><Relationship Id="rId77" Target="notesSlides/notesSlide25.xml" Type="http://schemas.openxmlformats.org/officeDocument/2006/relationships/notesSlide"/><Relationship Id="rId78" Target="notesSlides/notesSlide26.xml" Type="http://schemas.openxmlformats.org/officeDocument/2006/relationships/notesSlide"/><Relationship Id="rId79" Target="notesSlides/notesSlide27.xml" Type="http://schemas.openxmlformats.org/officeDocument/2006/relationships/notesSlide"/><Relationship Id="rId8" Target="slides/slide3.xml" Type="http://schemas.openxmlformats.org/officeDocument/2006/relationships/slide"/><Relationship Id="rId80" Target="notesSlides/notesSlide28.xml" Type="http://schemas.openxmlformats.org/officeDocument/2006/relationships/notes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5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6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7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8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9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0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1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2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3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4.xml" Type="http://schemas.openxmlformats.org/officeDocument/2006/relationships/slide"/></Relationships>
</file>

<file path=ppt/notesSlides/_rels/notesSlide2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5.xml" Type="http://schemas.openxmlformats.org/officeDocument/2006/relationships/slide"/></Relationships>
</file>

<file path=ppt/notesSlides/_rels/notesSlide2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7.xml" Type="http://schemas.openxmlformats.org/officeDocument/2006/relationships/slide"/></Relationships>
</file>

<file path=ppt/notesSlides/_rels/notesSlide2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8.xml" Type="http://schemas.openxmlformats.org/officeDocument/2006/relationships/slide"/></Relationships>
</file>

<file path=ppt/notesSlides/_rels/notesSlide2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9.xml" Type="http://schemas.openxmlformats.org/officeDocument/2006/relationships/slide"/></Relationships>
</file>

<file path=ppt/notesSlides/_rels/notesSlide2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팀원소개페이지 생성!</a:t>
            </a:r>
          </a:p>
          <a:p>
            <a:r>
              <a:rPr lang="en-US"/>
              <a:t>담당업무!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54% -&gt; 5장의 좌측이랑 안맞음</a:t>
            </a:r>
          </a:p>
          <a:p>
            <a:r>
              <a:rPr lang="en-US"/>
              <a:t>보완 : 업무의 연속성 깨짐 !</a:t>
            </a:r>
          </a:p>
          <a:p>
            <a:r>
              <a:rPr lang="en-US"/>
              <a:t>숙련자 이탈이 업무가 깨지니까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업무효율개선 연구자료! 숫자로 넣기!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사진으로 넣어주기! 했다 증명!</a:t>
            </a:r>
          </a:p>
          <a:p>
            <a:r>
              <a:rPr lang="en-US"/>
              <a:t>지라 백로그 드랍</a:t>
            </a:r>
          </a:p>
          <a:p>
            <a:r>
              <a:rPr lang="en-US"/>
              <a:t>캘린더</a:t>
            </a:r>
          </a:p>
          <a:p>
            <a:r>
              <a:rPr lang="en-US"/>
              <a:t>깃허브 슬랙 한페이지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13.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글자가 글자정렬 다시 완성도이건 내가 알아서 할께 </a:t>
            </a:r>
          </a:p>
          <a:p>
            <a:r>
              <a:rPr lang="en-US"/>
              <a:t/>
            </a:r>
          </a:p>
          <a:p>
            <a:r>
              <a:rPr lang="en-US"/>
              <a:t>하네스 엔지니어링 실제 (문제-&gt;규칙&gt;방향 제안 )이건 그재로 가는데 이제</a:t>
            </a:r>
          </a:p>
          <a:p>
            <a:r>
              <a:rPr lang="en-US"/>
              <a:t>네거 티브 엔지니어링빼기 그리고 그자리에 </a:t>
            </a:r>
          </a:p>
          <a:p>
            <a:r>
              <a:rPr lang="en-US"/>
              <a:t>클로드코드 규칙 강제하는 내용으로 대체 -&gt;룰베이스</a:t>
            </a:r>
          </a:p>
          <a:p>
            <a:r>
              <a:rPr lang="en-US"/>
              <a:t/>
            </a:r>
          </a:p>
          <a:p>
            <a:r>
              <a:rPr lang="en-US"/>
              <a:t>룰 베이스 찾아봐서 3개로 압축 잘들억날수잇게!!2번네거티브 엔지니어링!부분 수정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6개 모듈 한눈에. 하단 플로우 띠에서 ⑤→② 재사용 루프 강조.</a:t>
            </a:r>
          </a:p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단방향이 아니라 루프. intent 분류 9종 → 분기 → sub-agent 완료 → supervisor 복귀. 하단 띠에 5 Modal 앱 흡수.</a:t>
            </a:r>
          </a:p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멀티에이전트 4요소(Planning/Tool/Action/Eval)에 Composer 단계 매핑. 실제 캡처: 줄글 덤프(이전) vs 단계별 스트리밍(이후)=4요소. 노드 22개.</a:t>
            </a:r>
          </a:p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같은 발화·같은 QA 10/10인데 도입 전은 '알 수 없음'이 통과, 도입 후는 google_sheets_read 정상. 차이는 노드 선택 정확성.</a:t>
            </a:r>
          </a:p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painpoint 해결을 위해 온톨로지를 이런 구조로 도입했다. 8종 결정적 스켈레톤 + 2중 검증.</a:t>
            </a:r>
          </a:p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측정 없는 고도화는 추측. §6.5 평가 하니스로 Before/After 실측. 끊긴 워크플로우 23.2%→0%, qa 0.45→0.75.</a:t>
            </a:r>
          </a:p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노드·노드그래프·실행엔진 결합. 62종 선정 이유(현업 조사, read/write 대칭). GraphValidator 7종 + 설계 이유(조건/제어/검증 루프 지원).</a:t>
            </a:r>
          </a:p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Composer와 동일 4요소 프레임으로 통일. 단 에이전트화 미구현 → 자체 도식, 가동/미연결 정직 표기. 캡처 없음.</a:t>
            </a:r>
          </a:p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in-code 결정적 조립에서 온톨로지 ground truth로. 그래프는 결정적 구조 선택에만. Neo4j 1개·투영 경로 2개.</a:t>
            </a:r>
          </a:p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같은 SOP·같은 모델, 프롬프트만 바꿔 런북 수준. 3섹션 권장 vs 9섹션 강제. 9섹션은 무배포 실측, 코드 반영은 후속.</a:t>
            </a:r>
          </a:p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SEED → 2-md → 마켓 → Composer 재사용. 자기 강화 루프.</a:t>
            </a:r>
          </a:p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유지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유지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유지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같은 발화, corpus 유무만. OFF는 YOUR_SPREADSHEET_ID placeholder라 경고 / ON은 flowit01로 자동충전 경고 없음. 강조 = spreadsheet_id 값.</a:t>
            </a:r>
          </a:p>
          <a:p>
            <a:r>
              <a:rPr lang="en-US"/>
              <a:t>17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7.jpeg" Type="http://schemas.openxmlformats.org/officeDocument/2006/relationships/image"/><Relationship Id="rId4" Target="../media/image8.png" Type="http://schemas.openxmlformats.org/officeDocument/2006/relationships/image"/><Relationship Id="rId5" Target="../media/image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png" Type="http://schemas.openxmlformats.org/officeDocument/2006/relationships/image"/><Relationship Id="rId11" Target="../media/image17.png" Type="http://schemas.openxmlformats.org/officeDocument/2006/relationships/image"/><Relationship Id="rId2" Target="../notesSlides/notesSlide3.xml" Type="http://schemas.openxmlformats.org/officeDocument/2006/relationships/notesSlide"/><Relationship Id="rId3" Target="../media/image7.jpe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Relationship Id="rId6" Target="../media/image12.png" Type="http://schemas.openxmlformats.org/officeDocument/2006/relationships/image"/><Relationship Id="rId7" Target="../media/image13.png" Type="http://schemas.openxmlformats.org/officeDocument/2006/relationships/image"/><Relationship Id="rId8" Target="../media/image14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7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7.jpe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7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png" Type="http://schemas.openxmlformats.org/officeDocument/2006/relationships/image"/><Relationship Id="rId11" Target="../media/image28.png" Type="http://schemas.openxmlformats.org/officeDocument/2006/relationships/image"/><Relationship Id="rId12" Target="../media/image29.png" Type="http://schemas.openxmlformats.org/officeDocument/2006/relationships/image"/><Relationship Id="rId13" Target="../media/image30.png" Type="http://schemas.openxmlformats.org/officeDocument/2006/relationships/image"/><Relationship Id="rId14" Target="../media/image31.png" Type="http://schemas.openxmlformats.org/officeDocument/2006/relationships/image"/><Relationship Id="rId15" Target="../media/image32.png" Type="http://schemas.openxmlformats.org/officeDocument/2006/relationships/image"/><Relationship Id="rId16" Target="../media/image33.png" Type="http://schemas.openxmlformats.org/officeDocument/2006/relationships/image"/><Relationship Id="rId17" Target="../media/image34.png" Type="http://schemas.openxmlformats.org/officeDocument/2006/relationships/image"/><Relationship Id="rId18" Target="../media/image35.png" Type="http://schemas.openxmlformats.org/officeDocument/2006/relationships/image"/><Relationship Id="rId19" Target="../media/image36.png" Type="http://schemas.openxmlformats.org/officeDocument/2006/relationships/image"/><Relationship Id="rId2" Target="../notesSlides/notesSlide6.xml" Type="http://schemas.openxmlformats.org/officeDocument/2006/relationships/notesSlide"/><Relationship Id="rId20" Target="../media/image37.png" Type="http://schemas.openxmlformats.org/officeDocument/2006/relationships/image"/><Relationship Id="rId21" Target="../media/image38.png" Type="http://schemas.openxmlformats.org/officeDocument/2006/relationships/image"/><Relationship Id="rId3" Target="../media/image7.jpeg" Type="http://schemas.openxmlformats.org/officeDocument/2006/relationships/image"/><Relationship Id="rId4" Target="../media/image21.png" Type="http://schemas.openxmlformats.org/officeDocument/2006/relationships/image"/><Relationship Id="rId5" Target="../media/image22.png" Type="http://schemas.openxmlformats.org/officeDocument/2006/relationships/image"/><Relationship Id="rId6" Target="../media/image23.png" Type="http://schemas.openxmlformats.org/officeDocument/2006/relationships/image"/><Relationship Id="rId7" Target="../media/image24.png" Type="http://schemas.openxmlformats.org/officeDocument/2006/relationships/image"/><Relationship Id="rId8" Target="../media/image25.pn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5.png" Type="http://schemas.openxmlformats.org/officeDocument/2006/relationships/image"/><Relationship Id="rId11" Target="../media/image46.png" Type="http://schemas.openxmlformats.org/officeDocument/2006/relationships/image"/><Relationship Id="rId12" Target="../media/image47.png" Type="http://schemas.openxmlformats.org/officeDocument/2006/relationships/image"/><Relationship Id="rId13" Target="../media/image48.png" Type="http://schemas.openxmlformats.org/officeDocument/2006/relationships/image"/><Relationship Id="rId14" Target="../media/image49.png" Type="http://schemas.openxmlformats.org/officeDocument/2006/relationships/image"/><Relationship Id="rId15" Target="../media/image50.png" Type="http://schemas.openxmlformats.org/officeDocument/2006/relationships/image"/><Relationship Id="rId16" Target="../media/image51.png" Type="http://schemas.openxmlformats.org/officeDocument/2006/relationships/image"/><Relationship Id="rId17" Target="../media/image52.png" Type="http://schemas.openxmlformats.org/officeDocument/2006/relationships/image"/><Relationship Id="rId18" Target="../media/image53.png" Type="http://schemas.openxmlformats.org/officeDocument/2006/relationships/image"/><Relationship Id="rId19" Target="../media/image54.png" Type="http://schemas.openxmlformats.org/officeDocument/2006/relationships/image"/><Relationship Id="rId2" Target="../notesSlides/notesSlide7.xml" Type="http://schemas.openxmlformats.org/officeDocument/2006/relationships/notesSlide"/><Relationship Id="rId20" Target="../media/image55.png" Type="http://schemas.openxmlformats.org/officeDocument/2006/relationships/image"/><Relationship Id="rId3" Target="../media/image7.jpeg" Type="http://schemas.openxmlformats.org/officeDocument/2006/relationships/image"/><Relationship Id="rId4" Target="../media/image39.png" Type="http://schemas.openxmlformats.org/officeDocument/2006/relationships/image"/><Relationship Id="rId5" Target="../media/image40.png" Type="http://schemas.openxmlformats.org/officeDocument/2006/relationships/image"/><Relationship Id="rId6" Target="../media/image41.png" Type="http://schemas.openxmlformats.org/officeDocument/2006/relationships/image"/><Relationship Id="rId7" Target="../media/image42.png" Type="http://schemas.openxmlformats.org/officeDocument/2006/relationships/image"/><Relationship Id="rId8" Target="../media/image43.png" Type="http://schemas.openxmlformats.org/officeDocument/2006/relationships/image"/><Relationship Id="rId9" Target="../media/image44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6.png" Type="http://schemas.openxmlformats.org/officeDocument/2006/relationships/image"/><Relationship Id="rId3" Target="../media/image7.jpeg" Type="http://schemas.openxmlformats.org/officeDocument/2006/relationships/image"/><Relationship Id="rId4" Target="../media/image57.png" Type="http://schemas.openxmlformats.org/officeDocument/2006/relationships/image"/><Relationship Id="rId5" Target="../media/image58.png" Type="http://schemas.openxmlformats.org/officeDocument/2006/relationships/image"/><Relationship Id="rId6" Target="../media/image59.png" Type="http://schemas.openxmlformats.org/officeDocument/2006/relationships/image"/><Relationship Id="rId7" Target="../media/image6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7.png" Type="http://schemas.openxmlformats.org/officeDocument/2006/relationships/image"/><Relationship Id="rId11" Target="../media/image58.png" Type="http://schemas.openxmlformats.org/officeDocument/2006/relationships/image"/><Relationship Id="rId12" Target="../media/image68.png" Type="http://schemas.openxmlformats.org/officeDocument/2006/relationships/image"/><Relationship Id="rId2" Target="../media/image7.jpeg" Type="http://schemas.openxmlformats.org/officeDocument/2006/relationships/image"/><Relationship Id="rId3" Target="../media/image61.png" Type="http://schemas.openxmlformats.org/officeDocument/2006/relationships/image"/><Relationship Id="rId4" Target="../media/image62.png" Type="http://schemas.openxmlformats.org/officeDocument/2006/relationships/image"/><Relationship Id="rId5" Target="../media/image63.png" Type="http://schemas.openxmlformats.org/officeDocument/2006/relationships/image"/><Relationship Id="rId6" Target="../media/image64.png" Type="http://schemas.openxmlformats.org/officeDocument/2006/relationships/image"/><Relationship Id="rId7" Target="../media/image65.png" Type="http://schemas.openxmlformats.org/officeDocument/2006/relationships/image"/><Relationship Id="rId8" Target="../media/image66.png" Type="http://schemas.openxmlformats.org/officeDocument/2006/relationships/image"/><Relationship Id="rId9" Target="../media/image56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7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7.jpe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69.png" Type="http://schemas.openxmlformats.org/officeDocument/2006/relationships/image"/><Relationship Id="rId4" Target="../media/image70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69.png" Type="http://schemas.openxmlformats.org/officeDocument/2006/relationships/image"/><Relationship Id="rId4" Target="../media/image71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7.jpe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Relationship Id="rId3" Target="../media/image7.jpe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0.xml" Type="http://schemas.openxmlformats.org/officeDocument/2006/relationships/notesSlide"/><Relationship Id="rId3" Target="../media/image7.jpe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1.xml" Type="http://schemas.openxmlformats.org/officeDocument/2006/relationships/notesSlid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2.xml" Type="http://schemas.openxmlformats.org/officeDocument/2006/relationships/notesSlide"/><Relationship Id="rId3" Target="../media/image7.jpe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3.xml" Type="http://schemas.openxmlformats.org/officeDocument/2006/relationships/notesSlide"/><Relationship Id="rId3" Target="../media/image7.jpe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4.xml" Type="http://schemas.openxmlformats.org/officeDocument/2006/relationships/notesSlide"/><Relationship Id="rId3" Target="../media/image72.png" Type="http://schemas.openxmlformats.org/officeDocument/2006/relationships/image"/><Relationship Id="rId4" Target="../media/image73.png" Type="http://schemas.openxmlformats.org/officeDocument/2006/relationships/image"/><Relationship Id="rId5" Target="../media/image74.png" Type="http://schemas.openxmlformats.org/officeDocument/2006/relationships/image"/><Relationship Id="rId6" Target="../media/image75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5.xml" Type="http://schemas.openxmlformats.org/officeDocument/2006/relationships/notesSlid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6.xml" Type="http://schemas.openxmlformats.org/officeDocument/2006/relationships/notesSlid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7.xml" Type="http://schemas.openxmlformats.org/officeDocument/2006/relationships/notesSlid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8.xml" Type="http://schemas.openxmlformats.org/officeDocument/2006/relationships/notesSlid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92203" y="2293391"/>
            <a:ext cx="16588235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b="true" sz="2499" spc="449">
                <a:solidFill>
                  <a:srgbClr val="63B3E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FlowIt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66800" y="2908675"/>
            <a:ext cx="2095500" cy="57150"/>
            <a:chOff x="0" y="0"/>
            <a:chExt cx="2794000" cy="762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94000" cy="76200"/>
            </a:xfrm>
            <a:custGeom>
              <a:avLst/>
              <a:gdLst/>
              <a:ahLst/>
              <a:cxnLst/>
              <a:rect r="r" b="b" t="t" l="l"/>
              <a:pathLst>
                <a:path h="76200" w="2794000">
                  <a:moveTo>
                    <a:pt x="0" y="0"/>
                  </a:moveTo>
                  <a:lnTo>
                    <a:pt x="2794000" y="0"/>
                  </a:lnTo>
                  <a:lnTo>
                    <a:pt x="2794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DD6B20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028700" y="3251575"/>
            <a:ext cx="16853706" cy="2449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68"/>
              </a:lnSpc>
            </a:pPr>
            <a:r>
              <a:rPr lang="en-US" b="true" sz="7400" spc="-222">
                <a:solidFill>
                  <a:srgbClr val="F6F4E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Mult</a:t>
            </a:r>
            <a:r>
              <a:rPr lang="en-US" b="true" sz="7400" spc="-222">
                <a:solidFill>
                  <a:srgbClr val="F6F4E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i-Agent 기반        </a:t>
            </a:r>
          </a:p>
          <a:p>
            <a:pPr algn="l">
              <a:lnSpc>
                <a:spcPts val="9768"/>
              </a:lnSpc>
            </a:pPr>
            <a:r>
              <a:rPr lang="en-US" b="true" sz="7400" spc="-222">
                <a:solidFill>
                  <a:srgbClr val="F6F4E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에이전틱 워크플로우 자동화 플랫폼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2203" y="6173633"/>
            <a:ext cx="15218884" cy="565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25"/>
              </a:lnSpc>
            </a:pPr>
            <a:r>
              <a:rPr lang="en-US" sz="3150" spc="-31">
                <a:solidFill>
                  <a:srgbClr val="C9D2DE"/>
                </a:solidFill>
                <a:latin typeface="Noto Sans Kr"/>
                <a:ea typeface="Noto Sans Kr"/>
                <a:cs typeface="Noto Sans Kr"/>
                <a:sym typeface="Noto Sans Kr"/>
              </a:rPr>
              <a:t> "암묵지를 시스템속의 스킬로, 스킬을 워크플로우로 AI가 만들고 하네스가 품질을 보장한다" 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070761" y="9051922"/>
            <a:ext cx="1584212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spc="81">
                <a:solidFill>
                  <a:srgbClr val="6B7B9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2026 · 06 · 11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25503" y="9707880"/>
            <a:ext cx="65782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spc="6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01 / 44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92203" y="806453"/>
            <a:ext cx="1097331" cy="784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36"/>
              </a:lnSpc>
            </a:pPr>
            <a:r>
              <a:rPr lang="en-US" b="true" sz="4800" spc="-96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목차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66800" y="2156374"/>
            <a:ext cx="7696200" cy="9525"/>
            <a:chOff x="0" y="0"/>
            <a:chExt cx="10261600" cy="12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261600" cy="12700"/>
            </a:xfrm>
            <a:custGeom>
              <a:avLst/>
              <a:gdLst/>
              <a:ahLst/>
              <a:cxnLst/>
              <a:rect r="r" b="b" t="t" l="l"/>
              <a:pathLst>
                <a:path h="12700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8D2C2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092203" y="2524668"/>
            <a:ext cx="29604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E8722E"/>
                </a:solidFill>
                <a:latin typeface="Noto Sans Kr"/>
                <a:ea typeface="Noto Sans Kr"/>
                <a:cs typeface="Noto Sans Kr"/>
                <a:sym typeface="Noto Sans Kr"/>
              </a:rPr>
              <a:t>01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54203" y="2381793"/>
            <a:ext cx="7091429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7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프로젝트 개요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525000" y="2156374"/>
            <a:ext cx="7696200" cy="9525"/>
            <a:chOff x="0" y="0"/>
            <a:chExt cx="10261600" cy="127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61600" cy="12700"/>
            </a:xfrm>
            <a:custGeom>
              <a:avLst/>
              <a:gdLst/>
              <a:ahLst/>
              <a:cxnLst/>
              <a:rect r="r" b="b" t="t" l="l"/>
              <a:pathLst>
                <a:path h="12700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8D2C2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550403" y="2524668"/>
            <a:ext cx="29604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DD6236"/>
                </a:solidFill>
                <a:latin typeface="Noto Sans Kr"/>
                <a:ea typeface="Noto Sans Kr"/>
                <a:cs typeface="Noto Sans Kr"/>
                <a:sym typeface="Noto Sans Kr"/>
              </a:rPr>
              <a:t>05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312403" y="2381793"/>
            <a:ext cx="7091429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7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실제 동작 흐름 (시퀀스)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66800" y="3346999"/>
            <a:ext cx="7696200" cy="9525"/>
            <a:chOff x="0" y="0"/>
            <a:chExt cx="10261600" cy="127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261600" cy="12700"/>
            </a:xfrm>
            <a:custGeom>
              <a:avLst/>
              <a:gdLst/>
              <a:ahLst/>
              <a:cxnLst/>
              <a:rect r="r" b="b" t="t" l="l"/>
              <a:pathLst>
                <a:path h="12700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8D2C2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092203" y="3715293"/>
            <a:ext cx="29604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E8722E"/>
                </a:solidFill>
                <a:latin typeface="Noto Sans Kr"/>
                <a:ea typeface="Noto Sans Kr"/>
                <a:cs typeface="Noto Sans Kr"/>
                <a:sym typeface="Noto Sans Kr"/>
              </a:rPr>
              <a:t>02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854203" y="3572418"/>
            <a:ext cx="7091429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7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개발 환경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525000" y="3346999"/>
            <a:ext cx="7696200" cy="9525"/>
            <a:chOff x="0" y="0"/>
            <a:chExt cx="10261600" cy="127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261600" cy="12700"/>
            </a:xfrm>
            <a:custGeom>
              <a:avLst/>
              <a:gdLst/>
              <a:ahLst/>
              <a:cxnLst/>
              <a:rect r="r" b="b" t="t" l="l"/>
              <a:pathLst>
                <a:path h="12700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8D2C2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9550403" y="3715293"/>
            <a:ext cx="29604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E8722E"/>
                </a:solidFill>
                <a:latin typeface="Noto Sans Kr"/>
                <a:ea typeface="Noto Sans Kr"/>
                <a:cs typeface="Noto Sans Kr"/>
                <a:sym typeface="Noto Sans Kr"/>
              </a:rPr>
              <a:t>06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066800" y="4537624"/>
            <a:ext cx="7696200" cy="9525"/>
            <a:chOff x="0" y="0"/>
            <a:chExt cx="10261600" cy="127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261600" cy="12700"/>
            </a:xfrm>
            <a:custGeom>
              <a:avLst/>
              <a:gdLst/>
              <a:ahLst/>
              <a:cxnLst/>
              <a:rect r="r" b="b" t="t" l="l"/>
              <a:pathLst>
                <a:path h="12700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8D2C2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092203" y="4905918"/>
            <a:ext cx="29604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E8722E"/>
                </a:solidFill>
                <a:latin typeface="Noto Sans Kr"/>
                <a:ea typeface="Noto Sans Kr"/>
                <a:cs typeface="Noto Sans Kr"/>
                <a:sym typeface="Noto Sans Kr"/>
              </a:rPr>
              <a:t>03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854203" y="4763043"/>
            <a:ext cx="7091429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7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아키텍처 설계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525000" y="4537624"/>
            <a:ext cx="7696200" cy="9525"/>
            <a:chOff x="0" y="0"/>
            <a:chExt cx="10261600" cy="127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61600" cy="12700"/>
            </a:xfrm>
            <a:custGeom>
              <a:avLst/>
              <a:gdLst/>
              <a:ahLst/>
              <a:cxnLst/>
              <a:rect r="r" b="b" t="t" l="l"/>
              <a:pathLst>
                <a:path h="12700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8D2C2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066800" y="5728249"/>
            <a:ext cx="7696200" cy="9525"/>
            <a:chOff x="0" y="0"/>
            <a:chExt cx="10261600" cy="127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61600" cy="12700"/>
            </a:xfrm>
            <a:custGeom>
              <a:avLst/>
              <a:gdLst/>
              <a:ahLst/>
              <a:cxnLst/>
              <a:rect r="r" b="b" t="t" l="l"/>
              <a:pathLst>
                <a:path h="12700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8D2C2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092203" y="6096543"/>
            <a:ext cx="29604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E45D32"/>
                </a:solidFill>
                <a:latin typeface="Noto Sans Kr"/>
                <a:ea typeface="Noto Sans Kr"/>
                <a:cs typeface="Noto Sans Kr"/>
                <a:sym typeface="Noto Sans Kr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54203" y="5953668"/>
            <a:ext cx="7091429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7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핵심 기술 소개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9525000" y="5728249"/>
            <a:ext cx="7696200" cy="9525"/>
            <a:chOff x="0" y="0"/>
            <a:chExt cx="10261600" cy="127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261600" cy="12700"/>
            </a:xfrm>
            <a:custGeom>
              <a:avLst/>
              <a:gdLst/>
              <a:ahLst/>
              <a:cxnLst/>
              <a:rect r="r" b="b" t="t" l="l"/>
              <a:pathLst>
                <a:path h="12700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8D2C2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312403" y="3620043"/>
            <a:ext cx="7091429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7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Q&amp;A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02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4967870" y="9608820"/>
            <a:ext cx="256738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목차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911876" y="2197328"/>
            <a:ext cx="3034482" cy="3076897"/>
            <a:chOff x="0" y="0"/>
            <a:chExt cx="4045975" cy="4102529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240568" y="297122"/>
              <a:ext cx="3805407" cy="3805407"/>
              <a:chOff x="0" y="0"/>
              <a:chExt cx="787578" cy="787578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787578" cy="787578"/>
              </a:xfrm>
              <a:custGeom>
                <a:avLst/>
                <a:gdLst/>
                <a:ahLst/>
                <a:cxnLst/>
                <a:rect r="r" b="b" t="t" l="l"/>
                <a:pathLst>
                  <a:path h="787578" w="787578">
                    <a:moveTo>
                      <a:pt x="393789" y="0"/>
                    </a:moveTo>
                    <a:cubicBezTo>
                      <a:pt x="176305" y="0"/>
                      <a:pt x="0" y="176305"/>
                      <a:pt x="0" y="393789"/>
                    </a:cubicBezTo>
                    <a:cubicBezTo>
                      <a:pt x="0" y="611273"/>
                      <a:pt x="176305" y="787578"/>
                      <a:pt x="393789" y="787578"/>
                    </a:cubicBezTo>
                    <a:cubicBezTo>
                      <a:pt x="611273" y="787578"/>
                      <a:pt x="787578" y="611273"/>
                      <a:pt x="787578" y="393789"/>
                    </a:cubicBezTo>
                    <a:cubicBezTo>
                      <a:pt x="787578" y="176305"/>
                      <a:pt x="611273" y="0"/>
                      <a:pt x="393789" y="0"/>
                    </a:cubicBezTo>
                    <a:close/>
                  </a:path>
                </a:pathLst>
              </a:custGeom>
              <a:solidFill>
                <a:srgbClr val="F9A8D4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73835" y="7160"/>
                <a:ext cx="639907" cy="706582"/>
              </a:xfrm>
              <a:prstGeom prst="rect">
                <a:avLst/>
              </a:prstGeom>
            </p:spPr>
            <p:txBody>
              <a:bodyPr anchor="ctr" rtlCol="false" tIns="37916" lIns="37916" bIns="37916" rIns="37916"/>
              <a:lstStyle/>
              <a:p>
                <a:pPr algn="ctr">
                  <a:lnSpc>
                    <a:spcPts val="3500"/>
                  </a:lnSpc>
                </a:pPr>
              </a:p>
            </p:txBody>
          </p:sp>
        </p:grpSp>
        <p:grpSp>
          <p:nvGrpSpPr>
            <p:cNvPr name="Group 8" id="8"/>
            <p:cNvGrpSpPr/>
            <p:nvPr/>
          </p:nvGrpSpPr>
          <p:grpSpPr>
            <a:xfrm rot="0">
              <a:off x="0" y="0"/>
              <a:ext cx="3810000" cy="3858322"/>
              <a:chOff x="0" y="0"/>
              <a:chExt cx="80262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0262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2620">
                    <a:moveTo>
                      <a:pt x="401310" y="0"/>
                    </a:moveTo>
                    <a:cubicBezTo>
                      <a:pt x="179673" y="0"/>
                      <a:pt x="0" y="181951"/>
                      <a:pt x="0" y="406400"/>
                    </a:cubicBezTo>
                    <a:cubicBezTo>
                      <a:pt x="0" y="630849"/>
                      <a:pt x="179673" y="812800"/>
                      <a:pt x="401310" y="812800"/>
                    </a:cubicBezTo>
                    <a:cubicBezTo>
                      <a:pt x="622948" y="812800"/>
                      <a:pt x="802620" y="630849"/>
                      <a:pt x="802620" y="406400"/>
                    </a:cubicBezTo>
                    <a:cubicBezTo>
                      <a:pt x="802620" y="181951"/>
                      <a:pt x="622948" y="0"/>
                      <a:pt x="40131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634" t="0" r="-634" b="0"/>
                </a:stretch>
              </a:blipFill>
            </p:spPr>
          </p:sp>
        </p:grpSp>
      </p:grpSp>
      <p:sp>
        <p:nvSpPr>
          <p:cNvPr name="Freeform 10" id="10"/>
          <p:cNvSpPr/>
          <p:nvPr/>
        </p:nvSpPr>
        <p:spPr>
          <a:xfrm flipH="false" flipV="false" rot="0">
            <a:off x="367149" y="1663928"/>
            <a:ext cx="6123936" cy="4547022"/>
          </a:xfrm>
          <a:custGeom>
            <a:avLst/>
            <a:gdLst/>
            <a:ahLst/>
            <a:cxnLst/>
            <a:rect r="r" b="b" t="t" l="l"/>
            <a:pathLst>
              <a:path h="4547022" w="6123936">
                <a:moveTo>
                  <a:pt x="0" y="0"/>
                </a:moveTo>
                <a:lnTo>
                  <a:pt x="6123936" y="0"/>
                </a:lnTo>
                <a:lnTo>
                  <a:pt x="6123936" y="4547022"/>
                </a:lnTo>
                <a:lnTo>
                  <a:pt x="0" y="45470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557330" y="5914344"/>
            <a:ext cx="3743574" cy="967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b="true" sz="2799" spc="-27">
                <a:solidFill>
                  <a:srgbClr val="1A1F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황대원</a:t>
            </a:r>
          </a:p>
          <a:p>
            <a:pPr algn="ctr">
              <a:lnSpc>
                <a:spcPts val="3919"/>
              </a:lnSpc>
            </a:pPr>
            <a:r>
              <a:rPr lang="en-US" b="true" sz="2799" spc="-27">
                <a:solidFill>
                  <a:srgbClr val="29385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PM/ 백엔드/ 프론트엔드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83432" y="5961969"/>
            <a:ext cx="3743574" cy="4013246"/>
            <a:chOff x="0" y="0"/>
            <a:chExt cx="4991432" cy="5350995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593013" y="26457"/>
              <a:ext cx="3805407" cy="3805407"/>
              <a:chOff x="0" y="0"/>
              <a:chExt cx="787578" cy="787578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787578" cy="787578"/>
              </a:xfrm>
              <a:custGeom>
                <a:avLst/>
                <a:gdLst/>
                <a:ahLst/>
                <a:cxnLst/>
                <a:rect r="r" b="b" t="t" l="l"/>
                <a:pathLst>
                  <a:path h="787578" w="787578">
                    <a:moveTo>
                      <a:pt x="393789" y="0"/>
                    </a:moveTo>
                    <a:cubicBezTo>
                      <a:pt x="176305" y="0"/>
                      <a:pt x="0" y="176305"/>
                      <a:pt x="0" y="393789"/>
                    </a:cubicBezTo>
                    <a:cubicBezTo>
                      <a:pt x="0" y="611273"/>
                      <a:pt x="176305" y="787578"/>
                      <a:pt x="393789" y="787578"/>
                    </a:cubicBezTo>
                    <a:cubicBezTo>
                      <a:pt x="611273" y="787578"/>
                      <a:pt x="787578" y="611273"/>
                      <a:pt x="787578" y="393789"/>
                    </a:cubicBezTo>
                    <a:cubicBezTo>
                      <a:pt x="787578" y="176305"/>
                      <a:pt x="611273" y="0"/>
                      <a:pt x="393789" y="0"/>
                    </a:cubicBezTo>
                    <a:close/>
                  </a:path>
                </a:pathLst>
              </a:custGeom>
              <a:solidFill>
                <a:srgbClr val="E0A2F0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73835" y="7160"/>
                <a:ext cx="639907" cy="706582"/>
              </a:xfrm>
              <a:prstGeom prst="rect">
                <a:avLst/>
              </a:prstGeom>
            </p:spPr>
            <p:txBody>
              <a:bodyPr anchor="ctr" rtlCol="false" tIns="37916" lIns="37916" bIns="37916" rIns="37916"/>
              <a:lstStyle/>
              <a:p>
                <a:pPr algn="ctr">
                  <a:lnSpc>
                    <a:spcPts val="3500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90716" y="0"/>
              <a:ext cx="3810000" cy="3858322"/>
              <a:chOff x="0" y="0"/>
              <a:chExt cx="802620" cy="8128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0262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2620">
                    <a:moveTo>
                      <a:pt x="401310" y="0"/>
                    </a:moveTo>
                    <a:cubicBezTo>
                      <a:pt x="179673" y="0"/>
                      <a:pt x="0" y="181951"/>
                      <a:pt x="0" y="406400"/>
                    </a:cubicBezTo>
                    <a:cubicBezTo>
                      <a:pt x="0" y="630849"/>
                      <a:pt x="179673" y="812800"/>
                      <a:pt x="401310" y="812800"/>
                    </a:cubicBezTo>
                    <a:cubicBezTo>
                      <a:pt x="622948" y="812800"/>
                      <a:pt x="802620" y="630849"/>
                      <a:pt x="802620" y="406400"/>
                    </a:cubicBezTo>
                    <a:cubicBezTo>
                      <a:pt x="802620" y="181951"/>
                      <a:pt x="622948" y="0"/>
                      <a:pt x="40131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 l="-5806" t="0" r="-11782" b="-16116"/>
                </a:stretch>
              </a:blipFill>
            </p:spPr>
          </p:sp>
        </p:grpSp>
        <p:sp>
          <p:nvSpPr>
            <p:cNvPr name="TextBox 18" id="18"/>
            <p:cNvSpPr txBox="true"/>
            <p:nvPr/>
          </p:nvSpPr>
          <p:spPr>
            <a:xfrm rot="0">
              <a:off x="0" y="4077397"/>
              <a:ext cx="4991432" cy="12735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b="true" sz="2799" spc="-27">
                  <a:solidFill>
                    <a:srgbClr val="1A1F3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박아름</a:t>
              </a:r>
            </a:p>
            <a:p>
              <a:pPr algn="ctr">
                <a:lnSpc>
                  <a:spcPts val="3919"/>
                </a:lnSpc>
              </a:pPr>
              <a:r>
                <a:rPr lang="en-US" b="true" sz="2799" spc="-27">
                  <a:solidFill>
                    <a:srgbClr val="29385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백엔드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3927646" y="2034833"/>
            <a:ext cx="3743574" cy="4397039"/>
            <a:chOff x="0" y="0"/>
            <a:chExt cx="4991432" cy="5862719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636799" y="54731"/>
              <a:ext cx="3805407" cy="3805407"/>
              <a:chOff x="0" y="0"/>
              <a:chExt cx="787578" cy="787578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787578" cy="787578"/>
              </a:xfrm>
              <a:custGeom>
                <a:avLst/>
                <a:gdLst/>
                <a:ahLst/>
                <a:cxnLst/>
                <a:rect r="r" b="b" t="t" l="l"/>
                <a:pathLst>
                  <a:path h="787578" w="787578">
                    <a:moveTo>
                      <a:pt x="393789" y="0"/>
                    </a:moveTo>
                    <a:cubicBezTo>
                      <a:pt x="176305" y="0"/>
                      <a:pt x="0" y="176305"/>
                      <a:pt x="0" y="393789"/>
                    </a:cubicBezTo>
                    <a:cubicBezTo>
                      <a:pt x="0" y="611273"/>
                      <a:pt x="176305" y="787578"/>
                      <a:pt x="393789" y="787578"/>
                    </a:cubicBezTo>
                    <a:cubicBezTo>
                      <a:pt x="611273" y="787578"/>
                      <a:pt x="787578" y="611273"/>
                      <a:pt x="787578" y="393789"/>
                    </a:cubicBezTo>
                    <a:cubicBezTo>
                      <a:pt x="787578" y="176305"/>
                      <a:pt x="611273" y="0"/>
                      <a:pt x="393789" y="0"/>
                    </a:cubicBezTo>
                    <a:close/>
                  </a:path>
                </a:pathLst>
              </a:custGeom>
              <a:solidFill>
                <a:srgbClr val="FFEB99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73835" y="7160"/>
                <a:ext cx="639907" cy="706582"/>
              </a:xfrm>
              <a:prstGeom prst="rect">
                <a:avLst/>
              </a:prstGeom>
            </p:spPr>
            <p:txBody>
              <a:bodyPr anchor="ctr" rtlCol="false" tIns="37916" lIns="37916" bIns="37916" rIns="37916"/>
              <a:lstStyle/>
              <a:p>
                <a:pPr algn="ctr">
                  <a:lnSpc>
                    <a:spcPts val="3500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632206" y="0"/>
              <a:ext cx="3810000" cy="3858322"/>
              <a:chOff x="0" y="0"/>
              <a:chExt cx="802620" cy="8128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0262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2620">
                    <a:moveTo>
                      <a:pt x="401310" y="0"/>
                    </a:moveTo>
                    <a:cubicBezTo>
                      <a:pt x="179673" y="0"/>
                      <a:pt x="0" y="181951"/>
                      <a:pt x="0" y="406400"/>
                    </a:cubicBezTo>
                    <a:cubicBezTo>
                      <a:pt x="0" y="630849"/>
                      <a:pt x="179673" y="812800"/>
                      <a:pt x="401310" y="812800"/>
                    </a:cubicBezTo>
                    <a:cubicBezTo>
                      <a:pt x="622948" y="812800"/>
                      <a:pt x="802620" y="630849"/>
                      <a:pt x="802620" y="406400"/>
                    </a:cubicBezTo>
                    <a:cubicBezTo>
                      <a:pt x="802620" y="181951"/>
                      <a:pt x="622948" y="0"/>
                      <a:pt x="401310" y="0"/>
                    </a:cubicBezTo>
                    <a:close/>
                  </a:path>
                </a:pathLst>
              </a:custGeom>
              <a:blipFill>
                <a:blip r:embed="rId5"/>
                <a:stretch>
                  <a:fillRect l="-7542" t="0" r="-7542" b="-13643"/>
                </a:stretch>
              </a:blipFill>
            </p:spPr>
          </p:sp>
        </p:grpSp>
        <p:sp>
          <p:nvSpPr>
            <p:cNvPr name="TextBox 25" id="25"/>
            <p:cNvSpPr txBox="true"/>
            <p:nvPr/>
          </p:nvSpPr>
          <p:spPr>
            <a:xfrm rot="0">
              <a:off x="0" y="4589120"/>
              <a:ext cx="4991432" cy="12735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b="true" sz="2799" spc="-27">
                  <a:solidFill>
                    <a:srgbClr val="1A1F3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이가원</a:t>
              </a:r>
            </a:p>
            <a:p>
              <a:pPr algn="ctr">
                <a:lnSpc>
                  <a:spcPts val="3919"/>
                </a:lnSpc>
              </a:pPr>
              <a:r>
                <a:rPr lang="en-US" b="true" sz="2799" spc="-27">
                  <a:solidFill>
                    <a:srgbClr val="29385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백엔드/ 프론트엔드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7962250" y="2034833"/>
            <a:ext cx="3743574" cy="4329668"/>
            <a:chOff x="0" y="0"/>
            <a:chExt cx="4991432" cy="5772891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593013" y="26457"/>
              <a:ext cx="3805407" cy="3805407"/>
              <a:chOff x="0" y="0"/>
              <a:chExt cx="787578" cy="787578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787578" cy="787578"/>
              </a:xfrm>
              <a:custGeom>
                <a:avLst/>
                <a:gdLst/>
                <a:ahLst/>
                <a:cxnLst/>
                <a:rect r="r" b="b" t="t" l="l"/>
                <a:pathLst>
                  <a:path h="787578" w="787578">
                    <a:moveTo>
                      <a:pt x="393789" y="0"/>
                    </a:moveTo>
                    <a:cubicBezTo>
                      <a:pt x="176305" y="0"/>
                      <a:pt x="0" y="176305"/>
                      <a:pt x="0" y="393789"/>
                    </a:cubicBezTo>
                    <a:cubicBezTo>
                      <a:pt x="0" y="611273"/>
                      <a:pt x="176305" y="787578"/>
                      <a:pt x="393789" y="787578"/>
                    </a:cubicBezTo>
                    <a:cubicBezTo>
                      <a:pt x="611273" y="787578"/>
                      <a:pt x="787578" y="611273"/>
                      <a:pt x="787578" y="393789"/>
                    </a:cubicBezTo>
                    <a:cubicBezTo>
                      <a:pt x="787578" y="176305"/>
                      <a:pt x="611273" y="0"/>
                      <a:pt x="393789" y="0"/>
                    </a:cubicBezTo>
                    <a:lnTo>
                      <a:pt x="393789" y="0"/>
                    </a:lnTo>
                    <a:close/>
                  </a:path>
                </a:pathLst>
              </a:custGeom>
              <a:solidFill>
                <a:srgbClr val="A7F088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73835" y="7160"/>
                <a:ext cx="639907" cy="706582"/>
              </a:xfrm>
              <a:prstGeom prst="rect">
                <a:avLst/>
              </a:prstGeom>
            </p:spPr>
            <p:txBody>
              <a:bodyPr anchor="ctr" rtlCol="false" tIns="37916" lIns="37916" bIns="37916" rIns="37916"/>
              <a:lstStyle/>
              <a:p>
                <a:pPr algn="ctr">
                  <a:lnSpc>
                    <a:spcPts val="3500"/>
                  </a:lnSpc>
                </a:pP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590716" y="0"/>
              <a:ext cx="3810000" cy="3858322"/>
              <a:chOff x="0" y="0"/>
              <a:chExt cx="802620" cy="8128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80262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2620">
                    <a:moveTo>
                      <a:pt x="401310" y="0"/>
                    </a:moveTo>
                    <a:cubicBezTo>
                      <a:pt x="179673" y="0"/>
                      <a:pt x="0" y="181951"/>
                      <a:pt x="0" y="406400"/>
                    </a:cubicBezTo>
                    <a:cubicBezTo>
                      <a:pt x="0" y="630849"/>
                      <a:pt x="179673" y="812800"/>
                      <a:pt x="401310" y="812800"/>
                    </a:cubicBezTo>
                    <a:cubicBezTo>
                      <a:pt x="622948" y="812800"/>
                      <a:pt x="802620" y="630849"/>
                      <a:pt x="802620" y="406400"/>
                    </a:cubicBezTo>
                    <a:cubicBezTo>
                      <a:pt x="802620" y="181951"/>
                      <a:pt x="622948" y="0"/>
                      <a:pt x="401310" y="0"/>
                    </a:cubicBezTo>
                    <a:close/>
                  </a:path>
                </a:pathLst>
              </a:custGeom>
              <a:blipFill>
                <a:blip r:embed="rId6"/>
                <a:stretch>
                  <a:fillRect l="-2417" t="0" r="-1331" b="0"/>
                </a:stretch>
              </a:blipFill>
            </p:spPr>
          </p:sp>
        </p:grpSp>
        <p:sp>
          <p:nvSpPr>
            <p:cNvPr name="TextBox 32" id="32"/>
            <p:cNvSpPr txBox="true"/>
            <p:nvPr/>
          </p:nvSpPr>
          <p:spPr>
            <a:xfrm rot="0">
              <a:off x="0" y="4499292"/>
              <a:ext cx="4991432" cy="12735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b="true" sz="2799" spc="-27">
                  <a:solidFill>
                    <a:srgbClr val="1A1F3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김진형</a:t>
              </a:r>
            </a:p>
            <a:p>
              <a:pPr algn="ctr">
                <a:lnSpc>
                  <a:spcPts val="3919"/>
                </a:lnSpc>
              </a:pPr>
              <a:r>
                <a:rPr lang="en-US" b="true" sz="2799" spc="-27">
                  <a:solidFill>
                    <a:srgbClr val="29385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백엔드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781842" y="5961969"/>
            <a:ext cx="3743574" cy="4013246"/>
            <a:chOff x="0" y="0"/>
            <a:chExt cx="4991432" cy="5350995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428968" y="26457"/>
              <a:ext cx="3805407" cy="3805407"/>
              <a:chOff x="0" y="0"/>
              <a:chExt cx="787578" cy="787578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787578" cy="787578"/>
              </a:xfrm>
              <a:custGeom>
                <a:avLst/>
                <a:gdLst/>
                <a:ahLst/>
                <a:cxnLst/>
                <a:rect r="r" b="b" t="t" l="l"/>
                <a:pathLst>
                  <a:path h="787578" w="787578">
                    <a:moveTo>
                      <a:pt x="393789" y="0"/>
                    </a:moveTo>
                    <a:cubicBezTo>
                      <a:pt x="176305" y="0"/>
                      <a:pt x="0" y="176305"/>
                      <a:pt x="0" y="393789"/>
                    </a:cubicBezTo>
                    <a:cubicBezTo>
                      <a:pt x="0" y="611273"/>
                      <a:pt x="176305" y="787578"/>
                      <a:pt x="393789" y="787578"/>
                    </a:cubicBezTo>
                    <a:cubicBezTo>
                      <a:pt x="611273" y="787578"/>
                      <a:pt x="787578" y="611273"/>
                      <a:pt x="787578" y="393789"/>
                    </a:cubicBezTo>
                    <a:cubicBezTo>
                      <a:pt x="787578" y="176305"/>
                      <a:pt x="611273" y="0"/>
                      <a:pt x="393789" y="0"/>
                    </a:cubicBezTo>
                    <a:close/>
                  </a:path>
                </a:pathLst>
              </a:custGeom>
              <a:solidFill>
                <a:srgbClr val="82FFF7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73835" y="7160"/>
                <a:ext cx="639907" cy="706582"/>
              </a:xfrm>
              <a:prstGeom prst="rect">
                <a:avLst/>
              </a:prstGeom>
            </p:spPr>
            <p:txBody>
              <a:bodyPr anchor="ctr" rtlCol="false" tIns="37916" lIns="37916" bIns="37916" rIns="37916"/>
              <a:lstStyle/>
              <a:p>
                <a:pPr algn="ctr">
                  <a:lnSpc>
                    <a:spcPts val="3500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26672" y="0"/>
              <a:ext cx="3810000" cy="3858322"/>
              <a:chOff x="0" y="0"/>
              <a:chExt cx="802620" cy="81280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80262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02620">
                    <a:moveTo>
                      <a:pt x="401310" y="0"/>
                    </a:moveTo>
                    <a:cubicBezTo>
                      <a:pt x="179673" y="0"/>
                      <a:pt x="0" y="181951"/>
                      <a:pt x="0" y="406400"/>
                    </a:cubicBezTo>
                    <a:cubicBezTo>
                      <a:pt x="0" y="630849"/>
                      <a:pt x="179673" y="812800"/>
                      <a:pt x="401310" y="812800"/>
                    </a:cubicBezTo>
                    <a:cubicBezTo>
                      <a:pt x="622948" y="812800"/>
                      <a:pt x="802620" y="630849"/>
                      <a:pt x="802620" y="406400"/>
                    </a:cubicBezTo>
                    <a:cubicBezTo>
                      <a:pt x="802620" y="181951"/>
                      <a:pt x="622948" y="0"/>
                      <a:pt x="401310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634" t="0" r="-634" b="0"/>
                </a:stretch>
              </a:blipFill>
            </p:spPr>
          </p:sp>
        </p:grpSp>
        <p:sp>
          <p:nvSpPr>
            <p:cNvPr name="TextBox 39" id="39"/>
            <p:cNvSpPr txBox="true"/>
            <p:nvPr/>
          </p:nvSpPr>
          <p:spPr>
            <a:xfrm rot="0">
              <a:off x="0" y="4077397"/>
              <a:ext cx="4991432" cy="12735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b="true" sz="2799" spc="-27">
                  <a:solidFill>
                    <a:srgbClr val="1A1F3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신정혜</a:t>
              </a:r>
            </a:p>
            <a:p>
              <a:pPr algn="ctr">
                <a:lnSpc>
                  <a:spcPts val="3919"/>
                </a:lnSpc>
              </a:pPr>
              <a:r>
                <a:rPr lang="en-US" b="true" sz="2799" spc="-27">
                  <a:solidFill>
                    <a:srgbClr val="29385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백엔드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03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967870" y="9608820"/>
            <a:ext cx="256738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About Us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01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180911" y="511178"/>
            <a:ext cx="496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PROJECT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OVERVIEW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2771140" y="511178"/>
            <a:ext cx="475994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About Us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787403" y="1063628"/>
            <a:ext cx="1923098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About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Us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92203" y="3933296"/>
            <a:ext cx="1646932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2100" spc="630">
                <a:solidFill>
                  <a:srgbClr val="EA580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01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92203" y="4423220"/>
            <a:ext cx="6311652" cy="1290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06"/>
              </a:lnSpc>
            </a:pPr>
            <a:r>
              <a:rPr lang="en-US" b="true" sz="8100" spc="-202">
                <a:solidFill>
                  <a:srgbClr val="F6F4EE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프로젝트 개요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92203" y="5822971"/>
            <a:ext cx="15962836" cy="530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2700">
                <a:solidFill>
                  <a:srgbClr val="B5BFCC"/>
                </a:solidFill>
                <a:latin typeface="Noto Sans Kr"/>
                <a:ea typeface="Noto Sans Kr"/>
                <a:cs typeface="Noto Sans Kr"/>
                <a:sym typeface="Noto Sans Kr"/>
              </a:rPr>
              <a:t>자동화 도구는 늘었지만, 업무 노하우는 여전히 사람에게 갇혀 있다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25503" y="9707880"/>
            <a:ext cx="65782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spc="6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04 / 44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13435" y="2665095"/>
            <a:ext cx="8180070" cy="6534150"/>
            <a:chOff x="0" y="0"/>
            <a:chExt cx="10906760" cy="8712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06760" cy="8712200"/>
            </a:xfrm>
            <a:custGeom>
              <a:avLst/>
              <a:gdLst/>
              <a:ahLst/>
              <a:cxnLst/>
              <a:rect r="r" b="b" t="t" l="l"/>
              <a:pathLst>
                <a:path h="8712200" w="10906760">
                  <a:moveTo>
                    <a:pt x="0" y="183388"/>
                  </a:moveTo>
                  <a:cubicBezTo>
                    <a:pt x="0" y="82169"/>
                    <a:pt x="82169" y="0"/>
                    <a:pt x="183388" y="0"/>
                  </a:cubicBezTo>
                  <a:lnTo>
                    <a:pt x="10723372" y="0"/>
                  </a:lnTo>
                  <a:cubicBezTo>
                    <a:pt x="10824718" y="0"/>
                    <a:pt x="10906760" y="82169"/>
                    <a:pt x="10906760" y="183388"/>
                  </a:cubicBezTo>
                  <a:lnTo>
                    <a:pt x="10906760" y="8528812"/>
                  </a:lnTo>
                  <a:cubicBezTo>
                    <a:pt x="10906760" y="8630158"/>
                    <a:pt x="10824590" y="8712200"/>
                    <a:pt x="10723372" y="8712200"/>
                  </a:cubicBezTo>
                  <a:lnTo>
                    <a:pt x="183388" y="8712200"/>
                  </a:lnTo>
                  <a:cubicBezTo>
                    <a:pt x="82169" y="8712200"/>
                    <a:pt x="0" y="8630031"/>
                    <a:pt x="0" y="85288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27253" y="2665095"/>
            <a:ext cx="104189" cy="6534150"/>
            <a:chOff x="0" y="0"/>
            <a:chExt cx="128016" cy="80284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8016" cy="8028432"/>
            </a:xfrm>
            <a:custGeom>
              <a:avLst/>
              <a:gdLst/>
              <a:ahLst/>
              <a:cxnLst/>
              <a:rect r="r" b="b" t="t" l="l"/>
              <a:pathLst>
                <a:path h="8028432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7964424"/>
                  </a:lnTo>
                  <a:cubicBezTo>
                    <a:pt x="128016" y="7999730"/>
                    <a:pt x="99314" y="8028432"/>
                    <a:pt x="64008" y="8028432"/>
                  </a:cubicBezTo>
                  <a:cubicBezTo>
                    <a:pt x="28702" y="8028432"/>
                    <a:pt x="0" y="7999730"/>
                    <a:pt x="0" y="7964424"/>
                  </a:cubicBezTo>
                  <a:close/>
                </a:path>
              </a:pathLst>
            </a:custGeom>
            <a:solidFill>
              <a:srgbClr val="DD623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289923" y="2665095"/>
            <a:ext cx="8180070" cy="6534150"/>
            <a:chOff x="0" y="0"/>
            <a:chExt cx="10906760" cy="8712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06760" cy="8712200"/>
            </a:xfrm>
            <a:custGeom>
              <a:avLst/>
              <a:gdLst/>
              <a:ahLst/>
              <a:cxnLst/>
              <a:rect r="r" b="b" t="t" l="l"/>
              <a:pathLst>
                <a:path h="8712200" w="10906760">
                  <a:moveTo>
                    <a:pt x="0" y="183388"/>
                  </a:moveTo>
                  <a:cubicBezTo>
                    <a:pt x="0" y="82169"/>
                    <a:pt x="82169" y="0"/>
                    <a:pt x="183388" y="0"/>
                  </a:cubicBezTo>
                  <a:lnTo>
                    <a:pt x="10723372" y="0"/>
                  </a:lnTo>
                  <a:cubicBezTo>
                    <a:pt x="10824718" y="0"/>
                    <a:pt x="10906760" y="82169"/>
                    <a:pt x="10906760" y="183388"/>
                  </a:cubicBezTo>
                  <a:lnTo>
                    <a:pt x="10906760" y="8528812"/>
                  </a:lnTo>
                  <a:cubicBezTo>
                    <a:pt x="10906760" y="8630158"/>
                    <a:pt x="10824590" y="8712200"/>
                    <a:pt x="10723372" y="8712200"/>
                  </a:cubicBezTo>
                  <a:lnTo>
                    <a:pt x="183388" y="8712200"/>
                  </a:lnTo>
                  <a:cubicBezTo>
                    <a:pt x="82169" y="8712200"/>
                    <a:pt x="0" y="8630031"/>
                    <a:pt x="0" y="8528812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9295052" y="2665095"/>
            <a:ext cx="104147" cy="6531483"/>
            <a:chOff x="0" y="0"/>
            <a:chExt cx="128016" cy="802843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8016" cy="8028432"/>
            </a:xfrm>
            <a:custGeom>
              <a:avLst/>
              <a:gdLst/>
              <a:ahLst/>
              <a:cxnLst/>
              <a:rect r="r" b="b" t="t" l="l"/>
              <a:pathLst>
                <a:path h="8028432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7964424"/>
                  </a:lnTo>
                  <a:cubicBezTo>
                    <a:pt x="128016" y="7999730"/>
                    <a:pt x="99314" y="8028432"/>
                    <a:pt x="64008" y="8028432"/>
                  </a:cubicBezTo>
                  <a:cubicBezTo>
                    <a:pt x="28702" y="8028432"/>
                    <a:pt x="0" y="7999730"/>
                    <a:pt x="0" y="7964424"/>
                  </a:cubicBezTo>
                  <a:close/>
                </a:path>
              </a:pathLst>
            </a:custGeom>
            <a:solidFill>
              <a:srgbClr val="1C2A41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261872" y="2990088"/>
            <a:ext cx="3497580" cy="493776"/>
            <a:chOff x="0" y="0"/>
            <a:chExt cx="4663440" cy="65836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663440" cy="658368"/>
            </a:xfrm>
            <a:custGeom>
              <a:avLst/>
              <a:gdLst/>
              <a:ahLst/>
              <a:cxnLst/>
              <a:rect r="r" b="b" t="t" l="l"/>
              <a:pathLst>
                <a:path h="658368" w="4663440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lnTo>
                    <a:pt x="4334256" y="0"/>
                  </a:lnTo>
                  <a:cubicBezTo>
                    <a:pt x="4516120" y="0"/>
                    <a:pt x="4663440" y="147320"/>
                    <a:pt x="4663440" y="329184"/>
                  </a:cubicBezTo>
                  <a:cubicBezTo>
                    <a:pt x="4663440" y="511048"/>
                    <a:pt x="4516120" y="658368"/>
                    <a:pt x="4334256" y="658368"/>
                  </a:cubicBezTo>
                  <a:lnTo>
                    <a:pt x="329184" y="658368"/>
                  </a:ln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1C2A4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61872" y="2895790"/>
            <a:ext cx="3497580" cy="664655"/>
            <a:chOff x="0" y="0"/>
            <a:chExt cx="4663440" cy="88620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663440" cy="886206"/>
            </a:xfrm>
            <a:custGeom>
              <a:avLst/>
              <a:gdLst/>
              <a:ahLst/>
              <a:cxnLst/>
              <a:rect r="r" b="b" t="t" l="l"/>
              <a:pathLst>
                <a:path h="886206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389" r="0" b="-3968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466344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b="true" sz="1725" spc="6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파편화된 업무 환경의 현실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61872" y="3703320"/>
            <a:ext cx="3771900" cy="3353486"/>
            <a:chOff x="0" y="0"/>
            <a:chExt cx="5029200" cy="447131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029200" cy="4471314"/>
            </a:xfrm>
            <a:custGeom>
              <a:avLst/>
              <a:gdLst/>
              <a:ahLst/>
              <a:cxnLst/>
              <a:rect r="r" b="b" t="t" l="l"/>
              <a:pathLst>
                <a:path h="4471314" w="5029200">
                  <a:moveTo>
                    <a:pt x="0" y="0"/>
                  </a:moveTo>
                  <a:lnTo>
                    <a:pt x="5029200" y="0"/>
                  </a:lnTo>
                  <a:lnTo>
                    <a:pt x="5029200" y="4471314"/>
                  </a:lnTo>
                  <a:lnTo>
                    <a:pt x="0" y="44713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311" t="0" r="-43311" b="1819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5029200" cy="45094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33"/>
                </a:lnSpc>
              </a:pPr>
              <a:r>
                <a:rPr lang="en-US" b="true" sz="3150" spc="12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직장인의 </a:t>
              </a:r>
              <a:r>
                <a:rPr lang="en-US" b="true" sz="3150" spc="12">
                  <a:solidFill>
                    <a:srgbClr val="DD623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54%</a:t>
              </a:r>
              <a:r>
                <a:rPr lang="en-US" b="true" sz="3150" spc="12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가</a:t>
              </a:r>
            </a:p>
            <a:p>
              <a:pPr algn="l">
                <a:lnSpc>
                  <a:spcPts val="4233"/>
                </a:lnSpc>
              </a:pPr>
              <a:r>
                <a:rPr lang="en-US" b="true" sz="3150" spc="12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실제 업무보다</a:t>
              </a:r>
            </a:p>
            <a:p>
              <a:pPr algn="l">
                <a:lnSpc>
                  <a:spcPts val="4233"/>
                </a:lnSpc>
              </a:pPr>
              <a:r>
                <a:rPr lang="en-US" b="true" sz="3150" spc="12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파일을 찾는 데</a:t>
              </a:r>
            </a:p>
            <a:p>
              <a:pPr algn="l">
                <a:lnSpc>
                  <a:spcPts val="4233"/>
                </a:lnSpc>
              </a:pPr>
              <a:r>
                <a:rPr lang="en-US" b="true" sz="3150" spc="12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더 많은 시간을</a:t>
              </a:r>
            </a:p>
            <a:p>
              <a:pPr algn="l">
                <a:lnSpc>
                  <a:spcPts val="4233"/>
                </a:lnSpc>
              </a:pPr>
              <a:r>
                <a:rPr lang="en-US" b="true" sz="3150" spc="12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사용합니다</a:t>
              </a:r>
            </a:p>
          </p:txBody>
        </p:sp>
      </p:grpSp>
      <p:pic>
        <p:nvPicPr>
          <p:cNvPr name="Picture 18" id="1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773168" y="3470148"/>
            <a:ext cx="4032504" cy="4032504"/>
          </a:xfrm>
          <a:prstGeom prst="rect">
            <a:avLst/>
          </a:prstGeom>
        </p:spPr>
      </p:pic>
      <p:grpSp>
        <p:nvGrpSpPr>
          <p:cNvPr name="Group 19" id="19"/>
          <p:cNvGrpSpPr/>
          <p:nvPr/>
        </p:nvGrpSpPr>
        <p:grpSpPr>
          <a:xfrm rot="0">
            <a:off x="5417820" y="4478655"/>
            <a:ext cx="2743200" cy="1638586"/>
            <a:chOff x="0" y="0"/>
            <a:chExt cx="3657600" cy="218478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657600" cy="2184781"/>
            </a:xfrm>
            <a:custGeom>
              <a:avLst/>
              <a:gdLst/>
              <a:ahLst/>
              <a:cxnLst/>
              <a:rect r="r" b="b" t="t" l="l"/>
              <a:pathLst>
                <a:path h="2184781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184781"/>
                  </a:lnTo>
                  <a:lnTo>
                    <a:pt x="0" y="218478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16293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9525"/>
              <a:ext cx="3657600" cy="2175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b="true" sz="3900" spc="15">
                  <a:solidFill>
                    <a:srgbClr val="DD623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54%</a:t>
              </a:r>
            </a:p>
            <a:p>
              <a:pPr algn="ctr">
                <a:lnSpc>
                  <a:spcPts val="1709"/>
                </a:lnSpc>
              </a:pPr>
              <a:r>
                <a:rPr lang="en-US" sz="1425" spc="5">
                  <a:solidFill>
                    <a:srgbClr val="707A89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파일 검색 시간이</a:t>
              </a:r>
            </a:p>
            <a:p>
              <a:pPr algn="ctr">
                <a:lnSpc>
                  <a:spcPts val="1709"/>
                </a:lnSpc>
              </a:pPr>
              <a:r>
                <a:rPr lang="en-US" sz="1425" spc="5">
                  <a:solidFill>
                    <a:srgbClr val="707A89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더 많음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61872" y="7612380"/>
            <a:ext cx="1618488" cy="576072"/>
            <a:chOff x="0" y="0"/>
            <a:chExt cx="2157984" cy="76809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57984" cy="768096"/>
            </a:xfrm>
            <a:custGeom>
              <a:avLst/>
              <a:gdLst/>
              <a:ahLst/>
              <a:cxnLst/>
              <a:rect r="r" b="b" t="t" l="l"/>
              <a:pathLst>
                <a:path h="768096" w="21579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011680" y="0"/>
                  </a:lnTo>
                  <a:cubicBezTo>
                    <a:pt x="2092452" y="0"/>
                    <a:pt x="2157984" y="65532"/>
                    <a:pt x="2157984" y="146304"/>
                  </a:cubicBezTo>
                  <a:lnTo>
                    <a:pt x="2157984" y="621792"/>
                  </a:lnTo>
                  <a:cubicBezTo>
                    <a:pt x="2157984" y="702564"/>
                    <a:pt x="2092452" y="768096"/>
                    <a:pt x="2011680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F2EA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61872" y="7576471"/>
            <a:ext cx="1618488" cy="664655"/>
            <a:chOff x="0" y="0"/>
            <a:chExt cx="2157984" cy="88620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57984" cy="886206"/>
            </a:xfrm>
            <a:custGeom>
              <a:avLst/>
              <a:gdLst/>
              <a:ahLst/>
              <a:cxnLst/>
              <a:rect r="r" b="b" t="t" l="l"/>
              <a:pathLst>
                <a:path h="886206" w="2157984">
                  <a:moveTo>
                    <a:pt x="0" y="0"/>
                  </a:moveTo>
                  <a:lnTo>
                    <a:pt x="2157984" y="0"/>
                  </a:lnTo>
                  <a:lnTo>
                    <a:pt x="2157984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11" r="0" b="9216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2157984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spc="6">
                  <a:solidFill>
                    <a:srgbClr val="5F5E5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파일 검색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2852928" y="7495223"/>
            <a:ext cx="301752" cy="810387"/>
            <a:chOff x="0" y="0"/>
            <a:chExt cx="402336" cy="108051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02336" cy="1080516"/>
            </a:xfrm>
            <a:custGeom>
              <a:avLst/>
              <a:gdLst/>
              <a:ahLst/>
              <a:cxnLst/>
              <a:rect r="r" b="b" t="t" l="l"/>
              <a:pathLst>
                <a:path h="108051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1080516"/>
                  </a:lnTo>
                  <a:lnTo>
                    <a:pt x="0" y="1080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43" t="0" r="-194943" b="28913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402336" cy="1080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spc="8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›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3127248" y="7612380"/>
            <a:ext cx="1618488" cy="576072"/>
            <a:chOff x="0" y="0"/>
            <a:chExt cx="2157984" cy="76809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57984" cy="768096"/>
            </a:xfrm>
            <a:custGeom>
              <a:avLst/>
              <a:gdLst/>
              <a:ahLst/>
              <a:cxnLst/>
              <a:rect r="r" b="b" t="t" l="l"/>
              <a:pathLst>
                <a:path h="768096" w="21579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011680" y="0"/>
                  </a:lnTo>
                  <a:cubicBezTo>
                    <a:pt x="2092452" y="0"/>
                    <a:pt x="2157984" y="65532"/>
                    <a:pt x="2157984" y="146304"/>
                  </a:cubicBezTo>
                  <a:lnTo>
                    <a:pt x="2157984" y="621792"/>
                  </a:lnTo>
                  <a:cubicBezTo>
                    <a:pt x="2157984" y="702564"/>
                    <a:pt x="2092452" y="768096"/>
                    <a:pt x="2011680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F2EA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3127248" y="7576471"/>
            <a:ext cx="1618488" cy="664655"/>
            <a:chOff x="0" y="0"/>
            <a:chExt cx="2157984" cy="88620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57984" cy="886206"/>
            </a:xfrm>
            <a:custGeom>
              <a:avLst/>
              <a:gdLst/>
              <a:ahLst/>
              <a:cxnLst/>
              <a:rect r="r" b="b" t="t" l="l"/>
              <a:pathLst>
                <a:path h="886206" w="2157984">
                  <a:moveTo>
                    <a:pt x="0" y="0"/>
                  </a:moveTo>
                  <a:lnTo>
                    <a:pt x="2157984" y="0"/>
                  </a:lnTo>
                  <a:lnTo>
                    <a:pt x="2157984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11" r="0" b="9216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157984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spc="6">
                  <a:solidFill>
                    <a:srgbClr val="5F5E5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맥락 전환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718304" y="7476173"/>
            <a:ext cx="301752" cy="810387"/>
            <a:chOff x="0" y="0"/>
            <a:chExt cx="402336" cy="108051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02336" cy="1080516"/>
            </a:xfrm>
            <a:custGeom>
              <a:avLst/>
              <a:gdLst/>
              <a:ahLst/>
              <a:cxnLst/>
              <a:rect r="r" b="b" t="t" l="l"/>
              <a:pathLst>
                <a:path h="108051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1080516"/>
                  </a:lnTo>
                  <a:lnTo>
                    <a:pt x="0" y="1080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43" t="0" r="-194943" b="28913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402336" cy="1080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spc="8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›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4992624" y="7612380"/>
            <a:ext cx="1618488" cy="576072"/>
            <a:chOff x="0" y="0"/>
            <a:chExt cx="2157984" cy="76809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57984" cy="768096"/>
            </a:xfrm>
            <a:custGeom>
              <a:avLst/>
              <a:gdLst/>
              <a:ahLst/>
              <a:cxnLst/>
              <a:rect r="r" b="b" t="t" l="l"/>
              <a:pathLst>
                <a:path h="768096" w="21579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011680" y="0"/>
                  </a:lnTo>
                  <a:cubicBezTo>
                    <a:pt x="2092452" y="0"/>
                    <a:pt x="2157984" y="65532"/>
                    <a:pt x="2157984" y="146304"/>
                  </a:cubicBezTo>
                  <a:lnTo>
                    <a:pt x="2157984" y="621792"/>
                  </a:lnTo>
                  <a:cubicBezTo>
                    <a:pt x="2157984" y="702564"/>
                    <a:pt x="2092452" y="768096"/>
                    <a:pt x="2011680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F2EA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4992624" y="7576471"/>
            <a:ext cx="1618488" cy="664655"/>
            <a:chOff x="0" y="0"/>
            <a:chExt cx="2157984" cy="88620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157984" cy="886206"/>
            </a:xfrm>
            <a:custGeom>
              <a:avLst/>
              <a:gdLst/>
              <a:ahLst/>
              <a:cxnLst/>
              <a:rect r="r" b="b" t="t" l="l"/>
              <a:pathLst>
                <a:path h="886206" w="2157984">
                  <a:moveTo>
                    <a:pt x="0" y="0"/>
                  </a:moveTo>
                  <a:lnTo>
                    <a:pt x="2157984" y="0"/>
                  </a:lnTo>
                  <a:lnTo>
                    <a:pt x="2157984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11" r="0" b="9216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0"/>
              <a:ext cx="2157984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spc="6">
                  <a:solidFill>
                    <a:srgbClr val="5F5E5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시간 낭비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6583680" y="7495223"/>
            <a:ext cx="301752" cy="810387"/>
            <a:chOff x="0" y="0"/>
            <a:chExt cx="402336" cy="108051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02336" cy="1080516"/>
            </a:xfrm>
            <a:custGeom>
              <a:avLst/>
              <a:gdLst/>
              <a:ahLst/>
              <a:cxnLst/>
              <a:rect r="r" b="b" t="t" l="l"/>
              <a:pathLst>
                <a:path h="108051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1080516"/>
                  </a:lnTo>
                  <a:lnTo>
                    <a:pt x="0" y="1080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43" t="0" r="-194943" b="28913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402336" cy="1080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spc="8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›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6858000" y="7612380"/>
            <a:ext cx="1618488" cy="576072"/>
            <a:chOff x="0" y="0"/>
            <a:chExt cx="2157984" cy="76809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157984" cy="768096"/>
            </a:xfrm>
            <a:custGeom>
              <a:avLst/>
              <a:gdLst/>
              <a:ahLst/>
              <a:cxnLst/>
              <a:rect r="r" b="b" t="t" l="l"/>
              <a:pathLst>
                <a:path h="768096" w="21579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011680" y="0"/>
                  </a:lnTo>
                  <a:cubicBezTo>
                    <a:pt x="2092452" y="0"/>
                    <a:pt x="2157984" y="65532"/>
                    <a:pt x="2157984" y="146304"/>
                  </a:cubicBezTo>
                  <a:lnTo>
                    <a:pt x="2157984" y="621792"/>
                  </a:lnTo>
                  <a:cubicBezTo>
                    <a:pt x="2157984" y="702564"/>
                    <a:pt x="2092452" y="768096"/>
                    <a:pt x="2011680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F2EA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6858000" y="7568089"/>
            <a:ext cx="1618488" cy="664655"/>
            <a:chOff x="0" y="0"/>
            <a:chExt cx="2157984" cy="8862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157984" cy="886206"/>
            </a:xfrm>
            <a:custGeom>
              <a:avLst/>
              <a:gdLst/>
              <a:ahLst/>
              <a:cxnLst/>
              <a:rect r="r" b="b" t="t" l="l"/>
              <a:pathLst>
                <a:path h="886206" w="2157984">
                  <a:moveTo>
                    <a:pt x="0" y="0"/>
                  </a:moveTo>
                  <a:lnTo>
                    <a:pt x="2157984" y="0"/>
                  </a:lnTo>
                  <a:lnTo>
                    <a:pt x="2157984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11" r="0" b="9216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2157984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spc="6">
                  <a:solidFill>
                    <a:srgbClr val="5F5E5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생산성 저하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261872" y="8531352"/>
            <a:ext cx="6172200" cy="582930"/>
            <a:chOff x="0" y="0"/>
            <a:chExt cx="8229600" cy="7772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229600" cy="777240"/>
            </a:xfrm>
            <a:custGeom>
              <a:avLst/>
              <a:gdLst/>
              <a:ahLst/>
              <a:cxnLst/>
              <a:rect r="r" b="b" t="t" l="l"/>
              <a:pathLst>
                <a:path h="777240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1018" r="0" b="-141606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8229600" cy="777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i="true" spc="5">
                  <a:solidFill>
                    <a:srgbClr val="9A958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Source: ShareFile Research, 2025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738360" y="2990088"/>
            <a:ext cx="4046220" cy="493776"/>
            <a:chOff x="0" y="0"/>
            <a:chExt cx="5394960" cy="658368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394960" cy="658368"/>
            </a:xfrm>
            <a:custGeom>
              <a:avLst/>
              <a:gdLst/>
              <a:ahLst/>
              <a:cxnLst/>
              <a:rect r="r" b="b" t="t" l="l"/>
              <a:pathLst>
                <a:path h="658368" w="5394960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lnTo>
                    <a:pt x="5065776" y="0"/>
                  </a:lnTo>
                  <a:cubicBezTo>
                    <a:pt x="5247640" y="0"/>
                    <a:pt x="5394960" y="147320"/>
                    <a:pt x="5394960" y="329184"/>
                  </a:cubicBezTo>
                  <a:cubicBezTo>
                    <a:pt x="5394960" y="511048"/>
                    <a:pt x="5247640" y="658368"/>
                    <a:pt x="5065776" y="658368"/>
                  </a:cubicBezTo>
                  <a:lnTo>
                    <a:pt x="329184" y="658368"/>
                  </a:ln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1C2A41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9738360" y="2895790"/>
            <a:ext cx="4046220" cy="664655"/>
            <a:chOff x="0" y="0"/>
            <a:chExt cx="5394960" cy="88620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394960" cy="886206"/>
            </a:xfrm>
            <a:custGeom>
              <a:avLst/>
              <a:gdLst/>
              <a:ahLst/>
              <a:cxnLst/>
              <a:rect r="r" b="b" t="t" l="l"/>
              <a:pathLst>
                <a:path h="88620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73" r="0" b="-55764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539496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b="true" sz="1725" spc="6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기술 장벽 (비개발자 한계)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9738360" y="3703320"/>
            <a:ext cx="4389120" cy="2673096"/>
            <a:chOff x="0" y="0"/>
            <a:chExt cx="5852160" cy="3564128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5852160" cy="3564128"/>
            </a:xfrm>
            <a:custGeom>
              <a:avLst/>
              <a:gdLst/>
              <a:ahLst/>
              <a:cxnLst/>
              <a:rect r="r" b="b" t="t" l="l"/>
              <a:pathLst>
                <a:path h="3564128" w="5852160">
                  <a:moveTo>
                    <a:pt x="0" y="0"/>
                  </a:moveTo>
                  <a:lnTo>
                    <a:pt x="5852160" y="0"/>
                  </a:lnTo>
                  <a:lnTo>
                    <a:pt x="5852160" y="3564128"/>
                  </a:lnTo>
                  <a:lnTo>
                    <a:pt x="0" y="356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180" t="0" r="-26180" b="2508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47625"/>
              <a:ext cx="5852160" cy="3611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032"/>
                </a:lnSpc>
              </a:pPr>
              <a:r>
                <a:rPr lang="en-US" b="true" sz="3000" spc="11">
                  <a:solidFill>
                    <a:srgbClr val="DD623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88%</a:t>
              </a:r>
              <a:r>
                <a:rPr lang="en-US" b="true" sz="3000" spc="11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의 기업이</a:t>
              </a:r>
            </a:p>
            <a:p>
              <a:pPr algn="l">
                <a:lnSpc>
                  <a:spcPts val="4032"/>
                </a:lnSpc>
              </a:pPr>
              <a:r>
                <a:rPr lang="en-US" b="true" sz="3000" spc="11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AI를 도입했지만,</a:t>
              </a:r>
            </a:p>
            <a:p>
              <a:pPr algn="l">
                <a:lnSpc>
                  <a:spcPts val="4032"/>
                </a:lnSpc>
              </a:pPr>
              <a:r>
                <a:rPr lang="en-US" b="true" sz="3000" spc="11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스케일업에 성공한 건</a:t>
              </a:r>
            </a:p>
            <a:p>
              <a:pPr algn="l">
                <a:lnSpc>
                  <a:spcPts val="4032"/>
                </a:lnSpc>
              </a:pPr>
              <a:r>
                <a:rPr lang="en-US" b="true" sz="3000" spc="11">
                  <a:solidFill>
                    <a:srgbClr val="2A9D6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33%</a:t>
              </a:r>
              <a:r>
                <a:rPr lang="en-US" b="true" sz="3000" spc="11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에 불과하다</a:t>
              </a:r>
            </a:p>
          </p:txBody>
        </p:sp>
      </p:grpSp>
      <p:pic>
        <p:nvPicPr>
          <p:cNvPr name="Picture 62" id="62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757148" y="3154680"/>
            <a:ext cx="3621024" cy="3621024"/>
          </a:xfrm>
          <a:prstGeom prst="rect">
            <a:avLst/>
          </a:prstGeom>
        </p:spPr>
      </p:pic>
      <p:grpSp>
        <p:nvGrpSpPr>
          <p:cNvPr name="Group 63" id="63"/>
          <p:cNvGrpSpPr/>
          <p:nvPr/>
        </p:nvGrpSpPr>
        <p:grpSpPr>
          <a:xfrm rot="0">
            <a:off x="14333220" y="4068604"/>
            <a:ext cx="2468880" cy="1518761"/>
            <a:chOff x="0" y="0"/>
            <a:chExt cx="3291840" cy="2025015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291840" cy="2025015"/>
            </a:xfrm>
            <a:custGeom>
              <a:avLst/>
              <a:gdLst/>
              <a:ahLst/>
              <a:cxnLst/>
              <a:rect r="r" b="b" t="t" l="l"/>
              <a:pathLst>
                <a:path h="2025015" w="3291840">
                  <a:moveTo>
                    <a:pt x="0" y="0"/>
                  </a:moveTo>
                  <a:lnTo>
                    <a:pt x="3291840" y="0"/>
                  </a:lnTo>
                  <a:lnTo>
                    <a:pt x="3291840" y="2025015"/>
                  </a:lnTo>
                  <a:lnTo>
                    <a:pt x="0" y="20250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5577" t="0" r="-15577" b="16914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3291840" cy="20250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true" sz="3600" spc="13">
                  <a:solidFill>
                    <a:srgbClr val="1C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88%</a:t>
              </a:r>
            </a:p>
            <a:p>
              <a:pPr algn="ctr">
                <a:lnSpc>
                  <a:spcPts val="1709"/>
                </a:lnSpc>
              </a:pPr>
              <a:r>
                <a:rPr lang="en-US" sz="1425" spc="5">
                  <a:solidFill>
                    <a:srgbClr val="707A89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 정기 사용 기업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 spc="4">
                  <a:solidFill>
                    <a:srgbClr val="909AA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(도입 기업)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9738360" y="6336792"/>
            <a:ext cx="3429000" cy="610172"/>
            <a:chOff x="0" y="0"/>
            <a:chExt cx="4572000" cy="81356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572000" cy="813562"/>
            </a:xfrm>
            <a:custGeom>
              <a:avLst/>
              <a:gdLst/>
              <a:ahLst/>
              <a:cxnLst/>
              <a:rect r="r" b="b" t="t" l="l"/>
              <a:pathLst>
                <a:path h="813562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02" r="0" b="-37599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9525"/>
              <a:ext cx="457200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spc="6">
                  <a:solidFill>
                    <a:srgbClr val="2A9D6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스케일업 성공 33%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3481685" y="6377940"/>
            <a:ext cx="3429000" cy="610172"/>
            <a:chOff x="0" y="0"/>
            <a:chExt cx="4572000" cy="813562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572000" cy="813562"/>
            </a:xfrm>
            <a:custGeom>
              <a:avLst/>
              <a:gdLst/>
              <a:ahLst/>
              <a:cxnLst/>
              <a:rect r="r" b="b" t="t" l="l"/>
              <a:pathLst>
                <a:path h="813562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02" r="0" b="-37599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9525"/>
              <a:ext cx="457200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89"/>
                </a:lnSpc>
              </a:pPr>
              <a:r>
                <a:rPr lang="en-US" sz="1575" spc="6">
                  <a:solidFill>
                    <a:srgbClr val="909AA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미성공 67%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9738360" y="6825996"/>
            <a:ext cx="7132320" cy="219456"/>
            <a:chOff x="0" y="0"/>
            <a:chExt cx="9509760" cy="292608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9509761" cy="292608"/>
            </a:xfrm>
            <a:custGeom>
              <a:avLst/>
              <a:gdLst/>
              <a:ahLst/>
              <a:cxnLst/>
              <a:rect r="r" b="b" t="t" l="l"/>
              <a:pathLst>
                <a:path h="292608" w="9509761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363456" y="0"/>
                  </a:lnTo>
                  <a:cubicBezTo>
                    <a:pt x="9444228" y="0"/>
                    <a:pt x="9509761" y="65532"/>
                    <a:pt x="9509761" y="146304"/>
                  </a:cubicBezTo>
                  <a:cubicBezTo>
                    <a:pt x="9509761" y="227076"/>
                    <a:pt x="9444228" y="292608"/>
                    <a:pt x="9363456" y="292608"/>
                  </a:cubicBezTo>
                  <a:lnTo>
                    <a:pt x="146304" y="292608"/>
                  </a:lnTo>
                  <a:cubicBezTo>
                    <a:pt x="65532" y="292608"/>
                    <a:pt x="0" y="227076"/>
                    <a:pt x="0" y="146304"/>
                  </a:cubicBezTo>
                  <a:close/>
                </a:path>
              </a:pathLst>
            </a:custGeom>
            <a:solidFill>
              <a:srgbClr val="E6E1D7"/>
            </a:solid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9738360" y="6825996"/>
            <a:ext cx="2353666" cy="219456"/>
            <a:chOff x="0" y="0"/>
            <a:chExt cx="3138221" cy="29260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3138170" cy="292608"/>
            </a:xfrm>
            <a:custGeom>
              <a:avLst/>
              <a:gdLst/>
              <a:ahLst/>
              <a:cxnLst/>
              <a:rect r="r" b="b" t="t" l="l"/>
              <a:pathLst>
                <a:path h="292608" w="313817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991866" y="0"/>
                  </a:lnTo>
                  <a:cubicBezTo>
                    <a:pt x="3072638" y="0"/>
                    <a:pt x="3138170" y="65532"/>
                    <a:pt x="3138170" y="146304"/>
                  </a:cubicBezTo>
                  <a:cubicBezTo>
                    <a:pt x="3138170" y="227076"/>
                    <a:pt x="3072638" y="292608"/>
                    <a:pt x="2991866" y="292608"/>
                  </a:cubicBezTo>
                  <a:lnTo>
                    <a:pt x="146304" y="292608"/>
                  </a:lnTo>
                  <a:cubicBezTo>
                    <a:pt x="65532" y="292608"/>
                    <a:pt x="0" y="227076"/>
                    <a:pt x="0" y="146304"/>
                  </a:cubicBezTo>
                  <a:close/>
                </a:path>
              </a:pathLst>
            </a:custGeom>
            <a:solidFill>
              <a:srgbClr val="2A9D6E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9738360" y="7159752"/>
            <a:ext cx="7132320" cy="603504"/>
            <a:chOff x="0" y="0"/>
            <a:chExt cx="9509760" cy="804672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9509761" cy="804672"/>
            </a:xfrm>
            <a:custGeom>
              <a:avLst/>
              <a:gdLst/>
              <a:ahLst/>
              <a:cxnLst/>
              <a:rect r="r" b="b" t="t" l="l"/>
              <a:pathLst>
                <a:path h="804672" w="9509761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9363456" y="0"/>
                  </a:lnTo>
                  <a:cubicBezTo>
                    <a:pt x="9444228" y="0"/>
                    <a:pt x="9509761" y="65532"/>
                    <a:pt x="9509761" y="146304"/>
                  </a:cubicBezTo>
                  <a:lnTo>
                    <a:pt x="9509761" y="658368"/>
                  </a:lnTo>
                  <a:cubicBezTo>
                    <a:pt x="9509761" y="739140"/>
                    <a:pt x="9444228" y="804672"/>
                    <a:pt x="9363456" y="804672"/>
                  </a:cubicBezTo>
                  <a:lnTo>
                    <a:pt x="146304" y="804672"/>
                  </a:lnTo>
                  <a:cubicBezTo>
                    <a:pt x="65532" y="804672"/>
                    <a:pt x="0" y="739140"/>
                    <a:pt x="0" y="658368"/>
                  </a:cubicBezTo>
                  <a:close/>
                </a:path>
              </a:pathLst>
            </a:custGeom>
            <a:solidFill>
              <a:srgbClr val="FBEBE4"/>
            </a:solid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0012680" y="7143845"/>
            <a:ext cx="6720840" cy="664655"/>
            <a:chOff x="0" y="0"/>
            <a:chExt cx="8961120" cy="886206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8961120" cy="886206"/>
            </a:xfrm>
            <a:custGeom>
              <a:avLst/>
              <a:gdLst/>
              <a:ahLst/>
              <a:cxnLst/>
              <a:rect r="r" b="b" t="t" l="l"/>
              <a:pathLst>
                <a:path h="886206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628" r="0" b="-142428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0"/>
              <a:ext cx="896112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spc="6">
                  <a:solidFill>
                    <a:srgbClr val="C24E27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 큰 실패 원인  —  </a:t>
              </a:r>
              <a:r>
                <a:rPr lang="en-US" b="true" sz="1725" spc="6">
                  <a:solidFill>
                    <a:srgbClr val="C24E2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통합 복잡성과 모니터링 부재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9738360" y="7927848"/>
            <a:ext cx="1700784" cy="576072"/>
            <a:chOff x="0" y="0"/>
            <a:chExt cx="2267712" cy="768096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267712" cy="768096"/>
            </a:xfrm>
            <a:custGeom>
              <a:avLst/>
              <a:gdLst/>
              <a:ahLst/>
              <a:cxnLst/>
              <a:rect r="r" b="b" t="t" l="l"/>
              <a:pathLst>
                <a:path h="768096" w="226771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121408" y="0"/>
                  </a:lnTo>
                  <a:cubicBezTo>
                    <a:pt x="2202180" y="0"/>
                    <a:pt x="2267712" y="65532"/>
                    <a:pt x="2267712" y="146304"/>
                  </a:cubicBezTo>
                  <a:lnTo>
                    <a:pt x="2267712" y="621792"/>
                  </a:lnTo>
                  <a:cubicBezTo>
                    <a:pt x="2267712" y="702564"/>
                    <a:pt x="2202180" y="768096"/>
                    <a:pt x="2121408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F2EA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9738360" y="7886700"/>
            <a:ext cx="1700784" cy="664655"/>
            <a:chOff x="0" y="0"/>
            <a:chExt cx="2267712" cy="886206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267712" cy="886206"/>
            </a:xfrm>
            <a:custGeom>
              <a:avLst/>
              <a:gdLst/>
              <a:ahLst/>
              <a:cxnLst/>
              <a:rect r="r" b="b" t="t" l="l"/>
              <a:pathLst>
                <a:path h="886206" w="2267712">
                  <a:moveTo>
                    <a:pt x="0" y="0"/>
                  </a:moveTo>
                  <a:lnTo>
                    <a:pt x="2267712" y="0"/>
                  </a:lnTo>
                  <a:lnTo>
                    <a:pt x="2267712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24" r="0" b="6803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0"/>
              <a:ext cx="2267712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spc="6">
                  <a:solidFill>
                    <a:srgbClr val="5F5E5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통합 복잡성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1542014" y="7927848"/>
            <a:ext cx="1700784" cy="576072"/>
            <a:chOff x="0" y="0"/>
            <a:chExt cx="2267712" cy="768096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267712" cy="768096"/>
            </a:xfrm>
            <a:custGeom>
              <a:avLst/>
              <a:gdLst/>
              <a:ahLst/>
              <a:cxnLst/>
              <a:rect r="r" b="b" t="t" l="l"/>
              <a:pathLst>
                <a:path h="768096" w="226771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121408" y="0"/>
                  </a:lnTo>
                  <a:cubicBezTo>
                    <a:pt x="2202180" y="0"/>
                    <a:pt x="2267712" y="65532"/>
                    <a:pt x="2267712" y="146304"/>
                  </a:cubicBezTo>
                  <a:lnTo>
                    <a:pt x="2267712" y="621792"/>
                  </a:lnTo>
                  <a:cubicBezTo>
                    <a:pt x="2267712" y="702564"/>
                    <a:pt x="2202180" y="768096"/>
                    <a:pt x="2121408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F2EA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11542014" y="7900416"/>
            <a:ext cx="1700784" cy="664655"/>
            <a:chOff x="0" y="0"/>
            <a:chExt cx="2267712" cy="886206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267712" cy="886206"/>
            </a:xfrm>
            <a:custGeom>
              <a:avLst/>
              <a:gdLst/>
              <a:ahLst/>
              <a:cxnLst/>
              <a:rect r="r" b="b" t="t" l="l"/>
              <a:pathLst>
                <a:path h="886206" w="2267712">
                  <a:moveTo>
                    <a:pt x="0" y="0"/>
                  </a:moveTo>
                  <a:lnTo>
                    <a:pt x="2267712" y="0"/>
                  </a:lnTo>
                  <a:lnTo>
                    <a:pt x="2267712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24" r="0" b="6803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0"/>
              <a:ext cx="2267712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spc="6">
                  <a:solidFill>
                    <a:srgbClr val="5F5E5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모니터링 부재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3345668" y="7927848"/>
            <a:ext cx="1700784" cy="576072"/>
            <a:chOff x="0" y="0"/>
            <a:chExt cx="2267712" cy="768096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267712" cy="768096"/>
            </a:xfrm>
            <a:custGeom>
              <a:avLst/>
              <a:gdLst/>
              <a:ahLst/>
              <a:cxnLst/>
              <a:rect r="r" b="b" t="t" l="l"/>
              <a:pathLst>
                <a:path h="768096" w="226771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121408" y="0"/>
                  </a:lnTo>
                  <a:cubicBezTo>
                    <a:pt x="2202180" y="0"/>
                    <a:pt x="2267712" y="65532"/>
                    <a:pt x="2267712" y="146304"/>
                  </a:cubicBezTo>
                  <a:lnTo>
                    <a:pt x="2267712" y="621792"/>
                  </a:lnTo>
                  <a:cubicBezTo>
                    <a:pt x="2267712" y="702564"/>
                    <a:pt x="2202180" y="768096"/>
                    <a:pt x="2121408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F2EA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13345668" y="7900416"/>
            <a:ext cx="1700784" cy="664655"/>
            <a:chOff x="0" y="0"/>
            <a:chExt cx="2267712" cy="886206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2267712" cy="886206"/>
            </a:xfrm>
            <a:custGeom>
              <a:avLst/>
              <a:gdLst/>
              <a:ahLst/>
              <a:cxnLst/>
              <a:rect r="r" b="b" t="t" l="l"/>
              <a:pathLst>
                <a:path h="886206" w="2267712">
                  <a:moveTo>
                    <a:pt x="0" y="0"/>
                  </a:moveTo>
                  <a:lnTo>
                    <a:pt x="2267712" y="0"/>
                  </a:lnTo>
                  <a:lnTo>
                    <a:pt x="2267712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24" r="0" b="6803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0"/>
              <a:ext cx="2267712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spc="6">
                  <a:solidFill>
                    <a:srgbClr val="5F5E5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권한·보안 관리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15149322" y="7927848"/>
            <a:ext cx="1700784" cy="576072"/>
            <a:chOff x="0" y="0"/>
            <a:chExt cx="2267712" cy="768096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267712" cy="768096"/>
            </a:xfrm>
            <a:custGeom>
              <a:avLst/>
              <a:gdLst/>
              <a:ahLst/>
              <a:cxnLst/>
              <a:rect r="r" b="b" t="t" l="l"/>
              <a:pathLst>
                <a:path h="768096" w="226771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121408" y="0"/>
                  </a:lnTo>
                  <a:cubicBezTo>
                    <a:pt x="2202180" y="0"/>
                    <a:pt x="2267712" y="65532"/>
                    <a:pt x="2267712" y="146304"/>
                  </a:cubicBezTo>
                  <a:lnTo>
                    <a:pt x="2267712" y="621792"/>
                  </a:lnTo>
                  <a:cubicBezTo>
                    <a:pt x="2267712" y="702564"/>
                    <a:pt x="2202180" y="768096"/>
                    <a:pt x="2121408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F2EA"/>
            </a:solidFill>
          </p:spPr>
        </p:sp>
      </p:grpSp>
      <p:grpSp>
        <p:nvGrpSpPr>
          <p:cNvPr name="Group 98" id="98"/>
          <p:cNvGrpSpPr/>
          <p:nvPr/>
        </p:nvGrpSpPr>
        <p:grpSpPr>
          <a:xfrm rot="0">
            <a:off x="15149322" y="7908798"/>
            <a:ext cx="1700784" cy="664655"/>
            <a:chOff x="0" y="0"/>
            <a:chExt cx="2267712" cy="886206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2267712" cy="886206"/>
            </a:xfrm>
            <a:custGeom>
              <a:avLst/>
              <a:gdLst/>
              <a:ahLst/>
              <a:cxnLst/>
              <a:rect r="r" b="b" t="t" l="l"/>
              <a:pathLst>
                <a:path h="886206" w="2267712">
                  <a:moveTo>
                    <a:pt x="0" y="0"/>
                  </a:moveTo>
                  <a:lnTo>
                    <a:pt x="2267712" y="0"/>
                  </a:lnTo>
                  <a:lnTo>
                    <a:pt x="2267712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24" r="0" b="6803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0"/>
              <a:ext cx="2267712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spc="6">
                  <a:solidFill>
                    <a:srgbClr val="5F5E5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측정 지표 부족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9738360" y="8613648"/>
            <a:ext cx="7132320" cy="582930"/>
            <a:chOff x="0" y="0"/>
            <a:chExt cx="9509760" cy="7772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9509760" cy="777240"/>
            </a:xfrm>
            <a:custGeom>
              <a:avLst/>
              <a:gdLst/>
              <a:ahLst/>
              <a:cxnLst/>
              <a:rect r="r" b="b" t="t" l="l"/>
              <a:pathLst>
                <a:path h="77724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3111" r="0" b="-173699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0"/>
              <a:ext cx="9509760" cy="777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i="true" spc="5">
                  <a:solidFill>
                    <a:srgbClr val="9A958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출처: Arcade.dev Enterprise Automation Report, 2025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01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2180911" y="511178"/>
            <a:ext cx="496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PROJECT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OVERVIEW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12771140" y="511178"/>
            <a:ext cx="475994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문제 정의</a:t>
            </a:r>
          </a:p>
        </p:txBody>
      </p:sp>
      <p:grpSp>
        <p:nvGrpSpPr>
          <p:cNvPr name="Group 107" id="107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109" id="109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05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2127418" y="9608820"/>
            <a:ext cx="17627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문제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정의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14967870" y="9608820"/>
            <a:ext cx="256738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1 — Project Overview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787403" y="1111253"/>
            <a:ext cx="8559701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전체 기술지도 — 요청 처리부터 재사용 학습까지</a:t>
            </a:r>
          </a:p>
        </p:txBody>
      </p:sp>
      <p:sp>
        <p:nvSpPr>
          <p:cNvPr name="TextBox 114" id="114"/>
          <p:cNvSpPr txBox="true"/>
          <p:nvPr/>
        </p:nvSpPr>
        <p:spPr>
          <a:xfrm rot="0">
            <a:off x="787403" y="1722120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자연어 요청 → AI 조립 → 자산화 → 학습. 그 중심에 온톨로지 그래프.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13435" y="2530792"/>
            <a:ext cx="5285994" cy="5505450"/>
            <a:chOff x="0" y="0"/>
            <a:chExt cx="7047992" cy="7340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047992" cy="7340600"/>
            </a:xfrm>
            <a:custGeom>
              <a:avLst/>
              <a:gdLst/>
              <a:ahLst/>
              <a:cxnLst/>
              <a:rect r="r" b="b" t="t" l="l"/>
              <a:pathLst>
                <a:path h="7340600" w="7047992">
                  <a:moveTo>
                    <a:pt x="0" y="183515"/>
                  </a:moveTo>
                  <a:cubicBezTo>
                    <a:pt x="0" y="82169"/>
                    <a:pt x="82169" y="0"/>
                    <a:pt x="183515" y="0"/>
                  </a:cubicBezTo>
                  <a:lnTo>
                    <a:pt x="6864477" y="0"/>
                  </a:lnTo>
                  <a:cubicBezTo>
                    <a:pt x="6965823" y="0"/>
                    <a:pt x="7047992" y="82169"/>
                    <a:pt x="7047992" y="183515"/>
                  </a:cubicBezTo>
                  <a:lnTo>
                    <a:pt x="7047992" y="7157085"/>
                  </a:lnTo>
                  <a:cubicBezTo>
                    <a:pt x="7047992" y="7258431"/>
                    <a:pt x="6965823" y="7340600"/>
                    <a:pt x="6864477" y="7340600"/>
                  </a:cubicBezTo>
                  <a:lnTo>
                    <a:pt x="183515" y="7340600"/>
                  </a:lnTo>
                  <a:cubicBezTo>
                    <a:pt x="82169" y="7340600"/>
                    <a:pt x="0" y="7258431"/>
                    <a:pt x="0" y="715708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19747" y="2530792"/>
            <a:ext cx="104723" cy="5505450"/>
            <a:chOff x="0" y="0"/>
            <a:chExt cx="128016" cy="67299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8016" cy="6729984"/>
            </a:xfrm>
            <a:custGeom>
              <a:avLst/>
              <a:gdLst/>
              <a:ahLst/>
              <a:cxnLst/>
              <a:rect r="r" b="b" t="t" l="l"/>
              <a:pathLst>
                <a:path h="6729984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6665976"/>
                  </a:lnTo>
                  <a:cubicBezTo>
                    <a:pt x="128016" y="6701282"/>
                    <a:pt x="99314" y="6729984"/>
                    <a:pt x="64008" y="6729984"/>
                  </a:cubicBezTo>
                  <a:cubicBezTo>
                    <a:pt x="28702" y="6729984"/>
                    <a:pt x="0" y="6701282"/>
                    <a:pt x="0" y="6665976"/>
                  </a:cubicBezTo>
                  <a:close/>
                </a:path>
              </a:pathLst>
            </a:custGeom>
            <a:solidFill>
              <a:srgbClr val="2E9F6E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234440" y="2883217"/>
            <a:ext cx="685800" cy="685800"/>
            <a:chOff x="0" y="0"/>
            <a:chExt cx="914400" cy="914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E9F6E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34440" y="2829115"/>
            <a:ext cx="685800" cy="755904"/>
            <a:chOff x="0" y="0"/>
            <a:chExt cx="914400" cy="10078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14400" cy="1007872"/>
            </a:xfrm>
            <a:custGeom>
              <a:avLst/>
              <a:gdLst/>
              <a:ahLst/>
              <a:cxnLst/>
              <a:rect r="r" b="b" t="t" l="l"/>
              <a:pathLst>
                <a:path h="1007872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927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91440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 spc="7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01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2125980" y="2784729"/>
            <a:ext cx="3689604" cy="844677"/>
            <a:chOff x="0" y="0"/>
            <a:chExt cx="4919472" cy="112623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919472" cy="1126236"/>
            </a:xfrm>
            <a:custGeom>
              <a:avLst/>
              <a:gdLst/>
              <a:ahLst/>
              <a:cxnLst/>
              <a:rect r="r" b="b" t="t" l="l"/>
              <a:pathLst>
                <a:path h="1126236" w="4919472">
                  <a:moveTo>
                    <a:pt x="0" y="0"/>
                  </a:moveTo>
                  <a:lnTo>
                    <a:pt x="4919472" y="0"/>
                  </a:lnTo>
                  <a:lnTo>
                    <a:pt x="4919472" y="1126236"/>
                  </a:lnTo>
                  <a:lnTo>
                    <a:pt x="0" y="11262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516" r="0" b="-25707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9050"/>
              <a:ext cx="4919472" cy="11071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9"/>
                </a:lnSpc>
              </a:pPr>
              <a:r>
                <a:rPr lang="en-US" b="true" sz="2175" spc="8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SOP 기반 Skill 자동 등록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34440" y="4117657"/>
            <a:ext cx="4443984" cy="1371600"/>
            <a:chOff x="0" y="0"/>
            <a:chExt cx="5925312" cy="1828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925312" cy="1828800"/>
            </a:xfrm>
            <a:custGeom>
              <a:avLst/>
              <a:gdLst/>
              <a:ahLst/>
              <a:cxnLst/>
              <a:rect r="r" b="b" t="t" l="l"/>
              <a:pathLst>
                <a:path h="1828800" w="5925312">
                  <a:moveTo>
                    <a:pt x="0" y="0"/>
                  </a:moveTo>
                  <a:lnTo>
                    <a:pt x="5925312" y="0"/>
                  </a:lnTo>
                  <a:lnTo>
                    <a:pt x="5925312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131" r="0" b="-1313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5925312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18"/>
                </a:lnSpc>
              </a:pPr>
              <a:r>
                <a:rPr lang="en-US" sz="1725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SOP 문서를 업로드하면</a:t>
              </a:r>
            </a:p>
            <a:p>
              <a:pPr algn="l">
                <a:lnSpc>
                  <a:spcPts val="2318"/>
                </a:lnSpc>
              </a:pPr>
              <a:r>
                <a:rPr lang="en-US" sz="1725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AI가 절차를 분석해 재사용 가능한</a:t>
              </a:r>
            </a:p>
            <a:p>
              <a:pPr algn="l">
                <a:lnSpc>
                  <a:spcPts val="2318"/>
                </a:lnSpc>
              </a:pPr>
              <a:r>
                <a:rPr lang="en-US" sz="1725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Skill Node 후보를 생성한다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345436" y="5900737"/>
            <a:ext cx="822960" cy="822960"/>
            <a:chOff x="0" y="0"/>
            <a:chExt cx="1097280" cy="10972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2501798" y="6057100"/>
            <a:ext cx="510235" cy="510235"/>
            <a:chOff x="0" y="0"/>
            <a:chExt cx="680314" cy="680314"/>
          </a:xfrm>
        </p:grpSpPr>
        <p:sp>
          <p:nvSpPr>
            <p:cNvPr name="Freeform 20" id="20" descr="icons/doc.png"/>
            <p:cNvSpPr/>
            <p:nvPr/>
          </p:nvSpPr>
          <p:spPr>
            <a:xfrm flipH="false" flipV="false" rot="0">
              <a:off x="0" y="0"/>
              <a:ext cx="680339" cy="680339"/>
            </a:xfrm>
            <a:custGeom>
              <a:avLst/>
              <a:gdLst/>
              <a:ahLst/>
              <a:cxnLst/>
              <a:rect r="r" b="b" t="t" l="l"/>
              <a:pathLst>
                <a:path h="680339" w="680339">
                  <a:moveTo>
                    <a:pt x="0" y="0"/>
                  </a:moveTo>
                  <a:lnTo>
                    <a:pt x="680339" y="0"/>
                  </a:lnTo>
                  <a:lnTo>
                    <a:pt x="680339" y="680339"/>
                  </a:lnTo>
                  <a:lnTo>
                    <a:pt x="0" y="680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3182112" y="5660707"/>
            <a:ext cx="548640" cy="1165860"/>
            <a:chOff x="0" y="0"/>
            <a:chExt cx="731520" cy="15544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31520" cy="1554480"/>
            </a:xfrm>
            <a:custGeom>
              <a:avLst/>
              <a:gdLst/>
              <a:ahLst/>
              <a:cxnLst/>
              <a:rect r="r" b="b" t="t" l="l"/>
              <a:pathLst>
                <a:path h="155448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4117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731520" cy="15640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spc="11">
                  <a:solidFill>
                    <a:srgbClr val="1F7A5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›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744468" y="5900737"/>
            <a:ext cx="822960" cy="822960"/>
            <a:chOff x="0" y="0"/>
            <a:chExt cx="1097280" cy="1097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3900830" y="6057100"/>
            <a:ext cx="510235" cy="510235"/>
            <a:chOff x="0" y="0"/>
            <a:chExt cx="680314" cy="680314"/>
          </a:xfrm>
        </p:grpSpPr>
        <p:sp>
          <p:nvSpPr>
            <p:cNvPr name="Freeform 27" id="27" descr="icons/node.png"/>
            <p:cNvSpPr/>
            <p:nvPr/>
          </p:nvSpPr>
          <p:spPr>
            <a:xfrm flipH="false" flipV="false" rot="0">
              <a:off x="0" y="0"/>
              <a:ext cx="680339" cy="680339"/>
            </a:xfrm>
            <a:custGeom>
              <a:avLst/>
              <a:gdLst/>
              <a:ahLst/>
              <a:cxnLst/>
              <a:rect r="r" b="b" t="t" l="l"/>
              <a:pathLst>
                <a:path h="680339" w="680339">
                  <a:moveTo>
                    <a:pt x="0" y="0"/>
                  </a:moveTo>
                  <a:lnTo>
                    <a:pt x="680339" y="0"/>
                  </a:lnTo>
                  <a:lnTo>
                    <a:pt x="680339" y="680339"/>
                  </a:lnTo>
                  <a:lnTo>
                    <a:pt x="0" y="680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3" b="3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48156" y="7203757"/>
            <a:ext cx="2125980" cy="521208"/>
            <a:chOff x="0" y="0"/>
            <a:chExt cx="2834640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834640" cy="694944"/>
            </a:xfrm>
            <a:custGeom>
              <a:avLst/>
              <a:gdLst/>
              <a:ahLst/>
              <a:cxnLst/>
              <a:rect r="r" b="b" t="t" l="l"/>
              <a:pathLst>
                <a:path h="694944" w="283464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688336" y="0"/>
                  </a:lnTo>
                  <a:cubicBezTo>
                    <a:pt x="2769108" y="0"/>
                    <a:pt x="2834640" y="65532"/>
                    <a:pt x="2834640" y="146304"/>
                  </a:cubicBezTo>
                  <a:lnTo>
                    <a:pt x="2834640" y="548640"/>
                  </a:lnTo>
                  <a:cubicBezTo>
                    <a:pt x="2834640" y="629412"/>
                    <a:pt x="2769108" y="694944"/>
                    <a:pt x="2688336" y="694944"/>
                  </a:cubicBezTo>
                  <a:lnTo>
                    <a:pt x="146304" y="694944"/>
                  </a:lnTo>
                  <a:cubicBezTo>
                    <a:pt x="65532" y="694944"/>
                    <a:pt x="0" y="629412"/>
                    <a:pt x="0" y="548640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48156" y="7145655"/>
            <a:ext cx="2125980" cy="637413"/>
            <a:chOff x="0" y="0"/>
            <a:chExt cx="2834640" cy="8498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834640" cy="849884"/>
            </a:xfrm>
            <a:custGeom>
              <a:avLst/>
              <a:gdLst/>
              <a:ahLst/>
              <a:cxnLst/>
              <a:rect r="r" b="b" t="t" l="l"/>
              <a:pathLst>
                <a:path h="849884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104" r="0" b="-5873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283464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 spc="6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Skill Node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3538728" y="7203757"/>
            <a:ext cx="2125980" cy="521208"/>
            <a:chOff x="0" y="0"/>
            <a:chExt cx="2834640" cy="6949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834640" cy="694944"/>
            </a:xfrm>
            <a:custGeom>
              <a:avLst/>
              <a:gdLst/>
              <a:ahLst/>
              <a:cxnLst/>
              <a:rect r="r" b="b" t="t" l="l"/>
              <a:pathLst>
                <a:path h="694944" w="283464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688336" y="0"/>
                  </a:lnTo>
                  <a:cubicBezTo>
                    <a:pt x="2769108" y="0"/>
                    <a:pt x="2834640" y="65532"/>
                    <a:pt x="2834640" y="146304"/>
                  </a:cubicBezTo>
                  <a:lnTo>
                    <a:pt x="2834640" y="548640"/>
                  </a:lnTo>
                  <a:cubicBezTo>
                    <a:pt x="2834640" y="629412"/>
                    <a:pt x="2769108" y="694944"/>
                    <a:pt x="2688336" y="694944"/>
                  </a:cubicBezTo>
                  <a:lnTo>
                    <a:pt x="146304" y="694944"/>
                  </a:lnTo>
                  <a:cubicBezTo>
                    <a:pt x="65532" y="694944"/>
                    <a:pt x="0" y="629412"/>
                    <a:pt x="0" y="548640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3538728" y="7145655"/>
            <a:ext cx="2125980" cy="637413"/>
            <a:chOff x="0" y="0"/>
            <a:chExt cx="2834640" cy="8498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834640" cy="849884"/>
            </a:xfrm>
            <a:custGeom>
              <a:avLst/>
              <a:gdLst/>
              <a:ahLst/>
              <a:cxnLst/>
              <a:rect r="r" b="b" t="t" l="l"/>
              <a:pathLst>
                <a:path h="849884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104" r="0" b="-5873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283464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 spc="6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Metadata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491859" y="2530792"/>
            <a:ext cx="5285994" cy="5505450"/>
            <a:chOff x="0" y="0"/>
            <a:chExt cx="7047992" cy="7340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047992" cy="7340600"/>
            </a:xfrm>
            <a:custGeom>
              <a:avLst/>
              <a:gdLst/>
              <a:ahLst/>
              <a:cxnLst/>
              <a:rect r="r" b="b" t="t" l="l"/>
              <a:pathLst>
                <a:path h="7340600" w="7047992">
                  <a:moveTo>
                    <a:pt x="0" y="183515"/>
                  </a:moveTo>
                  <a:cubicBezTo>
                    <a:pt x="0" y="82169"/>
                    <a:pt x="82169" y="0"/>
                    <a:pt x="183515" y="0"/>
                  </a:cubicBezTo>
                  <a:lnTo>
                    <a:pt x="6864477" y="0"/>
                  </a:lnTo>
                  <a:cubicBezTo>
                    <a:pt x="6965823" y="0"/>
                    <a:pt x="7047992" y="82169"/>
                    <a:pt x="7047992" y="183515"/>
                  </a:cubicBezTo>
                  <a:lnTo>
                    <a:pt x="7047992" y="7157085"/>
                  </a:lnTo>
                  <a:cubicBezTo>
                    <a:pt x="7047992" y="7258431"/>
                    <a:pt x="6965823" y="7340600"/>
                    <a:pt x="6864477" y="7340600"/>
                  </a:cubicBezTo>
                  <a:lnTo>
                    <a:pt x="183515" y="7340600"/>
                  </a:lnTo>
                  <a:cubicBezTo>
                    <a:pt x="82169" y="7340600"/>
                    <a:pt x="0" y="7258431"/>
                    <a:pt x="0" y="715708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6506171" y="2530792"/>
            <a:ext cx="103962" cy="5465445"/>
            <a:chOff x="0" y="0"/>
            <a:chExt cx="128016" cy="672998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28016" cy="6729984"/>
            </a:xfrm>
            <a:custGeom>
              <a:avLst/>
              <a:gdLst/>
              <a:ahLst/>
              <a:cxnLst/>
              <a:rect r="r" b="b" t="t" l="l"/>
              <a:pathLst>
                <a:path h="6729984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6665976"/>
                  </a:lnTo>
                  <a:cubicBezTo>
                    <a:pt x="128016" y="6701282"/>
                    <a:pt x="99314" y="6729984"/>
                    <a:pt x="64008" y="6729984"/>
                  </a:cubicBezTo>
                  <a:cubicBezTo>
                    <a:pt x="28702" y="6729984"/>
                    <a:pt x="0" y="6701282"/>
                    <a:pt x="0" y="6665976"/>
                  </a:cubicBezTo>
                  <a:close/>
                </a:path>
              </a:pathLst>
            </a:custGeom>
            <a:solidFill>
              <a:srgbClr val="2E9F6E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6912864" y="2883217"/>
            <a:ext cx="685800" cy="685800"/>
            <a:chOff x="0" y="0"/>
            <a:chExt cx="914400" cy="9144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E9F6E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6912864" y="2848165"/>
            <a:ext cx="685800" cy="755904"/>
            <a:chOff x="0" y="0"/>
            <a:chExt cx="914400" cy="100787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914400" cy="1007872"/>
            </a:xfrm>
            <a:custGeom>
              <a:avLst/>
              <a:gdLst/>
              <a:ahLst/>
              <a:cxnLst/>
              <a:rect r="r" b="b" t="t" l="l"/>
              <a:pathLst>
                <a:path h="1007872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927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91440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 spc="7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02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7804404" y="2803779"/>
            <a:ext cx="3689604" cy="844677"/>
            <a:chOff x="0" y="0"/>
            <a:chExt cx="4919472" cy="112623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919472" cy="1126236"/>
            </a:xfrm>
            <a:custGeom>
              <a:avLst/>
              <a:gdLst/>
              <a:ahLst/>
              <a:cxnLst/>
              <a:rect r="r" b="b" t="t" l="l"/>
              <a:pathLst>
                <a:path h="1126236" w="4919472">
                  <a:moveTo>
                    <a:pt x="0" y="0"/>
                  </a:moveTo>
                  <a:lnTo>
                    <a:pt x="4919472" y="0"/>
                  </a:lnTo>
                  <a:lnTo>
                    <a:pt x="4919472" y="1126236"/>
                  </a:lnTo>
                  <a:lnTo>
                    <a:pt x="0" y="11262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4516" r="0" b="-25707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19050"/>
              <a:ext cx="4919472" cy="11071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9"/>
                </a:lnSpc>
              </a:pPr>
              <a:r>
                <a:rPr lang="en-US" b="true" sz="2175" spc="8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Marketplace Skill 공유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912864" y="4081462"/>
            <a:ext cx="4443984" cy="1371600"/>
            <a:chOff x="0" y="0"/>
            <a:chExt cx="5925312" cy="18288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925312" cy="1828800"/>
            </a:xfrm>
            <a:custGeom>
              <a:avLst/>
              <a:gdLst/>
              <a:ahLst/>
              <a:cxnLst/>
              <a:rect r="r" b="b" t="t" l="l"/>
              <a:pathLst>
                <a:path h="1828800" w="5925312">
                  <a:moveTo>
                    <a:pt x="0" y="0"/>
                  </a:moveTo>
                  <a:lnTo>
                    <a:pt x="5925312" y="0"/>
                  </a:lnTo>
                  <a:lnTo>
                    <a:pt x="5925312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131" r="0" b="-13131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28575"/>
              <a:ext cx="5925312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18"/>
                </a:lnSpc>
              </a:pPr>
              <a:r>
                <a:rPr lang="en-US" sz="1725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도메인 전문가가 검토한 Skill을</a:t>
              </a:r>
            </a:p>
            <a:p>
              <a:pPr algn="l">
                <a:lnSpc>
                  <a:spcPts val="2318"/>
                </a:lnSpc>
              </a:pPr>
              <a:r>
                <a:rPr lang="en-US" sz="1725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Marketplace에 등록해</a:t>
              </a:r>
            </a:p>
            <a:p>
              <a:pPr algn="l">
                <a:lnSpc>
                  <a:spcPts val="2318"/>
                </a:lnSpc>
              </a:pPr>
              <a:r>
                <a:rPr lang="en-US" sz="1725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팀 전체가 재사용한다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7324344" y="5900737"/>
            <a:ext cx="822960" cy="822960"/>
            <a:chOff x="0" y="0"/>
            <a:chExt cx="1097280" cy="109728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7480706" y="6057100"/>
            <a:ext cx="510235" cy="510235"/>
            <a:chOff x="0" y="0"/>
            <a:chExt cx="680314" cy="680314"/>
          </a:xfrm>
        </p:grpSpPr>
        <p:sp>
          <p:nvSpPr>
            <p:cNvPr name="Freeform 56" id="56" descr="icons/person.png"/>
            <p:cNvSpPr/>
            <p:nvPr/>
          </p:nvSpPr>
          <p:spPr>
            <a:xfrm flipH="false" flipV="false" rot="0">
              <a:off x="0" y="0"/>
              <a:ext cx="680339" cy="680339"/>
            </a:xfrm>
            <a:custGeom>
              <a:avLst/>
              <a:gdLst/>
              <a:ahLst/>
              <a:cxnLst/>
              <a:rect r="r" b="b" t="t" l="l"/>
              <a:pathLst>
                <a:path h="680339" w="680339">
                  <a:moveTo>
                    <a:pt x="0" y="0"/>
                  </a:moveTo>
                  <a:lnTo>
                    <a:pt x="680339" y="0"/>
                  </a:lnTo>
                  <a:lnTo>
                    <a:pt x="680339" y="680339"/>
                  </a:lnTo>
                  <a:lnTo>
                    <a:pt x="0" y="680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3" b="3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8161020" y="5729287"/>
            <a:ext cx="548640" cy="1165860"/>
            <a:chOff x="0" y="0"/>
            <a:chExt cx="731520" cy="15544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31520" cy="1554480"/>
            </a:xfrm>
            <a:custGeom>
              <a:avLst/>
              <a:gdLst/>
              <a:ahLst/>
              <a:cxnLst/>
              <a:rect r="r" b="b" t="t" l="l"/>
              <a:pathLst>
                <a:path h="155448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41176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9525"/>
              <a:ext cx="731520" cy="15640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spc="11">
                  <a:solidFill>
                    <a:srgbClr val="1F7A5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›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8723376" y="5900737"/>
            <a:ext cx="822960" cy="822960"/>
            <a:chOff x="0" y="0"/>
            <a:chExt cx="1097280" cy="109728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8879738" y="6057100"/>
            <a:ext cx="510235" cy="510235"/>
            <a:chOff x="0" y="0"/>
            <a:chExt cx="680314" cy="680314"/>
          </a:xfrm>
        </p:grpSpPr>
        <p:sp>
          <p:nvSpPr>
            <p:cNvPr name="Freeform 63" id="63" descr="icons/team.png"/>
            <p:cNvSpPr/>
            <p:nvPr/>
          </p:nvSpPr>
          <p:spPr>
            <a:xfrm flipH="false" flipV="false" rot="0">
              <a:off x="0" y="0"/>
              <a:ext cx="680339" cy="680339"/>
            </a:xfrm>
            <a:custGeom>
              <a:avLst/>
              <a:gdLst/>
              <a:ahLst/>
              <a:cxnLst/>
              <a:rect r="r" b="b" t="t" l="l"/>
              <a:pathLst>
                <a:path h="680339" w="680339">
                  <a:moveTo>
                    <a:pt x="0" y="0"/>
                  </a:moveTo>
                  <a:lnTo>
                    <a:pt x="680339" y="0"/>
                  </a:lnTo>
                  <a:lnTo>
                    <a:pt x="680339" y="680339"/>
                  </a:lnTo>
                  <a:lnTo>
                    <a:pt x="0" y="680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3" b="3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9560052" y="5729287"/>
            <a:ext cx="548640" cy="1165860"/>
            <a:chOff x="0" y="0"/>
            <a:chExt cx="731520" cy="155448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731520" cy="1554480"/>
            </a:xfrm>
            <a:custGeom>
              <a:avLst/>
              <a:gdLst/>
              <a:ahLst/>
              <a:cxnLst/>
              <a:rect r="r" b="b" t="t" l="l"/>
              <a:pathLst>
                <a:path h="155448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41176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9525"/>
              <a:ext cx="731520" cy="15640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spc="11">
                  <a:solidFill>
                    <a:srgbClr val="1F7A5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›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0122408" y="5900737"/>
            <a:ext cx="822960" cy="822960"/>
            <a:chOff x="0" y="0"/>
            <a:chExt cx="1097280" cy="109728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0263683" y="6057100"/>
            <a:ext cx="510235" cy="510235"/>
            <a:chOff x="0" y="0"/>
            <a:chExt cx="680314" cy="680314"/>
          </a:xfrm>
        </p:grpSpPr>
        <p:sp>
          <p:nvSpPr>
            <p:cNvPr name="Freeform 70" id="70" descr="icons/share.png"/>
            <p:cNvSpPr/>
            <p:nvPr/>
          </p:nvSpPr>
          <p:spPr>
            <a:xfrm flipH="false" flipV="false" rot="0">
              <a:off x="0" y="0"/>
              <a:ext cx="680339" cy="680339"/>
            </a:xfrm>
            <a:custGeom>
              <a:avLst/>
              <a:gdLst/>
              <a:ahLst/>
              <a:cxnLst/>
              <a:rect r="r" b="b" t="t" l="l"/>
              <a:pathLst>
                <a:path h="680339" w="680339">
                  <a:moveTo>
                    <a:pt x="0" y="0"/>
                  </a:moveTo>
                  <a:lnTo>
                    <a:pt x="680339" y="0"/>
                  </a:lnTo>
                  <a:lnTo>
                    <a:pt x="680339" y="680339"/>
                  </a:lnTo>
                  <a:lnTo>
                    <a:pt x="0" y="680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3" b="3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6926580" y="7203757"/>
            <a:ext cx="2125980" cy="521208"/>
            <a:chOff x="0" y="0"/>
            <a:chExt cx="2834640" cy="694944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834640" cy="694944"/>
            </a:xfrm>
            <a:custGeom>
              <a:avLst/>
              <a:gdLst/>
              <a:ahLst/>
              <a:cxnLst/>
              <a:rect r="r" b="b" t="t" l="l"/>
              <a:pathLst>
                <a:path h="694944" w="283464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688336" y="0"/>
                  </a:lnTo>
                  <a:cubicBezTo>
                    <a:pt x="2769108" y="0"/>
                    <a:pt x="2834640" y="65532"/>
                    <a:pt x="2834640" y="146304"/>
                  </a:cubicBezTo>
                  <a:lnTo>
                    <a:pt x="2834640" y="548640"/>
                  </a:lnTo>
                  <a:cubicBezTo>
                    <a:pt x="2834640" y="629412"/>
                    <a:pt x="2769108" y="694944"/>
                    <a:pt x="2688336" y="694944"/>
                  </a:cubicBezTo>
                  <a:lnTo>
                    <a:pt x="146304" y="694944"/>
                  </a:lnTo>
                  <a:cubicBezTo>
                    <a:pt x="65532" y="694944"/>
                    <a:pt x="0" y="629412"/>
                    <a:pt x="0" y="548640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6926580" y="7145655"/>
            <a:ext cx="2125980" cy="637413"/>
            <a:chOff x="0" y="0"/>
            <a:chExt cx="2834640" cy="84988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834640" cy="849884"/>
            </a:xfrm>
            <a:custGeom>
              <a:avLst/>
              <a:gdLst/>
              <a:ahLst/>
              <a:cxnLst/>
              <a:rect r="r" b="b" t="t" l="l"/>
              <a:pathLst>
                <a:path h="849884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104" r="0" b="-5873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0"/>
              <a:ext cx="283464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 spc="6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Skill Catalog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9217152" y="7203757"/>
            <a:ext cx="2125980" cy="521208"/>
            <a:chOff x="0" y="0"/>
            <a:chExt cx="2834640" cy="694944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2834640" cy="694944"/>
            </a:xfrm>
            <a:custGeom>
              <a:avLst/>
              <a:gdLst/>
              <a:ahLst/>
              <a:cxnLst/>
              <a:rect r="r" b="b" t="t" l="l"/>
              <a:pathLst>
                <a:path h="694944" w="283464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688336" y="0"/>
                  </a:lnTo>
                  <a:cubicBezTo>
                    <a:pt x="2769108" y="0"/>
                    <a:pt x="2834640" y="65532"/>
                    <a:pt x="2834640" y="146304"/>
                  </a:cubicBezTo>
                  <a:lnTo>
                    <a:pt x="2834640" y="548640"/>
                  </a:lnTo>
                  <a:cubicBezTo>
                    <a:pt x="2834640" y="629412"/>
                    <a:pt x="2769108" y="694944"/>
                    <a:pt x="2688336" y="694944"/>
                  </a:cubicBezTo>
                  <a:lnTo>
                    <a:pt x="146304" y="694944"/>
                  </a:lnTo>
                  <a:cubicBezTo>
                    <a:pt x="65532" y="694944"/>
                    <a:pt x="0" y="629412"/>
                    <a:pt x="0" y="548640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9217152" y="7145655"/>
            <a:ext cx="2125980" cy="637413"/>
            <a:chOff x="0" y="0"/>
            <a:chExt cx="2834640" cy="849884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2834640" cy="849884"/>
            </a:xfrm>
            <a:custGeom>
              <a:avLst/>
              <a:gdLst/>
              <a:ahLst/>
              <a:cxnLst/>
              <a:rect r="r" b="b" t="t" l="l"/>
              <a:pathLst>
                <a:path h="849884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104" r="0" b="-5873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0"/>
              <a:ext cx="283464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 spc="6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Marketplace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170283" y="2530792"/>
            <a:ext cx="5285994" cy="5505450"/>
            <a:chOff x="0" y="0"/>
            <a:chExt cx="7047992" cy="734060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7047992" cy="7340600"/>
            </a:xfrm>
            <a:custGeom>
              <a:avLst/>
              <a:gdLst/>
              <a:ahLst/>
              <a:cxnLst/>
              <a:rect r="r" b="b" t="t" l="l"/>
              <a:pathLst>
                <a:path h="7340600" w="7047992">
                  <a:moveTo>
                    <a:pt x="0" y="183515"/>
                  </a:moveTo>
                  <a:cubicBezTo>
                    <a:pt x="0" y="82169"/>
                    <a:pt x="82169" y="0"/>
                    <a:pt x="183515" y="0"/>
                  </a:cubicBezTo>
                  <a:lnTo>
                    <a:pt x="6864477" y="0"/>
                  </a:lnTo>
                  <a:cubicBezTo>
                    <a:pt x="6965823" y="0"/>
                    <a:pt x="7047992" y="82169"/>
                    <a:pt x="7047992" y="183515"/>
                  </a:cubicBezTo>
                  <a:lnTo>
                    <a:pt x="7047992" y="7157085"/>
                  </a:lnTo>
                  <a:cubicBezTo>
                    <a:pt x="7047992" y="7258431"/>
                    <a:pt x="6965823" y="7340600"/>
                    <a:pt x="6864477" y="7340600"/>
                  </a:cubicBezTo>
                  <a:lnTo>
                    <a:pt x="183515" y="7340600"/>
                  </a:lnTo>
                  <a:cubicBezTo>
                    <a:pt x="82169" y="7340600"/>
                    <a:pt x="0" y="7258431"/>
                    <a:pt x="0" y="715708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83" id="83"/>
          <p:cNvGrpSpPr/>
          <p:nvPr/>
        </p:nvGrpSpPr>
        <p:grpSpPr>
          <a:xfrm rot="0">
            <a:off x="12183834" y="2530792"/>
            <a:ext cx="104723" cy="5505450"/>
            <a:chOff x="0" y="0"/>
            <a:chExt cx="128016" cy="6729984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128016" cy="6729984"/>
            </a:xfrm>
            <a:custGeom>
              <a:avLst/>
              <a:gdLst/>
              <a:ahLst/>
              <a:cxnLst/>
              <a:rect r="r" b="b" t="t" l="l"/>
              <a:pathLst>
                <a:path h="6729984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6665976"/>
                  </a:lnTo>
                  <a:cubicBezTo>
                    <a:pt x="128016" y="6701282"/>
                    <a:pt x="99314" y="6729984"/>
                    <a:pt x="64008" y="6729984"/>
                  </a:cubicBezTo>
                  <a:cubicBezTo>
                    <a:pt x="28702" y="6729984"/>
                    <a:pt x="0" y="6701282"/>
                    <a:pt x="0" y="6665976"/>
                  </a:cubicBezTo>
                  <a:close/>
                </a:path>
              </a:pathLst>
            </a:custGeom>
            <a:solidFill>
              <a:srgbClr val="E45D32"/>
            </a:solid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591288" y="2883217"/>
            <a:ext cx="685800" cy="685800"/>
            <a:chOff x="0" y="0"/>
            <a:chExt cx="914400" cy="91440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45D32"/>
            </a:solidFill>
          </p:spPr>
        </p:sp>
      </p:grpSp>
      <p:grpSp>
        <p:nvGrpSpPr>
          <p:cNvPr name="Group 87" id="87"/>
          <p:cNvGrpSpPr/>
          <p:nvPr/>
        </p:nvGrpSpPr>
        <p:grpSpPr>
          <a:xfrm rot="0">
            <a:off x="12591288" y="2848165"/>
            <a:ext cx="685800" cy="755904"/>
            <a:chOff x="0" y="0"/>
            <a:chExt cx="914400" cy="1007872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914400" cy="1007872"/>
            </a:xfrm>
            <a:custGeom>
              <a:avLst/>
              <a:gdLst/>
              <a:ahLst/>
              <a:cxnLst/>
              <a:rect r="r" b="b" t="t" l="l"/>
              <a:pathLst>
                <a:path h="1007872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9274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0"/>
              <a:ext cx="91440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 spc="7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03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3482828" y="2681668"/>
            <a:ext cx="3689604" cy="1159002"/>
            <a:chOff x="0" y="0"/>
            <a:chExt cx="4919472" cy="1545336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919472" cy="1545336"/>
            </a:xfrm>
            <a:custGeom>
              <a:avLst/>
              <a:gdLst/>
              <a:ahLst/>
              <a:cxnLst/>
              <a:rect r="r" b="b" t="t" l="l"/>
              <a:pathLst>
                <a:path h="1545336" w="4919472">
                  <a:moveTo>
                    <a:pt x="0" y="0"/>
                  </a:moveTo>
                  <a:lnTo>
                    <a:pt x="4919472" y="0"/>
                  </a:lnTo>
                  <a:lnTo>
                    <a:pt x="4919472" y="1545336"/>
                  </a:lnTo>
                  <a:lnTo>
                    <a:pt x="0" y="15453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43" r="0" b="8384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19050"/>
              <a:ext cx="4919472" cy="15262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79"/>
                </a:lnSpc>
              </a:pPr>
              <a:r>
                <a:rPr lang="en-US" b="true" sz="2175" spc="8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자연어 기반 Workflow 생성·실행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12591288" y="4026789"/>
            <a:ext cx="4443984" cy="1371600"/>
            <a:chOff x="0" y="0"/>
            <a:chExt cx="5925312" cy="182880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5925312" cy="1828800"/>
            </a:xfrm>
            <a:custGeom>
              <a:avLst/>
              <a:gdLst/>
              <a:ahLst/>
              <a:cxnLst/>
              <a:rect r="r" b="b" t="t" l="l"/>
              <a:pathLst>
                <a:path h="1828800" w="5925312">
                  <a:moveTo>
                    <a:pt x="0" y="0"/>
                  </a:moveTo>
                  <a:lnTo>
                    <a:pt x="5925312" y="0"/>
                  </a:lnTo>
                  <a:lnTo>
                    <a:pt x="5925312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131" r="0" b="-13131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28575"/>
              <a:ext cx="5925312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18"/>
                </a:lnSpc>
              </a:pPr>
              <a:r>
                <a:rPr lang="en-US" sz="1725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사용자는 자연어로 목표를 말하고</a:t>
              </a:r>
            </a:p>
            <a:p>
              <a:pPr algn="l">
                <a:lnSpc>
                  <a:spcPts val="2318"/>
                </a:lnSpc>
              </a:pPr>
              <a:r>
                <a:rPr lang="en-US" sz="1725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AI는 Skill과 Node를 조합해</a:t>
              </a:r>
            </a:p>
            <a:p>
              <a:pPr algn="l">
                <a:lnSpc>
                  <a:spcPts val="2318"/>
                </a:lnSpc>
              </a:pPr>
              <a:r>
                <a:rPr lang="en-US" sz="1725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Workflow를 생성·실행한다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13002768" y="5900737"/>
            <a:ext cx="822960" cy="822960"/>
            <a:chOff x="0" y="0"/>
            <a:chExt cx="1097280" cy="109728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FBEAE3"/>
            </a:solidFill>
          </p:spPr>
        </p:sp>
      </p:grpSp>
      <p:grpSp>
        <p:nvGrpSpPr>
          <p:cNvPr name="Group 98" id="98"/>
          <p:cNvGrpSpPr/>
          <p:nvPr/>
        </p:nvGrpSpPr>
        <p:grpSpPr>
          <a:xfrm rot="0">
            <a:off x="13159130" y="6057100"/>
            <a:ext cx="510235" cy="510235"/>
            <a:chOff x="0" y="0"/>
            <a:chExt cx="680314" cy="680314"/>
          </a:xfrm>
        </p:grpSpPr>
        <p:sp>
          <p:nvSpPr>
            <p:cNvPr name="Freeform 99" id="99" descr="icons/chat.png"/>
            <p:cNvSpPr/>
            <p:nvPr/>
          </p:nvSpPr>
          <p:spPr>
            <a:xfrm flipH="false" flipV="false" rot="0">
              <a:off x="0" y="0"/>
              <a:ext cx="680339" cy="680339"/>
            </a:xfrm>
            <a:custGeom>
              <a:avLst/>
              <a:gdLst/>
              <a:ahLst/>
              <a:cxnLst/>
              <a:rect r="r" b="b" t="t" l="l"/>
              <a:pathLst>
                <a:path h="680339" w="680339">
                  <a:moveTo>
                    <a:pt x="0" y="0"/>
                  </a:moveTo>
                  <a:lnTo>
                    <a:pt x="680339" y="0"/>
                  </a:lnTo>
                  <a:lnTo>
                    <a:pt x="680339" y="680339"/>
                  </a:lnTo>
                  <a:lnTo>
                    <a:pt x="0" y="680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3" b="3"/>
              </a:stretch>
            </a:blip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13839444" y="5660707"/>
            <a:ext cx="548640" cy="1165860"/>
            <a:chOff x="0" y="0"/>
            <a:chExt cx="731520" cy="155448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731520" cy="1554480"/>
            </a:xfrm>
            <a:custGeom>
              <a:avLst/>
              <a:gdLst/>
              <a:ahLst/>
              <a:cxnLst/>
              <a:rect r="r" b="b" t="t" l="l"/>
              <a:pathLst>
                <a:path h="155448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41176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9525"/>
              <a:ext cx="731520" cy="15640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spc="11">
                  <a:solidFill>
                    <a:srgbClr val="C94A2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›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14401800" y="5900737"/>
            <a:ext cx="822960" cy="822960"/>
            <a:chOff x="0" y="0"/>
            <a:chExt cx="1097280" cy="109728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FBEAE3"/>
            </a:solidFill>
          </p:spPr>
        </p:sp>
      </p:grpSp>
      <p:grpSp>
        <p:nvGrpSpPr>
          <p:cNvPr name="Group 105" id="105"/>
          <p:cNvGrpSpPr/>
          <p:nvPr/>
        </p:nvGrpSpPr>
        <p:grpSpPr>
          <a:xfrm rot="0">
            <a:off x="14539112" y="6057100"/>
            <a:ext cx="510235" cy="510235"/>
            <a:chOff x="0" y="0"/>
            <a:chExt cx="680314" cy="680314"/>
          </a:xfrm>
        </p:grpSpPr>
        <p:sp>
          <p:nvSpPr>
            <p:cNvPr name="Freeform 106" id="106" descr="icons/flow.png"/>
            <p:cNvSpPr/>
            <p:nvPr/>
          </p:nvSpPr>
          <p:spPr>
            <a:xfrm flipH="false" flipV="false" rot="0">
              <a:off x="0" y="0"/>
              <a:ext cx="680339" cy="680339"/>
            </a:xfrm>
            <a:custGeom>
              <a:avLst/>
              <a:gdLst/>
              <a:ahLst/>
              <a:cxnLst/>
              <a:rect r="r" b="b" t="t" l="l"/>
              <a:pathLst>
                <a:path h="680339" w="680339">
                  <a:moveTo>
                    <a:pt x="0" y="0"/>
                  </a:moveTo>
                  <a:lnTo>
                    <a:pt x="680339" y="0"/>
                  </a:lnTo>
                  <a:lnTo>
                    <a:pt x="680339" y="680339"/>
                  </a:lnTo>
                  <a:lnTo>
                    <a:pt x="0" y="680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3" b="3"/>
              </a:stretch>
            </a:blip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5238476" y="5660707"/>
            <a:ext cx="548640" cy="1165860"/>
            <a:chOff x="0" y="0"/>
            <a:chExt cx="731520" cy="1554480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731520" cy="1554480"/>
            </a:xfrm>
            <a:custGeom>
              <a:avLst/>
              <a:gdLst/>
              <a:ahLst/>
              <a:cxnLst/>
              <a:rect r="r" b="b" t="t" l="l"/>
              <a:pathLst>
                <a:path h="155448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41176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-9525"/>
              <a:ext cx="731520" cy="15640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spc="11">
                  <a:solidFill>
                    <a:srgbClr val="C94A2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›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15800832" y="5900737"/>
            <a:ext cx="822960" cy="822960"/>
            <a:chOff x="0" y="0"/>
            <a:chExt cx="1097280" cy="1097280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548640"/>
                  </a:moveTo>
                  <a:cubicBezTo>
                    <a:pt x="0" y="245618"/>
                    <a:pt x="245618" y="0"/>
                    <a:pt x="548640" y="0"/>
                  </a:cubicBezTo>
                  <a:cubicBezTo>
                    <a:pt x="851662" y="0"/>
                    <a:pt x="1097280" y="245618"/>
                    <a:pt x="1097280" y="548640"/>
                  </a:cubicBezTo>
                  <a:cubicBezTo>
                    <a:pt x="1097280" y="851662"/>
                    <a:pt x="851662" y="1097280"/>
                    <a:pt x="548640" y="1097280"/>
                  </a:cubicBezTo>
                  <a:cubicBezTo>
                    <a:pt x="245618" y="1097280"/>
                    <a:pt x="0" y="851662"/>
                    <a:pt x="0" y="548640"/>
                  </a:cubicBezTo>
                  <a:close/>
                </a:path>
              </a:pathLst>
            </a:custGeom>
            <a:solidFill>
              <a:srgbClr val="FBEAE3"/>
            </a:solid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5957194" y="6057100"/>
            <a:ext cx="510235" cy="510235"/>
            <a:chOff x="0" y="0"/>
            <a:chExt cx="680314" cy="680314"/>
          </a:xfrm>
        </p:grpSpPr>
        <p:sp>
          <p:nvSpPr>
            <p:cNvPr name="Freeform 113" id="113" descr="icons/run.png"/>
            <p:cNvSpPr/>
            <p:nvPr/>
          </p:nvSpPr>
          <p:spPr>
            <a:xfrm flipH="false" flipV="false" rot="0">
              <a:off x="0" y="0"/>
              <a:ext cx="680339" cy="680339"/>
            </a:xfrm>
            <a:custGeom>
              <a:avLst/>
              <a:gdLst/>
              <a:ahLst/>
              <a:cxnLst/>
              <a:rect r="r" b="b" t="t" l="l"/>
              <a:pathLst>
                <a:path h="680339" w="680339">
                  <a:moveTo>
                    <a:pt x="0" y="0"/>
                  </a:moveTo>
                  <a:lnTo>
                    <a:pt x="680339" y="0"/>
                  </a:lnTo>
                  <a:lnTo>
                    <a:pt x="680339" y="680339"/>
                  </a:lnTo>
                  <a:lnTo>
                    <a:pt x="0" y="680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3" b="3"/>
              </a:stretch>
            </a:blip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2344400" y="7203757"/>
            <a:ext cx="1536192" cy="521208"/>
            <a:chOff x="0" y="0"/>
            <a:chExt cx="2048256" cy="694944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2048256" cy="694944"/>
            </a:xfrm>
            <a:custGeom>
              <a:avLst/>
              <a:gdLst/>
              <a:ahLst/>
              <a:cxnLst/>
              <a:rect r="r" b="b" t="t" l="l"/>
              <a:pathLst>
                <a:path h="694944" w="20482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901952" y="0"/>
                  </a:lnTo>
                  <a:cubicBezTo>
                    <a:pt x="1982724" y="0"/>
                    <a:pt x="2048256" y="65532"/>
                    <a:pt x="2048256" y="146304"/>
                  </a:cubicBezTo>
                  <a:lnTo>
                    <a:pt x="2048256" y="548640"/>
                  </a:lnTo>
                  <a:cubicBezTo>
                    <a:pt x="2048256" y="629412"/>
                    <a:pt x="1982724" y="694944"/>
                    <a:pt x="1901952" y="694944"/>
                  </a:cubicBezTo>
                  <a:lnTo>
                    <a:pt x="146304" y="694944"/>
                  </a:lnTo>
                  <a:cubicBezTo>
                    <a:pt x="65532" y="694944"/>
                    <a:pt x="0" y="629412"/>
                    <a:pt x="0" y="548640"/>
                  </a:cubicBezTo>
                  <a:close/>
                </a:path>
              </a:pathLst>
            </a:custGeom>
            <a:solidFill>
              <a:srgbClr val="FBEAE3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2344400" y="7203757"/>
            <a:ext cx="1536192" cy="546164"/>
            <a:chOff x="0" y="0"/>
            <a:chExt cx="2048256" cy="72821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048256" cy="728218"/>
            </a:xfrm>
            <a:custGeom>
              <a:avLst/>
              <a:gdLst/>
              <a:ahLst/>
              <a:cxnLst/>
              <a:rect r="r" b="b" t="t" l="l"/>
              <a:pathLst>
                <a:path h="728218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728218"/>
                  </a:lnTo>
                  <a:lnTo>
                    <a:pt x="0" y="7282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090" r="0" b="-2520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0"/>
              <a:ext cx="2048256" cy="728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b="true" sz="1425" spc="5">
                  <a:solidFill>
                    <a:srgbClr val="C94A2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Workflow Draft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4045184" y="7203757"/>
            <a:ext cx="1536192" cy="521208"/>
            <a:chOff x="0" y="0"/>
            <a:chExt cx="2048256" cy="694944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2048256" cy="694944"/>
            </a:xfrm>
            <a:custGeom>
              <a:avLst/>
              <a:gdLst/>
              <a:ahLst/>
              <a:cxnLst/>
              <a:rect r="r" b="b" t="t" l="l"/>
              <a:pathLst>
                <a:path h="694944" w="20482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901952" y="0"/>
                  </a:lnTo>
                  <a:cubicBezTo>
                    <a:pt x="1982724" y="0"/>
                    <a:pt x="2048256" y="65532"/>
                    <a:pt x="2048256" y="146304"/>
                  </a:cubicBezTo>
                  <a:lnTo>
                    <a:pt x="2048256" y="548640"/>
                  </a:lnTo>
                  <a:cubicBezTo>
                    <a:pt x="2048256" y="629412"/>
                    <a:pt x="1982724" y="694944"/>
                    <a:pt x="1901952" y="694944"/>
                  </a:cubicBezTo>
                  <a:lnTo>
                    <a:pt x="146304" y="694944"/>
                  </a:lnTo>
                  <a:cubicBezTo>
                    <a:pt x="65532" y="694944"/>
                    <a:pt x="0" y="629412"/>
                    <a:pt x="0" y="548640"/>
                  </a:cubicBezTo>
                  <a:close/>
                </a:path>
              </a:pathLst>
            </a:custGeom>
            <a:solidFill>
              <a:srgbClr val="FBEAE3"/>
            </a:solidFill>
          </p:spPr>
        </p:sp>
      </p:grpSp>
      <p:grpSp>
        <p:nvGrpSpPr>
          <p:cNvPr name="Group 121" id="121"/>
          <p:cNvGrpSpPr/>
          <p:nvPr/>
        </p:nvGrpSpPr>
        <p:grpSpPr>
          <a:xfrm rot="0">
            <a:off x="14045184" y="7203757"/>
            <a:ext cx="1536192" cy="546164"/>
            <a:chOff x="0" y="0"/>
            <a:chExt cx="2048256" cy="728218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2048256" cy="728218"/>
            </a:xfrm>
            <a:custGeom>
              <a:avLst/>
              <a:gdLst/>
              <a:ahLst/>
              <a:cxnLst/>
              <a:rect r="r" b="b" t="t" l="l"/>
              <a:pathLst>
                <a:path h="728218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728218"/>
                  </a:lnTo>
                  <a:lnTo>
                    <a:pt x="0" y="7282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090" r="0" b="-2520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0"/>
              <a:ext cx="2048256" cy="728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b="true" sz="1425" spc="5">
                  <a:solidFill>
                    <a:srgbClr val="C94A2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Run Status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5745968" y="7203757"/>
            <a:ext cx="1536192" cy="521208"/>
            <a:chOff x="0" y="0"/>
            <a:chExt cx="2048256" cy="694944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048256" cy="694944"/>
            </a:xfrm>
            <a:custGeom>
              <a:avLst/>
              <a:gdLst/>
              <a:ahLst/>
              <a:cxnLst/>
              <a:rect r="r" b="b" t="t" l="l"/>
              <a:pathLst>
                <a:path h="694944" w="20482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901952" y="0"/>
                  </a:lnTo>
                  <a:cubicBezTo>
                    <a:pt x="1982724" y="0"/>
                    <a:pt x="2048256" y="65532"/>
                    <a:pt x="2048256" y="146304"/>
                  </a:cubicBezTo>
                  <a:lnTo>
                    <a:pt x="2048256" y="548640"/>
                  </a:lnTo>
                  <a:cubicBezTo>
                    <a:pt x="2048256" y="629412"/>
                    <a:pt x="1982724" y="694944"/>
                    <a:pt x="1901952" y="694944"/>
                  </a:cubicBezTo>
                  <a:lnTo>
                    <a:pt x="146304" y="694944"/>
                  </a:lnTo>
                  <a:cubicBezTo>
                    <a:pt x="65532" y="694944"/>
                    <a:pt x="0" y="629412"/>
                    <a:pt x="0" y="548640"/>
                  </a:cubicBezTo>
                  <a:close/>
                </a:path>
              </a:pathLst>
            </a:custGeom>
            <a:solidFill>
              <a:srgbClr val="FBEAE3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5745968" y="7203757"/>
            <a:ext cx="1536192" cy="546164"/>
            <a:chOff x="0" y="0"/>
            <a:chExt cx="2048256" cy="72821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048256" cy="728218"/>
            </a:xfrm>
            <a:custGeom>
              <a:avLst/>
              <a:gdLst/>
              <a:ahLst/>
              <a:cxnLst/>
              <a:rect r="r" b="b" t="t" l="l"/>
              <a:pathLst>
                <a:path h="728218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728218"/>
                  </a:lnTo>
                  <a:lnTo>
                    <a:pt x="0" y="7282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090" r="0" b="-2520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0"/>
              <a:ext cx="2048256" cy="728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b="true" sz="1425" spc="5">
                  <a:solidFill>
                    <a:srgbClr val="C94A2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SSE Stream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5989701" y="4940617"/>
            <a:ext cx="548640" cy="1165860"/>
            <a:chOff x="0" y="0"/>
            <a:chExt cx="731520" cy="155448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731520" cy="1554480"/>
            </a:xfrm>
            <a:custGeom>
              <a:avLst/>
              <a:gdLst/>
              <a:ahLst/>
              <a:cxnLst/>
              <a:rect r="r" b="b" t="t" l="l"/>
              <a:pathLst>
                <a:path h="155448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41176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9525"/>
              <a:ext cx="731520" cy="15640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spc="11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›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1621643" y="4940617"/>
            <a:ext cx="548640" cy="1165860"/>
            <a:chOff x="0" y="0"/>
            <a:chExt cx="731520" cy="1554480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731520" cy="1554480"/>
            </a:xfrm>
            <a:custGeom>
              <a:avLst/>
              <a:gdLst/>
              <a:ahLst/>
              <a:cxnLst/>
              <a:rect r="r" b="b" t="t" l="l"/>
              <a:pathLst>
                <a:path h="155448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79" t="0" r="-110379" b="41176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9525"/>
              <a:ext cx="731520" cy="15640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spc="11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›</a:t>
              </a:r>
            </a:p>
          </p:txBody>
        </p:sp>
      </p:grpSp>
      <p:grpSp>
        <p:nvGrpSpPr>
          <p:cNvPr name="Group 135" id="135"/>
          <p:cNvGrpSpPr/>
          <p:nvPr/>
        </p:nvGrpSpPr>
        <p:grpSpPr>
          <a:xfrm rot="0">
            <a:off x="822960" y="8301037"/>
            <a:ext cx="16637508" cy="713232"/>
            <a:chOff x="0" y="0"/>
            <a:chExt cx="22183344" cy="950976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22183344" cy="950976"/>
            </a:xfrm>
            <a:custGeom>
              <a:avLst/>
              <a:gdLst/>
              <a:ahLst/>
              <a:cxnLst/>
              <a:rect r="r" b="b" t="t" l="l"/>
              <a:pathLst>
                <a:path h="950976" w="2218334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2000463" y="0"/>
                  </a:lnTo>
                  <a:cubicBezTo>
                    <a:pt x="22101428" y="0"/>
                    <a:pt x="22183344" y="81915"/>
                    <a:pt x="22183344" y="182880"/>
                  </a:cubicBezTo>
                  <a:lnTo>
                    <a:pt x="22183344" y="768096"/>
                  </a:lnTo>
                  <a:cubicBezTo>
                    <a:pt x="22183344" y="869061"/>
                    <a:pt x="22101428" y="950976"/>
                    <a:pt x="22000463" y="950976"/>
                  </a:cubicBezTo>
                  <a:lnTo>
                    <a:pt x="182880" y="950976"/>
                  </a:lnTo>
                  <a:cubicBezTo>
                    <a:pt x="81915" y="950976"/>
                    <a:pt x="0" y="869061"/>
                    <a:pt x="0" y="768096"/>
                  </a:cubicBezTo>
                  <a:close/>
                </a:path>
              </a:pathLst>
            </a:custGeom>
            <a:solidFill>
              <a:srgbClr val="F0ECE2"/>
            </a:solidFill>
          </p:spPr>
        </p:sp>
      </p:grpSp>
      <p:grpSp>
        <p:nvGrpSpPr>
          <p:cNvPr name="Group 137" id="137"/>
          <p:cNvGrpSpPr/>
          <p:nvPr/>
        </p:nvGrpSpPr>
        <p:grpSpPr>
          <a:xfrm rot="0">
            <a:off x="822960" y="8301037"/>
            <a:ext cx="16637508" cy="728663"/>
            <a:chOff x="0" y="0"/>
            <a:chExt cx="22183344" cy="971550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22183344" cy="971550"/>
            </a:xfrm>
            <a:custGeom>
              <a:avLst/>
              <a:gdLst/>
              <a:ahLst/>
              <a:cxnLst/>
              <a:rect r="r" b="b" t="t" l="l"/>
              <a:pathLst>
                <a:path h="971550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971550"/>
                  </a:lnTo>
                  <a:lnTo>
                    <a:pt x="0" y="9715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959" r="0" b="-393841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0"/>
              <a:ext cx="22183344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 spc="7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“업무를 직접 조합하는 사람” 에서 </a:t>
              </a:r>
              <a:r>
                <a:rPr lang="en-US" b="true" sz="1875" spc="7">
                  <a:solidFill>
                    <a:srgbClr val="1B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“노하우를 Skill로 공유하고, 팀 전체의 역량을 높이는 사람”</a:t>
              </a:r>
              <a:r>
                <a:rPr lang="en-US" sz="1875" spc="7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으로 전환</a:t>
              </a:r>
            </a:p>
          </p:txBody>
        </p:sp>
      </p:grpSp>
      <p:sp>
        <p:nvSpPr>
          <p:cNvPr name="TextBox 140" id="140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01</a:t>
            </a:r>
          </a:p>
        </p:txBody>
      </p:sp>
      <p:sp>
        <p:nvSpPr>
          <p:cNvPr name="TextBox 141" id="141"/>
          <p:cNvSpPr txBox="true"/>
          <p:nvPr/>
        </p:nvSpPr>
        <p:spPr>
          <a:xfrm rot="0">
            <a:off x="2180911" y="511178"/>
            <a:ext cx="496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PROJECT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OVERVIEW</a:t>
            </a:r>
          </a:p>
        </p:txBody>
      </p:sp>
      <p:sp>
        <p:nvSpPr>
          <p:cNvPr name="TextBox 142" id="142"/>
          <p:cNvSpPr txBox="true"/>
          <p:nvPr/>
        </p:nvSpPr>
        <p:spPr>
          <a:xfrm rot="0">
            <a:off x="12771140" y="511178"/>
            <a:ext cx="475994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핵심 유저 스토리</a:t>
            </a:r>
          </a:p>
        </p:txBody>
      </p:sp>
      <p:sp>
        <p:nvSpPr>
          <p:cNvPr name="TextBox 143" id="143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06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144" id="144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2127418" y="9608820"/>
            <a:ext cx="17627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문제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정의</a:t>
            </a:r>
          </a:p>
        </p:txBody>
      </p:sp>
      <p:sp>
        <p:nvSpPr>
          <p:cNvPr name="TextBox 146" id="146"/>
          <p:cNvSpPr txBox="true"/>
          <p:nvPr/>
        </p:nvSpPr>
        <p:spPr>
          <a:xfrm rot="0">
            <a:off x="14967870" y="9608820"/>
            <a:ext cx="256738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1 — Project Overview</a:t>
            </a:r>
          </a:p>
        </p:txBody>
      </p:sp>
      <p:sp>
        <p:nvSpPr>
          <p:cNvPr name="TextBox 147" id="147"/>
          <p:cNvSpPr txBox="true"/>
          <p:nvPr/>
        </p:nvSpPr>
        <p:spPr>
          <a:xfrm rot="0">
            <a:off x="787403" y="1111253"/>
            <a:ext cx="9358908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전문가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의 노하우를 팀 전체의 실행 역량으로 확장한다</a:t>
            </a:r>
          </a:p>
        </p:txBody>
      </p:sp>
      <p:sp>
        <p:nvSpPr>
          <p:cNvPr name="TextBox 148" id="148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개인의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업무 방식이 재사용 가능한 Skill이 되고, 팀은 검증된 Skill을 Workflow로 실행한다</a:t>
            </a:r>
          </a:p>
        </p:txBody>
      </p:sp>
      <p:grpSp>
        <p:nvGrpSpPr>
          <p:cNvPr name="Group 149" id="149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01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180911" y="511178"/>
            <a:ext cx="496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PROJECT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OVERVIEW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771140" y="511178"/>
            <a:ext cx="475994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기대효과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07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127418" y="9608820"/>
            <a:ext cx="17627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기대효과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967870" y="9608820"/>
            <a:ext cx="256738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1 — Project Overview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87403" y="1111253"/>
            <a:ext cx="6893004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334155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Agentic AI 기반 업무 자동화  기대효과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국내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정책·적용 자료와 해외 실증연구를 연결해, AX 워크플로우의 생산성 개선 효과를 검증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898398" y="2145301"/>
            <a:ext cx="5285994" cy="5231130"/>
            <a:chOff x="0" y="0"/>
            <a:chExt cx="7047992" cy="69748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047992" cy="6974840"/>
            </a:xfrm>
            <a:custGeom>
              <a:avLst/>
              <a:gdLst/>
              <a:ahLst/>
              <a:cxnLst/>
              <a:rect r="r" b="b" t="t" l="l"/>
              <a:pathLst>
                <a:path h="6974840" w="7047992">
                  <a:moveTo>
                    <a:pt x="0" y="183515"/>
                  </a:moveTo>
                  <a:cubicBezTo>
                    <a:pt x="0" y="82169"/>
                    <a:pt x="82169" y="0"/>
                    <a:pt x="183515" y="0"/>
                  </a:cubicBezTo>
                  <a:lnTo>
                    <a:pt x="6864477" y="0"/>
                  </a:lnTo>
                  <a:cubicBezTo>
                    <a:pt x="6965823" y="0"/>
                    <a:pt x="7047992" y="82169"/>
                    <a:pt x="7047992" y="183515"/>
                  </a:cubicBezTo>
                  <a:lnTo>
                    <a:pt x="7047992" y="6791325"/>
                  </a:lnTo>
                  <a:cubicBezTo>
                    <a:pt x="7047992" y="6892671"/>
                    <a:pt x="6965823" y="6974840"/>
                    <a:pt x="6864477" y="6974840"/>
                  </a:cubicBezTo>
                  <a:lnTo>
                    <a:pt x="183515" y="6974840"/>
                  </a:lnTo>
                  <a:cubicBezTo>
                    <a:pt x="82169" y="6974840"/>
                    <a:pt x="0" y="6892671"/>
                    <a:pt x="0" y="679132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847348" y="2145301"/>
            <a:ext cx="104163" cy="5178376"/>
            <a:chOff x="0" y="0"/>
            <a:chExt cx="128016" cy="636422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8016" cy="6364224"/>
            </a:xfrm>
            <a:custGeom>
              <a:avLst/>
              <a:gdLst/>
              <a:ahLst/>
              <a:cxnLst/>
              <a:rect r="r" b="b" t="t" l="l"/>
              <a:pathLst>
                <a:path h="6364224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6300216"/>
                  </a:lnTo>
                  <a:cubicBezTo>
                    <a:pt x="128016" y="6335522"/>
                    <a:pt x="99314" y="6364224"/>
                    <a:pt x="64008" y="6364224"/>
                  </a:cubicBezTo>
                  <a:cubicBezTo>
                    <a:pt x="28702" y="6364224"/>
                    <a:pt x="0" y="6335522"/>
                    <a:pt x="0" y="6300216"/>
                  </a:cubicBezTo>
                  <a:lnTo>
                    <a:pt x="0" y="64008"/>
                  </a:lnTo>
                  <a:close/>
                </a:path>
              </a:pathLst>
            </a:custGeom>
            <a:solidFill>
              <a:srgbClr val="1B2A4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234440" y="2663571"/>
            <a:ext cx="1988820" cy="493776"/>
            <a:chOff x="0" y="0"/>
            <a:chExt cx="2651760" cy="65836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651760" cy="658368"/>
            </a:xfrm>
            <a:custGeom>
              <a:avLst/>
              <a:gdLst/>
              <a:ahLst/>
              <a:cxnLst/>
              <a:rect r="r" b="b" t="t" l="l"/>
              <a:pathLst>
                <a:path h="658368" w="2651760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lnTo>
                    <a:pt x="2322576" y="0"/>
                  </a:lnTo>
                  <a:cubicBezTo>
                    <a:pt x="2504440" y="0"/>
                    <a:pt x="2651760" y="147320"/>
                    <a:pt x="2651760" y="329184"/>
                  </a:cubicBezTo>
                  <a:cubicBezTo>
                    <a:pt x="2651760" y="511048"/>
                    <a:pt x="2504440" y="658368"/>
                    <a:pt x="2322576" y="658368"/>
                  </a:cubicBezTo>
                  <a:lnTo>
                    <a:pt x="329184" y="658368"/>
                  </a:ln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E7EAEF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211980" y="2575369"/>
            <a:ext cx="1988820" cy="637413"/>
            <a:chOff x="0" y="0"/>
            <a:chExt cx="2651760" cy="8498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651760" cy="849884"/>
            </a:xfrm>
            <a:custGeom>
              <a:avLst/>
              <a:gdLst/>
              <a:ahLst/>
              <a:cxnLst/>
              <a:rect r="r" b="b" t="t" l="l"/>
              <a:pathLst>
                <a:path h="849884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063" r="0" b="47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265176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 spc="6">
                  <a:solidFill>
                    <a:srgbClr val="1B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국내 적용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718304" y="2532507"/>
            <a:ext cx="960120" cy="755904"/>
            <a:chOff x="0" y="0"/>
            <a:chExt cx="1280160" cy="10078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80160" cy="1007872"/>
            </a:xfrm>
            <a:custGeom>
              <a:avLst/>
              <a:gdLst/>
              <a:ahLst/>
              <a:cxnLst/>
              <a:rect r="r" b="b" t="t" l="l"/>
              <a:pathLst>
                <a:path h="1007872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5984" t="0" r="-15984" b="34677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128016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340"/>
                </a:lnSpc>
              </a:pPr>
              <a:r>
                <a:rPr lang="en-US" sz="1950" spc="7">
                  <a:solidFill>
                    <a:srgbClr val="B0ABA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2023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234440" y="2906268"/>
            <a:ext cx="4443984" cy="1511808"/>
            <a:chOff x="0" y="0"/>
            <a:chExt cx="5925312" cy="201574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925312" cy="2015744"/>
            </a:xfrm>
            <a:custGeom>
              <a:avLst/>
              <a:gdLst/>
              <a:ahLst/>
              <a:cxnLst/>
              <a:rect r="r" b="b" t="t" l="l"/>
              <a:pathLst>
                <a:path h="2015744" w="5925312">
                  <a:moveTo>
                    <a:pt x="0" y="0"/>
                  </a:moveTo>
                  <a:lnTo>
                    <a:pt x="5925312" y="0"/>
                  </a:lnTo>
                  <a:lnTo>
                    <a:pt x="5925312" y="2015744"/>
                  </a:lnTo>
                  <a:lnTo>
                    <a:pt x="0" y="20157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326" r="0" b="17773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9525"/>
              <a:ext cx="5925312" cy="200621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b="true" sz="3900" spc="15">
                  <a:solidFill>
                    <a:srgbClr val="1B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NIA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234440" y="3888486"/>
            <a:ext cx="4512564" cy="1114234"/>
            <a:chOff x="0" y="0"/>
            <a:chExt cx="6016752" cy="148564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16752" cy="1485646"/>
            </a:xfrm>
            <a:custGeom>
              <a:avLst/>
              <a:gdLst/>
              <a:ahLst/>
              <a:cxnLst/>
              <a:rect r="r" b="b" t="t" l="l"/>
              <a:pathLst>
                <a:path h="1485646" w="6016752">
                  <a:moveTo>
                    <a:pt x="0" y="0"/>
                  </a:moveTo>
                  <a:lnTo>
                    <a:pt x="6016752" y="0"/>
                  </a:lnTo>
                  <a:lnTo>
                    <a:pt x="6016752" y="1485646"/>
                  </a:lnTo>
                  <a:lnTo>
                    <a:pt x="0" y="14856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752" r="0" b="-17073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28575"/>
              <a:ext cx="6016752" cy="15142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b="true" sz="2025" spc="7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공공분야 생성형 AI</a:t>
              </a:r>
            </a:p>
            <a:p>
              <a:pPr algn="l">
                <a:lnSpc>
                  <a:spcPts val="2673"/>
                </a:lnSpc>
              </a:pPr>
              <a:r>
                <a:rPr lang="en-US" b="true" sz="2025" spc="7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활용 방안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234440" y="4943475"/>
            <a:ext cx="4512564" cy="826770"/>
            <a:chOff x="0" y="0"/>
            <a:chExt cx="6016752" cy="110236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016752" cy="1102360"/>
            </a:xfrm>
            <a:custGeom>
              <a:avLst/>
              <a:gdLst/>
              <a:ahLst/>
              <a:cxnLst/>
              <a:rect r="r" b="b" t="t" l="l"/>
              <a:pathLst>
                <a:path h="1102360" w="6016752">
                  <a:moveTo>
                    <a:pt x="0" y="0"/>
                  </a:moveTo>
                  <a:lnTo>
                    <a:pt x="6016752" y="0"/>
                  </a:lnTo>
                  <a:lnTo>
                    <a:pt x="6016752" y="1102360"/>
                  </a:lnTo>
                  <a:lnTo>
                    <a:pt x="0" y="1102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4875" r="0" b="-47825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6016752" cy="11118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500" spc="5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아이디어 탐색·문서 초안·업무 자동화·민원 응대 등</a:t>
              </a:r>
            </a:p>
            <a:p>
              <a:pPr algn="l">
                <a:lnSpc>
                  <a:spcPts val="1980"/>
                </a:lnSpc>
              </a:pPr>
              <a:r>
                <a:rPr lang="en-US" sz="1500" spc="5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실제 공공업무 적용 영역을 제시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234440" y="5996559"/>
            <a:ext cx="4443984" cy="713232"/>
            <a:chOff x="0" y="0"/>
            <a:chExt cx="5925312" cy="95097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925312" cy="950976"/>
            </a:xfrm>
            <a:custGeom>
              <a:avLst/>
              <a:gdLst/>
              <a:ahLst/>
              <a:cxnLst/>
              <a:rect r="r" b="b" t="t" l="l"/>
              <a:pathLst>
                <a:path h="950976" w="592531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779008" y="0"/>
                  </a:lnTo>
                  <a:cubicBezTo>
                    <a:pt x="5859780" y="0"/>
                    <a:pt x="5925312" y="65532"/>
                    <a:pt x="5925312" y="146304"/>
                  </a:cubicBezTo>
                  <a:lnTo>
                    <a:pt x="5925312" y="804672"/>
                  </a:lnTo>
                  <a:cubicBezTo>
                    <a:pt x="5925312" y="885444"/>
                    <a:pt x="5859780" y="950976"/>
                    <a:pt x="5779008" y="950976"/>
                  </a:cubicBezTo>
                  <a:lnTo>
                    <a:pt x="146304" y="950976"/>
                  </a:lnTo>
                  <a:cubicBezTo>
                    <a:pt x="65532" y="950976"/>
                    <a:pt x="0" y="885444"/>
                    <a:pt x="0" y="804672"/>
                  </a:cubicBezTo>
                  <a:close/>
                </a:path>
              </a:pathLst>
            </a:custGeom>
            <a:solidFill>
              <a:srgbClr val="E7EAEF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234440" y="5880449"/>
            <a:ext cx="4443984" cy="887730"/>
            <a:chOff x="0" y="0"/>
            <a:chExt cx="5925312" cy="11836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925312" cy="1183640"/>
            </a:xfrm>
            <a:custGeom>
              <a:avLst/>
              <a:gdLst/>
              <a:ahLst/>
              <a:cxnLst/>
              <a:rect r="r" b="b" t="t" l="l"/>
              <a:pathLst>
                <a:path h="1183640" w="5925312">
                  <a:moveTo>
                    <a:pt x="0" y="0"/>
                  </a:moveTo>
                  <a:lnTo>
                    <a:pt x="5925312" y="0"/>
                  </a:lnTo>
                  <a:lnTo>
                    <a:pt x="5925312" y="1183640"/>
                  </a:lnTo>
                  <a:lnTo>
                    <a:pt x="0" y="1183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70" r="0" b="-37713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9525"/>
              <a:ext cx="5925312" cy="11741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22"/>
                </a:lnSpc>
              </a:pPr>
              <a:r>
                <a:rPr lang="en-US" b="true" sz="1950" spc="7">
                  <a:solidFill>
                    <a:srgbClr val="1B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효용성과 한계를 함께 진단</a:t>
              </a:r>
            </a:p>
            <a:p>
              <a:pPr algn="ctr">
                <a:lnSpc>
                  <a:spcPts val="1624"/>
                </a:lnSpc>
              </a:pPr>
              <a:r>
                <a:rPr lang="en-US" sz="1425" spc="5">
                  <a:solidFill>
                    <a:srgbClr val="1B2A4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공공 활용 시 고려사항 중심 보고서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224915" y="7054215"/>
            <a:ext cx="4463034" cy="19050"/>
            <a:chOff x="0" y="0"/>
            <a:chExt cx="5950712" cy="254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950712" cy="25400"/>
            </a:xfrm>
            <a:custGeom>
              <a:avLst/>
              <a:gdLst/>
              <a:ahLst/>
              <a:cxnLst/>
              <a:rect r="r" b="b" t="t" l="l"/>
              <a:pathLst>
                <a:path h="25400" w="5950712">
                  <a:moveTo>
                    <a:pt x="0" y="0"/>
                  </a:moveTo>
                  <a:lnTo>
                    <a:pt x="5950712" y="254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4514954" r="0" b="-4514954"/>
              </a:stretch>
            </a:blipFill>
            <a:ln w="19050" cap="sq">
              <a:solidFill>
                <a:srgbClr val="EDE9E0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36726" y="6749129"/>
            <a:ext cx="1920240" cy="610172"/>
            <a:chOff x="0" y="0"/>
            <a:chExt cx="2560320" cy="81356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560320" cy="813562"/>
            </a:xfrm>
            <a:custGeom>
              <a:avLst/>
              <a:gdLst/>
              <a:ahLst/>
              <a:cxnLst/>
              <a:rect r="r" b="b" t="t" l="l"/>
              <a:pathLst>
                <a:path h="81356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982" r="0" b="-658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9525"/>
              <a:ext cx="256032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spc="6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활용 포인트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2739009" y="6721888"/>
            <a:ext cx="3209544" cy="664655"/>
            <a:chOff x="0" y="0"/>
            <a:chExt cx="4279392" cy="886206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279392" cy="886206"/>
            </a:xfrm>
            <a:custGeom>
              <a:avLst/>
              <a:gdLst/>
              <a:ahLst/>
              <a:cxnLst/>
              <a:rect r="r" b="b" t="t" l="l"/>
              <a:pathLst>
                <a:path h="886206" w="4279392">
                  <a:moveTo>
                    <a:pt x="0" y="0"/>
                  </a:moveTo>
                  <a:lnTo>
                    <a:pt x="4279392" y="0"/>
                  </a:lnTo>
                  <a:lnTo>
                    <a:pt x="4279392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977" r="0" b="-30204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4279392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070"/>
                </a:lnSpc>
              </a:pPr>
              <a:r>
                <a:rPr lang="en-US" b="true" sz="1725" spc="6">
                  <a:solidFill>
                    <a:srgbClr val="1B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공공 적용 시나리오 정리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6534340" y="2145301"/>
            <a:ext cx="5285994" cy="5231130"/>
            <a:chOff x="0" y="0"/>
            <a:chExt cx="7047992" cy="69748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047992" cy="6974840"/>
            </a:xfrm>
            <a:custGeom>
              <a:avLst/>
              <a:gdLst/>
              <a:ahLst/>
              <a:cxnLst/>
              <a:rect r="r" b="b" t="t" l="l"/>
              <a:pathLst>
                <a:path h="6974840" w="7047992">
                  <a:moveTo>
                    <a:pt x="0" y="183515"/>
                  </a:moveTo>
                  <a:cubicBezTo>
                    <a:pt x="0" y="82169"/>
                    <a:pt x="82169" y="0"/>
                    <a:pt x="183515" y="0"/>
                  </a:cubicBezTo>
                  <a:lnTo>
                    <a:pt x="6864477" y="0"/>
                  </a:lnTo>
                  <a:cubicBezTo>
                    <a:pt x="6965823" y="0"/>
                    <a:pt x="7047992" y="82169"/>
                    <a:pt x="7047992" y="183515"/>
                  </a:cubicBezTo>
                  <a:lnTo>
                    <a:pt x="7047992" y="6791325"/>
                  </a:lnTo>
                  <a:cubicBezTo>
                    <a:pt x="7047992" y="6892671"/>
                    <a:pt x="6965823" y="6974840"/>
                    <a:pt x="6864477" y="6974840"/>
                  </a:cubicBezTo>
                  <a:lnTo>
                    <a:pt x="183515" y="6974840"/>
                  </a:lnTo>
                  <a:cubicBezTo>
                    <a:pt x="82169" y="6974840"/>
                    <a:pt x="0" y="6892671"/>
                    <a:pt x="0" y="679132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525772" y="2145301"/>
            <a:ext cx="104163" cy="5178376"/>
            <a:chOff x="0" y="0"/>
            <a:chExt cx="128016" cy="636422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28016" cy="6364224"/>
            </a:xfrm>
            <a:custGeom>
              <a:avLst/>
              <a:gdLst/>
              <a:ahLst/>
              <a:cxnLst/>
              <a:rect r="r" b="b" t="t" l="l"/>
              <a:pathLst>
                <a:path h="6364224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6300216"/>
                  </a:lnTo>
                  <a:cubicBezTo>
                    <a:pt x="128016" y="6335522"/>
                    <a:pt x="99314" y="6364224"/>
                    <a:pt x="64008" y="6364224"/>
                  </a:cubicBezTo>
                  <a:cubicBezTo>
                    <a:pt x="28702" y="6364224"/>
                    <a:pt x="0" y="6335522"/>
                    <a:pt x="0" y="6300216"/>
                  </a:cubicBezTo>
                  <a:close/>
                </a:path>
              </a:pathLst>
            </a:custGeom>
            <a:solidFill>
              <a:srgbClr val="E45D32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6912864" y="2663571"/>
            <a:ext cx="1988820" cy="493776"/>
            <a:chOff x="0" y="0"/>
            <a:chExt cx="2651760" cy="658368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651760" cy="658368"/>
            </a:xfrm>
            <a:custGeom>
              <a:avLst/>
              <a:gdLst/>
              <a:ahLst/>
              <a:cxnLst/>
              <a:rect r="r" b="b" t="t" l="l"/>
              <a:pathLst>
                <a:path h="658368" w="2651760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lnTo>
                    <a:pt x="2322576" y="0"/>
                  </a:lnTo>
                  <a:cubicBezTo>
                    <a:pt x="2504440" y="0"/>
                    <a:pt x="2651760" y="147320"/>
                    <a:pt x="2651760" y="329184"/>
                  </a:cubicBezTo>
                  <a:cubicBezTo>
                    <a:pt x="2651760" y="511048"/>
                    <a:pt x="2504440" y="658368"/>
                    <a:pt x="2322576" y="658368"/>
                  </a:cubicBezTo>
                  <a:lnTo>
                    <a:pt x="329184" y="658368"/>
                  </a:ln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FBEAE3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6947154" y="2575369"/>
            <a:ext cx="1988820" cy="637413"/>
            <a:chOff x="0" y="0"/>
            <a:chExt cx="2651760" cy="8498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651760" cy="849884"/>
            </a:xfrm>
            <a:custGeom>
              <a:avLst/>
              <a:gdLst/>
              <a:ahLst/>
              <a:cxnLst/>
              <a:rect r="r" b="b" t="t" l="l"/>
              <a:pathLst>
                <a:path h="849884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063" r="0" b="471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265176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 spc="6">
                  <a:solidFill>
                    <a:srgbClr val="C94A2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글로벌 조사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396728" y="2532507"/>
            <a:ext cx="960120" cy="755904"/>
            <a:chOff x="0" y="0"/>
            <a:chExt cx="1280160" cy="1007872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280160" cy="1007872"/>
            </a:xfrm>
            <a:custGeom>
              <a:avLst/>
              <a:gdLst/>
              <a:ahLst/>
              <a:cxnLst/>
              <a:rect r="r" b="b" t="t" l="l"/>
              <a:pathLst>
                <a:path h="1007872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5984" t="0" r="-15984" b="34677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0"/>
              <a:ext cx="128016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340"/>
                </a:lnSpc>
              </a:pPr>
              <a:r>
                <a:rPr lang="en-US" sz="1950" spc="7">
                  <a:solidFill>
                    <a:srgbClr val="B0ABA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2023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912864" y="2906268"/>
            <a:ext cx="4443984" cy="1511808"/>
            <a:chOff x="0" y="0"/>
            <a:chExt cx="5925312" cy="201574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5925312" cy="2015744"/>
            </a:xfrm>
            <a:custGeom>
              <a:avLst/>
              <a:gdLst/>
              <a:ahLst/>
              <a:cxnLst/>
              <a:rect r="r" b="b" t="t" l="l"/>
              <a:pathLst>
                <a:path h="2015744" w="5925312">
                  <a:moveTo>
                    <a:pt x="0" y="0"/>
                  </a:moveTo>
                  <a:lnTo>
                    <a:pt x="5925312" y="0"/>
                  </a:lnTo>
                  <a:lnTo>
                    <a:pt x="5925312" y="2015744"/>
                  </a:lnTo>
                  <a:lnTo>
                    <a:pt x="0" y="20157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326" r="0" b="1777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5925312" cy="200621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b="true" sz="3900" spc="15">
                  <a:solidFill>
                    <a:srgbClr val="E45D3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Slack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912864" y="3888486"/>
            <a:ext cx="4512564" cy="1114234"/>
            <a:chOff x="0" y="0"/>
            <a:chExt cx="6016752" cy="148564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016752" cy="1485646"/>
            </a:xfrm>
            <a:custGeom>
              <a:avLst/>
              <a:gdLst/>
              <a:ahLst/>
              <a:cxnLst/>
              <a:rect r="r" b="b" t="t" l="l"/>
              <a:pathLst>
                <a:path h="1485646" w="6016752">
                  <a:moveTo>
                    <a:pt x="0" y="0"/>
                  </a:moveTo>
                  <a:lnTo>
                    <a:pt x="6016752" y="0"/>
                  </a:lnTo>
                  <a:lnTo>
                    <a:pt x="6016752" y="1485646"/>
                  </a:lnTo>
                  <a:lnTo>
                    <a:pt x="0" y="14856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752" r="0" b="-1707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6016752" cy="15142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b="true" sz="2025" spc="7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State of Work 2023</a:t>
              </a:r>
            </a:p>
            <a:p>
              <a:pPr algn="l">
                <a:lnSpc>
                  <a:spcPts val="2673"/>
                </a:lnSpc>
              </a:pPr>
              <a:r>
                <a:rPr lang="en-US" b="true" sz="2025" spc="7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자동화 업무시간 절감 조사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6912864" y="4943475"/>
            <a:ext cx="4512564" cy="826770"/>
            <a:chOff x="0" y="0"/>
            <a:chExt cx="6016752" cy="110236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6016752" cy="1102360"/>
            </a:xfrm>
            <a:custGeom>
              <a:avLst/>
              <a:gdLst/>
              <a:ahLst/>
              <a:cxnLst/>
              <a:rect r="r" b="b" t="t" l="l"/>
              <a:pathLst>
                <a:path h="1102360" w="6016752">
                  <a:moveTo>
                    <a:pt x="0" y="0"/>
                  </a:moveTo>
                  <a:lnTo>
                    <a:pt x="6016752" y="0"/>
                  </a:lnTo>
                  <a:lnTo>
                    <a:pt x="6016752" y="1102360"/>
                  </a:lnTo>
                  <a:lnTo>
                    <a:pt x="0" y="1102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4875" r="0" b="-47825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9525"/>
              <a:ext cx="6016752" cy="11118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500" spc="5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글로벌 지식근로자 18,149명 조사에서</a:t>
              </a:r>
            </a:p>
            <a:p>
              <a:pPr algn="l">
                <a:lnSpc>
                  <a:spcPts val="1980"/>
                </a:lnSpc>
              </a:pPr>
              <a:r>
                <a:rPr lang="en-US" sz="1500" spc="5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자동화 활용자의 반복업무 시간 절감 효과 제시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6912864" y="5996559"/>
            <a:ext cx="4443984" cy="713232"/>
            <a:chOff x="0" y="0"/>
            <a:chExt cx="5925312" cy="95097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925312" cy="950976"/>
            </a:xfrm>
            <a:custGeom>
              <a:avLst/>
              <a:gdLst/>
              <a:ahLst/>
              <a:cxnLst/>
              <a:rect r="r" b="b" t="t" l="l"/>
              <a:pathLst>
                <a:path h="950976" w="592531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779008" y="0"/>
                  </a:lnTo>
                  <a:cubicBezTo>
                    <a:pt x="5859780" y="0"/>
                    <a:pt x="5925312" y="65532"/>
                    <a:pt x="5925312" y="146304"/>
                  </a:cubicBezTo>
                  <a:lnTo>
                    <a:pt x="5925312" y="804672"/>
                  </a:lnTo>
                  <a:cubicBezTo>
                    <a:pt x="5925312" y="885444"/>
                    <a:pt x="5859780" y="950976"/>
                    <a:pt x="5779008" y="950976"/>
                  </a:cubicBezTo>
                  <a:lnTo>
                    <a:pt x="146304" y="950976"/>
                  </a:lnTo>
                  <a:cubicBezTo>
                    <a:pt x="65532" y="950976"/>
                    <a:pt x="0" y="885444"/>
                    <a:pt x="0" y="804672"/>
                  </a:cubicBezTo>
                  <a:close/>
                </a:path>
              </a:pathLst>
            </a:custGeom>
            <a:solidFill>
              <a:srgbClr val="FBEAE3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6912864" y="5870924"/>
            <a:ext cx="4443984" cy="887730"/>
            <a:chOff x="0" y="0"/>
            <a:chExt cx="5925312" cy="1183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5925312" cy="1183640"/>
            </a:xfrm>
            <a:custGeom>
              <a:avLst/>
              <a:gdLst/>
              <a:ahLst/>
              <a:cxnLst/>
              <a:rect r="r" b="b" t="t" l="l"/>
              <a:pathLst>
                <a:path h="1183640" w="5925312">
                  <a:moveTo>
                    <a:pt x="0" y="0"/>
                  </a:moveTo>
                  <a:lnTo>
                    <a:pt x="5925312" y="0"/>
                  </a:lnTo>
                  <a:lnTo>
                    <a:pt x="5925312" y="1183640"/>
                  </a:lnTo>
                  <a:lnTo>
                    <a:pt x="0" y="1183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70" r="0" b="-377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9525"/>
              <a:ext cx="5925312" cy="11741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22"/>
                </a:lnSpc>
              </a:pPr>
              <a:r>
                <a:rPr lang="en-US" b="true" sz="1950" spc="7">
                  <a:solidFill>
                    <a:srgbClr val="C94A2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주당 3.6시간 절감</a:t>
              </a:r>
            </a:p>
            <a:p>
              <a:pPr algn="ctr">
                <a:lnSpc>
                  <a:spcPts val="1624"/>
                </a:lnSpc>
              </a:pPr>
              <a:r>
                <a:rPr lang="en-US" sz="1425" spc="5">
                  <a:solidFill>
                    <a:srgbClr val="C94A2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자동화 활용자 평균 응답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6903339" y="7054215"/>
            <a:ext cx="4463034" cy="19050"/>
            <a:chOff x="0" y="0"/>
            <a:chExt cx="5950712" cy="254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950712" cy="25400"/>
            </a:xfrm>
            <a:custGeom>
              <a:avLst/>
              <a:gdLst/>
              <a:ahLst/>
              <a:cxnLst/>
              <a:rect r="r" b="b" t="t" l="l"/>
              <a:pathLst>
                <a:path h="25400" w="5950712">
                  <a:moveTo>
                    <a:pt x="0" y="0"/>
                  </a:moveTo>
                  <a:lnTo>
                    <a:pt x="5950712" y="254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4514954" r="0" b="-4514954"/>
              </a:stretch>
            </a:blipFill>
            <a:ln w="19050" cap="sq">
              <a:solidFill>
                <a:srgbClr val="EDE9E0"/>
              </a:solidFill>
              <a:prstDash val="solid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6947154" y="6758654"/>
            <a:ext cx="1920240" cy="610172"/>
            <a:chOff x="0" y="0"/>
            <a:chExt cx="2560320" cy="813562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560320" cy="813562"/>
            </a:xfrm>
            <a:custGeom>
              <a:avLst/>
              <a:gdLst/>
              <a:ahLst/>
              <a:cxnLst/>
              <a:rect r="r" b="b" t="t" l="l"/>
              <a:pathLst>
                <a:path h="81356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982" r="0" b="-658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9525"/>
              <a:ext cx="256032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spc="6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활용 포인트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8386953" y="6731413"/>
            <a:ext cx="3209544" cy="664655"/>
            <a:chOff x="0" y="0"/>
            <a:chExt cx="4279392" cy="886206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279392" cy="886206"/>
            </a:xfrm>
            <a:custGeom>
              <a:avLst/>
              <a:gdLst/>
              <a:ahLst/>
              <a:cxnLst/>
              <a:rect r="r" b="b" t="t" l="l"/>
              <a:pathLst>
                <a:path h="886206" w="4279392">
                  <a:moveTo>
                    <a:pt x="0" y="0"/>
                  </a:moveTo>
                  <a:lnTo>
                    <a:pt x="4279392" y="0"/>
                  </a:lnTo>
                  <a:lnTo>
                    <a:pt x="4279392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977" r="0" b="-30204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0"/>
              <a:ext cx="4279392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070"/>
                </a:lnSpc>
              </a:pPr>
              <a:r>
                <a:rPr lang="en-US" b="true" sz="1725" spc="6">
                  <a:solidFill>
                    <a:srgbClr val="C94A2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반복업무 시간절감 근거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2207240" y="2145301"/>
            <a:ext cx="5285994" cy="5231130"/>
            <a:chOff x="0" y="0"/>
            <a:chExt cx="7047992" cy="69748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7047992" cy="6974840"/>
            </a:xfrm>
            <a:custGeom>
              <a:avLst/>
              <a:gdLst/>
              <a:ahLst/>
              <a:cxnLst/>
              <a:rect r="r" b="b" t="t" l="l"/>
              <a:pathLst>
                <a:path h="6974840" w="7047992">
                  <a:moveTo>
                    <a:pt x="0" y="183515"/>
                  </a:moveTo>
                  <a:cubicBezTo>
                    <a:pt x="0" y="82169"/>
                    <a:pt x="82169" y="0"/>
                    <a:pt x="183515" y="0"/>
                  </a:cubicBezTo>
                  <a:lnTo>
                    <a:pt x="6864477" y="0"/>
                  </a:lnTo>
                  <a:cubicBezTo>
                    <a:pt x="6965823" y="0"/>
                    <a:pt x="7047992" y="82169"/>
                    <a:pt x="7047992" y="183515"/>
                  </a:cubicBezTo>
                  <a:lnTo>
                    <a:pt x="7047992" y="6791325"/>
                  </a:lnTo>
                  <a:cubicBezTo>
                    <a:pt x="7047992" y="6892671"/>
                    <a:pt x="6965823" y="6974840"/>
                    <a:pt x="6864477" y="6974840"/>
                  </a:cubicBezTo>
                  <a:lnTo>
                    <a:pt x="183515" y="6974840"/>
                  </a:lnTo>
                  <a:cubicBezTo>
                    <a:pt x="82169" y="6974840"/>
                    <a:pt x="0" y="6892671"/>
                    <a:pt x="0" y="679132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81" id="81"/>
          <p:cNvGrpSpPr/>
          <p:nvPr/>
        </p:nvGrpSpPr>
        <p:grpSpPr>
          <a:xfrm rot="0">
            <a:off x="12204196" y="2145301"/>
            <a:ext cx="104163" cy="5178376"/>
            <a:chOff x="0" y="0"/>
            <a:chExt cx="128016" cy="6364224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128016" cy="6364224"/>
            </a:xfrm>
            <a:custGeom>
              <a:avLst/>
              <a:gdLst/>
              <a:ahLst/>
              <a:cxnLst/>
              <a:rect r="r" b="b" t="t" l="l"/>
              <a:pathLst>
                <a:path h="6364224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6300216"/>
                  </a:lnTo>
                  <a:cubicBezTo>
                    <a:pt x="128016" y="6335522"/>
                    <a:pt x="99314" y="6364224"/>
                    <a:pt x="64008" y="6364224"/>
                  </a:cubicBezTo>
                  <a:cubicBezTo>
                    <a:pt x="28702" y="6364224"/>
                    <a:pt x="0" y="6335522"/>
                    <a:pt x="0" y="6300216"/>
                  </a:cubicBezTo>
                  <a:close/>
                </a:path>
              </a:pathLst>
            </a:custGeom>
            <a:solidFill>
              <a:srgbClr val="2E9F6E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591288" y="2663571"/>
            <a:ext cx="1988820" cy="493776"/>
            <a:chOff x="0" y="0"/>
            <a:chExt cx="2651760" cy="65836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651760" cy="658368"/>
            </a:xfrm>
            <a:custGeom>
              <a:avLst/>
              <a:gdLst/>
              <a:ahLst/>
              <a:cxnLst/>
              <a:rect r="r" b="b" t="t" l="l"/>
              <a:pathLst>
                <a:path h="658368" w="2651760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lnTo>
                    <a:pt x="2322576" y="0"/>
                  </a:lnTo>
                  <a:cubicBezTo>
                    <a:pt x="2504440" y="0"/>
                    <a:pt x="2651760" y="147320"/>
                    <a:pt x="2651760" y="329184"/>
                  </a:cubicBezTo>
                  <a:cubicBezTo>
                    <a:pt x="2651760" y="511048"/>
                    <a:pt x="2504440" y="658368"/>
                    <a:pt x="2322576" y="658368"/>
                  </a:cubicBezTo>
                  <a:lnTo>
                    <a:pt x="329184" y="658368"/>
                  </a:ln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581763" y="2575369"/>
            <a:ext cx="1988820" cy="637413"/>
            <a:chOff x="0" y="0"/>
            <a:chExt cx="2651760" cy="849884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2651760" cy="849884"/>
            </a:xfrm>
            <a:custGeom>
              <a:avLst/>
              <a:gdLst/>
              <a:ahLst/>
              <a:cxnLst/>
              <a:rect r="r" b="b" t="t" l="l"/>
              <a:pathLst>
                <a:path h="849884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063" r="0" b="471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0"/>
              <a:ext cx="265176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 spc="6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해외 실증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6075152" y="2532507"/>
            <a:ext cx="960120" cy="755904"/>
            <a:chOff x="0" y="0"/>
            <a:chExt cx="1280160" cy="1007872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280160" cy="1007872"/>
            </a:xfrm>
            <a:custGeom>
              <a:avLst/>
              <a:gdLst/>
              <a:ahLst/>
              <a:cxnLst/>
              <a:rect r="r" b="b" t="t" l="l"/>
              <a:pathLst>
                <a:path h="1007872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5984" t="0" r="-15984" b="34677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0"/>
              <a:ext cx="128016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340"/>
                </a:lnSpc>
              </a:pPr>
              <a:r>
                <a:rPr lang="en-US" sz="1950" spc="7">
                  <a:solidFill>
                    <a:srgbClr val="B0ABA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2023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2591288" y="2906268"/>
            <a:ext cx="4443984" cy="1511808"/>
            <a:chOff x="0" y="0"/>
            <a:chExt cx="5925312" cy="2015744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5925312" cy="2015744"/>
            </a:xfrm>
            <a:custGeom>
              <a:avLst/>
              <a:gdLst/>
              <a:ahLst/>
              <a:cxnLst/>
              <a:rect r="r" b="b" t="t" l="l"/>
              <a:pathLst>
                <a:path h="2015744" w="5925312">
                  <a:moveTo>
                    <a:pt x="0" y="0"/>
                  </a:moveTo>
                  <a:lnTo>
                    <a:pt x="5925312" y="0"/>
                  </a:lnTo>
                  <a:lnTo>
                    <a:pt x="5925312" y="2015744"/>
                  </a:lnTo>
                  <a:lnTo>
                    <a:pt x="0" y="20157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326" r="0" b="17773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9525"/>
              <a:ext cx="5925312" cy="200621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b="true" sz="3900" spc="15">
                  <a:solidFill>
                    <a:srgbClr val="2E9F6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NBER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2591288" y="3888486"/>
            <a:ext cx="4512564" cy="1114234"/>
            <a:chOff x="0" y="0"/>
            <a:chExt cx="6016752" cy="1485646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6016752" cy="1485646"/>
            </a:xfrm>
            <a:custGeom>
              <a:avLst/>
              <a:gdLst/>
              <a:ahLst/>
              <a:cxnLst/>
              <a:rect r="r" b="b" t="t" l="l"/>
              <a:pathLst>
                <a:path h="1485646" w="6016752">
                  <a:moveTo>
                    <a:pt x="0" y="0"/>
                  </a:moveTo>
                  <a:lnTo>
                    <a:pt x="6016752" y="0"/>
                  </a:lnTo>
                  <a:lnTo>
                    <a:pt x="6016752" y="1485646"/>
                  </a:lnTo>
                  <a:lnTo>
                    <a:pt x="0" y="14856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752" r="0" b="-17073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28575"/>
              <a:ext cx="6016752" cy="15142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b="true" sz="2025" spc="7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Generative AI at Work</a:t>
              </a:r>
            </a:p>
            <a:p>
              <a:pPr algn="l">
                <a:lnSpc>
                  <a:spcPts val="2673"/>
                </a:lnSpc>
              </a:pPr>
              <a:r>
                <a:rPr lang="en-US" b="true" sz="2025" spc="7">
                  <a:solidFill>
                    <a:srgbClr val="1E273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고객지원 업무 실증연구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2591288" y="4943475"/>
            <a:ext cx="4512564" cy="826770"/>
            <a:chOff x="0" y="0"/>
            <a:chExt cx="6016752" cy="110236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6016752" cy="1102360"/>
            </a:xfrm>
            <a:custGeom>
              <a:avLst/>
              <a:gdLst/>
              <a:ahLst/>
              <a:cxnLst/>
              <a:rect r="r" b="b" t="t" l="l"/>
              <a:pathLst>
                <a:path h="1102360" w="6016752">
                  <a:moveTo>
                    <a:pt x="0" y="0"/>
                  </a:moveTo>
                  <a:lnTo>
                    <a:pt x="6016752" y="0"/>
                  </a:lnTo>
                  <a:lnTo>
                    <a:pt x="6016752" y="1102360"/>
                  </a:lnTo>
                  <a:lnTo>
                    <a:pt x="0" y="1102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4875" r="0" b="-47825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9525"/>
              <a:ext cx="6016752" cy="11118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500" spc="5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상담원 5,179명 대상</a:t>
              </a:r>
            </a:p>
            <a:p>
              <a:pPr algn="l">
                <a:lnSpc>
                  <a:spcPts val="1980"/>
                </a:lnSpc>
              </a:pPr>
              <a:r>
                <a:rPr lang="en-US" sz="1500" spc="5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 지원 도구 도입 효과 분석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12591288" y="5996559"/>
            <a:ext cx="2139696" cy="713232"/>
            <a:chOff x="0" y="0"/>
            <a:chExt cx="2852928" cy="950976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2852928" cy="950976"/>
            </a:xfrm>
            <a:custGeom>
              <a:avLst/>
              <a:gdLst/>
              <a:ahLst/>
              <a:cxnLst/>
              <a:rect r="r" b="b" t="t" l="l"/>
              <a:pathLst>
                <a:path h="950976" w="285292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706624" y="0"/>
                  </a:lnTo>
                  <a:cubicBezTo>
                    <a:pt x="2787396" y="0"/>
                    <a:pt x="2852928" y="65532"/>
                    <a:pt x="2852928" y="146304"/>
                  </a:cubicBezTo>
                  <a:lnTo>
                    <a:pt x="2852928" y="804672"/>
                  </a:lnTo>
                  <a:cubicBezTo>
                    <a:pt x="2852928" y="885444"/>
                    <a:pt x="2787396" y="950976"/>
                    <a:pt x="2706624" y="950976"/>
                  </a:cubicBezTo>
                  <a:lnTo>
                    <a:pt x="146304" y="950976"/>
                  </a:lnTo>
                  <a:cubicBezTo>
                    <a:pt x="65532" y="950976"/>
                    <a:pt x="0" y="885444"/>
                    <a:pt x="0" y="804672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12591288" y="5807631"/>
            <a:ext cx="2139696" cy="995267"/>
            <a:chOff x="0" y="0"/>
            <a:chExt cx="2852928" cy="1327023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852928" cy="1327023"/>
            </a:xfrm>
            <a:custGeom>
              <a:avLst/>
              <a:gdLst/>
              <a:ahLst/>
              <a:cxnLst/>
              <a:rect r="r" b="b" t="t" l="l"/>
              <a:pathLst>
                <a:path h="1327023" w="2852928">
                  <a:moveTo>
                    <a:pt x="0" y="0"/>
                  </a:moveTo>
                  <a:lnTo>
                    <a:pt x="2852928" y="0"/>
                  </a:lnTo>
                  <a:lnTo>
                    <a:pt x="2852928" y="1327023"/>
                  </a:lnTo>
                  <a:lnTo>
                    <a:pt x="0" y="132702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59" r="0" b="22278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28575"/>
              <a:ext cx="2852928" cy="12984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92"/>
                </a:lnSpc>
              </a:pPr>
              <a:r>
                <a:rPr lang="en-US" b="true" sz="2400" spc="9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+14%</a:t>
              </a:r>
            </a:p>
            <a:p>
              <a:pPr algn="ctr">
                <a:lnSpc>
                  <a:spcPts val="1539"/>
                </a:lnSpc>
              </a:pPr>
              <a:r>
                <a:rPr lang="en-US" sz="1425" spc="5">
                  <a:solidFill>
                    <a:srgbClr val="1F7A5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평균 생산성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4895576" y="5996559"/>
            <a:ext cx="2139696" cy="713232"/>
            <a:chOff x="0" y="0"/>
            <a:chExt cx="2852928" cy="950976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2852928" cy="950976"/>
            </a:xfrm>
            <a:custGeom>
              <a:avLst/>
              <a:gdLst/>
              <a:ahLst/>
              <a:cxnLst/>
              <a:rect r="r" b="b" t="t" l="l"/>
              <a:pathLst>
                <a:path h="950976" w="285292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706624" y="0"/>
                  </a:lnTo>
                  <a:cubicBezTo>
                    <a:pt x="2787396" y="0"/>
                    <a:pt x="2852928" y="65532"/>
                    <a:pt x="2852928" y="146304"/>
                  </a:cubicBezTo>
                  <a:lnTo>
                    <a:pt x="2852928" y="804672"/>
                  </a:lnTo>
                  <a:cubicBezTo>
                    <a:pt x="2852928" y="885444"/>
                    <a:pt x="2787396" y="950976"/>
                    <a:pt x="2706624" y="950976"/>
                  </a:cubicBezTo>
                  <a:lnTo>
                    <a:pt x="146304" y="950976"/>
                  </a:lnTo>
                  <a:cubicBezTo>
                    <a:pt x="65532" y="950976"/>
                    <a:pt x="0" y="885444"/>
                    <a:pt x="0" y="804672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4895576" y="5807631"/>
            <a:ext cx="2139696" cy="995267"/>
            <a:chOff x="0" y="0"/>
            <a:chExt cx="2852928" cy="1327023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2852928" cy="1327023"/>
            </a:xfrm>
            <a:custGeom>
              <a:avLst/>
              <a:gdLst/>
              <a:ahLst/>
              <a:cxnLst/>
              <a:rect r="r" b="b" t="t" l="l"/>
              <a:pathLst>
                <a:path h="1327023" w="2852928">
                  <a:moveTo>
                    <a:pt x="0" y="0"/>
                  </a:moveTo>
                  <a:lnTo>
                    <a:pt x="2852928" y="0"/>
                  </a:lnTo>
                  <a:lnTo>
                    <a:pt x="2852928" y="1327023"/>
                  </a:lnTo>
                  <a:lnTo>
                    <a:pt x="0" y="132702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59" r="0" b="22278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28575"/>
              <a:ext cx="2852928" cy="12984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92"/>
                </a:lnSpc>
              </a:pPr>
              <a:r>
                <a:rPr lang="en-US" b="true" sz="2400" spc="9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+34%</a:t>
              </a:r>
            </a:p>
            <a:p>
              <a:pPr algn="ctr">
                <a:lnSpc>
                  <a:spcPts val="1539"/>
                </a:lnSpc>
              </a:pPr>
              <a:r>
                <a:rPr lang="en-US" sz="1425" spc="5">
                  <a:solidFill>
                    <a:srgbClr val="1F7A5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초보·저숙련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12581763" y="7054215"/>
            <a:ext cx="4463034" cy="19050"/>
            <a:chOff x="0" y="0"/>
            <a:chExt cx="5950712" cy="25400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5950712" cy="25400"/>
            </a:xfrm>
            <a:custGeom>
              <a:avLst/>
              <a:gdLst/>
              <a:ahLst/>
              <a:cxnLst/>
              <a:rect r="r" b="b" t="t" l="l"/>
              <a:pathLst>
                <a:path h="25400" w="5950712">
                  <a:moveTo>
                    <a:pt x="0" y="0"/>
                  </a:moveTo>
                  <a:lnTo>
                    <a:pt x="5950712" y="2540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4514954" r="0" b="-4514954"/>
              </a:stretch>
            </a:blipFill>
            <a:ln w="19050" cap="sq">
              <a:solidFill>
                <a:srgbClr val="EDE9E0"/>
              </a:solidFill>
              <a:prstDash val="solid"/>
              <a:miter/>
            </a:ln>
          </p:spPr>
        </p:sp>
      </p:grpSp>
      <p:grpSp>
        <p:nvGrpSpPr>
          <p:cNvPr name="Group 112" id="112"/>
          <p:cNvGrpSpPr/>
          <p:nvPr/>
        </p:nvGrpSpPr>
        <p:grpSpPr>
          <a:xfrm rot="0">
            <a:off x="12591288" y="6778657"/>
            <a:ext cx="1920240" cy="610172"/>
            <a:chOff x="0" y="0"/>
            <a:chExt cx="2560320" cy="813562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2560320" cy="813562"/>
            </a:xfrm>
            <a:custGeom>
              <a:avLst/>
              <a:gdLst/>
              <a:ahLst/>
              <a:cxnLst/>
              <a:rect r="r" b="b" t="t" l="l"/>
              <a:pathLst>
                <a:path h="81356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982" r="0" b="-658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9525"/>
              <a:ext cx="256032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spc="6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활용 포인트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4065377" y="6740938"/>
            <a:ext cx="3209544" cy="664655"/>
            <a:chOff x="0" y="0"/>
            <a:chExt cx="4279392" cy="88620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279392" cy="886206"/>
            </a:xfrm>
            <a:custGeom>
              <a:avLst/>
              <a:gdLst/>
              <a:ahLst/>
              <a:cxnLst/>
              <a:rect r="r" b="b" t="t" l="l"/>
              <a:pathLst>
                <a:path h="886206" w="4279392">
                  <a:moveTo>
                    <a:pt x="0" y="0"/>
                  </a:moveTo>
                  <a:lnTo>
                    <a:pt x="4279392" y="0"/>
                  </a:lnTo>
                  <a:lnTo>
                    <a:pt x="4279392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977" r="0" b="-30204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0"/>
              <a:ext cx="4279392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070"/>
                </a:lnSpc>
              </a:pPr>
              <a:r>
                <a:rPr lang="en-US" b="true" sz="1725" spc="6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생산성 향상 수치 확보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855726" y="7653242"/>
            <a:ext cx="16637508" cy="905256"/>
            <a:chOff x="0" y="0"/>
            <a:chExt cx="22183344" cy="1207008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22183344" cy="1207008"/>
            </a:xfrm>
            <a:custGeom>
              <a:avLst/>
              <a:gdLst/>
              <a:ahLst/>
              <a:cxnLst/>
              <a:rect r="r" b="b" t="t" l="l"/>
              <a:pathLst>
                <a:path h="1207008" w="2218334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2000463" y="0"/>
                  </a:lnTo>
                  <a:cubicBezTo>
                    <a:pt x="22101428" y="0"/>
                    <a:pt x="22183344" y="81915"/>
                    <a:pt x="22183344" y="182880"/>
                  </a:cubicBezTo>
                  <a:lnTo>
                    <a:pt x="22183344" y="1024128"/>
                  </a:lnTo>
                  <a:cubicBezTo>
                    <a:pt x="22183344" y="1125093"/>
                    <a:pt x="22101428" y="1207008"/>
                    <a:pt x="22000463" y="1207008"/>
                  </a:cubicBezTo>
                  <a:lnTo>
                    <a:pt x="182880" y="1207008"/>
                  </a:lnTo>
                  <a:cubicBezTo>
                    <a:pt x="81915" y="1207008"/>
                    <a:pt x="0" y="1125093"/>
                    <a:pt x="0" y="1024128"/>
                  </a:cubicBezTo>
                  <a:close/>
                </a:path>
              </a:pathLst>
            </a:custGeom>
            <a:solidFill>
              <a:srgbClr val="1B2A41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303020" y="7662181"/>
            <a:ext cx="2606040" cy="905256"/>
            <a:chOff x="0" y="0"/>
            <a:chExt cx="3474720" cy="120700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3474720" cy="1207008"/>
            </a:xfrm>
            <a:custGeom>
              <a:avLst/>
              <a:gdLst/>
              <a:ahLst/>
              <a:cxnLst/>
              <a:rect r="r" b="b" t="t" l="l"/>
              <a:pathLst>
                <a:path h="120700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1207008"/>
                  </a:lnTo>
                  <a:lnTo>
                    <a:pt x="0" y="12070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93" r="0" b="-609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0"/>
              <a:ext cx="3474720" cy="12070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7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추정 기대 효과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4114800" y="8035290"/>
            <a:ext cx="219456" cy="219456"/>
            <a:chOff x="0" y="0"/>
            <a:chExt cx="292608" cy="29260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292608" cy="292608"/>
            </a:xfrm>
            <a:custGeom>
              <a:avLst/>
              <a:gdLst/>
              <a:ahLst/>
              <a:cxnLst/>
              <a:rect r="r" b="b" t="t" l="l"/>
              <a:pathLst>
                <a:path h="292608" w="29260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cubicBezTo>
                    <a:pt x="227076" y="0"/>
                    <a:pt x="292608" y="65532"/>
                    <a:pt x="292608" y="146304"/>
                  </a:cubicBezTo>
                  <a:cubicBezTo>
                    <a:pt x="292608" y="227076"/>
                    <a:pt x="227076" y="292608"/>
                    <a:pt x="146304" y="292608"/>
                  </a:cubicBezTo>
                  <a:cubicBezTo>
                    <a:pt x="65532" y="292608"/>
                    <a:pt x="0" y="227076"/>
                    <a:pt x="0" y="146304"/>
                  </a:cubicBezTo>
                  <a:close/>
                </a:path>
              </a:pathLst>
            </a:custGeom>
            <a:solidFill>
              <a:srgbClr val="2E9F6E"/>
            </a:solidFill>
          </p:spPr>
        </p:sp>
      </p:grpSp>
      <p:grpSp>
        <p:nvGrpSpPr>
          <p:cNvPr name="Group 125" id="125"/>
          <p:cNvGrpSpPr/>
          <p:nvPr/>
        </p:nvGrpSpPr>
        <p:grpSpPr>
          <a:xfrm rot="0">
            <a:off x="4471416" y="7662181"/>
            <a:ext cx="2161642" cy="905256"/>
            <a:chOff x="0" y="0"/>
            <a:chExt cx="2882189" cy="1207008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2882188" cy="1207008"/>
            </a:xfrm>
            <a:custGeom>
              <a:avLst/>
              <a:gdLst/>
              <a:ahLst/>
              <a:cxnLst/>
              <a:rect r="r" b="b" t="t" l="l"/>
              <a:pathLst>
                <a:path h="1207008" w="2882188">
                  <a:moveTo>
                    <a:pt x="0" y="0"/>
                  </a:moveTo>
                  <a:lnTo>
                    <a:pt x="2882188" y="0"/>
                  </a:lnTo>
                  <a:lnTo>
                    <a:pt x="2882188" y="1207008"/>
                  </a:lnTo>
                  <a:lnTo>
                    <a:pt x="0" y="12070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731" t="0" r="-3731" b="0"/>
              </a:stretch>
            </a:blipFill>
          </p:spPr>
        </p:sp>
        <p:sp>
          <p:nvSpPr>
            <p:cNvPr name="TextBox 127" id="127"/>
            <p:cNvSpPr txBox="true"/>
            <p:nvPr/>
          </p:nvSpPr>
          <p:spPr>
            <a:xfrm>
              <a:off x="0" y="0"/>
              <a:ext cx="2882189" cy="12070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spc="6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평균 생산성 24% 상승</a:t>
              </a:r>
            </a:p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7570679" y="8035290"/>
            <a:ext cx="219456" cy="219456"/>
            <a:chOff x="0" y="0"/>
            <a:chExt cx="292608" cy="292608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292608" cy="292608"/>
            </a:xfrm>
            <a:custGeom>
              <a:avLst/>
              <a:gdLst/>
              <a:ahLst/>
              <a:cxnLst/>
              <a:rect r="r" b="b" t="t" l="l"/>
              <a:pathLst>
                <a:path h="292608" w="29260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cubicBezTo>
                    <a:pt x="227076" y="0"/>
                    <a:pt x="292608" y="65532"/>
                    <a:pt x="292608" y="146304"/>
                  </a:cubicBezTo>
                  <a:cubicBezTo>
                    <a:pt x="292608" y="227076"/>
                    <a:pt x="227076" y="292608"/>
                    <a:pt x="146304" y="292608"/>
                  </a:cubicBezTo>
                  <a:cubicBezTo>
                    <a:pt x="65532" y="292608"/>
                    <a:pt x="0" y="227076"/>
                    <a:pt x="0" y="146304"/>
                  </a:cubicBezTo>
                  <a:close/>
                </a:path>
              </a:pathLst>
            </a:custGeom>
            <a:solidFill>
              <a:srgbClr val="2E9F6E"/>
            </a:solid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7999685" y="7662181"/>
            <a:ext cx="2397043" cy="905256"/>
            <a:chOff x="0" y="0"/>
            <a:chExt cx="3196057" cy="120700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3196056" cy="1207008"/>
            </a:xfrm>
            <a:custGeom>
              <a:avLst/>
              <a:gdLst/>
              <a:ahLst/>
              <a:cxnLst/>
              <a:rect r="r" b="b" t="t" l="l"/>
              <a:pathLst>
                <a:path h="1207008" w="3196056">
                  <a:moveTo>
                    <a:pt x="0" y="0"/>
                  </a:moveTo>
                  <a:lnTo>
                    <a:pt x="3196056" y="0"/>
                  </a:lnTo>
                  <a:lnTo>
                    <a:pt x="3196056" y="1207008"/>
                  </a:lnTo>
                  <a:lnTo>
                    <a:pt x="0" y="12070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64" t="0" r="6455" b="0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0"/>
              <a:ext cx="3196057" cy="12070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spc="6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업무 시간 절감 3.6 시간</a:t>
              </a:r>
            </a:p>
          </p:txBody>
        </p:sp>
      </p:grpSp>
      <p:grpSp>
        <p:nvGrpSpPr>
          <p:cNvPr name="Group 133" id="133"/>
          <p:cNvGrpSpPr/>
          <p:nvPr/>
        </p:nvGrpSpPr>
        <p:grpSpPr>
          <a:xfrm rot="0">
            <a:off x="822960" y="8819102"/>
            <a:ext cx="11658600" cy="610172"/>
            <a:chOff x="0" y="0"/>
            <a:chExt cx="15544800" cy="813562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15544800" cy="813562"/>
            </a:xfrm>
            <a:custGeom>
              <a:avLst/>
              <a:gdLst/>
              <a:ahLst/>
              <a:cxnLst/>
              <a:rect r="r" b="b" t="t" l="l"/>
              <a:pathLst>
                <a:path h="813562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8583" r="0" b="-30602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9525"/>
              <a:ext cx="1554480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spc="6">
                  <a:solidFill>
                    <a:srgbClr val="9A958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출처: NIA(2023), Slack State of Work(2023), NBER Working Paper 31161(2023)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639550" y="8737378"/>
            <a:ext cx="5801868" cy="691896"/>
            <a:chOff x="0" y="0"/>
            <a:chExt cx="7735824" cy="92252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7735824" cy="922528"/>
            </a:xfrm>
            <a:custGeom>
              <a:avLst/>
              <a:gdLst/>
              <a:ahLst/>
              <a:cxnLst/>
              <a:rect r="r" b="b" t="t" l="l"/>
              <a:pathLst>
                <a:path h="922528" w="7735824">
                  <a:moveTo>
                    <a:pt x="0" y="0"/>
                  </a:moveTo>
                  <a:lnTo>
                    <a:pt x="7735824" y="0"/>
                  </a:lnTo>
                  <a:lnTo>
                    <a:pt x="7735824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3655" r="0" b="-93126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0"/>
              <a:ext cx="7735824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 spc="6">
                  <a:solidFill>
                    <a:srgbClr val="1B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국내 적용</a:t>
              </a:r>
              <a:r>
                <a:rPr lang="en-US" sz="1800" spc="6">
                  <a:solidFill>
                    <a:srgbClr val="B0ABA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→  </a:t>
              </a:r>
              <a:r>
                <a:rPr lang="en-US" b="true" sz="1800" spc="6">
                  <a:solidFill>
                    <a:srgbClr val="C94A2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시간 절감</a:t>
              </a:r>
              <a:r>
                <a:rPr lang="en-US" sz="1800" spc="6">
                  <a:solidFill>
                    <a:srgbClr val="B0ABA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→  </a:t>
              </a:r>
              <a:r>
                <a:rPr lang="en-US" b="true" sz="1800" spc="6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생산성 향상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0958703" y="8035290"/>
            <a:ext cx="219456" cy="219456"/>
            <a:chOff x="0" y="0"/>
            <a:chExt cx="292608" cy="292608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292608" cy="292608"/>
            </a:xfrm>
            <a:custGeom>
              <a:avLst/>
              <a:gdLst/>
              <a:ahLst/>
              <a:cxnLst/>
              <a:rect r="r" b="b" t="t" l="l"/>
              <a:pathLst>
                <a:path h="292608" w="29260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cubicBezTo>
                    <a:pt x="227076" y="0"/>
                    <a:pt x="292608" y="65532"/>
                    <a:pt x="292608" y="146304"/>
                  </a:cubicBezTo>
                  <a:cubicBezTo>
                    <a:pt x="292608" y="227076"/>
                    <a:pt x="227076" y="292608"/>
                    <a:pt x="146304" y="292608"/>
                  </a:cubicBezTo>
                  <a:cubicBezTo>
                    <a:pt x="65532" y="292608"/>
                    <a:pt x="0" y="227076"/>
                    <a:pt x="0" y="146304"/>
                  </a:cubicBezTo>
                  <a:close/>
                </a:path>
              </a:pathLst>
            </a:custGeom>
            <a:solidFill>
              <a:srgbClr val="2E9F6E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1311509" y="7653242"/>
            <a:ext cx="2397043" cy="905256"/>
            <a:chOff x="0" y="0"/>
            <a:chExt cx="3196057" cy="12070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3196056" cy="1207008"/>
            </a:xfrm>
            <a:custGeom>
              <a:avLst/>
              <a:gdLst/>
              <a:ahLst/>
              <a:cxnLst/>
              <a:rect r="r" b="b" t="t" l="l"/>
              <a:pathLst>
                <a:path h="1207008" w="3196056">
                  <a:moveTo>
                    <a:pt x="0" y="0"/>
                  </a:moveTo>
                  <a:lnTo>
                    <a:pt x="3196056" y="0"/>
                  </a:lnTo>
                  <a:lnTo>
                    <a:pt x="3196056" y="1207008"/>
                  </a:lnTo>
                  <a:lnTo>
                    <a:pt x="0" y="12070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64" t="0" r="6455" b="0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0"/>
              <a:ext cx="3196057" cy="12070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spc="6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업무 연속성 개선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744700" y="521208"/>
            <a:ext cx="2743200" cy="637413"/>
            <a:chOff x="0" y="0"/>
            <a:chExt cx="3657600" cy="84988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57600" cy="849884"/>
            </a:xfrm>
            <a:custGeom>
              <a:avLst/>
              <a:gdLst/>
              <a:ahLst/>
              <a:cxnLst/>
              <a:rect r="r" b="b" t="t" l="l"/>
              <a:pathLst>
                <a:path h="849884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034" r="0" b="-9678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365760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b="true" sz="1650" spc="165">
                  <a:solidFill>
                    <a:srgbClr val="91A2B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협업 운영 체계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95528" y="707898"/>
            <a:ext cx="12070080" cy="1457325"/>
            <a:chOff x="0" y="0"/>
            <a:chExt cx="16093440" cy="19431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093439" cy="1943100"/>
            </a:xfrm>
            <a:custGeom>
              <a:avLst/>
              <a:gdLst/>
              <a:ahLst/>
              <a:cxnLst/>
              <a:rect r="r" b="b" t="t" l="l"/>
              <a:pathLst>
                <a:path h="1943100" w="16093439">
                  <a:moveTo>
                    <a:pt x="0" y="0"/>
                  </a:moveTo>
                  <a:lnTo>
                    <a:pt x="16093439" y="0"/>
                  </a:lnTo>
                  <a:lnTo>
                    <a:pt x="16093439" y="1943100"/>
                  </a:lnTo>
                  <a:lnTo>
                    <a:pt x="0" y="19431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0205" r="0" b="-8255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16093440" cy="19526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00"/>
                </a:lnSpc>
              </a:pPr>
              <a:r>
                <a:rPr lang="en-US" sz="3750" b="true">
                  <a:solidFill>
                    <a:srgbClr val="111D3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GitHub PR과 Slack 피드백으로 연결한 협업 흐름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95528" y="1593775"/>
            <a:ext cx="11658600" cy="684809"/>
            <a:chOff x="0" y="0"/>
            <a:chExt cx="15544800" cy="91307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544800" cy="913079"/>
            </a:xfrm>
            <a:custGeom>
              <a:avLst/>
              <a:gdLst/>
              <a:ahLst/>
              <a:cxnLst/>
              <a:rect r="r" b="b" t="t" l="l"/>
              <a:pathLst>
                <a:path h="913079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913079"/>
                  </a:lnTo>
                  <a:lnTo>
                    <a:pt x="0" y="91307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3684" r="0" b="-259765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15544800" cy="9130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24"/>
                </a:lnSpc>
              </a:pPr>
              <a:r>
                <a:rPr lang="en-US" sz="1770">
                  <a:solidFill>
                    <a:srgbClr val="667A9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구현 결과를 GitHub에서 검증하고, Slack 피드백을 다음 작업에 반영했다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787908" y="2433828"/>
            <a:ext cx="8189976" cy="6256020"/>
            <a:chOff x="0" y="0"/>
            <a:chExt cx="10919968" cy="83413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919968" cy="8341360"/>
            </a:xfrm>
            <a:custGeom>
              <a:avLst/>
              <a:gdLst/>
              <a:ahLst/>
              <a:cxnLst/>
              <a:rect r="r" b="b" t="t" l="l"/>
              <a:pathLst>
                <a:path h="8341360" w="1091996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10773283" y="0"/>
                  </a:lnTo>
                  <a:cubicBezTo>
                    <a:pt x="10854309" y="0"/>
                    <a:pt x="10919968" y="65659"/>
                    <a:pt x="10919968" y="146685"/>
                  </a:cubicBezTo>
                  <a:lnTo>
                    <a:pt x="10919968" y="8194675"/>
                  </a:lnTo>
                  <a:cubicBezTo>
                    <a:pt x="10919968" y="8275701"/>
                    <a:pt x="10854309" y="8341360"/>
                    <a:pt x="10773283" y="8341360"/>
                  </a:cubicBezTo>
                  <a:lnTo>
                    <a:pt x="146685" y="8341360"/>
                  </a:lnTo>
                  <a:cubicBezTo>
                    <a:pt x="65659" y="8341360"/>
                    <a:pt x="0" y="8275701"/>
                    <a:pt x="0" y="8194675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E6E0D7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786003" y="2431923"/>
            <a:ext cx="94488" cy="6259830"/>
            <a:chOff x="0" y="0"/>
            <a:chExt cx="125984" cy="83464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5984" cy="8346440"/>
            </a:xfrm>
            <a:custGeom>
              <a:avLst/>
              <a:gdLst/>
              <a:ahLst/>
              <a:cxnLst/>
              <a:rect r="r" b="b" t="t" l="l"/>
              <a:pathLst>
                <a:path h="8346440" w="125984">
                  <a:moveTo>
                    <a:pt x="0" y="0"/>
                  </a:moveTo>
                  <a:lnTo>
                    <a:pt x="125984" y="0"/>
                  </a:lnTo>
                  <a:lnTo>
                    <a:pt x="125984" y="8346440"/>
                  </a:lnTo>
                  <a:lnTo>
                    <a:pt x="0" y="8346440"/>
                  </a:lnTo>
                  <a:close/>
                </a:path>
              </a:pathLst>
            </a:custGeom>
            <a:solidFill>
              <a:srgbClr val="F15A2A"/>
            </a:solidFill>
            <a:ln w="19050" cap="sq">
              <a:solidFill>
                <a:srgbClr val="F15A2A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97280" y="2662999"/>
            <a:ext cx="2132039" cy="546164"/>
            <a:chOff x="0" y="0"/>
            <a:chExt cx="2842718" cy="72821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842718" cy="728218"/>
            </a:xfrm>
            <a:custGeom>
              <a:avLst/>
              <a:gdLst/>
              <a:ahLst/>
              <a:cxnLst/>
              <a:rect r="r" b="b" t="t" l="l"/>
              <a:pathLst>
                <a:path h="728218" w="2842718">
                  <a:moveTo>
                    <a:pt x="0" y="0"/>
                  </a:moveTo>
                  <a:lnTo>
                    <a:pt x="2842718" y="0"/>
                  </a:lnTo>
                  <a:lnTo>
                    <a:pt x="2842718" y="728218"/>
                  </a:lnTo>
                  <a:lnTo>
                    <a:pt x="0" y="7282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61" r="56253" b="4161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2842718" cy="728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180">
                  <a:solidFill>
                    <a:srgbClr val="F15A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STEP 01 — REVIEW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97280" y="2885034"/>
            <a:ext cx="4937760" cy="1047369"/>
            <a:chOff x="0" y="0"/>
            <a:chExt cx="6583680" cy="139649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583680" cy="1396492"/>
            </a:xfrm>
            <a:custGeom>
              <a:avLst/>
              <a:gdLst/>
              <a:ahLst/>
              <a:cxnLst/>
              <a:rect r="r" b="b" t="t" l="l"/>
              <a:pathLst>
                <a:path h="1396492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396492"/>
                  </a:lnTo>
                  <a:lnTo>
                    <a:pt x="0" y="13964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0907" r="0" b="-12814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6583680" cy="13964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1724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GitHub PR — 구현 결과 검증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97280" y="3675888"/>
            <a:ext cx="7269480" cy="610172"/>
            <a:chOff x="0" y="0"/>
            <a:chExt cx="9692640" cy="81356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692640" cy="813562"/>
            </a:xfrm>
            <a:custGeom>
              <a:avLst/>
              <a:gdLst/>
              <a:ahLst/>
              <a:cxnLst/>
              <a:rect r="r" b="b" t="t" l="l"/>
              <a:pathLst>
                <a:path h="813562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166" r="0" b="-159116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9525"/>
              <a:ext cx="969264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47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PR 단위로 구현 결과를 공유하고 리뷰 이력을 남겼다.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97280" y="4032504"/>
            <a:ext cx="7269480" cy="610172"/>
            <a:chOff x="0" y="0"/>
            <a:chExt cx="9692640" cy="81356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692640" cy="813562"/>
            </a:xfrm>
            <a:custGeom>
              <a:avLst/>
              <a:gdLst/>
              <a:ahLst/>
              <a:cxnLst/>
              <a:rect r="r" b="b" t="t" l="l"/>
              <a:pathLst>
                <a:path h="813562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166" r="0" b="-15911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9525"/>
              <a:ext cx="969264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47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변경 사항·충돌·Merge 상태를 한 화면에서 추적했다.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87755" y="4557903"/>
            <a:ext cx="7562850" cy="3123438"/>
            <a:chOff x="0" y="0"/>
            <a:chExt cx="10083800" cy="416458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083800" cy="4164584"/>
            </a:xfrm>
            <a:custGeom>
              <a:avLst/>
              <a:gdLst/>
              <a:ahLst/>
              <a:cxnLst/>
              <a:rect r="r" b="b" t="t" l="l"/>
              <a:pathLst>
                <a:path h="4164584" w="10083800">
                  <a:moveTo>
                    <a:pt x="0" y="114555"/>
                  </a:moveTo>
                  <a:cubicBezTo>
                    <a:pt x="0" y="51280"/>
                    <a:pt x="49403" y="0"/>
                    <a:pt x="110363" y="0"/>
                  </a:cubicBezTo>
                  <a:lnTo>
                    <a:pt x="9973437" y="0"/>
                  </a:lnTo>
                  <a:cubicBezTo>
                    <a:pt x="10034397" y="0"/>
                    <a:pt x="10083800" y="51280"/>
                    <a:pt x="10083800" y="114555"/>
                  </a:cubicBezTo>
                  <a:lnTo>
                    <a:pt x="10083800" y="4050029"/>
                  </a:lnTo>
                  <a:cubicBezTo>
                    <a:pt x="10083800" y="4113304"/>
                    <a:pt x="10034397" y="4164584"/>
                    <a:pt x="9973437" y="4164584"/>
                  </a:cubicBezTo>
                  <a:lnTo>
                    <a:pt x="110363" y="4164584"/>
                  </a:lnTo>
                  <a:cubicBezTo>
                    <a:pt x="49403" y="4164584"/>
                    <a:pt x="0" y="4113304"/>
                    <a:pt x="0" y="4050029"/>
                  </a:cubicBezTo>
                  <a:close/>
                </a:path>
              </a:pathLst>
            </a:custGeom>
            <a:blipFill>
              <a:blip r:embed="rId4"/>
              <a:stretch>
                <a:fillRect l="0" t="-17343" r="0" b="-17343"/>
              </a:stretch>
            </a:blipFill>
            <a:ln w="19050" cap="sq">
              <a:solidFill>
                <a:srgbClr val="C7D2DE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360170" y="4857750"/>
            <a:ext cx="269748" cy="22860"/>
            <a:chOff x="0" y="0"/>
            <a:chExt cx="359664" cy="304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59664" cy="30480"/>
            </a:xfrm>
            <a:custGeom>
              <a:avLst/>
              <a:gdLst/>
              <a:ahLst/>
              <a:cxnLst/>
              <a:rect r="r" b="b" t="t" l="l"/>
              <a:pathLst>
                <a:path h="30480" w="359664">
                  <a:moveTo>
                    <a:pt x="0" y="0"/>
                  </a:moveTo>
                  <a:lnTo>
                    <a:pt x="359664" y="3048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179923" r="0" b="-179923"/>
              </a:stretch>
            </a:blipFill>
            <a:ln w="22860" cap="sq">
              <a:solidFill>
                <a:srgbClr val="AEBBC8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360170" y="4857750"/>
            <a:ext cx="22860" cy="269748"/>
            <a:chOff x="0" y="0"/>
            <a:chExt cx="30480" cy="3596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0480" cy="359664"/>
            </a:xfrm>
            <a:custGeom>
              <a:avLst/>
              <a:gdLst/>
              <a:ahLst/>
              <a:cxnLst/>
              <a:rect r="r" b="b" t="t" l="l"/>
              <a:pathLst>
                <a:path h="359664" w="30480">
                  <a:moveTo>
                    <a:pt x="0" y="0"/>
                  </a:moveTo>
                  <a:lnTo>
                    <a:pt x="30480" y="359664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1463982" t="0" r="-1463982" b="0"/>
              </a:stretch>
            </a:blipFill>
            <a:ln w="22860" cap="sq">
              <a:solidFill>
                <a:srgbClr val="AEBBC8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8355330" y="4857750"/>
            <a:ext cx="22860" cy="269748"/>
            <a:chOff x="0" y="0"/>
            <a:chExt cx="30480" cy="35966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0480" cy="359664"/>
            </a:xfrm>
            <a:custGeom>
              <a:avLst/>
              <a:gdLst/>
              <a:ahLst/>
              <a:cxnLst/>
              <a:rect r="r" b="b" t="t" l="l"/>
              <a:pathLst>
                <a:path h="359664" w="30480">
                  <a:moveTo>
                    <a:pt x="0" y="0"/>
                  </a:moveTo>
                  <a:lnTo>
                    <a:pt x="30480" y="359664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1463982" t="0" r="-1463982" b="0"/>
              </a:stretch>
            </a:blipFill>
            <a:ln w="22860" cap="sq">
              <a:solidFill>
                <a:srgbClr val="AEBBC8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360170" y="7244334"/>
            <a:ext cx="269748" cy="22860"/>
            <a:chOff x="0" y="0"/>
            <a:chExt cx="359664" cy="304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59664" cy="30480"/>
            </a:xfrm>
            <a:custGeom>
              <a:avLst/>
              <a:gdLst/>
              <a:ahLst/>
              <a:cxnLst/>
              <a:rect r="r" b="b" t="t" l="l"/>
              <a:pathLst>
                <a:path h="30480" w="359664">
                  <a:moveTo>
                    <a:pt x="0" y="0"/>
                  </a:moveTo>
                  <a:lnTo>
                    <a:pt x="359664" y="3048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179923" r="0" b="-179923"/>
              </a:stretch>
            </a:blipFill>
            <a:ln w="22860" cap="sq">
              <a:solidFill>
                <a:srgbClr val="AEBBC8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087755" y="7849743"/>
            <a:ext cx="7562850" cy="567690"/>
            <a:chOff x="0" y="0"/>
            <a:chExt cx="10083800" cy="75692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083800" cy="756920"/>
            </a:xfrm>
            <a:custGeom>
              <a:avLst/>
              <a:gdLst/>
              <a:ahLst/>
              <a:cxnLst/>
              <a:rect r="r" b="b" t="t" l="l"/>
              <a:pathLst>
                <a:path h="756920" w="1008380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lnTo>
                    <a:pt x="9989185" y="0"/>
                  </a:lnTo>
                  <a:cubicBezTo>
                    <a:pt x="10041382" y="0"/>
                    <a:pt x="10083800" y="42418"/>
                    <a:pt x="10083800" y="94615"/>
                  </a:cubicBezTo>
                  <a:lnTo>
                    <a:pt x="10083800" y="662305"/>
                  </a:lnTo>
                  <a:cubicBezTo>
                    <a:pt x="10083800" y="714502"/>
                    <a:pt x="10041382" y="756920"/>
                    <a:pt x="9989185" y="756920"/>
                  </a:cubicBezTo>
                  <a:lnTo>
                    <a:pt x="94615" y="756920"/>
                  </a:lnTo>
                  <a:cubicBezTo>
                    <a:pt x="42418" y="756920"/>
                    <a:pt x="0" y="714502"/>
                    <a:pt x="0" y="662305"/>
                  </a:cubicBezTo>
                  <a:close/>
                </a:path>
              </a:pathLst>
            </a:custGeom>
            <a:solidFill>
              <a:srgbClr val="DFF3E8"/>
            </a:solidFill>
            <a:ln w="19050" cap="sq">
              <a:solidFill>
                <a:srgbClr val="DFF3E8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097280" y="7843266"/>
            <a:ext cx="7543800" cy="637413"/>
            <a:chOff x="0" y="0"/>
            <a:chExt cx="10058400" cy="84988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058400" cy="849884"/>
            </a:xfrm>
            <a:custGeom>
              <a:avLst/>
              <a:gdLst/>
              <a:ahLst/>
              <a:cxnLst/>
              <a:rect r="r" b="b" t="t" l="l"/>
              <a:pathLst>
                <a:path h="84988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391" r="0" b="-14782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0"/>
              <a:ext cx="1005840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E7A4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구현 결과 검증 · 변경 이력 관리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346692" y="2433828"/>
            <a:ext cx="8189976" cy="6256020"/>
            <a:chOff x="0" y="0"/>
            <a:chExt cx="10919968" cy="83413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919968" cy="8341360"/>
            </a:xfrm>
            <a:custGeom>
              <a:avLst/>
              <a:gdLst/>
              <a:ahLst/>
              <a:cxnLst/>
              <a:rect r="r" b="b" t="t" l="l"/>
              <a:pathLst>
                <a:path h="8341360" w="1091996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10773283" y="0"/>
                  </a:lnTo>
                  <a:cubicBezTo>
                    <a:pt x="10854309" y="0"/>
                    <a:pt x="10919968" y="65659"/>
                    <a:pt x="10919968" y="146685"/>
                  </a:cubicBezTo>
                  <a:lnTo>
                    <a:pt x="10919968" y="8194675"/>
                  </a:lnTo>
                  <a:cubicBezTo>
                    <a:pt x="10919968" y="8275701"/>
                    <a:pt x="10854309" y="8341360"/>
                    <a:pt x="10773283" y="8341360"/>
                  </a:cubicBezTo>
                  <a:lnTo>
                    <a:pt x="146685" y="8341360"/>
                  </a:lnTo>
                  <a:cubicBezTo>
                    <a:pt x="65659" y="8341360"/>
                    <a:pt x="0" y="8275701"/>
                    <a:pt x="0" y="8194675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E6E0D7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9344787" y="2431923"/>
            <a:ext cx="94488" cy="6259830"/>
            <a:chOff x="0" y="0"/>
            <a:chExt cx="125984" cy="83464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25984" cy="8346440"/>
            </a:xfrm>
            <a:custGeom>
              <a:avLst/>
              <a:gdLst/>
              <a:ahLst/>
              <a:cxnLst/>
              <a:rect r="r" b="b" t="t" l="l"/>
              <a:pathLst>
                <a:path h="8346440" w="125984">
                  <a:moveTo>
                    <a:pt x="0" y="0"/>
                  </a:moveTo>
                  <a:lnTo>
                    <a:pt x="125984" y="0"/>
                  </a:lnTo>
                  <a:lnTo>
                    <a:pt x="125984" y="8346440"/>
                  </a:lnTo>
                  <a:lnTo>
                    <a:pt x="0" y="8346440"/>
                  </a:lnTo>
                  <a:close/>
                </a:path>
              </a:pathLst>
            </a:custGeom>
            <a:solidFill>
              <a:srgbClr val="17243A"/>
            </a:solidFill>
            <a:ln w="19050" cap="sq">
              <a:solidFill>
                <a:srgbClr val="17243A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656064" y="2662999"/>
            <a:ext cx="2468880" cy="546164"/>
            <a:chOff x="0" y="0"/>
            <a:chExt cx="3291840" cy="728218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291840" cy="728218"/>
            </a:xfrm>
            <a:custGeom>
              <a:avLst/>
              <a:gdLst/>
              <a:ahLst/>
              <a:cxnLst/>
              <a:rect r="r" b="b" t="t" l="l"/>
              <a:pathLst>
                <a:path h="728218" w="3291840">
                  <a:moveTo>
                    <a:pt x="0" y="0"/>
                  </a:moveTo>
                  <a:lnTo>
                    <a:pt x="3291840" y="0"/>
                  </a:lnTo>
                  <a:lnTo>
                    <a:pt x="3291840" y="728218"/>
                  </a:lnTo>
                  <a:lnTo>
                    <a:pt x="0" y="7282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61" r="62222" b="41611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3291840" cy="728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180">
                  <a:solidFill>
                    <a:srgbClr val="1724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STEP 02 — FEEDBACK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9656064" y="2885034"/>
            <a:ext cx="4937760" cy="1047369"/>
            <a:chOff x="0" y="0"/>
            <a:chExt cx="6583680" cy="139649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583680" cy="1396492"/>
            </a:xfrm>
            <a:custGeom>
              <a:avLst/>
              <a:gdLst/>
              <a:ahLst/>
              <a:cxnLst/>
              <a:rect r="r" b="b" t="t" l="l"/>
              <a:pathLst>
                <a:path h="1396492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1396492"/>
                  </a:lnTo>
                  <a:lnTo>
                    <a:pt x="0" y="13964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0907" r="0" b="-12814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6583680" cy="13964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1724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Slack — 피드백 공유·반영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656064" y="3675888"/>
            <a:ext cx="7269480" cy="610172"/>
            <a:chOff x="0" y="0"/>
            <a:chExt cx="9692640" cy="813562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692640" cy="813562"/>
            </a:xfrm>
            <a:custGeom>
              <a:avLst/>
              <a:gdLst/>
              <a:ahLst/>
              <a:cxnLst/>
              <a:rect r="r" b="b" t="t" l="l"/>
              <a:pathLst>
                <a:path h="813562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166" r="0" b="-159116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9525"/>
              <a:ext cx="969264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47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이슈와 리뷰 결과를 빠르게 공유해 의사결정을 정리했다.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9656064" y="4032504"/>
            <a:ext cx="7269480" cy="610172"/>
            <a:chOff x="0" y="0"/>
            <a:chExt cx="9692640" cy="813562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9692640" cy="813562"/>
            </a:xfrm>
            <a:custGeom>
              <a:avLst/>
              <a:gdLst/>
              <a:ahLst/>
              <a:cxnLst/>
              <a:rect r="r" b="b" t="t" l="l"/>
              <a:pathLst>
                <a:path h="813562" w="9692640">
                  <a:moveTo>
                    <a:pt x="0" y="0"/>
                  </a:moveTo>
                  <a:lnTo>
                    <a:pt x="9692640" y="0"/>
                  </a:lnTo>
                  <a:lnTo>
                    <a:pt x="969264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166" r="0" b="-159116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969264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2647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확정된 피드백은 다음 개발 작업과 PR에 즉시 반영했다.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9918954" y="4857750"/>
            <a:ext cx="269748" cy="22860"/>
            <a:chOff x="0" y="0"/>
            <a:chExt cx="359664" cy="3048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59664" cy="30480"/>
            </a:xfrm>
            <a:custGeom>
              <a:avLst/>
              <a:gdLst/>
              <a:ahLst/>
              <a:cxnLst/>
              <a:rect r="r" b="b" t="t" l="l"/>
              <a:pathLst>
                <a:path h="30480" w="359664">
                  <a:moveTo>
                    <a:pt x="0" y="0"/>
                  </a:moveTo>
                  <a:lnTo>
                    <a:pt x="359664" y="3048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179923" r="0" b="-179923"/>
              </a:stretch>
            </a:blipFill>
            <a:ln w="22860" cap="sq">
              <a:solidFill>
                <a:srgbClr val="AEBBC8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9918954" y="4857750"/>
            <a:ext cx="22860" cy="269748"/>
            <a:chOff x="0" y="0"/>
            <a:chExt cx="30480" cy="3596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0480" cy="359664"/>
            </a:xfrm>
            <a:custGeom>
              <a:avLst/>
              <a:gdLst/>
              <a:ahLst/>
              <a:cxnLst/>
              <a:rect r="r" b="b" t="t" l="l"/>
              <a:pathLst>
                <a:path h="359664" w="30480">
                  <a:moveTo>
                    <a:pt x="0" y="0"/>
                  </a:moveTo>
                  <a:lnTo>
                    <a:pt x="30480" y="359664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1463982" t="0" r="-1463982" b="0"/>
              </a:stretch>
            </a:blipFill>
            <a:ln w="22860" cap="sq">
              <a:solidFill>
                <a:srgbClr val="AEBBC8"/>
              </a:solidFill>
              <a:prstDash val="solid"/>
              <a:miter/>
            </a:ln>
          </p:spPr>
        </p:sp>
      </p:grpSp>
      <p:grpSp>
        <p:nvGrpSpPr>
          <p:cNvPr name="Group 64" id="64"/>
          <p:cNvGrpSpPr/>
          <p:nvPr/>
        </p:nvGrpSpPr>
        <p:grpSpPr>
          <a:xfrm rot="0">
            <a:off x="16914114" y="4857750"/>
            <a:ext cx="22860" cy="269748"/>
            <a:chOff x="0" y="0"/>
            <a:chExt cx="30480" cy="3596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0480" cy="359664"/>
            </a:xfrm>
            <a:custGeom>
              <a:avLst/>
              <a:gdLst/>
              <a:ahLst/>
              <a:cxnLst/>
              <a:rect r="r" b="b" t="t" l="l"/>
              <a:pathLst>
                <a:path h="359664" w="30480">
                  <a:moveTo>
                    <a:pt x="0" y="0"/>
                  </a:moveTo>
                  <a:lnTo>
                    <a:pt x="30480" y="359664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1463982" t="0" r="-1463982" b="0"/>
              </a:stretch>
            </a:blipFill>
            <a:ln w="22860" cap="sq">
              <a:solidFill>
                <a:srgbClr val="AEBBC8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918954" y="7244334"/>
            <a:ext cx="269748" cy="22860"/>
            <a:chOff x="0" y="0"/>
            <a:chExt cx="359664" cy="304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359664" cy="30480"/>
            </a:xfrm>
            <a:custGeom>
              <a:avLst/>
              <a:gdLst/>
              <a:ahLst/>
              <a:cxnLst/>
              <a:rect r="r" b="b" t="t" l="l"/>
              <a:pathLst>
                <a:path h="30480" w="359664">
                  <a:moveTo>
                    <a:pt x="0" y="0"/>
                  </a:moveTo>
                  <a:lnTo>
                    <a:pt x="359664" y="3048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179923" r="0" b="-179923"/>
              </a:stretch>
            </a:blipFill>
            <a:ln w="22860" cap="sq">
              <a:solidFill>
                <a:srgbClr val="AEBBC8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9646539" y="7849743"/>
            <a:ext cx="7562850" cy="567690"/>
            <a:chOff x="0" y="0"/>
            <a:chExt cx="10083800" cy="7569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0083800" cy="756920"/>
            </a:xfrm>
            <a:custGeom>
              <a:avLst/>
              <a:gdLst/>
              <a:ahLst/>
              <a:cxnLst/>
              <a:rect r="r" b="b" t="t" l="l"/>
              <a:pathLst>
                <a:path h="756920" w="1008380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lnTo>
                    <a:pt x="9989185" y="0"/>
                  </a:lnTo>
                  <a:cubicBezTo>
                    <a:pt x="10041382" y="0"/>
                    <a:pt x="10083800" y="42418"/>
                    <a:pt x="10083800" y="94615"/>
                  </a:cubicBezTo>
                  <a:lnTo>
                    <a:pt x="10083800" y="662305"/>
                  </a:lnTo>
                  <a:cubicBezTo>
                    <a:pt x="10083800" y="714502"/>
                    <a:pt x="10041382" y="756920"/>
                    <a:pt x="9989185" y="756920"/>
                  </a:cubicBezTo>
                  <a:lnTo>
                    <a:pt x="94615" y="756920"/>
                  </a:lnTo>
                  <a:cubicBezTo>
                    <a:pt x="42418" y="756920"/>
                    <a:pt x="0" y="714502"/>
                    <a:pt x="0" y="662305"/>
                  </a:cubicBezTo>
                  <a:close/>
                </a:path>
              </a:pathLst>
            </a:custGeom>
            <a:solidFill>
              <a:srgbClr val="DFF3E8"/>
            </a:solidFill>
            <a:ln w="19050" cap="sq">
              <a:solidFill>
                <a:srgbClr val="DFF3E8"/>
              </a:solidFill>
              <a:prstDash val="solid"/>
              <a:miter/>
            </a:ln>
          </p:spPr>
        </p:sp>
      </p:grpSp>
      <p:grpSp>
        <p:nvGrpSpPr>
          <p:cNvPr name="Group 70" id="70"/>
          <p:cNvGrpSpPr/>
          <p:nvPr/>
        </p:nvGrpSpPr>
        <p:grpSpPr>
          <a:xfrm rot="0">
            <a:off x="9656064" y="7814881"/>
            <a:ext cx="7543800" cy="637413"/>
            <a:chOff x="0" y="0"/>
            <a:chExt cx="10058400" cy="84988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0058400" cy="849884"/>
            </a:xfrm>
            <a:custGeom>
              <a:avLst/>
              <a:gdLst/>
              <a:ahLst/>
              <a:cxnLst/>
              <a:rect r="r" b="b" t="t" l="l"/>
              <a:pathLst>
                <a:path h="84988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391" r="0" b="-14782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0"/>
              <a:ext cx="1005840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E7A4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빠른 피드백 · 다음 작업 연결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8963406" y="5092827"/>
            <a:ext cx="375666" cy="649986"/>
            <a:chOff x="0" y="0"/>
            <a:chExt cx="500888" cy="866648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500888" cy="866648"/>
            </a:xfrm>
            <a:custGeom>
              <a:avLst/>
              <a:gdLst/>
              <a:ahLst/>
              <a:cxnLst/>
              <a:rect r="r" b="b" t="t" l="l"/>
              <a:pathLst>
                <a:path h="866648" w="500888">
                  <a:moveTo>
                    <a:pt x="0" y="0"/>
                  </a:moveTo>
                  <a:lnTo>
                    <a:pt x="250444" y="0"/>
                  </a:lnTo>
                  <a:lnTo>
                    <a:pt x="500888" y="433324"/>
                  </a:lnTo>
                  <a:lnTo>
                    <a:pt x="250444" y="866648"/>
                  </a:lnTo>
                  <a:lnTo>
                    <a:pt x="0" y="866648"/>
                  </a:lnTo>
                  <a:lnTo>
                    <a:pt x="250444" y="433324"/>
                  </a:lnTo>
                  <a:close/>
                </a:path>
              </a:pathLst>
            </a:custGeom>
            <a:solidFill>
              <a:srgbClr val="19A66A"/>
            </a:solidFill>
            <a:ln w="19050" cap="sq">
              <a:solidFill>
                <a:srgbClr val="19A66A"/>
              </a:solidFill>
              <a:prstDash val="solid"/>
              <a:miter/>
            </a:ln>
          </p:spPr>
        </p:sp>
      </p:grpSp>
      <p:grpSp>
        <p:nvGrpSpPr>
          <p:cNvPr name="Group 75" id="75"/>
          <p:cNvGrpSpPr/>
          <p:nvPr/>
        </p:nvGrpSpPr>
        <p:grpSpPr>
          <a:xfrm rot="0">
            <a:off x="786003" y="8864727"/>
            <a:ext cx="16711422" cy="512826"/>
            <a:chOff x="0" y="0"/>
            <a:chExt cx="22281896" cy="683768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2281896" cy="683768"/>
            </a:xfrm>
            <a:custGeom>
              <a:avLst/>
              <a:gdLst/>
              <a:ahLst/>
              <a:cxnLst/>
              <a:rect r="r" b="b" t="t" l="l"/>
              <a:pathLst>
                <a:path h="683768" w="22281896">
                  <a:moveTo>
                    <a:pt x="0" y="75946"/>
                  </a:moveTo>
                  <a:cubicBezTo>
                    <a:pt x="0" y="34036"/>
                    <a:pt x="34036" y="0"/>
                    <a:pt x="75946" y="0"/>
                  </a:cubicBezTo>
                  <a:lnTo>
                    <a:pt x="22205950" y="0"/>
                  </a:lnTo>
                  <a:cubicBezTo>
                    <a:pt x="22247861" y="0"/>
                    <a:pt x="22281896" y="34036"/>
                    <a:pt x="22281896" y="75946"/>
                  </a:cubicBezTo>
                  <a:lnTo>
                    <a:pt x="22281896" y="607822"/>
                  </a:lnTo>
                  <a:cubicBezTo>
                    <a:pt x="22281896" y="649732"/>
                    <a:pt x="22247861" y="683768"/>
                    <a:pt x="22205950" y="683768"/>
                  </a:cubicBezTo>
                  <a:lnTo>
                    <a:pt x="75946" y="683768"/>
                  </a:lnTo>
                  <a:cubicBezTo>
                    <a:pt x="34036" y="683768"/>
                    <a:pt x="0" y="649732"/>
                    <a:pt x="0" y="607822"/>
                  </a:cubicBezTo>
                  <a:close/>
                </a:path>
              </a:pathLst>
            </a:custGeom>
            <a:solidFill>
              <a:srgbClr val="E3F4EC"/>
            </a:solidFill>
            <a:ln w="19050" cap="sq">
              <a:solidFill>
                <a:srgbClr val="E3F4EC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2331720" y="8779288"/>
            <a:ext cx="13441680" cy="664655"/>
            <a:chOff x="0" y="0"/>
            <a:chExt cx="17922240" cy="88620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7922239" cy="886206"/>
            </a:xfrm>
            <a:custGeom>
              <a:avLst/>
              <a:gdLst/>
              <a:ahLst/>
              <a:cxnLst/>
              <a:rect r="r" b="b" t="t" l="l"/>
              <a:pathLst>
                <a:path h="886206" w="17922239">
                  <a:moveTo>
                    <a:pt x="0" y="0"/>
                  </a:moveTo>
                  <a:lnTo>
                    <a:pt x="17922239" y="0"/>
                  </a:lnTo>
                  <a:lnTo>
                    <a:pt x="17922239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7547" r="0" b="-310565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0"/>
              <a:ext cx="1792224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52647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구현 결과는 </a:t>
              </a:r>
              <a:r>
                <a:rPr lang="en-US" sz="1725" b="true">
                  <a:solidFill>
                    <a:srgbClr val="0E7A4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GitHub PR</a:t>
              </a:r>
              <a:r>
                <a:rPr lang="en-US" sz="1725">
                  <a:solidFill>
                    <a:srgbClr val="52647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 검증하고, </a:t>
              </a:r>
              <a:r>
                <a:rPr lang="en-US" sz="1725" b="true">
                  <a:solidFill>
                    <a:srgbClr val="0E7A4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Slack 피드백</a:t>
              </a:r>
              <a:r>
                <a:rPr lang="en-US" sz="1725">
                  <a:solidFill>
                    <a:srgbClr val="52647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을 다음 개발 작업에 반영했다.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7026783" y="2651379"/>
            <a:ext cx="1459230" cy="348234"/>
            <a:chOff x="0" y="0"/>
            <a:chExt cx="1945640" cy="46431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945640" cy="464312"/>
            </a:xfrm>
            <a:custGeom>
              <a:avLst/>
              <a:gdLst/>
              <a:ahLst/>
              <a:cxnLst/>
              <a:rect r="r" b="b" t="t" l="l"/>
              <a:pathLst>
                <a:path h="464312" w="1945640">
                  <a:moveTo>
                    <a:pt x="0" y="154813"/>
                  </a:moveTo>
                  <a:cubicBezTo>
                    <a:pt x="0" y="69342"/>
                    <a:pt x="69342" y="0"/>
                    <a:pt x="154813" y="0"/>
                  </a:cubicBezTo>
                  <a:lnTo>
                    <a:pt x="1790827" y="0"/>
                  </a:lnTo>
                  <a:cubicBezTo>
                    <a:pt x="1876298" y="0"/>
                    <a:pt x="1945640" y="69342"/>
                    <a:pt x="1945640" y="154813"/>
                  </a:cubicBezTo>
                  <a:lnTo>
                    <a:pt x="1945640" y="309499"/>
                  </a:lnTo>
                  <a:cubicBezTo>
                    <a:pt x="1945640" y="394970"/>
                    <a:pt x="1876298" y="464312"/>
                    <a:pt x="1790827" y="464312"/>
                  </a:cubicBezTo>
                  <a:lnTo>
                    <a:pt x="154813" y="464312"/>
                  </a:lnTo>
                  <a:cubicBezTo>
                    <a:pt x="69342" y="464312"/>
                    <a:pt x="0" y="394970"/>
                    <a:pt x="0" y="309499"/>
                  </a:cubicBezTo>
                  <a:close/>
                </a:path>
              </a:pathLst>
            </a:custGeom>
            <a:solidFill>
              <a:srgbClr val="FDE7DF"/>
            </a:solidFill>
            <a:ln w="19050" cap="sq">
              <a:solidFill>
                <a:srgbClr val="FDE7DF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7026783" y="2579656"/>
            <a:ext cx="1440180" cy="491681"/>
            <a:chOff x="0" y="0"/>
            <a:chExt cx="1920240" cy="655574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1920240" cy="655574"/>
            </a:xfrm>
            <a:custGeom>
              <a:avLst/>
              <a:gdLst/>
              <a:ahLst/>
              <a:cxnLst/>
              <a:rect r="r" b="b" t="t" l="l"/>
              <a:pathLst>
                <a:path h="655574" w="1920240">
                  <a:moveTo>
                    <a:pt x="0" y="0"/>
                  </a:moveTo>
                  <a:lnTo>
                    <a:pt x="1920240" y="0"/>
                  </a:lnTo>
                  <a:lnTo>
                    <a:pt x="1920240" y="655574"/>
                  </a:lnTo>
                  <a:lnTo>
                    <a:pt x="0" y="6555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335" r="0" b="26188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9525"/>
              <a:ext cx="1920240" cy="6650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 b="true">
                  <a:solidFill>
                    <a:srgbClr val="E94A1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Code Review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9677400" y="4617720"/>
            <a:ext cx="7522464" cy="2996946"/>
            <a:chOff x="0" y="0"/>
            <a:chExt cx="9538750" cy="3800234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9538750" cy="3800234"/>
            </a:xfrm>
            <a:custGeom>
              <a:avLst/>
              <a:gdLst/>
              <a:ahLst/>
              <a:cxnLst/>
              <a:rect r="r" b="b" t="t" l="l"/>
              <a:pathLst>
                <a:path h="3800234" w="9538750">
                  <a:moveTo>
                    <a:pt x="0" y="0"/>
                  </a:moveTo>
                  <a:lnTo>
                    <a:pt x="9538750" y="0"/>
                  </a:lnTo>
                  <a:lnTo>
                    <a:pt x="9538750" y="3800234"/>
                  </a:lnTo>
                  <a:lnTo>
                    <a:pt x="0" y="3800234"/>
                  </a:lnTo>
                  <a:close/>
                </a:path>
              </a:pathLst>
            </a:custGeom>
            <a:blipFill>
              <a:blip r:embed="rId5"/>
              <a:stretch>
                <a:fillRect l="0" t="-23261" r="0" b="-23261"/>
              </a:stretch>
            </a:blipFill>
            <a:ln w="11430" cap="sq">
              <a:solidFill>
                <a:srgbClr val="D4DDE6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15585567" y="2651379"/>
            <a:ext cx="1459230" cy="348234"/>
            <a:chOff x="0" y="0"/>
            <a:chExt cx="1945640" cy="464312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945640" cy="464312"/>
            </a:xfrm>
            <a:custGeom>
              <a:avLst/>
              <a:gdLst/>
              <a:ahLst/>
              <a:cxnLst/>
              <a:rect r="r" b="b" t="t" l="l"/>
              <a:pathLst>
                <a:path h="464312" w="1945640">
                  <a:moveTo>
                    <a:pt x="0" y="154813"/>
                  </a:moveTo>
                  <a:cubicBezTo>
                    <a:pt x="0" y="69342"/>
                    <a:pt x="69342" y="0"/>
                    <a:pt x="154813" y="0"/>
                  </a:cubicBezTo>
                  <a:lnTo>
                    <a:pt x="1790827" y="0"/>
                  </a:lnTo>
                  <a:cubicBezTo>
                    <a:pt x="1876298" y="0"/>
                    <a:pt x="1945640" y="69342"/>
                    <a:pt x="1945640" y="154813"/>
                  </a:cubicBezTo>
                  <a:lnTo>
                    <a:pt x="1945640" y="309499"/>
                  </a:lnTo>
                  <a:cubicBezTo>
                    <a:pt x="1945640" y="394970"/>
                    <a:pt x="1876298" y="464312"/>
                    <a:pt x="1790827" y="464312"/>
                  </a:cubicBezTo>
                  <a:lnTo>
                    <a:pt x="154813" y="464312"/>
                  </a:lnTo>
                  <a:cubicBezTo>
                    <a:pt x="69342" y="464312"/>
                    <a:pt x="0" y="394970"/>
                    <a:pt x="0" y="309499"/>
                  </a:cubicBezTo>
                  <a:close/>
                </a:path>
              </a:pathLst>
            </a:custGeom>
            <a:solidFill>
              <a:srgbClr val="E8EDF3"/>
            </a:solidFill>
            <a:ln w="19050" cap="sq">
              <a:solidFill>
                <a:srgbClr val="E8EDF3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15614142" y="2570131"/>
            <a:ext cx="1440180" cy="491681"/>
            <a:chOff x="0" y="0"/>
            <a:chExt cx="1920240" cy="655574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920240" cy="655574"/>
            </a:xfrm>
            <a:custGeom>
              <a:avLst/>
              <a:gdLst/>
              <a:ahLst/>
              <a:cxnLst/>
              <a:rect r="r" b="b" t="t" l="l"/>
              <a:pathLst>
                <a:path h="655574" w="1920240">
                  <a:moveTo>
                    <a:pt x="0" y="0"/>
                  </a:moveTo>
                  <a:lnTo>
                    <a:pt x="1920240" y="0"/>
                  </a:lnTo>
                  <a:lnTo>
                    <a:pt x="1920240" y="655574"/>
                  </a:lnTo>
                  <a:lnTo>
                    <a:pt x="0" y="6555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335" r="0" b="26188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-9525"/>
              <a:ext cx="1920240" cy="6650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 b="true">
                  <a:solidFill>
                    <a:srgbClr val="1724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Feedback</a:t>
              </a:r>
            </a:p>
          </p:txBody>
        </p:sp>
      </p:grpSp>
      <p:sp>
        <p:nvSpPr>
          <p:cNvPr name="TextBox 92" id="92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08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2127418" y="9608820"/>
            <a:ext cx="17627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협업 운영 체계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13993824" y="9608820"/>
            <a:ext cx="35372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1 — Project Management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01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2180911" y="511178"/>
            <a:ext cx="496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PROJECT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MANAGEMENT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13435" y="2437848"/>
            <a:ext cx="9734550" cy="5916216"/>
            <a:chOff x="0" y="0"/>
            <a:chExt cx="12979400" cy="7888288"/>
          </a:xfrm>
        </p:grpSpPr>
        <p:sp>
          <p:nvSpPr>
            <p:cNvPr name="Freeform 3" id="3" descr="jira_may_calendar_cropped.png"/>
            <p:cNvSpPr/>
            <p:nvPr/>
          </p:nvSpPr>
          <p:spPr>
            <a:xfrm flipH="false" flipV="false" rot="0">
              <a:off x="0" y="0"/>
              <a:ext cx="12979425" cy="7888351"/>
            </a:xfrm>
            <a:custGeom>
              <a:avLst/>
              <a:gdLst/>
              <a:ahLst/>
              <a:cxnLst/>
              <a:rect r="r" b="b" t="t" l="l"/>
              <a:pathLst>
                <a:path h="7888351" w="12979425">
                  <a:moveTo>
                    <a:pt x="838109" y="0"/>
                  </a:moveTo>
                  <a:lnTo>
                    <a:pt x="12141315" y="0"/>
                  </a:lnTo>
                  <a:cubicBezTo>
                    <a:pt x="12363596" y="0"/>
                    <a:pt x="12576773" y="88301"/>
                    <a:pt x="12733948" y="245476"/>
                  </a:cubicBezTo>
                  <a:cubicBezTo>
                    <a:pt x="12891124" y="402652"/>
                    <a:pt x="12979425" y="615829"/>
                    <a:pt x="12979425" y="838109"/>
                  </a:cubicBezTo>
                  <a:lnTo>
                    <a:pt x="12979425" y="7050242"/>
                  </a:lnTo>
                  <a:cubicBezTo>
                    <a:pt x="12979425" y="7272523"/>
                    <a:pt x="12891124" y="7485699"/>
                    <a:pt x="12733948" y="7642875"/>
                  </a:cubicBezTo>
                  <a:cubicBezTo>
                    <a:pt x="12576773" y="7800050"/>
                    <a:pt x="12363596" y="7888351"/>
                    <a:pt x="12141315" y="7888351"/>
                  </a:cubicBezTo>
                  <a:lnTo>
                    <a:pt x="838109" y="7888351"/>
                  </a:lnTo>
                  <a:cubicBezTo>
                    <a:pt x="615829" y="7888351"/>
                    <a:pt x="402652" y="7800050"/>
                    <a:pt x="245476" y="7642875"/>
                  </a:cubicBezTo>
                  <a:cubicBezTo>
                    <a:pt x="88301" y="7485699"/>
                    <a:pt x="0" y="7272523"/>
                    <a:pt x="0" y="7050242"/>
                  </a:cubicBezTo>
                  <a:lnTo>
                    <a:pt x="0" y="838109"/>
                  </a:lnTo>
                  <a:cubicBezTo>
                    <a:pt x="0" y="615829"/>
                    <a:pt x="88301" y="402652"/>
                    <a:pt x="245476" y="245476"/>
                  </a:cubicBezTo>
                  <a:cubicBezTo>
                    <a:pt x="402652" y="88301"/>
                    <a:pt x="615829" y="0"/>
                    <a:pt x="838109" y="0"/>
                  </a:cubicBezTo>
                  <a:close/>
                </a:path>
              </a:pathLst>
            </a:custGeom>
            <a:blipFill>
              <a:blip r:embed="rId2"/>
              <a:stretch>
                <a:fillRect l="-12235" t="0" r="-12234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757535" y="2364743"/>
            <a:ext cx="6712458" cy="1390650"/>
            <a:chOff x="0" y="0"/>
            <a:chExt cx="8949944" cy="1854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9499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8949944">
                  <a:moveTo>
                    <a:pt x="0" y="185420"/>
                  </a:moveTo>
                  <a:cubicBezTo>
                    <a:pt x="0" y="83058"/>
                    <a:pt x="83058" y="0"/>
                    <a:pt x="185420" y="0"/>
                  </a:cubicBezTo>
                  <a:lnTo>
                    <a:pt x="8764524" y="0"/>
                  </a:lnTo>
                  <a:cubicBezTo>
                    <a:pt x="8866886" y="0"/>
                    <a:pt x="8949944" y="83058"/>
                    <a:pt x="8949944" y="185420"/>
                  </a:cubicBezTo>
                  <a:lnTo>
                    <a:pt x="8949944" y="1668780"/>
                  </a:lnTo>
                  <a:cubicBezTo>
                    <a:pt x="8949944" y="1771142"/>
                    <a:pt x="8866886" y="1854200"/>
                    <a:pt x="8764524" y="1854200"/>
                  </a:cubicBezTo>
                  <a:lnTo>
                    <a:pt x="185420" y="1854200"/>
                  </a:lnTo>
                  <a:cubicBezTo>
                    <a:pt x="83058" y="1854200"/>
                    <a:pt x="0" y="1771142"/>
                    <a:pt x="0" y="166878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0760390" y="2364743"/>
            <a:ext cx="141900" cy="1378458"/>
            <a:chOff x="0" y="0"/>
            <a:chExt cx="128016" cy="124358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8016" cy="1243584"/>
            </a:xfrm>
            <a:custGeom>
              <a:avLst/>
              <a:gdLst/>
              <a:ahLst/>
              <a:cxnLst/>
              <a:rect r="r" b="b" t="t" l="l"/>
              <a:pathLst>
                <a:path h="1243584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1179576"/>
                  </a:lnTo>
                  <a:cubicBezTo>
                    <a:pt x="128016" y="1214882"/>
                    <a:pt x="99314" y="1243584"/>
                    <a:pt x="64008" y="1243584"/>
                  </a:cubicBezTo>
                  <a:cubicBezTo>
                    <a:pt x="28702" y="1243584"/>
                    <a:pt x="0" y="1214882"/>
                    <a:pt x="0" y="1179576"/>
                  </a:cubicBezTo>
                  <a:close/>
                </a:path>
              </a:pathLst>
            </a:custGeom>
            <a:solidFill>
              <a:srgbClr val="1B2A4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178540" y="2717168"/>
            <a:ext cx="685800" cy="685800"/>
            <a:chOff x="0" y="0"/>
            <a:chExt cx="914400" cy="914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45D32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178540" y="2682116"/>
            <a:ext cx="685800" cy="755904"/>
            <a:chOff x="0" y="0"/>
            <a:chExt cx="914400" cy="10078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4400" cy="1007872"/>
            </a:xfrm>
            <a:custGeom>
              <a:avLst/>
              <a:gdLst/>
              <a:ahLst/>
              <a:cxnLst/>
              <a:rect r="r" b="b" t="t" l="l"/>
              <a:pathLst>
                <a:path h="1007872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9274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91440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 spc="7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070080" y="2523049"/>
            <a:ext cx="5047488" cy="810387"/>
            <a:chOff x="0" y="0"/>
            <a:chExt cx="6729984" cy="10805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729984" cy="1080516"/>
            </a:xfrm>
            <a:custGeom>
              <a:avLst/>
              <a:gdLst/>
              <a:ahLst/>
              <a:cxnLst/>
              <a:rect r="r" b="b" t="t" l="l"/>
              <a:pathLst>
                <a:path h="1080516" w="6729984">
                  <a:moveTo>
                    <a:pt x="0" y="0"/>
                  </a:moveTo>
                  <a:lnTo>
                    <a:pt x="6729984" y="0"/>
                  </a:lnTo>
                  <a:lnTo>
                    <a:pt x="6729984" y="1080516"/>
                  </a:lnTo>
                  <a:lnTo>
                    <a:pt x="0" y="1080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511" r="0" b="-55212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6729984" cy="1080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8">
                  <a:solidFill>
                    <a:srgbClr val="909AA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SPRINT 1 </a:t>
              </a:r>
              <a:r>
                <a:rPr lang="en-US" b="true" sz="2100" spc="8">
                  <a:solidFill>
                    <a:srgbClr val="1B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— 요구사항 정의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070080" y="3105788"/>
            <a:ext cx="5047488" cy="637413"/>
            <a:chOff x="0" y="0"/>
            <a:chExt cx="6729984" cy="84988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729984" cy="849884"/>
            </a:xfrm>
            <a:custGeom>
              <a:avLst/>
              <a:gdLst/>
              <a:ahLst/>
              <a:cxnLst/>
              <a:rect r="r" b="b" t="t" l="l"/>
              <a:pathLst>
                <a:path h="849884" w="6729984">
                  <a:moveTo>
                    <a:pt x="0" y="0"/>
                  </a:moveTo>
                  <a:lnTo>
                    <a:pt x="6729984" y="0"/>
                  </a:lnTo>
                  <a:lnTo>
                    <a:pt x="6729984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6639" r="0" b="-91953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6729984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REQ 분석</a:t>
              </a:r>
              <a:r>
                <a:rPr lang="en-US" sz="1650" spc="6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·   </a:t>
              </a:r>
              <a:r>
                <a:rPr lang="en-US" sz="1650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핵심 사용자 흐름 정리</a:t>
              </a:r>
              <a:r>
                <a:rPr lang="en-US" sz="1650" spc="6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·   </a:t>
              </a:r>
              <a:r>
                <a:rPr lang="en-US" sz="1650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정적 분석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0757535" y="3914651"/>
            <a:ext cx="6712458" cy="1390650"/>
            <a:chOff x="0" y="0"/>
            <a:chExt cx="8949944" cy="18542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9499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8949944">
                  <a:moveTo>
                    <a:pt x="0" y="185420"/>
                  </a:moveTo>
                  <a:cubicBezTo>
                    <a:pt x="0" y="83058"/>
                    <a:pt x="83058" y="0"/>
                    <a:pt x="185420" y="0"/>
                  </a:cubicBezTo>
                  <a:lnTo>
                    <a:pt x="8764524" y="0"/>
                  </a:lnTo>
                  <a:cubicBezTo>
                    <a:pt x="8866886" y="0"/>
                    <a:pt x="8949944" y="83058"/>
                    <a:pt x="8949944" y="185420"/>
                  </a:cubicBezTo>
                  <a:lnTo>
                    <a:pt x="8949944" y="1668780"/>
                  </a:lnTo>
                  <a:cubicBezTo>
                    <a:pt x="8949944" y="1771142"/>
                    <a:pt x="8866886" y="1854200"/>
                    <a:pt x="8764524" y="1854200"/>
                  </a:cubicBezTo>
                  <a:lnTo>
                    <a:pt x="185420" y="1854200"/>
                  </a:lnTo>
                  <a:cubicBezTo>
                    <a:pt x="83058" y="1854200"/>
                    <a:pt x="0" y="1771142"/>
                    <a:pt x="0" y="166878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0772175" y="3914651"/>
            <a:ext cx="141900" cy="1378458"/>
            <a:chOff x="0" y="0"/>
            <a:chExt cx="128016" cy="124358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8016" cy="1243584"/>
            </a:xfrm>
            <a:custGeom>
              <a:avLst/>
              <a:gdLst/>
              <a:ahLst/>
              <a:cxnLst/>
              <a:rect r="r" b="b" t="t" l="l"/>
              <a:pathLst>
                <a:path h="1243584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1179576"/>
                  </a:lnTo>
                  <a:cubicBezTo>
                    <a:pt x="128016" y="1214882"/>
                    <a:pt x="99314" y="1243584"/>
                    <a:pt x="64008" y="1243584"/>
                  </a:cubicBezTo>
                  <a:cubicBezTo>
                    <a:pt x="28702" y="1243584"/>
                    <a:pt x="0" y="1214882"/>
                    <a:pt x="0" y="1179576"/>
                  </a:cubicBezTo>
                  <a:close/>
                </a:path>
              </a:pathLst>
            </a:custGeom>
            <a:solidFill>
              <a:srgbClr val="1B2A41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178540" y="4267076"/>
            <a:ext cx="685800" cy="685800"/>
            <a:chOff x="0" y="0"/>
            <a:chExt cx="914400" cy="914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45D32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1178540" y="4232024"/>
            <a:ext cx="685800" cy="755904"/>
            <a:chOff x="0" y="0"/>
            <a:chExt cx="914400" cy="100787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14400" cy="1007872"/>
            </a:xfrm>
            <a:custGeom>
              <a:avLst/>
              <a:gdLst/>
              <a:ahLst/>
              <a:cxnLst/>
              <a:rect r="r" b="b" t="t" l="l"/>
              <a:pathLst>
                <a:path h="1007872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9274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91440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 spc="7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2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2070080" y="4099436"/>
            <a:ext cx="5047488" cy="810387"/>
            <a:chOff x="0" y="0"/>
            <a:chExt cx="6729984" cy="108051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729984" cy="1080516"/>
            </a:xfrm>
            <a:custGeom>
              <a:avLst/>
              <a:gdLst/>
              <a:ahLst/>
              <a:cxnLst/>
              <a:rect r="r" b="b" t="t" l="l"/>
              <a:pathLst>
                <a:path h="1080516" w="6729984">
                  <a:moveTo>
                    <a:pt x="0" y="0"/>
                  </a:moveTo>
                  <a:lnTo>
                    <a:pt x="6729984" y="0"/>
                  </a:lnTo>
                  <a:lnTo>
                    <a:pt x="6729984" y="1080516"/>
                  </a:lnTo>
                  <a:lnTo>
                    <a:pt x="0" y="1080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511" r="0" b="-55212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6729984" cy="1080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8">
                  <a:solidFill>
                    <a:srgbClr val="909AA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SPRINT 2 </a:t>
              </a:r>
              <a:r>
                <a:rPr lang="en-US" b="true" sz="2100" spc="8">
                  <a:solidFill>
                    <a:srgbClr val="1B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— 구조 설계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070080" y="4650172"/>
            <a:ext cx="5047488" cy="637413"/>
            <a:chOff x="0" y="0"/>
            <a:chExt cx="6729984" cy="84988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729984" cy="849884"/>
            </a:xfrm>
            <a:custGeom>
              <a:avLst/>
              <a:gdLst/>
              <a:ahLst/>
              <a:cxnLst/>
              <a:rect r="r" b="b" t="t" l="l"/>
              <a:pathLst>
                <a:path h="849884" w="6729984">
                  <a:moveTo>
                    <a:pt x="0" y="0"/>
                  </a:moveTo>
                  <a:lnTo>
                    <a:pt x="6729984" y="0"/>
                  </a:lnTo>
                  <a:lnTo>
                    <a:pt x="6729984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6639" r="0" b="-91953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6729984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백엔드 설계</a:t>
              </a:r>
              <a:r>
                <a:rPr lang="en-US" sz="1650" spc="6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·   </a:t>
              </a:r>
              <a:r>
                <a:rPr lang="en-US" sz="1650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UI/UX 설계</a:t>
              </a:r>
              <a:r>
                <a:rPr lang="en-US" sz="1650" spc="6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·   </a:t>
              </a:r>
              <a:r>
                <a:rPr lang="en-US" sz="1650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클래스 다이어그램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0757535" y="5464559"/>
            <a:ext cx="6712458" cy="1390650"/>
            <a:chOff x="0" y="0"/>
            <a:chExt cx="8949944" cy="18542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9499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8949944">
                  <a:moveTo>
                    <a:pt x="0" y="185420"/>
                  </a:moveTo>
                  <a:cubicBezTo>
                    <a:pt x="0" y="83058"/>
                    <a:pt x="83058" y="0"/>
                    <a:pt x="185420" y="0"/>
                  </a:cubicBezTo>
                  <a:lnTo>
                    <a:pt x="8764524" y="0"/>
                  </a:lnTo>
                  <a:cubicBezTo>
                    <a:pt x="8866886" y="0"/>
                    <a:pt x="8949944" y="83058"/>
                    <a:pt x="8949944" y="185420"/>
                  </a:cubicBezTo>
                  <a:lnTo>
                    <a:pt x="8949944" y="1668780"/>
                  </a:lnTo>
                  <a:cubicBezTo>
                    <a:pt x="8949944" y="1771142"/>
                    <a:pt x="8866886" y="1854200"/>
                    <a:pt x="8764524" y="1854200"/>
                  </a:cubicBezTo>
                  <a:lnTo>
                    <a:pt x="185420" y="1854200"/>
                  </a:lnTo>
                  <a:cubicBezTo>
                    <a:pt x="83058" y="1854200"/>
                    <a:pt x="0" y="1771142"/>
                    <a:pt x="0" y="166878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0777078" y="5476751"/>
            <a:ext cx="135742" cy="1318641"/>
            <a:chOff x="0" y="0"/>
            <a:chExt cx="128016" cy="124358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8016" cy="1243584"/>
            </a:xfrm>
            <a:custGeom>
              <a:avLst/>
              <a:gdLst/>
              <a:ahLst/>
              <a:cxnLst/>
              <a:rect r="r" b="b" t="t" l="l"/>
              <a:pathLst>
                <a:path h="1243584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1179576"/>
                  </a:lnTo>
                  <a:cubicBezTo>
                    <a:pt x="128016" y="1214882"/>
                    <a:pt x="99314" y="1243584"/>
                    <a:pt x="64008" y="1243584"/>
                  </a:cubicBezTo>
                  <a:cubicBezTo>
                    <a:pt x="28702" y="1243584"/>
                    <a:pt x="0" y="1214882"/>
                    <a:pt x="0" y="1179576"/>
                  </a:cubicBezTo>
                  <a:close/>
                </a:path>
              </a:pathLst>
            </a:custGeom>
            <a:solidFill>
              <a:srgbClr val="1B2A41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1178540" y="5816984"/>
            <a:ext cx="685800" cy="685800"/>
            <a:chOff x="0" y="0"/>
            <a:chExt cx="914400" cy="9144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45D32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1178540" y="5781932"/>
            <a:ext cx="685800" cy="755904"/>
            <a:chOff x="0" y="0"/>
            <a:chExt cx="914400" cy="100787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14400" cy="1007872"/>
            </a:xfrm>
            <a:custGeom>
              <a:avLst/>
              <a:gdLst/>
              <a:ahLst/>
              <a:cxnLst/>
              <a:rect r="r" b="b" t="t" l="l"/>
              <a:pathLst>
                <a:path h="1007872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9274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0"/>
              <a:ext cx="91440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 spc="7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3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2070080" y="5666108"/>
            <a:ext cx="5047488" cy="810387"/>
            <a:chOff x="0" y="0"/>
            <a:chExt cx="6729984" cy="108051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729984" cy="1080516"/>
            </a:xfrm>
            <a:custGeom>
              <a:avLst/>
              <a:gdLst/>
              <a:ahLst/>
              <a:cxnLst/>
              <a:rect r="r" b="b" t="t" l="l"/>
              <a:pathLst>
                <a:path h="1080516" w="6729984">
                  <a:moveTo>
                    <a:pt x="0" y="0"/>
                  </a:moveTo>
                  <a:lnTo>
                    <a:pt x="6729984" y="0"/>
                  </a:lnTo>
                  <a:lnTo>
                    <a:pt x="6729984" y="1080516"/>
                  </a:lnTo>
                  <a:lnTo>
                    <a:pt x="0" y="1080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511" r="0" b="-55212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6729984" cy="1080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8">
                  <a:solidFill>
                    <a:srgbClr val="909AA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SPRINT 3 </a:t>
              </a:r>
              <a:r>
                <a:rPr lang="en-US" b="true" sz="2100" spc="8">
                  <a:solidFill>
                    <a:srgbClr val="1B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— 핵심 기능 구현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2070080" y="6224654"/>
            <a:ext cx="5399913" cy="582930"/>
            <a:chOff x="0" y="0"/>
            <a:chExt cx="7199884" cy="7772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7199884" cy="777240"/>
            </a:xfrm>
            <a:custGeom>
              <a:avLst/>
              <a:gdLst/>
              <a:ahLst/>
              <a:cxnLst/>
              <a:rect r="r" b="b" t="t" l="l"/>
              <a:pathLst>
                <a:path h="777240" w="7199884">
                  <a:moveTo>
                    <a:pt x="0" y="0"/>
                  </a:moveTo>
                  <a:lnTo>
                    <a:pt x="7199884" y="0"/>
                  </a:lnTo>
                  <a:lnTo>
                    <a:pt x="7199884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7541" r="6526" b="-109893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0"/>
              <a:ext cx="7199884" cy="777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5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Workflow Composer</a:t>
              </a:r>
              <a:r>
                <a:rPr lang="en-US" sz="1500" spc="5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·   </a:t>
              </a:r>
              <a:r>
                <a:rPr lang="en-US" b="true" sz="1500" spc="5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Skills Builder</a:t>
              </a:r>
              <a:r>
                <a:rPr lang="en-US" sz="1500" spc="5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·   </a:t>
              </a:r>
              <a:r>
                <a:rPr lang="en-US" sz="1500" spc="5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Data Pipeline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0757535" y="7014467"/>
            <a:ext cx="6712458" cy="1390650"/>
            <a:chOff x="0" y="0"/>
            <a:chExt cx="8949944" cy="18542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9499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8949944">
                  <a:moveTo>
                    <a:pt x="0" y="185420"/>
                  </a:moveTo>
                  <a:cubicBezTo>
                    <a:pt x="0" y="83058"/>
                    <a:pt x="83058" y="0"/>
                    <a:pt x="185420" y="0"/>
                  </a:cubicBezTo>
                  <a:lnTo>
                    <a:pt x="8764524" y="0"/>
                  </a:lnTo>
                  <a:cubicBezTo>
                    <a:pt x="8866886" y="0"/>
                    <a:pt x="8949944" y="83058"/>
                    <a:pt x="8949944" y="185420"/>
                  </a:cubicBezTo>
                  <a:lnTo>
                    <a:pt x="8949944" y="1668780"/>
                  </a:lnTo>
                  <a:cubicBezTo>
                    <a:pt x="8949944" y="1771142"/>
                    <a:pt x="8866886" y="1854200"/>
                    <a:pt x="8764524" y="1854200"/>
                  </a:cubicBezTo>
                  <a:lnTo>
                    <a:pt x="185420" y="1854200"/>
                  </a:lnTo>
                  <a:cubicBezTo>
                    <a:pt x="83058" y="1854200"/>
                    <a:pt x="0" y="1771142"/>
                    <a:pt x="0" y="166878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8DF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10777098" y="7036184"/>
            <a:ext cx="134742" cy="1308926"/>
            <a:chOff x="0" y="0"/>
            <a:chExt cx="128016" cy="12435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28016" cy="1243584"/>
            </a:xfrm>
            <a:custGeom>
              <a:avLst/>
              <a:gdLst/>
              <a:ahLst/>
              <a:cxnLst/>
              <a:rect r="r" b="b" t="t" l="l"/>
              <a:pathLst>
                <a:path h="1243584" w="128016">
                  <a:moveTo>
                    <a:pt x="0" y="64008"/>
                  </a:moveTo>
                  <a:cubicBezTo>
                    <a:pt x="0" y="28702"/>
                    <a:pt x="28702" y="0"/>
                    <a:pt x="64008" y="0"/>
                  </a:cubicBezTo>
                  <a:cubicBezTo>
                    <a:pt x="99314" y="0"/>
                    <a:pt x="128016" y="28702"/>
                    <a:pt x="128016" y="64008"/>
                  </a:cubicBezTo>
                  <a:lnTo>
                    <a:pt x="128016" y="1179576"/>
                  </a:lnTo>
                  <a:cubicBezTo>
                    <a:pt x="128016" y="1214882"/>
                    <a:pt x="99314" y="1243584"/>
                    <a:pt x="64008" y="1243584"/>
                  </a:cubicBezTo>
                  <a:cubicBezTo>
                    <a:pt x="28702" y="1243584"/>
                    <a:pt x="0" y="1214882"/>
                    <a:pt x="0" y="1179576"/>
                  </a:cubicBezTo>
                  <a:close/>
                </a:path>
              </a:pathLst>
            </a:custGeom>
            <a:solidFill>
              <a:srgbClr val="1B2A41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1178540" y="7366892"/>
            <a:ext cx="685800" cy="685800"/>
            <a:chOff x="0" y="0"/>
            <a:chExt cx="914400" cy="9144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45D32"/>
            </a:solid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1178540" y="7331459"/>
            <a:ext cx="685800" cy="755904"/>
            <a:chOff x="0" y="0"/>
            <a:chExt cx="914400" cy="1007872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914400" cy="1007872"/>
            </a:xfrm>
            <a:custGeom>
              <a:avLst/>
              <a:gdLst/>
              <a:ahLst/>
              <a:cxnLst/>
              <a:rect r="r" b="b" t="t" l="l"/>
              <a:pathLst>
                <a:path h="1007872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9274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0"/>
              <a:ext cx="91440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 spc="7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4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2070080" y="7216016"/>
            <a:ext cx="5047488" cy="810387"/>
            <a:chOff x="0" y="0"/>
            <a:chExt cx="6729984" cy="108051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729984" cy="1080516"/>
            </a:xfrm>
            <a:custGeom>
              <a:avLst/>
              <a:gdLst/>
              <a:ahLst/>
              <a:cxnLst/>
              <a:rect r="r" b="b" t="t" l="l"/>
              <a:pathLst>
                <a:path h="1080516" w="6729984">
                  <a:moveTo>
                    <a:pt x="0" y="0"/>
                  </a:moveTo>
                  <a:lnTo>
                    <a:pt x="6729984" y="0"/>
                  </a:lnTo>
                  <a:lnTo>
                    <a:pt x="6729984" y="1080516"/>
                  </a:lnTo>
                  <a:lnTo>
                    <a:pt x="0" y="1080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511" r="0" b="-55212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6729984" cy="1080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8">
                  <a:solidFill>
                    <a:srgbClr val="909AA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SPRINT 4 </a:t>
              </a:r>
              <a:r>
                <a:rPr lang="en-US" b="true" sz="2100" spc="8">
                  <a:solidFill>
                    <a:srgbClr val="1B2A4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— 통합 및 보완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070080" y="7707697"/>
            <a:ext cx="5047488" cy="637413"/>
            <a:chOff x="0" y="0"/>
            <a:chExt cx="6729984" cy="84988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729984" cy="849884"/>
            </a:xfrm>
            <a:custGeom>
              <a:avLst/>
              <a:gdLst/>
              <a:ahLst/>
              <a:cxnLst/>
              <a:rect r="r" b="b" t="t" l="l"/>
              <a:pathLst>
                <a:path h="849884" w="6729984">
                  <a:moveTo>
                    <a:pt x="0" y="0"/>
                  </a:moveTo>
                  <a:lnTo>
                    <a:pt x="6729984" y="0"/>
                  </a:lnTo>
                  <a:lnTo>
                    <a:pt x="6729984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6639" r="0" b="-91953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6729984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Adapter 구현</a:t>
              </a:r>
              <a:r>
                <a:rPr lang="en-US" sz="1650" spc="6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·   </a:t>
              </a:r>
              <a:r>
                <a:rPr lang="en-US" b="true" sz="1650" spc="6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E2E 테스트</a:t>
              </a:r>
              <a:r>
                <a:rPr lang="en-US" sz="1650" spc="6">
                  <a:solidFill>
                    <a:srgbClr val="C7C2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·   </a:t>
              </a:r>
              <a:r>
                <a:rPr lang="en-US" sz="1650" spc="6">
                  <a:solidFill>
                    <a:srgbClr val="555B6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UI/인터페이스 개선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748549" y="8406593"/>
            <a:ext cx="16637508" cy="630936"/>
            <a:chOff x="0" y="0"/>
            <a:chExt cx="22183344" cy="841248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2183344" cy="841248"/>
            </a:xfrm>
            <a:custGeom>
              <a:avLst/>
              <a:gdLst/>
              <a:ahLst/>
              <a:cxnLst/>
              <a:rect r="r" b="b" t="t" l="l"/>
              <a:pathLst>
                <a:path h="841248" w="2218334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2000463" y="0"/>
                  </a:lnTo>
                  <a:cubicBezTo>
                    <a:pt x="22101428" y="0"/>
                    <a:pt x="22183344" y="81915"/>
                    <a:pt x="22183344" y="182880"/>
                  </a:cubicBezTo>
                  <a:lnTo>
                    <a:pt x="22183344" y="658368"/>
                  </a:lnTo>
                  <a:cubicBezTo>
                    <a:pt x="22183344" y="759333"/>
                    <a:pt x="22101428" y="841248"/>
                    <a:pt x="22000463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3EB"/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748549" y="8347857"/>
            <a:ext cx="16637508" cy="748408"/>
            <a:chOff x="0" y="0"/>
            <a:chExt cx="22183344" cy="997877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2183344" cy="997877"/>
            </a:xfrm>
            <a:custGeom>
              <a:avLst/>
              <a:gdLst/>
              <a:ahLst/>
              <a:cxnLst/>
              <a:rect r="r" b="b" t="t" l="l"/>
              <a:pathLst>
                <a:path h="997877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997877"/>
                  </a:lnTo>
                  <a:lnTo>
                    <a:pt x="0" y="99787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1010" r="0" b="-375314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0"/>
              <a:ext cx="22183344" cy="9978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 spc="7">
                  <a:solidFill>
                    <a:srgbClr val="45516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Jira Calendar를 기준으로 </a:t>
              </a:r>
              <a:r>
                <a:rPr lang="en-US" b="true" sz="1875" spc="7">
                  <a:solidFill>
                    <a:srgbClr val="1F7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Sprint 범위와 마감일을 고정</a:t>
              </a:r>
              <a:r>
                <a:rPr lang="en-US" sz="1875" spc="7">
                  <a:solidFill>
                    <a:srgbClr val="45516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하고, 산출물을 반복 개선했다.</a:t>
              </a:r>
            </a:p>
          </p:txBody>
        </p:sp>
      </p:grpSp>
      <p:sp>
        <p:nvSpPr>
          <p:cNvPr name="TextBox 69" id="69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01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2180911" y="511178"/>
            <a:ext cx="496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PROJECT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MANAGEMENT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2771140" y="511178"/>
            <a:ext cx="475994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Sprint 일정 관리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09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2127418" y="9608820"/>
            <a:ext cx="17627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Sprint 일정 관리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3993824" y="9608820"/>
            <a:ext cx="35372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1 — Project Management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787403" y="1111253"/>
            <a:ext cx="7765852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Jira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Calendar로 추적한 실제 Sprint 흐름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REQ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단위 작업을 일정에 배치하고, Sprint별 산출물을 반복 개선했다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92203" y="3933296"/>
            <a:ext cx="1646932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2100" spc="630">
                <a:solidFill>
                  <a:srgbClr val="EA580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02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92203" y="4423220"/>
            <a:ext cx="6311652" cy="1290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06"/>
              </a:lnSpc>
            </a:pPr>
            <a:r>
              <a:rPr lang="en-US" b="true" sz="8100" spc="-202">
                <a:solidFill>
                  <a:srgbClr val="F6F4EE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개발환경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25503" y="9707880"/>
            <a:ext cx="65782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spc="6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10 / 44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02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180911" y="511178"/>
            <a:ext cx="150034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개발 환경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5330973" y="511178"/>
            <a:ext cx="220011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시스템 아키텍처 명세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87403" y="1111253"/>
            <a:ext cx="1691323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개발환경</a:t>
            </a:r>
            <a:r>
              <a:rPr lang="en-US" b="true" sz="3450" spc="-69">
                <a:solidFill>
                  <a:srgbClr val="CBD5E1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프로젝트에 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사용된 언어 · 프레임워크 · 데이터베이스 · AI · 인프라 전체 기술 스택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11 / 44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3064" y="9608820"/>
            <a:ext cx="91249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| 개발 환경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585088" y="9459189"/>
            <a:ext cx="270291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Part2 -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Environment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572514" y="2031368"/>
            <a:ext cx="17142971" cy="47625"/>
            <a:chOff x="0" y="0"/>
            <a:chExt cx="22857295" cy="635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6891" y="15225"/>
              <a:ext cx="22823423" cy="32969"/>
            </a:xfrm>
            <a:custGeom>
              <a:avLst/>
              <a:gdLst/>
              <a:ahLst/>
              <a:cxnLst/>
              <a:rect r="r" b="b" t="t" l="l"/>
              <a:pathLst>
                <a:path h="32969" w="22823423">
                  <a:moveTo>
                    <a:pt x="0" y="0"/>
                  </a:moveTo>
                  <a:lnTo>
                    <a:pt x="22823423" y="0"/>
                  </a:lnTo>
                  <a:lnTo>
                    <a:pt x="22823423" y="32970"/>
                  </a:lnTo>
                  <a:lnTo>
                    <a:pt x="0" y="32970"/>
                  </a:lnTo>
                  <a:close/>
                </a:path>
              </a:pathLst>
            </a:custGeom>
            <a:solidFill>
              <a:srgbClr val="DEDBD6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57205" cy="63421"/>
            </a:xfrm>
            <a:custGeom>
              <a:avLst/>
              <a:gdLst/>
              <a:ahLst/>
              <a:cxnLst/>
              <a:rect r="r" b="b" t="t" l="l"/>
              <a:pathLst>
                <a:path h="63421" w="22857205">
                  <a:moveTo>
                    <a:pt x="16891" y="0"/>
                  </a:moveTo>
                  <a:lnTo>
                    <a:pt x="22840314" y="0"/>
                  </a:lnTo>
                  <a:cubicBezTo>
                    <a:pt x="22849712" y="0"/>
                    <a:pt x="22857205" y="6869"/>
                    <a:pt x="22857205" y="15225"/>
                  </a:cubicBezTo>
                  <a:lnTo>
                    <a:pt x="22857205" y="48195"/>
                  </a:lnTo>
                  <a:cubicBezTo>
                    <a:pt x="22857205" y="56666"/>
                    <a:pt x="22849585" y="63420"/>
                    <a:pt x="22840314" y="63420"/>
                  </a:cubicBezTo>
                  <a:lnTo>
                    <a:pt x="16891" y="63420"/>
                  </a:lnTo>
                  <a:cubicBezTo>
                    <a:pt x="7620" y="63538"/>
                    <a:pt x="0" y="56666"/>
                    <a:pt x="0" y="48195"/>
                  </a:cubicBezTo>
                  <a:lnTo>
                    <a:pt x="0" y="15225"/>
                  </a:lnTo>
                  <a:cubicBezTo>
                    <a:pt x="0" y="6869"/>
                    <a:pt x="7620" y="0"/>
                    <a:pt x="16891" y="0"/>
                  </a:cubicBezTo>
                  <a:moveTo>
                    <a:pt x="16891" y="30565"/>
                  </a:moveTo>
                  <a:lnTo>
                    <a:pt x="16891" y="15225"/>
                  </a:lnTo>
                  <a:lnTo>
                    <a:pt x="33909" y="15225"/>
                  </a:lnTo>
                  <a:lnTo>
                    <a:pt x="33909" y="48195"/>
                  </a:lnTo>
                  <a:lnTo>
                    <a:pt x="16891" y="48195"/>
                  </a:lnTo>
                  <a:lnTo>
                    <a:pt x="16891" y="32969"/>
                  </a:lnTo>
                  <a:lnTo>
                    <a:pt x="22840314" y="32969"/>
                  </a:lnTo>
                  <a:lnTo>
                    <a:pt x="22840314" y="48195"/>
                  </a:lnTo>
                  <a:lnTo>
                    <a:pt x="22823424" y="48195"/>
                  </a:lnTo>
                  <a:lnTo>
                    <a:pt x="22823424" y="15225"/>
                  </a:lnTo>
                  <a:lnTo>
                    <a:pt x="22840314" y="15225"/>
                  </a:lnTo>
                  <a:lnTo>
                    <a:pt x="22840314" y="30565"/>
                  </a:lnTo>
                  <a:lnTo>
                    <a:pt x="16891" y="30565"/>
                  </a:lnTo>
                  <a:close/>
                </a:path>
              </a:pathLst>
            </a:custGeom>
            <a:solidFill>
              <a:srgbClr val="DEDBD6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459339" y="2234667"/>
            <a:ext cx="4591050" cy="3217831"/>
            <a:chOff x="0" y="0"/>
            <a:chExt cx="6517640" cy="456816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517640" cy="4568162"/>
            </a:xfrm>
            <a:custGeom>
              <a:avLst/>
              <a:gdLst/>
              <a:ahLst/>
              <a:cxnLst/>
              <a:rect r="r" b="b" t="t" l="l"/>
              <a:pathLst>
                <a:path h="4568162" w="6517640">
                  <a:moveTo>
                    <a:pt x="0" y="155538"/>
                  </a:moveTo>
                  <a:cubicBezTo>
                    <a:pt x="0" y="69650"/>
                    <a:pt x="65913" y="0"/>
                    <a:pt x="147193" y="0"/>
                  </a:cubicBezTo>
                  <a:lnTo>
                    <a:pt x="6370447" y="0"/>
                  </a:lnTo>
                  <a:cubicBezTo>
                    <a:pt x="6451727" y="0"/>
                    <a:pt x="6517640" y="69650"/>
                    <a:pt x="6517640" y="155538"/>
                  </a:cubicBezTo>
                  <a:lnTo>
                    <a:pt x="6517640" y="4412625"/>
                  </a:lnTo>
                  <a:cubicBezTo>
                    <a:pt x="6517640" y="4498513"/>
                    <a:pt x="6451727" y="4568162"/>
                    <a:pt x="6370447" y="4568162"/>
                  </a:cubicBezTo>
                  <a:lnTo>
                    <a:pt x="147193" y="4568162"/>
                  </a:lnTo>
                  <a:cubicBezTo>
                    <a:pt x="65913" y="4568162"/>
                    <a:pt x="0" y="4498513"/>
                    <a:pt x="0" y="4412625"/>
                  </a:cubicBezTo>
                  <a:lnTo>
                    <a:pt x="0" y="155538"/>
                  </a:lnTo>
                  <a:close/>
                </a:path>
              </a:pathLst>
            </a:custGeom>
            <a:solidFill>
              <a:srgbClr val="FFFCF7"/>
            </a:solidFill>
            <a:ln w="19050" cap="rnd">
              <a:solidFill>
                <a:srgbClr val="E2E8F0"/>
              </a:solidFill>
              <a:prstDash val="solid"/>
              <a:round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597279" y="2234667"/>
            <a:ext cx="3516630" cy="3242310"/>
            <a:chOff x="0" y="0"/>
            <a:chExt cx="4688840" cy="4323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688840" cy="4323080"/>
            </a:xfrm>
            <a:custGeom>
              <a:avLst/>
              <a:gdLst/>
              <a:ahLst/>
              <a:cxnLst/>
              <a:rect r="r" b="b" t="t" l="l"/>
              <a:pathLst>
                <a:path h="4323080" w="4688840">
                  <a:moveTo>
                    <a:pt x="0" y="147193"/>
                  </a:moveTo>
                  <a:cubicBezTo>
                    <a:pt x="0" y="65913"/>
                    <a:pt x="65913" y="0"/>
                    <a:pt x="147193" y="0"/>
                  </a:cubicBezTo>
                  <a:lnTo>
                    <a:pt x="4541647" y="0"/>
                  </a:lnTo>
                  <a:cubicBezTo>
                    <a:pt x="4622927" y="0"/>
                    <a:pt x="4688840" y="65913"/>
                    <a:pt x="4688840" y="147193"/>
                  </a:cubicBezTo>
                  <a:lnTo>
                    <a:pt x="4688840" y="4175887"/>
                  </a:lnTo>
                  <a:cubicBezTo>
                    <a:pt x="4688840" y="4257167"/>
                    <a:pt x="4622927" y="4323080"/>
                    <a:pt x="4541647" y="4323080"/>
                  </a:cubicBezTo>
                  <a:lnTo>
                    <a:pt x="147193" y="4323080"/>
                  </a:lnTo>
                  <a:cubicBezTo>
                    <a:pt x="65913" y="4323080"/>
                    <a:pt x="0" y="4257167"/>
                    <a:pt x="0" y="4175887"/>
                  </a:cubicBezTo>
                  <a:lnTo>
                    <a:pt x="0" y="147193"/>
                  </a:lnTo>
                  <a:close/>
                </a:path>
              </a:pathLst>
            </a:custGeom>
            <a:solidFill>
              <a:srgbClr val="FFFCF7"/>
            </a:solidFill>
            <a:ln w="19050" cap="rnd">
              <a:solidFill>
                <a:srgbClr val="E2E8F0"/>
              </a:solidFill>
              <a:prstDash val="solid"/>
              <a:round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582420" y="2408784"/>
            <a:ext cx="3497580" cy="928878"/>
            <a:chOff x="0" y="0"/>
            <a:chExt cx="4663440" cy="123850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663440" cy="1238504"/>
            </a:xfrm>
            <a:custGeom>
              <a:avLst/>
              <a:gdLst/>
              <a:ahLst/>
              <a:cxnLst/>
              <a:rect r="r" b="b" t="t" l="l"/>
              <a:pathLst>
                <a:path h="1238504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238504"/>
                  </a:lnTo>
                  <a:lnTo>
                    <a:pt x="0" y="1238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836" r="0" b="-290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4663440" cy="12385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A34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Language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9402" y="3229173"/>
            <a:ext cx="1076706" cy="1076706"/>
            <a:chOff x="0" y="0"/>
            <a:chExt cx="1133856" cy="1133856"/>
          </a:xfrm>
        </p:grpSpPr>
        <p:sp>
          <p:nvSpPr>
            <p:cNvPr name="Freeform 21" id="21" descr="preencoded.png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606804" y="4577627"/>
            <a:ext cx="1851660" cy="610172"/>
            <a:chOff x="0" y="0"/>
            <a:chExt cx="2468880" cy="81356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468880" cy="813562"/>
            </a:xfrm>
            <a:custGeom>
              <a:avLst/>
              <a:gdLst/>
              <a:ahLst/>
              <a:cxnLst/>
              <a:rect r="r" b="b" t="t" l="l"/>
              <a:pathLst>
                <a:path h="813562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411" r="0" b="715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246888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Python 3.12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2554476" y="3260034"/>
            <a:ext cx="1014984" cy="1014984"/>
            <a:chOff x="0" y="0"/>
            <a:chExt cx="1133856" cy="1133856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2218434" y="4644492"/>
            <a:ext cx="1851660" cy="610172"/>
            <a:chOff x="0" y="0"/>
            <a:chExt cx="2468880" cy="81356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468880" cy="813562"/>
            </a:xfrm>
            <a:custGeom>
              <a:avLst/>
              <a:gdLst/>
              <a:ahLst/>
              <a:cxnLst/>
              <a:rect r="r" b="b" t="t" l="l"/>
              <a:pathLst>
                <a:path h="813562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411" r="0" b="7151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9525"/>
              <a:ext cx="246888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TypeScript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4342509" y="2289817"/>
            <a:ext cx="4888230" cy="3242310"/>
            <a:chOff x="0" y="0"/>
            <a:chExt cx="6517640" cy="43230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517640" cy="4323080"/>
            </a:xfrm>
            <a:custGeom>
              <a:avLst/>
              <a:gdLst/>
              <a:ahLst/>
              <a:cxnLst/>
              <a:rect r="r" b="b" t="t" l="l"/>
              <a:pathLst>
                <a:path h="4323080" w="6517640">
                  <a:moveTo>
                    <a:pt x="0" y="147193"/>
                  </a:moveTo>
                  <a:cubicBezTo>
                    <a:pt x="0" y="65913"/>
                    <a:pt x="65913" y="0"/>
                    <a:pt x="147193" y="0"/>
                  </a:cubicBezTo>
                  <a:lnTo>
                    <a:pt x="6370447" y="0"/>
                  </a:lnTo>
                  <a:cubicBezTo>
                    <a:pt x="6451727" y="0"/>
                    <a:pt x="6517640" y="65913"/>
                    <a:pt x="6517640" y="147193"/>
                  </a:cubicBezTo>
                  <a:lnTo>
                    <a:pt x="6517640" y="4175887"/>
                  </a:lnTo>
                  <a:cubicBezTo>
                    <a:pt x="6517640" y="4257167"/>
                    <a:pt x="6451727" y="4323080"/>
                    <a:pt x="6370447" y="4323080"/>
                  </a:cubicBezTo>
                  <a:lnTo>
                    <a:pt x="147193" y="4323080"/>
                  </a:lnTo>
                  <a:cubicBezTo>
                    <a:pt x="65913" y="4323080"/>
                    <a:pt x="0" y="4257167"/>
                    <a:pt x="0" y="4175887"/>
                  </a:cubicBezTo>
                  <a:lnTo>
                    <a:pt x="0" y="147193"/>
                  </a:lnTo>
                  <a:close/>
                </a:path>
              </a:pathLst>
            </a:custGeom>
            <a:solidFill>
              <a:srgbClr val="FFFCF7"/>
            </a:solidFill>
            <a:ln w="19050" cap="rnd">
              <a:solidFill>
                <a:srgbClr val="E2E8F0"/>
              </a:solidFill>
              <a:prstDash val="solid"/>
              <a:round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4337175" y="2408784"/>
            <a:ext cx="4869180" cy="928878"/>
            <a:chOff x="0" y="0"/>
            <a:chExt cx="6492240" cy="123850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492240" cy="1238504"/>
            </a:xfrm>
            <a:custGeom>
              <a:avLst/>
              <a:gdLst/>
              <a:ahLst/>
              <a:cxnLst/>
              <a:rect r="r" b="b" t="t" l="l"/>
              <a:pathLst>
                <a:path h="1238504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1238504"/>
                  </a:lnTo>
                  <a:lnTo>
                    <a:pt x="0" y="1238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608" r="0" b="-3167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6492240" cy="12385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A34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Backend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581015" y="3229173"/>
            <a:ext cx="1042416" cy="1042416"/>
            <a:chOff x="0" y="0"/>
            <a:chExt cx="1133856" cy="1133856"/>
          </a:xfrm>
        </p:grpSpPr>
        <p:sp>
          <p:nvSpPr>
            <p:cNvPr name="Freeform 36" id="36" descr="preencoded.png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4244973" y="4687736"/>
            <a:ext cx="1714500" cy="610172"/>
            <a:chOff x="0" y="0"/>
            <a:chExt cx="2286000" cy="81356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86000" cy="813562"/>
            </a:xfrm>
            <a:custGeom>
              <a:avLst/>
              <a:gdLst/>
              <a:ahLst/>
              <a:cxnLst/>
              <a:rect r="r" b="b" t="t" l="l"/>
              <a:pathLst>
                <a:path h="813562" w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31" r="0" b="1153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9525"/>
              <a:ext cx="228600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FastAPI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5724587" y="3263463"/>
            <a:ext cx="1056704" cy="1056704"/>
            <a:chOff x="0" y="0"/>
            <a:chExt cx="1133856" cy="1133856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5489700" y="4687736"/>
            <a:ext cx="1714500" cy="610172"/>
            <a:chOff x="0" y="0"/>
            <a:chExt cx="2286000" cy="81356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286000" cy="813562"/>
            </a:xfrm>
            <a:custGeom>
              <a:avLst/>
              <a:gdLst/>
              <a:ahLst/>
              <a:cxnLst/>
              <a:rect r="r" b="b" t="t" l="l"/>
              <a:pathLst>
                <a:path h="813562" w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31" r="0" b="11531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9525"/>
              <a:ext cx="228600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Uvicorn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6879588" y="3260034"/>
            <a:ext cx="1014984" cy="1014984"/>
            <a:chOff x="0" y="0"/>
            <a:chExt cx="1133856" cy="1133856"/>
          </a:xfrm>
        </p:grpSpPr>
        <p:sp>
          <p:nvSpPr>
            <p:cNvPr name="Freeform 46" id="46" descr="preencoded.png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6529830" y="4687736"/>
            <a:ext cx="1714500" cy="610172"/>
            <a:chOff x="0" y="0"/>
            <a:chExt cx="2286000" cy="81356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86000" cy="813562"/>
            </a:xfrm>
            <a:custGeom>
              <a:avLst/>
              <a:gdLst/>
              <a:ahLst/>
              <a:cxnLst/>
              <a:rect r="r" b="b" t="t" l="l"/>
              <a:pathLst>
                <a:path h="813562" w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31" r="0" b="11531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9525"/>
              <a:ext cx="228600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Celery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8075547" y="3220124"/>
            <a:ext cx="958596" cy="1094804"/>
            <a:chOff x="0" y="0"/>
            <a:chExt cx="1133856" cy="1294966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1133856" cy="1294966"/>
            </a:xfrm>
            <a:custGeom>
              <a:avLst/>
              <a:gdLst/>
              <a:ahLst/>
              <a:cxnLst/>
              <a:rect r="r" b="b" t="t" l="l"/>
              <a:pathLst>
                <a:path h="129496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294966"/>
                  </a:lnTo>
                  <a:lnTo>
                    <a:pt x="0" y="1294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7104" t="0" r="-7104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7649589" y="4705452"/>
            <a:ext cx="1714500" cy="610172"/>
            <a:chOff x="0" y="0"/>
            <a:chExt cx="2286000" cy="813562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286000" cy="813562"/>
            </a:xfrm>
            <a:custGeom>
              <a:avLst/>
              <a:gdLst/>
              <a:ahLst/>
              <a:cxnLst/>
              <a:rect r="r" b="b" t="t" l="l"/>
              <a:pathLst>
                <a:path h="813562" w="2286000">
                  <a:moveTo>
                    <a:pt x="0" y="0"/>
                  </a:moveTo>
                  <a:lnTo>
                    <a:pt x="2286000" y="0"/>
                  </a:lnTo>
                  <a:lnTo>
                    <a:pt x="228600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31" r="0" b="11531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9525"/>
              <a:ext cx="228600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Redis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0553505" y="2830456"/>
            <a:ext cx="2465733" cy="2581084"/>
            <a:chOff x="0" y="0"/>
            <a:chExt cx="5816600" cy="6088712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816600" cy="6088712"/>
            </a:xfrm>
            <a:custGeom>
              <a:avLst/>
              <a:gdLst/>
              <a:ahLst/>
              <a:cxnLst/>
              <a:rect r="r" b="b" t="t" l="l"/>
              <a:pathLst>
                <a:path h="6088712" w="5816600">
                  <a:moveTo>
                    <a:pt x="0" y="207310"/>
                  </a:moveTo>
                  <a:cubicBezTo>
                    <a:pt x="0" y="92833"/>
                    <a:pt x="69558" y="0"/>
                    <a:pt x="155333" y="0"/>
                  </a:cubicBezTo>
                  <a:lnTo>
                    <a:pt x="5661267" y="0"/>
                  </a:lnTo>
                  <a:cubicBezTo>
                    <a:pt x="5747042" y="0"/>
                    <a:pt x="5816600" y="92833"/>
                    <a:pt x="5816600" y="207310"/>
                  </a:cubicBezTo>
                  <a:lnTo>
                    <a:pt x="5816600" y="5881403"/>
                  </a:lnTo>
                  <a:cubicBezTo>
                    <a:pt x="5816600" y="5995879"/>
                    <a:pt x="5747042" y="6088712"/>
                    <a:pt x="5661267" y="6088712"/>
                  </a:cubicBezTo>
                  <a:lnTo>
                    <a:pt x="155333" y="6088712"/>
                  </a:lnTo>
                  <a:cubicBezTo>
                    <a:pt x="69558" y="6088712"/>
                    <a:pt x="0" y="5995879"/>
                    <a:pt x="0" y="5881403"/>
                  </a:cubicBezTo>
                  <a:lnTo>
                    <a:pt x="0" y="207310"/>
                  </a:lnTo>
                  <a:close/>
                </a:path>
              </a:pathLst>
            </a:custGeom>
            <a:blipFill>
              <a:blip r:embed="rId10"/>
              <a:stretch>
                <a:fillRect l="-16386" t="0" r="-16386" b="0"/>
              </a:stretch>
            </a:blipFill>
            <a:ln w="19050" cap="rnd">
              <a:solidFill>
                <a:srgbClr val="E2E8F0"/>
              </a:solidFill>
              <a:prstDash val="solid"/>
              <a:round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9659364" y="2331156"/>
            <a:ext cx="4114800" cy="928878"/>
            <a:chOff x="0" y="0"/>
            <a:chExt cx="5486400" cy="123850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5486400" cy="1238504"/>
            </a:xfrm>
            <a:custGeom>
              <a:avLst/>
              <a:gdLst/>
              <a:ahLst/>
              <a:cxnLst/>
              <a:rect r="r" b="b" t="t" l="l"/>
              <a:pathLst>
                <a:path h="1238504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1238504"/>
                  </a:lnTo>
                  <a:lnTo>
                    <a:pt x="0" y="1238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783" r="0" b="-15848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5486400" cy="12385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A34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Database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9867783" y="3059723"/>
            <a:ext cx="1111758" cy="850392"/>
            <a:chOff x="0" y="0"/>
            <a:chExt cx="1482344" cy="1133856"/>
          </a:xfrm>
        </p:grpSpPr>
        <p:sp>
          <p:nvSpPr>
            <p:cNvPr name="Freeform 61" id="61" descr="preencoded.png"/>
            <p:cNvSpPr/>
            <p:nvPr/>
          </p:nvSpPr>
          <p:spPr>
            <a:xfrm flipH="false" flipV="false" rot="0">
              <a:off x="0" y="0"/>
              <a:ext cx="1482344" cy="1133856"/>
            </a:xfrm>
            <a:custGeom>
              <a:avLst/>
              <a:gdLst/>
              <a:ahLst/>
              <a:cxnLst/>
              <a:rect r="r" b="b" t="t" l="l"/>
              <a:pathLst>
                <a:path h="1133856" w="1482344">
                  <a:moveTo>
                    <a:pt x="0" y="0"/>
                  </a:moveTo>
                  <a:lnTo>
                    <a:pt x="1482344" y="0"/>
                  </a:lnTo>
                  <a:lnTo>
                    <a:pt x="1482344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15367" r="0" b="-15367"/>
              </a:stretch>
            </a:blip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9817568" y="3767526"/>
            <a:ext cx="1645920" cy="610172"/>
            <a:chOff x="0" y="0"/>
            <a:chExt cx="2194560" cy="813562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194560" cy="813562"/>
            </a:xfrm>
            <a:custGeom>
              <a:avLst/>
              <a:gdLst/>
              <a:ahLst/>
              <a:cxnLst/>
              <a:rect r="r" b="b" t="t" l="l"/>
              <a:pathLst>
                <a:path h="81356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841" r="0" b="13721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9525"/>
              <a:ext cx="219456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PostgreSQL 16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2469811" y="2920420"/>
            <a:ext cx="1272899" cy="923163"/>
            <a:chOff x="0" y="0"/>
            <a:chExt cx="1563412" cy="1133856"/>
          </a:xfrm>
        </p:grpSpPr>
        <p:sp>
          <p:nvSpPr>
            <p:cNvPr name="Freeform 66" id="66" descr="preencoded.png"/>
            <p:cNvSpPr/>
            <p:nvPr/>
          </p:nvSpPr>
          <p:spPr>
            <a:xfrm flipH="false" flipV="false" rot="0">
              <a:off x="0" y="0"/>
              <a:ext cx="1563412" cy="1133856"/>
            </a:xfrm>
            <a:custGeom>
              <a:avLst/>
              <a:gdLst/>
              <a:ahLst/>
              <a:cxnLst/>
              <a:rect r="r" b="b" t="t" l="l"/>
              <a:pathLst>
                <a:path h="1133856" w="1563412">
                  <a:moveTo>
                    <a:pt x="0" y="0"/>
                  </a:moveTo>
                  <a:lnTo>
                    <a:pt x="1563412" y="0"/>
                  </a:lnTo>
                  <a:lnTo>
                    <a:pt x="1563412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18942" r="0" b="-18942"/>
              </a:stretch>
            </a:blip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12362918" y="3648844"/>
            <a:ext cx="1645920" cy="610172"/>
            <a:chOff x="0" y="0"/>
            <a:chExt cx="2194560" cy="81356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813562"/>
            </a:xfrm>
            <a:custGeom>
              <a:avLst/>
              <a:gdLst/>
              <a:ahLst/>
              <a:cxnLst/>
              <a:rect r="r" b="b" t="t" l="l"/>
              <a:pathLst>
                <a:path h="81356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841" r="0" b="13721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9525"/>
              <a:ext cx="219456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SQLAlchemy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9922647" y="4262540"/>
            <a:ext cx="1056894" cy="850392"/>
            <a:chOff x="0" y="0"/>
            <a:chExt cx="1409192" cy="1133856"/>
          </a:xfrm>
        </p:grpSpPr>
        <p:sp>
          <p:nvSpPr>
            <p:cNvPr name="Freeform 71" id="71" descr="preencoded.png"/>
            <p:cNvSpPr/>
            <p:nvPr/>
          </p:nvSpPr>
          <p:spPr>
            <a:xfrm flipH="false" flipV="false" rot="0">
              <a:off x="0" y="0"/>
              <a:ext cx="1409192" cy="1133856"/>
            </a:xfrm>
            <a:custGeom>
              <a:avLst/>
              <a:gdLst/>
              <a:ahLst/>
              <a:cxnLst/>
              <a:rect r="r" b="b" t="t" l="l"/>
              <a:pathLst>
                <a:path h="1133856" w="1409192">
                  <a:moveTo>
                    <a:pt x="0" y="0"/>
                  </a:moveTo>
                  <a:lnTo>
                    <a:pt x="1409192" y="0"/>
                  </a:lnTo>
                  <a:lnTo>
                    <a:pt x="1409192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-12141" r="0" b="-12141"/>
              </a:stretch>
            </a:blip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9659364" y="4921956"/>
            <a:ext cx="1645920" cy="610172"/>
            <a:chOff x="0" y="0"/>
            <a:chExt cx="2194560" cy="813562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2194560" cy="813562"/>
            </a:xfrm>
            <a:custGeom>
              <a:avLst/>
              <a:gdLst/>
              <a:ahLst/>
              <a:cxnLst/>
              <a:rect r="r" b="b" t="t" l="l"/>
              <a:pathLst>
                <a:path h="81356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841" r="0" b="13721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9525"/>
              <a:ext cx="219456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asyncpg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2627724" y="4276256"/>
            <a:ext cx="1116308" cy="850392"/>
            <a:chOff x="0" y="0"/>
            <a:chExt cx="1488410" cy="1133856"/>
          </a:xfrm>
        </p:grpSpPr>
        <p:sp>
          <p:nvSpPr>
            <p:cNvPr name="Freeform 76" id="76" descr="preencoded.png"/>
            <p:cNvSpPr/>
            <p:nvPr/>
          </p:nvSpPr>
          <p:spPr>
            <a:xfrm flipH="false" flipV="false" rot="0">
              <a:off x="0" y="0"/>
              <a:ext cx="1488410" cy="1133856"/>
            </a:xfrm>
            <a:custGeom>
              <a:avLst/>
              <a:gdLst/>
              <a:ahLst/>
              <a:cxnLst/>
              <a:rect r="r" b="b" t="t" l="l"/>
              <a:pathLst>
                <a:path h="1133856" w="1488410">
                  <a:moveTo>
                    <a:pt x="0" y="0"/>
                  </a:moveTo>
                  <a:lnTo>
                    <a:pt x="1488410" y="0"/>
                  </a:lnTo>
                  <a:lnTo>
                    <a:pt x="1488410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-15634" r="0" b="-15634"/>
              </a:stretch>
            </a:blip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12362918" y="4921956"/>
            <a:ext cx="1645920" cy="610172"/>
            <a:chOff x="0" y="0"/>
            <a:chExt cx="2194560" cy="81356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194560" cy="813562"/>
            </a:xfrm>
            <a:custGeom>
              <a:avLst/>
              <a:gdLst/>
              <a:ahLst/>
              <a:cxnLst/>
              <a:rect r="r" b="b" t="t" l="l"/>
              <a:pathLst>
                <a:path h="81356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841" r="0" b="13721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9525"/>
              <a:ext cx="219456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pgvector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107539" y="2234667"/>
            <a:ext cx="3516630" cy="3242310"/>
            <a:chOff x="0" y="0"/>
            <a:chExt cx="4688840" cy="432308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688840" cy="4323080"/>
            </a:xfrm>
            <a:custGeom>
              <a:avLst/>
              <a:gdLst/>
              <a:ahLst/>
              <a:cxnLst/>
              <a:rect r="r" b="b" t="t" l="l"/>
              <a:pathLst>
                <a:path h="4323080" w="4688840">
                  <a:moveTo>
                    <a:pt x="0" y="147193"/>
                  </a:moveTo>
                  <a:cubicBezTo>
                    <a:pt x="0" y="65913"/>
                    <a:pt x="65913" y="0"/>
                    <a:pt x="147193" y="0"/>
                  </a:cubicBezTo>
                  <a:lnTo>
                    <a:pt x="4541647" y="0"/>
                  </a:lnTo>
                  <a:cubicBezTo>
                    <a:pt x="4622927" y="0"/>
                    <a:pt x="4688840" y="65913"/>
                    <a:pt x="4688840" y="147193"/>
                  </a:cubicBezTo>
                  <a:lnTo>
                    <a:pt x="4688840" y="4175887"/>
                  </a:lnTo>
                  <a:cubicBezTo>
                    <a:pt x="4688840" y="4257167"/>
                    <a:pt x="4622927" y="4323080"/>
                    <a:pt x="4541647" y="4323080"/>
                  </a:cubicBezTo>
                  <a:lnTo>
                    <a:pt x="147193" y="4323080"/>
                  </a:lnTo>
                  <a:cubicBezTo>
                    <a:pt x="65913" y="4323080"/>
                    <a:pt x="0" y="4257167"/>
                    <a:pt x="0" y="4175887"/>
                  </a:cubicBezTo>
                  <a:lnTo>
                    <a:pt x="0" y="147193"/>
                  </a:lnTo>
                  <a:close/>
                </a:path>
              </a:pathLst>
            </a:custGeom>
            <a:solidFill>
              <a:srgbClr val="FFFCF7"/>
            </a:solidFill>
            <a:ln w="19050" cap="rnd">
              <a:solidFill>
                <a:srgbClr val="E2E8F0"/>
              </a:solidFill>
              <a:prstDash val="solid"/>
              <a:round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4117064" y="2289817"/>
            <a:ext cx="3497580" cy="928878"/>
            <a:chOff x="0" y="0"/>
            <a:chExt cx="4663440" cy="1238504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4663440" cy="1238504"/>
            </a:xfrm>
            <a:custGeom>
              <a:avLst/>
              <a:gdLst/>
              <a:ahLst/>
              <a:cxnLst/>
              <a:rect r="r" b="b" t="t" l="l"/>
              <a:pathLst>
                <a:path h="1238504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238504"/>
                  </a:lnTo>
                  <a:lnTo>
                    <a:pt x="0" y="1238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836" r="0" b="-2901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0"/>
              <a:ext cx="4663440" cy="12385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A34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AI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4504911" y="3064104"/>
            <a:ext cx="1056894" cy="1056894"/>
            <a:chOff x="0" y="0"/>
            <a:chExt cx="1133856" cy="1133856"/>
          </a:xfrm>
        </p:grpSpPr>
        <p:sp>
          <p:nvSpPr>
            <p:cNvPr name="Freeform 86" id="86" descr="preencoded.png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grpSp>
        <p:nvGrpSpPr>
          <p:cNvPr name="Group 87" id="87"/>
          <p:cNvGrpSpPr/>
          <p:nvPr/>
        </p:nvGrpSpPr>
        <p:grpSpPr>
          <a:xfrm rot="0">
            <a:off x="14107539" y="4233012"/>
            <a:ext cx="1851660" cy="610172"/>
            <a:chOff x="0" y="0"/>
            <a:chExt cx="2468880" cy="813562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2468880" cy="813562"/>
            </a:xfrm>
            <a:custGeom>
              <a:avLst/>
              <a:gdLst/>
              <a:ahLst/>
              <a:cxnLst/>
              <a:rect r="r" b="b" t="t" l="l"/>
              <a:pathLst>
                <a:path h="813562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411" r="0" b="7151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9525"/>
              <a:ext cx="246888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LangGraph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6057878" y="3135732"/>
            <a:ext cx="1026224" cy="1026224"/>
            <a:chOff x="0" y="0"/>
            <a:chExt cx="1133856" cy="1133856"/>
          </a:xfrm>
        </p:grpSpPr>
        <p:sp>
          <p:nvSpPr>
            <p:cNvPr name="Freeform 91" id="91" descr="preencoded.png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5622014" y="4276256"/>
            <a:ext cx="1851660" cy="610172"/>
            <a:chOff x="0" y="0"/>
            <a:chExt cx="2468880" cy="813562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468880" cy="813562"/>
            </a:xfrm>
            <a:custGeom>
              <a:avLst/>
              <a:gdLst/>
              <a:ahLst/>
              <a:cxnLst/>
              <a:rect r="r" b="b" t="t" l="l"/>
              <a:pathLst>
                <a:path h="813562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411" r="0" b="7151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9525"/>
              <a:ext cx="246888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Modal GPU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4117064" y="4644492"/>
            <a:ext cx="3497580" cy="518922"/>
            <a:chOff x="0" y="0"/>
            <a:chExt cx="4663440" cy="691896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663440" cy="691896"/>
            </a:xfrm>
            <a:custGeom>
              <a:avLst/>
              <a:gdLst/>
              <a:ahLst/>
              <a:cxnLst/>
              <a:rect r="r" b="b" t="t" l="l"/>
              <a:pathLst>
                <a:path h="691896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691896"/>
                  </a:lnTo>
                  <a:lnTo>
                    <a:pt x="0" y="691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683" r="0" b="-70978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9525"/>
              <a:ext cx="4663440" cy="701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Gemma 4 + BGE-M3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597279" y="5800827"/>
            <a:ext cx="3516630" cy="3468373"/>
            <a:chOff x="0" y="0"/>
            <a:chExt cx="4688840" cy="462449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4688840" cy="4624498"/>
            </a:xfrm>
            <a:custGeom>
              <a:avLst/>
              <a:gdLst/>
              <a:ahLst/>
              <a:cxnLst/>
              <a:rect r="r" b="b" t="t" l="l"/>
              <a:pathLst>
                <a:path h="4624498" w="4688840">
                  <a:moveTo>
                    <a:pt x="0" y="125473"/>
                  </a:moveTo>
                  <a:cubicBezTo>
                    <a:pt x="0" y="56235"/>
                    <a:pt x="65913" y="0"/>
                    <a:pt x="147066" y="0"/>
                  </a:cubicBezTo>
                  <a:lnTo>
                    <a:pt x="4541774" y="0"/>
                  </a:lnTo>
                  <a:cubicBezTo>
                    <a:pt x="4623054" y="0"/>
                    <a:pt x="4688840" y="56235"/>
                    <a:pt x="4688840" y="125473"/>
                  </a:cubicBezTo>
                  <a:lnTo>
                    <a:pt x="4688840" y="4499025"/>
                  </a:lnTo>
                  <a:cubicBezTo>
                    <a:pt x="4688840" y="4568371"/>
                    <a:pt x="4622927" y="4624498"/>
                    <a:pt x="4541774" y="4624498"/>
                  </a:cubicBezTo>
                  <a:lnTo>
                    <a:pt x="147066" y="4624498"/>
                  </a:lnTo>
                  <a:cubicBezTo>
                    <a:pt x="65913" y="4624498"/>
                    <a:pt x="0" y="4568263"/>
                    <a:pt x="0" y="4499025"/>
                  </a:cubicBezTo>
                  <a:lnTo>
                    <a:pt x="0" y="125473"/>
                  </a:lnTo>
                  <a:close/>
                </a:path>
              </a:pathLst>
            </a:custGeom>
            <a:solidFill>
              <a:srgbClr val="FFFCF7"/>
            </a:solidFill>
            <a:ln w="19050" cap="rnd">
              <a:solidFill>
                <a:srgbClr val="E2E8F0"/>
              </a:solidFill>
              <a:prstDash val="solid"/>
              <a:round/>
            </a:ln>
          </p:spPr>
        </p:sp>
      </p:grpSp>
      <p:grpSp>
        <p:nvGrpSpPr>
          <p:cNvPr name="Group 100" id="100"/>
          <p:cNvGrpSpPr/>
          <p:nvPr/>
        </p:nvGrpSpPr>
        <p:grpSpPr>
          <a:xfrm rot="0">
            <a:off x="572514" y="5800827"/>
            <a:ext cx="3497580" cy="928878"/>
            <a:chOff x="0" y="0"/>
            <a:chExt cx="4663440" cy="123850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4663440" cy="1238504"/>
            </a:xfrm>
            <a:custGeom>
              <a:avLst/>
              <a:gdLst/>
              <a:ahLst/>
              <a:cxnLst/>
              <a:rect r="r" b="b" t="t" l="l"/>
              <a:pathLst>
                <a:path h="1238504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238504"/>
                  </a:lnTo>
                  <a:lnTo>
                    <a:pt x="0" y="1238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836" r="0" b="-2901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0"/>
              <a:ext cx="4663440" cy="12385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A34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Frontend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1278888" y="6647641"/>
            <a:ext cx="905256" cy="837996"/>
            <a:chOff x="0" y="0"/>
            <a:chExt cx="1133856" cy="1049611"/>
          </a:xfrm>
        </p:grpSpPr>
        <p:sp>
          <p:nvSpPr>
            <p:cNvPr name="Freeform 104" id="104" descr="preencoded.png"/>
            <p:cNvSpPr/>
            <p:nvPr/>
          </p:nvSpPr>
          <p:spPr>
            <a:xfrm flipH="false" flipV="false" rot="0">
              <a:off x="0" y="0"/>
              <a:ext cx="1133856" cy="1049611"/>
            </a:xfrm>
            <a:custGeom>
              <a:avLst/>
              <a:gdLst/>
              <a:ahLst/>
              <a:cxnLst/>
              <a:rect r="r" b="b" t="t" l="l"/>
              <a:pathLst>
                <a:path h="1049611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049611"/>
                  </a:lnTo>
                  <a:lnTo>
                    <a:pt x="0" y="1049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-4013" r="0" b="-4013"/>
              </a:stretch>
            </a:blipFill>
          </p:spPr>
        </p:sp>
      </p:grpSp>
      <p:grpSp>
        <p:nvGrpSpPr>
          <p:cNvPr name="Group 105" id="105"/>
          <p:cNvGrpSpPr/>
          <p:nvPr/>
        </p:nvGrpSpPr>
        <p:grpSpPr>
          <a:xfrm rot="0">
            <a:off x="743964" y="7465696"/>
            <a:ext cx="1920240" cy="610172"/>
            <a:chOff x="0" y="0"/>
            <a:chExt cx="2560320" cy="813562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2560320" cy="813562"/>
            </a:xfrm>
            <a:custGeom>
              <a:avLst/>
              <a:gdLst/>
              <a:ahLst/>
              <a:cxnLst/>
              <a:rect r="r" b="b" t="t" l="l"/>
              <a:pathLst>
                <a:path h="81356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601" r="0" b="4961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9525"/>
              <a:ext cx="256032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Next.js 14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2719068" y="6622247"/>
            <a:ext cx="932688" cy="863390"/>
            <a:chOff x="0" y="0"/>
            <a:chExt cx="1133856" cy="1049611"/>
          </a:xfrm>
        </p:grpSpPr>
        <p:sp>
          <p:nvSpPr>
            <p:cNvPr name="Freeform 109" id="109" descr="preencoded.png"/>
            <p:cNvSpPr/>
            <p:nvPr/>
          </p:nvSpPr>
          <p:spPr>
            <a:xfrm flipH="false" flipV="false" rot="0">
              <a:off x="0" y="0"/>
              <a:ext cx="1133856" cy="1049611"/>
            </a:xfrm>
            <a:custGeom>
              <a:avLst/>
              <a:gdLst/>
              <a:ahLst/>
              <a:cxnLst/>
              <a:rect r="r" b="b" t="t" l="l"/>
              <a:pathLst>
                <a:path h="1049611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049611"/>
                  </a:lnTo>
                  <a:lnTo>
                    <a:pt x="0" y="1049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-4013" r="0" b="-4013"/>
              </a:stretch>
            </a:blip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2184144" y="7465696"/>
            <a:ext cx="1920240" cy="610172"/>
            <a:chOff x="0" y="0"/>
            <a:chExt cx="2560320" cy="813562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2560320" cy="813562"/>
            </a:xfrm>
            <a:custGeom>
              <a:avLst/>
              <a:gdLst/>
              <a:ahLst/>
              <a:cxnLst/>
              <a:rect r="r" b="b" t="t" l="l"/>
              <a:pathLst>
                <a:path h="81356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601" r="0" b="4961"/>
              </a:stretch>
            </a:blipFill>
          </p:spPr>
        </p:sp>
        <p:sp>
          <p:nvSpPr>
            <p:cNvPr name="TextBox 112" id="112"/>
            <p:cNvSpPr txBox="true"/>
            <p:nvPr/>
          </p:nvSpPr>
          <p:spPr>
            <a:xfrm>
              <a:off x="0" y="9525"/>
              <a:ext cx="256032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React Flow</a:t>
              </a:r>
            </a:p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1772664" y="8158574"/>
            <a:ext cx="1165860" cy="787209"/>
            <a:chOff x="0" y="0"/>
            <a:chExt cx="1554480" cy="1049611"/>
          </a:xfrm>
        </p:grpSpPr>
        <p:sp>
          <p:nvSpPr>
            <p:cNvPr name="Freeform 114" id="114" descr="preencoded.png"/>
            <p:cNvSpPr/>
            <p:nvPr/>
          </p:nvSpPr>
          <p:spPr>
            <a:xfrm flipH="false" flipV="false" rot="0">
              <a:off x="0" y="0"/>
              <a:ext cx="1554480" cy="1049611"/>
            </a:xfrm>
            <a:custGeom>
              <a:avLst/>
              <a:gdLst/>
              <a:ahLst/>
              <a:cxnLst/>
              <a:rect r="r" b="b" t="t" l="l"/>
              <a:pathLst>
                <a:path h="1049611" w="1554480">
                  <a:moveTo>
                    <a:pt x="0" y="0"/>
                  </a:moveTo>
                  <a:lnTo>
                    <a:pt x="1554480" y="0"/>
                  </a:lnTo>
                  <a:lnTo>
                    <a:pt x="1554480" y="1049611"/>
                  </a:lnTo>
                  <a:lnTo>
                    <a:pt x="0" y="1049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24050" r="0" b="-24050"/>
              </a:stretch>
            </a:blip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395474" y="8788820"/>
            <a:ext cx="1920240" cy="610172"/>
            <a:chOff x="0" y="0"/>
            <a:chExt cx="2560320" cy="813562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560320" cy="813562"/>
            </a:xfrm>
            <a:custGeom>
              <a:avLst/>
              <a:gdLst/>
              <a:ahLst/>
              <a:cxnLst/>
              <a:rect r="r" b="b" t="t" l="l"/>
              <a:pathLst>
                <a:path h="81356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601" r="0" b="4961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9525"/>
              <a:ext cx="256032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Zustand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4344605" y="5800827"/>
            <a:ext cx="4888230" cy="3468373"/>
            <a:chOff x="0" y="0"/>
            <a:chExt cx="6517640" cy="4624498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6517640" cy="4624498"/>
            </a:xfrm>
            <a:custGeom>
              <a:avLst/>
              <a:gdLst/>
              <a:ahLst/>
              <a:cxnLst/>
              <a:rect r="r" b="b" t="t" l="l"/>
              <a:pathLst>
                <a:path h="4624498" w="6517640">
                  <a:moveTo>
                    <a:pt x="0" y="125364"/>
                  </a:moveTo>
                  <a:cubicBezTo>
                    <a:pt x="0" y="56127"/>
                    <a:pt x="65786" y="0"/>
                    <a:pt x="146939" y="0"/>
                  </a:cubicBezTo>
                  <a:lnTo>
                    <a:pt x="6370701" y="0"/>
                  </a:lnTo>
                  <a:cubicBezTo>
                    <a:pt x="6451854" y="0"/>
                    <a:pt x="6517640" y="56127"/>
                    <a:pt x="6517640" y="125364"/>
                  </a:cubicBezTo>
                  <a:lnTo>
                    <a:pt x="6517640" y="4499134"/>
                  </a:lnTo>
                  <a:cubicBezTo>
                    <a:pt x="6517640" y="4568372"/>
                    <a:pt x="6451854" y="4624498"/>
                    <a:pt x="6370701" y="4624498"/>
                  </a:cubicBezTo>
                  <a:lnTo>
                    <a:pt x="146939" y="4624498"/>
                  </a:lnTo>
                  <a:cubicBezTo>
                    <a:pt x="65786" y="4624498"/>
                    <a:pt x="0" y="4568371"/>
                    <a:pt x="0" y="4499134"/>
                  </a:cubicBezTo>
                  <a:lnTo>
                    <a:pt x="0" y="125364"/>
                  </a:lnTo>
                  <a:close/>
                </a:path>
              </a:pathLst>
            </a:custGeom>
            <a:solidFill>
              <a:srgbClr val="FFFCF7"/>
            </a:solidFill>
            <a:ln w="19050" cap="rnd">
              <a:solidFill>
                <a:srgbClr val="E2E8F0"/>
              </a:solidFill>
              <a:prstDash val="solid"/>
              <a:round/>
            </a:ln>
          </p:spPr>
        </p:sp>
      </p:grpSp>
      <p:grpSp>
        <p:nvGrpSpPr>
          <p:cNvPr name="Group 120" id="120"/>
          <p:cNvGrpSpPr/>
          <p:nvPr/>
        </p:nvGrpSpPr>
        <p:grpSpPr>
          <a:xfrm rot="0">
            <a:off x="4354130" y="5800827"/>
            <a:ext cx="4869180" cy="928878"/>
            <a:chOff x="0" y="0"/>
            <a:chExt cx="6492240" cy="1238504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6492240" cy="1238504"/>
            </a:xfrm>
            <a:custGeom>
              <a:avLst/>
              <a:gdLst/>
              <a:ahLst/>
              <a:cxnLst/>
              <a:rect r="r" b="b" t="t" l="l"/>
              <a:pathLst>
                <a:path h="1238504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1238504"/>
                  </a:lnTo>
                  <a:lnTo>
                    <a:pt x="0" y="1238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608" r="0" b="-3167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0"/>
              <a:ext cx="6492240" cy="12385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A34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Schema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4845048" y="6759974"/>
            <a:ext cx="1244727" cy="1133285"/>
            <a:chOff x="0" y="0"/>
            <a:chExt cx="1133856" cy="1032340"/>
          </a:xfrm>
        </p:grpSpPr>
        <p:sp>
          <p:nvSpPr>
            <p:cNvPr name="Freeform 124" id="124" descr="preencoded.png"/>
            <p:cNvSpPr/>
            <p:nvPr/>
          </p:nvSpPr>
          <p:spPr>
            <a:xfrm flipH="false" flipV="false" rot="0">
              <a:off x="0" y="0"/>
              <a:ext cx="1133856" cy="1032340"/>
            </a:xfrm>
            <a:custGeom>
              <a:avLst/>
              <a:gdLst/>
              <a:ahLst/>
              <a:cxnLst/>
              <a:rect r="r" b="b" t="t" l="l"/>
              <a:pathLst>
                <a:path h="1032340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032340"/>
                  </a:lnTo>
                  <a:lnTo>
                    <a:pt x="0" y="10323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-4916" r="0" b="-4916"/>
              </a:stretch>
            </a:blipFill>
          </p:spPr>
        </p:sp>
      </p:grpSp>
      <p:grpSp>
        <p:nvGrpSpPr>
          <p:cNvPr name="Group 125" id="125"/>
          <p:cNvGrpSpPr/>
          <p:nvPr/>
        </p:nvGrpSpPr>
        <p:grpSpPr>
          <a:xfrm rot="0">
            <a:off x="4629021" y="7996695"/>
            <a:ext cx="1988820" cy="610172"/>
            <a:chOff x="0" y="0"/>
            <a:chExt cx="2651760" cy="813562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2651760" cy="813562"/>
            </a:xfrm>
            <a:custGeom>
              <a:avLst/>
              <a:gdLst/>
              <a:ahLst/>
              <a:cxnLst/>
              <a:rect r="r" b="b" t="t" l="l"/>
              <a:pathLst>
                <a:path h="813562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2" r="0" b="2771"/>
              </a:stretch>
            </a:blipFill>
          </p:spPr>
        </p:sp>
        <p:sp>
          <p:nvSpPr>
            <p:cNvPr name="TextBox 127" id="127"/>
            <p:cNvSpPr txBox="true"/>
            <p:nvPr/>
          </p:nvSpPr>
          <p:spPr>
            <a:xfrm>
              <a:off x="0" y="9525"/>
              <a:ext cx="265176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Pydantic v2</a:t>
              </a:r>
            </a:p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7356600" y="6776021"/>
            <a:ext cx="1287780" cy="1192099"/>
            <a:chOff x="0" y="0"/>
            <a:chExt cx="1133856" cy="1049611"/>
          </a:xfrm>
        </p:grpSpPr>
        <p:sp>
          <p:nvSpPr>
            <p:cNvPr name="Freeform 129" id="129" descr="preencoded.png"/>
            <p:cNvSpPr/>
            <p:nvPr/>
          </p:nvSpPr>
          <p:spPr>
            <a:xfrm flipH="false" flipV="false" rot="0">
              <a:off x="0" y="0"/>
              <a:ext cx="1133856" cy="1049611"/>
            </a:xfrm>
            <a:custGeom>
              <a:avLst/>
              <a:gdLst/>
              <a:ahLst/>
              <a:cxnLst/>
              <a:rect r="r" b="b" t="t" l="l"/>
              <a:pathLst>
                <a:path h="1049611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049611"/>
                  </a:lnTo>
                  <a:lnTo>
                    <a:pt x="0" y="1049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4013" r="0" b="-4013"/>
              </a:stretch>
            </a:blip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7006080" y="7996695"/>
            <a:ext cx="1988820" cy="610172"/>
            <a:chOff x="0" y="0"/>
            <a:chExt cx="2651760" cy="813562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2651760" cy="813562"/>
            </a:xfrm>
            <a:custGeom>
              <a:avLst/>
              <a:gdLst/>
              <a:ahLst/>
              <a:cxnLst/>
              <a:rect r="r" b="b" t="t" l="l"/>
              <a:pathLst>
                <a:path h="813562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2" r="0" b="2771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9525"/>
              <a:ext cx="2651760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TypeScript</a:t>
              </a:r>
            </a:p>
          </p:txBody>
        </p:sp>
      </p:grpSp>
      <p:grpSp>
        <p:nvGrpSpPr>
          <p:cNvPr name="Group 133" id="133"/>
          <p:cNvGrpSpPr/>
          <p:nvPr/>
        </p:nvGrpSpPr>
        <p:grpSpPr>
          <a:xfrm rot="0">
            <a:off x="6270750" y="6801823"/>
            <a:ext cx="1028700" cy="1748790"/>
            <a:chOff x="0" y="0"/>
            <a:chExt cx="1371600" cy="233172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1371600" cy="2331720"/>
            </a:xfrm>
            <a:custGeom>
              <a:avLst/>
              <a:gdLst/>
              <a:ahLst/>
              <a:cxnLst/>
              <a:rect r="r" b="b" t="t" l="l"/>
              <a:pathLst>
                <a:path h="233172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2331720"/>
                  </a:lnTo>
                  <a:lnTo>
                    <a:pt x="0" y="2331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3964" t="0" r="-103964" b="29411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9525"/>
              <a:ext cx="1371600" cy="2341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64748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4354130" y="8513073"/>
            <a:ext cx="4869180" cy="637413"/>
            <a:chOff x="0" y="0"/>
            <a:chExt cx="6492240" cy="849884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6492240" cy="849884"/>
            </a:xfrm>
            <a:custGeom>
              <a:avLst/>
              <a:gdLst/>
              <a:ahLst/>
              <a:cxnLst/>
              <a:rect r="r" b="b" t="t" l="l"/>
              <a:pathLst>
                <a:path h="849884" w="6492240">
                  <a:moveTo>
                    <a:pt x="0" y="0"/>
                  </a:moveTo>
                  <a:lnTo>
                    <a:pt x="6492240" y="0"/>
                  </a:lnTo>
                  <a:lnTo>
                    <a:pt x="649224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6568" r="0" b="-81122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0"/>
              <a:ext cx="649224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>
                  <a:solidFill>
                    <a:srgbClr val="2563E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자동 코드젠 (pydantic2ts)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9521947" y="5707768"/>
            <a:ext cx="8092697" cy="3496913"/>
            <a:chOff x="0" y="0"/>
            <a:chExt cx="10790263" cy="4662551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10790263" cy="4662551"/>
            </a:xfrm>
            <a:custGeom>
              <a:avLst/>
              <a:gdLst/>
              <a:ahLst/>
              <a:cxnLst/>
              <a:rect r="r" b="b" t="t" l="l"/>
              <a:pathLst>
                <a:path h="4662551" w="10790263">
                  <a:moveTo>
                    <a:pt x="0" y="126396"/>
                  </a:moveTo>
                  <a:cubicBezTo>
                    <a:pt x="0" y="56589"/>
                    <a:pt x="66762" y="0"/>
                    <a:pt x="149120" y="0"/>
                  </a:cubicBezTo>
                  <a:lnTo>
                    <a:pt x="10641143" y="0"/>
                  </a:lnTo>
                  <a:cubicBezTo>
                    <a:pt x="10723500" y="0"/>
                    <a:pt x="10790263" y="56589"/>
                    <a:pt x="10790263" y="126396"/>
                  </a:cubicBezTo>
                  <a:lnTo>
                    <a:pt x="10790263" y="4536155"/>
                  </a:lnTo>
                  <a:cubicBezTo>
                    <a:pt x="10790263" y="4605963"/>
                    <a:pt x="10723500" y="4662551"/>
                    <a:pt x="10641143" y="4662551"/>
                  </a:cubicBezTo>
                  <a:lnTo>
                    <a:pt x="149120" y="4662551"/>
                  </a:lnTo>
                  <a:cubicBezTo>
                    <a:pt x="66762" y="4662551"/>
                    <a:pt x="0" y="4605962"/>
                    <a:pt x="0" y="4536155"/>
                  </a:cubicBezTo>
                  <a:lnTo>
                    <a:pt x="0" y="126396"/>
                  </a:lnTo>
                  <a:close/>
                </a:path>
              </a:pathLst>
            </a:custGeom>
            <a:solidFill>
              <a:srgbClr val="FFFCF7"/>
            </a:solidFill>
            <a:ln w="19050" cap="rnd">
              <a:solidFill>
                <a:srgbClr val="E2E8F0"/>
              </a:solidFill>
              <a:prstDash val="solid"/>
              <a:round/>
            </a:ln>
          </p:spPr>
        </p:sp>
      </p:grpSp>
      <p:grpSp>
        <p:nvGrpSpPr>
          <p:cNvPr name="Group 141" id="141"/>
          <p:cNvGrpSpPr/>
          <p:nvPr/>
        </p:nvGrpSpPr>
        <p:grpSpPr>
          <a:xfrm rot="0">
            <a:off x="9497439" y="5476977"/>
            <a:ext cx="7955280" cy="928878"/>
            <a:chOff x="0" y="0"/>
            <a:chExt cx="10607040" cy="1238504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0607040" cy="1238504"/>
            </a:xfrm>
            <a:custGeom>
              <a:avLst/>
              <a:gdLst/>
              <a:ahLst/>
              <a:cxnLst/>
              <a:rect r="r" b="b" t="t" l="l"/>
              <a:pathLst>
                <a:path h="1238504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1238504"/>
                  </a:lnTo>
                  <a:lnTo>
                    <a:pt x="0" y="1238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345" r="0" b="-96410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0"/>
              <a:ext cx="10607040" cy="12385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16A34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Code Standard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0011532" y="6345276"/>
            <a:ext cx="576072" cy="576072"/>
            <a:chOff x="0" y="0"/>
            <a:chExt cx="768096" cy="768096"/>
          </a:xfrm>
        </p:grpSpPr>
        <p:sp>
          <p:nvSpPr>
            <p:cNvPr name="Freeform 145" id="145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</p:spPr>
        </p:sp>
      </p:grpSp>
      <p:grpSp>
        <p:nvGrpSpPr>
          <p:cNvPr name="Group 146" id="146"/>
          <p:cNvGrpSpPr/>
          <p:nvPr/>
        </p:nvGrpSpPr>
        <p:grpSpPr>
          <a:xfrm rot="0">
            <a:off x="9977433" y="7277964"/>
            <a:ext cx="576072" cy="576072"/>
            <a:chOff x="0" y="0"/>
            <a:chExt cx="768096" cy="768096"/>
          </a:xfrm>
        </p:grpSpPr>
        <p:sp>
          <p:nvSpPr>
            <p:cNvPr name="Freeform 147" id="147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0011532" y="8295996"/>
            <a:ext cx="576072" cy="576072"/>
            <a:chOff x="0" y="0"/>
            <a:chExt cx="768096" cy="768096"/>
          </a:xfrm>
        </p:grpSpPr>
        <p:sp>
          <p:nvSpPr>
            <p:cNvPr name="Freeform 149" id="149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0" b="0"/>
              </a:stretch>
            </a:blipFill>
          </p:spPr>
        </p:sp>
      </p:grpSp>
      <p:sp>
        <p:nvSpPr>
          <p:cNvPr name="TextBox 150" id="150"/>
          <p:cNvSpPr txBox="true"/>
          <p:nvPr/>
        </p:nvSpPr>
        <p:spPr>
          <a:xfrm rot="0">
            <a:off x="10765912" y="6239739"/>
            <a:ext cx="624078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1E293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Python 스타일</a:t>
            </a:r>
          </a:p>
          <a:p>
            <a:pPr algn="l">
              <a:lnSpc>
                <a:spcPts val="2040"/>
              </a:lnSpc>
            </a:pPr>
          </a:p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Ruff lint (line-length=120) · 타입 힌트 전 함수 필수</a:t>
            </a:r>
          </a:p>
        </p:txBody>
      </p:sp>
      <p:sp>
        <p:nvSpPr>
          <p:cNvPr name="TextBox 151" id="151"/>
          <p:cNvSpPr txBox="true"/>
          <p:nvPr/>
        </p:nvSpPr>
        <p:spPr>
          <a:xfrm rot="0">
            <a:off x="10743052" y="7208432"/>
            <a:ext cx="624078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1E293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타입 시스템</a:t>
            </a:r>
          </a:p>
          <a:p>
            <a:pPr algn="l">
              <a:lnSpc>
                <a:spcPts val="2040"/>
              </a:lnSpc>
            </a:pPr>
          </a:p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모든 ID 필드 UUID · StrEnum으로 JSON 직렬화 호환</a:t>
            </a:r>
          </a:p>
        </p:txBody>
      </p:sp>
      <p:sp>
        <p:nvSpPr>
          <p:cNvPr name="TextBox 152" id="152"/>
          <p:cNvSpPr txBox="true"/>
          <p:nvPr/>
        </p:nvSpPr>
        <p:spPr>
          <a:xfrm rot="0">
            <a:off x="10765912" y="8275041"/>
            <a:ext cx="624078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1E293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테스트</a:t>
            </a:r>
          </a:p>
          <a:p>
            <a:pPr algn="l">
              <a:lnSpc>
                <a:spcPts val="2040"/>
              </a:lnSpc>
            </a:pPr>
          </a:p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pytest + pytest-asyncio · 94+ 테스트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87403" y="2167196"/>
            <a:ext cx="9487953" cy="6599128"/>
            <a:chOff x="0" y="0"/>
            <a:chExt cx="12650603" cy="879883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650603" cy="8798837"/>
            </a:xfrm>
            <a:custGeom>
              <a:avLst/>
              <a:gdLst/>
              <a:ahLst/>
              <a:cxnLst/>
              <a:rect r="r" b="b" t="t" l="l"/>
              <a:pathLst>
                <a:path h="8798837" w="12650603">
                  <a:moveTo>
                    <a:pt x="0" y="79252"/>
                  </a:moveTo>
                  <a:cubicBezTo>
                    <a:pt x="0" y="35515"/>
                    <a:pt x="40236" y="0"/>
                    <a:pt x="89785" y="0"/>
                  </a:cubicBezTo>
                  <a:lnTo>
                    <a:pt x="12560818" y="0"/>
                  </a:lnTo>
                  <a:cubicBezTo>
                    <a:pt x="12610367" y="0"/>
                    <a:pt x="12650603" y="35515"/>
                    <a:pt x="12650603" y="79252"/>
                  </a:cubicBezTo>
                  <a:lnTo>
                    <a:pt x="12650603" y="8719586"/>
                  </a:lnTo>
                  <a:cubicBezTo>
                    <a:pt x="12650603" y="8763322"/>
                    <a:pt x="12610367" y="8798837"/>
                    <a:pt x="12560818" y="8798837"/>
                  </a:cubicBezTo>
                  <a:lnTo>
                    <a:pt x="89785" y="8798837"/>
                  </a:lnTo>
                  <a:cubicBezTo>
                    <a:pt x="40236" y="8798837"/>
                    <a:pt x="0" y="8763322"/>
                    <a:pt x="0" y="8719586"/>
                  </a:cubicBezTo>
                  <a:lnTo>
                    <a:pt x="0" y="79252"/>
                  </a:lnTo>
                  <a:close/>
                </a:path>
              </a:pathLst>
            </a:custGeom>
            <a:solidFill>
              <a:srgbClr val="F6F4EE"/>
            </a:solidFill>
            <a:ln w="33338" cap="rnd">
              <a:solidFill>
                <a:srgbClr val="4ADE80"/>
              </a:solidFill>
              <a:prstDash val="solid"/>
              <a:round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5622293" y="5782991"/>
            <a:ext cx="3462338" cy="33338"/>
            <a:chOff x="0" y="0"/>
            <a:chExt cx="4616450" cy="444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616450" cy="44450"/>
            </a:xfrm>
            <a:custGeom>
              <a:avLst/>
              <a:gdLst/>
              <a:ahLst/>
              <a:cxnLst/>
              <a:rect r="r" b="b" t="t" l="l"/>
              <a:pathLst>
                <a:path h="44450" w="4616450">
                  <a:moveTo>
                    <a:pt x="0" y="0"/>
                  </a:moveTo>
                  <a:lnTo>
                    <a:pt x="4616450" y="4445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1973660" r="0" b="-1973660"/>
              </a:stretch>
            </a:blipFill>
            <a:ln w="33338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5622293" y="5782991"/>
            <a:ext cx="2458002" cy="1730607"/>
            <a:chOff x="0" y="0"/>
            <a:chExt cx="3277337" cy="23074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277362" cy="2307463"/>
            </a:xfrm>
            <a:custGeom>
              <a:avLst/>
              <a:gdLst/>
              <a:ahLst/>
              <a:cxnLst/>
              <a:rect r="r" b="b" t="t" l="l"/>
              <a:pathLst>
                <a:path h="2307463" w="3277362">
                  <a:moveTo>
                    <a:pt x="0" y="0"/>
                  </a:moveTo>
                  <a:lnTo>
                    <a:pt x="3277362" y="2307463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40334" t="0" r="-40333" b="0"/>
              </a:stretch>
            </a:blipFill>
            <a:ln w="33338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5622293" y="5782991"/>
            <a:ext cx="33338" cy="2433638"/>
            <a:chOff x="0" y="0"/>
            <a:chExt cx="44450" cy="32448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450" cy="3244850"/>
            </a:xfrm>
            <a:custGeom>
              <a:avLst/>
              <a:gdLst/>
              <a:ahLst/>
              <a:cxnLst/>
              <a:rect r="r" b="b" t="t" l="l"/>
              <a:pathLst>
                <a:path h="3244850" w="44450">
                  <a:moveTo>
                    <a:pt x="0" y="0"/>
                  </a:moveTo>
                  <a:lnTo>
                    <a:pt x="44450" y="3244850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9316160" t="0" r="-9316160" b="0"/>
              </a:stretch>
            </a:blipFill>
            <a:ln w="33338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4520444" y="4689955"/>
            <a:ext cx="1958340" cy="1958340"/>
            <a:chOff x="0" y="0"/>
            <a:chExt cx="2611120" cy="2611120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0"/>
              <a:ext cx="2611120" cy="2611120"/>
              <a:chOff x="0" y="0"/>
              <a:chExt cx="2611120" cy="261112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2611120" cy="2611120"/>
              </a:xfrm>
              <a:custGeom>
                <a:avLst/>
                <a:gdLst/>
                <a:ahLst/>
                <a:cxnLst/>
                <a:rect r="r" b="b" t="t" l="l"/>
                <a:pathLst>
                  <a:path h="2611120" w="2611120">
                    <a:moveTo>
                      <a:pt x="0" y="1305560"/>
                    </a:moveTo>
                    <a:cubicBezTo>
                      <a:pt x="0" y="584581"/>
                      <a:pt x="584581" y="0"/>
                      <a:pt x="1305560" y="0"/>
                    </a:cubicBezTo>
                    <a:cubicBezTo>
                      <a:pt x="2026539" y="0"/>
                      <a:pt x="2611120" y="584581"/>
                      <a:pt x="2611120" y="1305560"/>
                    </a:cubicBezTo>
                    <a:cubicBezTo>
                      <a:pt x="2611120" y="2026539"/>
                      <a:pt x="2026539" y="2611120"/>
                      <a:pt x="1305560" y="2611120"/>
                    </a:cubicBezTo>
                    <a:cubicBezTo>
                      <a:pt x="584581" y="2611120"/>
                      <a:pt x="0" y="2026539"/>
                      <a:pt x="0" y="1305560"/>
                    </a:cubicBezTo>
                    <a:close/>
                  </a:path>
                </a:pathLst>
              </a:custGeom>
              <a:solidFill>
                <a:srgbClr val="16A34A"/>
              </a:solidFill>
              <a:ln w="38100" cap="sq">
                <a:solidFill>
                  <a:srgbClr val="15803D"/>
                </a:solidFill>
                <a:prstDash val="solid"/>
                <a:miter/>
              </a:ln>
            </p:spPr>
          </p:sp>
        </p:grpSp>
        <p:grpSp>
          <p:nvGrpSpPr>
            <p:cNvPr name="Group 13" id="13"/>
            <p:cNvGrpSpPr/>
            <p:nvPr/>
          </p:nvGrpSpPr>
          <p:grpSpPr>
            <a:xfrm rot="0">
              <a:off x="720344" y="464312"/>
              <a:ext cx="1170432" cy="1170432"/>
              <a:chOff x="0" y="0"/>
              <a:chExt cx="1170432" cy="1170432"/>
            </a:xfrm>
          </p:grpSpPr>
          <p:sp>
            <p:nvSpPr>
              <p:cNvPr name="Freeform 14" id="14" descr="preencoded.png"/>
              <p:cNvSpPr/>
              <p:nvPr/>
            </p:nvSpPr>
            <p:spPr>
              <a:xfrm flipH="false" flipV="false" rot="0">
                <a:off x="0" y="0"/>
                <a:ext cx="1170432" cy="1170432"/>
              </a:xfrm>
              <a:custGeom>
                <a:avLst/>
                <a:gdLst/>
                <a:ahLst/>
                <a:cxnLst/>
                <a:rect r="r" b="b" t="t" l="l"/>
                <a:pathLst>
                  <a:path h="1170432" w="1170432">
                    <a:moveTo>
                      <a:pt x="0" y="0"/>
                    </a:moveTo>
                    <a:lnTo>
                      <a:pt x="1170432" y="0"/>
                    </a:lnTo>
                    <a:lnTo>
                      <a:pt x="1170432" y="1170432"/>
                    </a:lnTo>
                    <a:lnTo>
                      <a:pt x="0" y="117043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0" t="0" r="0" b="0"/>
                </a:stretch>
              </a:blipFill>
            </p:spPr>
          </p:sp>
        </p:grpSp>
        <p:grpSp>
          <p:nvGrpSpPr>
            <p:cNvPr name="Group 15" id="15"/>
            <p:cNvGrpSpPr/>
            <p:nvPr/>
          </p:nvGrpSpPr>
          <p:grpSpPr>
            <a:xfrm rot="0">
              <a:off x="25400" y="1525016"/>
              <a:ext cx="2560320" cy="731520"/>
              <a:chOff x="0" y="0"/>
              <a:chExt cx="2560320" cy="73152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2560320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2560320">
                    <a:moveTo>
                      <a:pt x="0" y="0"/>
                    </a:moveTo>
                    <a:lnTo>
                      <a:pt x="2560320" y="0"/>
                    </a:lnTo>
                    <a:lnTo>
                      <a:pt x="25603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197" r="0" b="-18197"/>
                </a:stretch>
              </a:blip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9525"/>
                <a:ext cx="2560320" cy="74104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620"/>
                  </a:lnSpc>
                </a:pPr>
                <a:r>
                  <a:rPr lang="en-US" sz="1350" b="true">
                    <a:solidFill>
                      <a:srgbClr val="FFFFFF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ORCHESTRATOR</a:t>
                </a:r>
              </a:p>
            </p:txBody>
          </p:sp>
        </p:grpSp>
      </p:grpSp>
      <p:grpSp>
        <p:nvGrpSpPr>
          <p:cNvPr name="Group 18" id="18"/>
          <p:cNvGrpSpPr/>
          <p:nvPr/>
        </p:nvGrpSpPr>
        <p:grpSpPr>
          <a:xfrm rot="0">
            <a:off x="4678842" y="2799096"/>
            <a:ext cx="1558316" cy="1558316"/>
            <a:chOff x="0" y="0"/>
            <a:chExt cx="2172208" cy="217220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72208" cy="2172208"/>
            </a:xfrm>
            <a:custGeom>
              <a:avLst/>
              <a:gdLst/>
              <a:ahLst/>
              <a:cxnLst/>
              <a:rect r="r" b="b" t="t" l="l"/>
              <a:pathLst>
                <a:path h="2172208" w="2172208">
                  <a:moveTo>
                    <a:pt x="0" y="1086104"/>
                  </a:moveTo>
                  <a:cubicBezTo>
                    <a:pt x="0" y="486283"/>
                    <a:pt x="486283" y="0"/>
                    <a:pt x="1086104" y="0"/>
                  </a:cubicBezTo>
                  <a:cubicBezTo>
                    <a:pt x="1685925" y="0"/>
                    <a:pt x="2172208" y="486283"/>
                    <a:pt x="2172208" y="1086104"/>
                  </a:cubicBezTo>
                  <a:cubicBezTo>
                    <a:pt x="2172208" y="1685925"/>
                    <a:pt x="1685925" y="2172208"/>
                    <a:pt x="1086104" y="2172208"/>
                  </a:cubicBezTo>
                  <a:cubicBezTo>
                    <a:pt x="486283" y="2172208"/>
                    <a:pt x="0" y="1685925"/>
                    <a:pt x="0" y="1086104"/>
                  </a:cubicBezTo>
                  <a:close/>
                </a:path>
              </a:pathLst>
            </a:custGeom>
            <a:solidFill>
              <a:srgbClr val="DCFCE7"/>
            </a:solidFill>
            <a:ln w="38100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5136804" y="3147330"/>
            <a:ext cx="713232" cy="713232"/>
            <a:chOff x="0" y="0"/>
            <a:chExt cx="950976" cy="950976"/>
          </a:xfrm>
        </p:grpSpPr>
        <p:sp>
          <p:nvSpPr>
            <p:cNvPr name="Freeform 21" id="21" descr="preencoded.png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4650514" y="3723773"/>
            <a:ext cx="1591056" cy="567498"/>
            <a:chOff x="0" y="0"/>
            <a:chExt cx="2121408" cy="75666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21408" cy="756664"/>
            </a:xfrm>
            <a:custGeom>
              <a:avLst/>
              <a:gdLst/>
              <a:ahLst/>
              <a:cxnLst/>
              <a:rect r="r" b="b" t="t" l="l"/>
              <a:pathLst>
                <a:path h="756664" w="2121408">
                  <a:moveTo>
                    <a:pt x="0" y="0"/>
                  </a:moveTo>
                  <a:lnTo>
                    <a:pt x="2121408" y="0"/>
                  </a:lnTo>
                  <a:lnTo>
                    <a:pt x="2121408" y="756664"/>
                  </a:lnTo>
                  <a:lnTo>
                    <a:pt x="0" y="756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58" r="0" b="670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2121408" cy="7471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9"/>
                </a:lnSpc>
              </a:pPr>
              <a:r>
                <a:rPr lang="en-US" sz="1474" b="true">
                  <a:solidFill>
                    <a:srgbClr val="16653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Test Writer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7059809" y="3287813"/>
            <a:ext cx="1558290" cy="1601532"/>
            <a:chOff x="0" y="0"/>
            <a:chExt cx="2113557" cy="217220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13557" cy="2172208"/>
            </a:xfrm>
            <a:custGeom>
              <a:avLst/>
              <a:gdLst/>
              <a:ahLst/>
              <a:cxnLst/>
              <a:rect r="r" b="b" t="t" l="l"/>
              <a:pathLst>
                <a:path h="2172208" w="2113557">
                  <a:moveTo>
                    <a:pt x="0" y="1086104"/>
                  </a:moveTo>
                  <a:cubicBezTo>
                    <a:pt x="0" y="486283"/>
                    <a:pt x="473153" y="0"/>
                    <a:pt x="1056779" y="0"/>
                  </a:cubicBezTo>
                  <a:cubicBezTo>
                    <a:pt x="1640404" y="0"/>
                    <a:pt x="2113557" y="486283"/>
                    <a:pt x="2113557" y="1086104"/>
                  </a:cubicBezTo>
                  <a:cubicBezTo>
                    <a:pt x="2113557" y="1685925"/>
                    <a:pt x="1640404" y="2172208"/>
                    <a:pt x="1056779" y="2172208"/>
                  </a:cubicBezTo>
                  <a:cubicBezTo>
                    <a:pt x="473153" y="2172208"/>
                    <a:pt x="0" y="1685925"/>
                    <a:pt x="0" y="1086104"/>
                  </a:cubicBezTo>
                  <a:close/>
                </a:path>
              </a:pathLst>
            </a:custGeom>
            <a:solidFill>
              <a:srgbClr val="DCFCE7"/>
            </a:solidFill>
            <a:ln w="38100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7517771" y="3636047"/>
            <a:ext cx="713232" cy="713232"/>
            <a:chOff x="0" y="0"/>
            <a:chExt cx="950976" cy="950976"/>
          </a:xfrm>
        </p:grpSpPr>
        <p:sp>
          <p:nvSpPr>
            <p:cNvPr name="Freeform 28" id="28" descr="preencoded.png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7090420" y="4206159"/>
            <a:ext cx="1591056" cy="567498"/>
            <a:chOff x="0" y="0"/>
            <a:chExt cx="2121408" cy="75666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121408" cy="756664"/>
            </a:xfrm>
            <a:custGeom>
              <a:avLst/>
              <a:gdLst/>
              <a:ahLst/>
              <a:cxnLst/>
              <a:rect r="r" b="b" t="t" l="l"/>
              <a:pathLst>
                <a:path h="756664" w="2121408">
                  <a:moveTo>
                    <a:pt x="0" y="0"/>
                  </a:moveTo>
                  <a:lnTo>
                    <a:pt x="2121408" y="0"/>
                  </a:lnTo>
                  <a:lnTo>
                    <a:pt x="2121408" y="756664"/>
                  </a:lnTo>
                  <a:lnTo>
                    <a:pt x="0" y="756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58" r="0" b="670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9525"/>
              <a:ext cx="2121408" cy="7471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9"/>
                </a:lnSpc>
              </a:pPr>
              <a:r>
                <a:rPr lang="en-US" sz="1474" b="true">
                  <a:solidFill>
                    <a:srgbClr val="16653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Developer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8336442" y="4941018"/>
            <a:ext cx="1527810" cy="1558290"/>
            <a:chOff x="0" y="0"/>
            <a:chExt cx="2172208" cy="221554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72208" cy="2215544"/>
            </a:xfrm>
            <a:custGeom>
              <a:avLst/>
              <a:gdLst/>
              <a:ahLst/>
              <a:cxnLst/>
              <a:rect r="r" b="b" t="t" l="l"/>
              <a:pathLst>
                <a:path h="2215544" w="2172208">
                  <a:moveTo>
                    <a:pt x="0" y="1107772"/>
                  </a:moveTo>
                  <a:cubicBezTo>
                    <a:pt x="0" y="495984"/>
                    <a:pt x="486283" y="0"/>
                    <a:pt x="1086104" y="0"/>
                  </a:cubicBezTo>
                  <a:cubicBezTo>
                    <a:pt x="1685925" y="0"/>
                    <a:pt x="2172208" y="495984"/>
                    <a:pt x="2172208" y="1107772"/>
                  </a:cubicBezTo>
                  <a:cubicBezTo>
                    <a:pt x="2172208" y="1719559"/>
                    <a:pt x="1685925" y="2215544"/>
                    <a:pt x="1086104" y="2215544"/>
                  </a:cubicBezTo>
                  <a:cubicBezTo>
                    <a:pt x="486283" y="2215544"/>
                    <a:pt x="0" y="1719559"/>
                    <a:pt x="0" y="1107772"/>
                  </a:cubicBezTo>
                  <a:close/>
                </a:path>
              </a:pathLst>
            </a:custGeom>
            <a:solidFill>
              <a:srgbClr val="DCFCE7"/>
            </a:solidFill>
            <a:ln w="38100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8781749" y="5228150"/>
            <a:ext cx="713232" cy="713232"/>
            <a:chOff x="0" y="0"/>
            <a:chExt cx="950976" cy="950976"/>
          </a:xfrm>
        </p:grpSpPr>
        <p:sp>
          <p:nvSpPr>
            <p:cNvPr name="Freeform 35" id="35" descr="preencoded.png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8273196" y="5882865"/>
            <a:ext cx="1591056" cy="567498"/>
            <a:chOff x="0" y="0"/>
            <a:chExt cx="2121408" cy="75666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121408" cy="756664"/>
            </a:xfrm>
            <a:custGeom>
              <a:avLst/>
              <a:gdLst/>
              <a:ahLst/>
              <a:cxnLst/>
              <a:rect r="r" b="b" t="t" l="l"/>
              <a:pathLst>
                <a:path h="756664" w="2121408">
                  <a:moveTo>
                    <a:pt x="0" y="0"/>
                  </a:moveTo>
                  <a:lnTo>
                    <a:pt x="2121408" y="0"/>
                  </a:lnTo>
                  <a:lnTo>
                    <a:pt x="2121408" y="756664"/>
                  </a:lnTo>
                  <a:lnTo>
                    <a:pt x="0" y="756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58" r="0" b="670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9525"/>
              <a:ext cx="2121408" cy="7471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9"/>
                </a:lnSpc>
              </a:pPr>
              <a:r>
                <a:rPr lang="en-US" sz="1474" b="true">
                  <a:solidFill>
                    <a:srgbClr val="16653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Tester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7249049" y="6682352"/>
            <a:ext cx="1558290" cy="1534277"/>
            <a:chOff x="0" y="0"/>
            <a:chExt cx="2206205" cy="217220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206204" cy="2172208"/>
            </a:xfrm>
            <a:custGeom>
              <a:avLst/>
              <a:gdLst/>
              <a:ahLst/>
              <a:cxnLst/>
              <a:rect r="r" b="b" t="t" l="l"/>
              <a:pathLst>
                <a:path h="2172208" w="2206204">
                  <a:moveTo>
                    <a:pt x="0" y="1086104"/>
                  </a:moveTo>
                  <a:cubicBezTo>
                    <a:pt x="0" y="486283"/>
                    <a:pt x="493894" y="0"/>
                    <a:pt x="1103102" y="0"/>
                  </a:cubicBezTo>
                  <a:cubicBezTo>
                    <a:pt x="1712311" y="0"/>
                    <a:pt x="2206204" y="486283"/>
                    <a:pt x="2206204" y="1086104"/>
                  </a:cubicBezTo>
                  <a:cubicBezTo>
                    <a:pt x="2206204" y="1685925"/>
                    <a:pt x="1712311" y="2172208"/>
                    <a:pt x="1103102" y="2172208"/>
                  </a:cubicBezTo>
                  <a:cubicBezTo>
                    <a:pt x="493894" y="2172208"/>
                    <a:pt x="0" y="1685925"/>
                    <a:pt x="0" y="1086104"/>
                  </a:cubicBezTo>
                  <a:close/>
                </a:path>
              </a:pathLst>
            </a:custGeom>
            <a:solidFill>
              <a:srgbClr val="DCFCE7"/>
            </a:solidFill>
            <a:ln w="38100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7707011" y="7030586"/>
            <a:ext cx="713232" cy="713232"/>
            <a:chOff x="0" y="0"/>
            <a:chExt cx="950976" cy="950976"/>
          </a:xfrm>
        </p:grpSpPr>
        <p:sp>
          <p:nvSpPr>
            <p:cNvPr name="Freeform 42" id="42" descr="preencoded.png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7268099" y="7621331"/>
            <a:ext cx="1591056" cy="567498"/>
            <a:chOff x="0" y="0"/>
            <a:chExt cx="2121408" cy="7566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121408" cy="756664"/>
            </a:xfrm>
            <a:custGeom>
              <a:avLst/>
              <a:gdLst/>
              <a:ahLst/>
              <a:cxnLst/>
              <a:rect r="r" b="b" t="t" l="l"/>
              <a:pathLst>
                <a:path h="756664" w="2121408">
                  <a:moveTo>
                    <a:pt x="0" y="0"/>
                  </a:moveTo>
                  <a:lnTo>
                    <a:pt x="2121408" y="0"/>
                  </a:lnTo>
                  <a:lnTo>
                    <a:pt x="2121408" y="756664"/>
                  </a:lnTo>
                  <a:lnTo>
                    <a:pt x="0" y="756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58" r="0" b="670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9525"/>
              <a:ext cx="2121408" cy="7471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9"/>
                </a:lnSpc>
              </a:pPr>
              <a:r>
                <a:rPr lang="en-US" sz="1474" b="true">
                  <a:solidFill>
                    <a:srgbClr val="16653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Refactor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4798489" y="6977939"/>
            <a:ext cx="1558316" cy="1558316"/>
            <a:chOff x="0" y="0"/>
            <a:chExt cx="2172208" cy="217220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172208" cy="2172208"/>
            </a:xfrm>
            <a:custGeom>
              <a:avLst/>
              <a:gdLst/>
              <a:ahLst/>
              <a:cxnLst/>
              <a:rect r="r" b="b" t="t" l="l"/>
              <a:pathLst>
                <a:path h="2172208" w="2172208">
                  <a:moveTo>
                    <a:pt x="0" y="1086104"/>
                  </a:moveTo>
                  <a:cubicBezTo>
                    <a:pt x="0" y="486283"/>
                    <a:pt x="486283" y="0"/>
                    <a:pt x="1086104" y="0"/>
                  </a:cubicBezTo>
                  <a:cubicBezTo>
                    <a:pt x="1685925" y="0"/>
                    <a:pt x="2172208" y="486283"/>
                    <a:pt x="2172208" y="1086104"/>
                  </a:cubicBezTo>
                  <a:cubicBezTo>
                    <a:pt x="2172208" y="1685925"/>
                    <a:pt x="1685925" y="2172208"/>
                    <a:pt x="1086104" y="2172208"/>
                  </a:cubicBezTo>
                  <a:cubicBezTo>
                    <a:pt x="486283" y="2172208"/>
                    <a:pt x="0" y="1685925"/>
                    <a:pt x="0" y="1086104"/>
                  </a:cubicBezTo>
                  <a:close/>
                </a:path>
              </a:pathLst>
            </a:custGeom>
            <a:solidFill>
              <a:srgbClr val="DCFCE7"/>
            </a:solidFill>
            <a:ln w="38100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5256451" y="7333128"/>
            <a:ext cx="713232" cy="713232"/>
            <a:chOff x="0" y="0"/>
            <a:chExt cx="950976" cy="950976"/>
          </a:xfrm>
        </p:grpSpPr>
        <p:sp>
          <p:nvSpPr>
            <p:cNvPr name="Freeform 49" id="49" descr="preencoded.png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4826765" y="7896598"/>
            <a:ext cx="1591056" cy="567498"/>
            <a:chOff x="0" y="0"/>
            <a:chExt cx="2121408" cy="75666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121408" cy="756664"/>
            </a:xfrm>
            <a:custGeom>
              <a:avLst/>
              <a:gdLst/>
              <a:ahLst/>
              <a:cxnLst/>
              <a:rect r="r" b="b" t="t" l="l"/>
              <a:pathLst>
                <a:path h="756664" w="2121408">
                  <a:moveTo>
                    <a:pt x="0" y="0"/>
                  </a:moveTo>
                  <a:lnTo>
                    <a:pt x="2121408" y="0"/>
                  </a:lnTo>
                  <a:lnTo>
                    <a:pt x="2121408" y="756664"/>
                  </a:lnTo>
                  <a:lnTo>
                    <a:pt x="0" y="756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58" r="0" b="670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9525"/>
              <a:ext cx="2121408" cy="7471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9"/>
                </a:lnSpc>
              </a:pPr>
              <a:r>
                <a:rPr lang="en-US" sz="1474" b="true">
                  <a:solidFill>
                    <a:srgbClr val="16653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Review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399719" y="6682352"/>
            <a:ext cx="1558290" cy="1558290"/>
            <a:chOff x="0" y="0"/>
            <a:chExt cx="2077720" cy="207772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077720" cy="2077720"/>
            </a:xfrm>
            <a:custGeom>
              <a:avLst/>
              <a:gdLst/>
              <a:ahLst/>
              <a:cxnLst/>
              <a:rect r="r" b="b" t="t" l="l"/>
              <a:pathLst>
                <a:path h="2077720" w="2077720">
                  <a:moveTo>
                    <a:pt x="0" y="1038860"/>
                  </a:moveTo>
                  <a:cubicBezTo>
                    <a:pt x="0" y="465130"/>
                    <a:pt x="465130" y="0"/>
                    <a:pt x="1038860" y="0"/>
                  </a:cubicBezTo>
                  <a:cubicBezTo>
                    <a:pt x="1612590" y="0"/>
                    <a:pt x="2077720" y="465130"/>
                    <a:pt x="2077720" y="1038860"/>
                  </a:cubicBezTo>
                  <a:cubicBezTo>
                    <a:pt x="2077720" y="1612590"/>
                    <a:pt x="1612590" y="2077720"/>
                    <a:pt x="1038860" y="2077720"/>
                  </a:cubicBezTo>
                  <a:cubicBezTo>
                    <a:pt x="465130" y="2077720"/>
                    <a:pt x="0" y="1612590"/>
                    <a:pt x="0" y="1038860"/>
                  </a:cubicBezTo>
                  <a:close/>
                </a:path>
              </a:pathLst>
            </a:custGeom>
            <a:solidFill>
              <a:srgbClr val="DCFCE7"/>
            </a:solidFill>
            <a:ln w="38100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2857681" y="7030586"/>
            <a:ext cx="713232" cy="713232"/>
            <a:chOff x="0" y="0"/>
            <a:chExt cx="950976" cy="950976"/>
          </a:xfrm>
        </p:grpSpPr>
        <p:sp>
          <p:nvSpPr>
            <p:cNvPr name="Freeform 56" id="56" descr="preencoded.png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2383336" y="7673143"/>
            <a:ext cx="1591056" cy="567498"/>
            <a:chOff x="0" y="0"/>
            <a:chExt cx="2121408" cy="75666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121408" cy="756664"/>
            </a:xfrm>
            <a:custGeom>
              <a:avLst/>
              <a:gdLst/>
              <a:ahLst/>
              <a:cxnLst/>
              <a:rect r="r" b="b" t="t" l="l"/>
              <a:pathLst>
                <a:path h="756664" w="2121408">
                  <a:moveTo>
                    <a:pt x="0" y="0"/>
                  </a:moveTo>
                  <a:lnTo>
                    <a:pt x="2121408" y="0"/>
                  </a:lnTo>
                  <a:lnTo>
                    <a:pt x="2121408" y="756664"/>
                  </a:lnTo>
                  <a:lnTo>
                    <a:pt x="0" y="756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58" r="0" b="670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2121408" cy="7471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9"/>
                </a:lnSpc>
              </a:pPr>
              <a:r>
                <a:rPr lang="en-US" sz="1474" b="true">
                  <a:solidFill>
                    <a:srgbClr val="16653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Reporter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395384" y="4985082"/>
            <a:ext cx="1558290" cy="1613922"/>
            <a:chOff x="0" y="0"/>
            <a:chExt cx="2097332" cy="217220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097332" cy="2172208"/>
            </a:xfrm>
            <a:custGeom>
              <a:avLst/>
              <a:gdLst/>
              <a:ahLst/>
              <a:cxnLst/>
              <a:rect r="r" b="b" t="t" l="l"/>
              <a:pathLst>
                <a:path h="2172208" w="2097332">
                  <a:moveTo>
                    <a:pt x="0" y="1086104"/>
                  </a:moveTo>
                  <a:cubicBezTo>
                    <a:pt x="0" y="486283"/>
                    <a:pt x="469521" y="0"/>
                    <a:pt x="1048666" y="0"/>
                  </a:cubicBezTo>
                  <a:cubicBezTo>
                    <a:pt x="1627811" y="0"/>
                    <a:pt x="2097332" y="486283"/>
                    <a:pt x="2097332" y="1086104"/>
                  </a:cubicBezTo>
                  <a:cubicBezTo>
                    <a:pt x="2097332" y="1685925"/>
                    <a:pt x="1627811" y="2172208"/>
                    <a:pt x="1048666" y="2172208"/>
                  </a:cubicBezTo>
                  <a:cubicBezTo>
                    <a:pt x="469521" y="2172208"/>
                    <a:pt x="0" y="1685925"/>
                    <a:pt x="0" y="1086104"/>
                  </a:cubicBezTo>
                  <a:close/>
                </a:path>
              </a:pathLst>
            </a:custGeom>
            <a:solidFill>
              <a:srgbClr val="DCFCE7"/>
            </a:solidFill>
            <a:ln w="38100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773629" y="5341403"/>
            <a:ext cx="713232" cy="713232"/>
            <a:chOff x="0" y="0"/>
            <a:chExt cx="950976" cy="950976"/>
          </a:xfrm>
        </p:grpSpPr>
        <p:sp>
          <p:nvSpPr>
            <p:cNvPr name="Freeform 63" id="63" descr="preencoded.png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414434" y="6019116"/>
            <a:ext cx="1591056" cy="567498"/>
            <a:chOff x="0" y="0"/>
            <a:chExt cx="2121408" cy="7566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21408" cy="756664"/>
            </a:xfrm>
            <a:custGeom>
              <a:avLst/>
              <a:gdLst/>
              <a:ahLst/>
              <a:cxnLst/>
              <a:rect r="r" b="b" t="t" l="l"/>
              <a:pathLst>
                <a:path h="756664" w="2121408">
                  <a:moveTo>
                    <a:pt x="0" y="0"/>
                  </a:moveTo>
                  <a:lnTo>
                    <a:pt x="2121408" y="0"/>
                  </a:lnTo>
                  <a:lnTo>
                    <a:pt x="2121408" y="756664"/>
                  </a:lnTo>
                  <a:lnTo>
                    <a:pt x="0" y="756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58" r="0" b="670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9525"/>
              <a:ext cx="2121408" cy="7471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9"/>
                </a:lnSpc>
              </a:pPr>
              <a:r>
                <a:rPr lang="en-US" sz="1474" b="true">
                  <a:solidFill>
                    <a:srgbClr val="16653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Security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2388246" y="3287813"/>
            <a:ext cx="1558290" cy="1558290"/>
            <a:chOff x="0" y="0"/>
            <a:chExt cx="2204672" cy="220467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204672" cy="2204672"/>
            </a:xfrm>
            <a:custGeom>
              <a:avLst/>
              <a:gdLst/>
              <a:ahLst/>
              <a:cxnLst/>
              <a:rect r="r" b="b" t="t" l="l"/>
              <a:pathLst>
                <a:path h="2204672" w="2204672">
                  <a:moveTo>
                    <a:pt x="0" y="1102336"/>
                  </a:moveTo>
                  <a:cubicBezTo>
                    <a:pt x="0" y="493550"/>
                    <a:pt x="493550" y="0"/>
                    <a:pt x="1102336" y="0"/>
                  </a:cubicBezTo>
                  <a:cubicBezTo>
                    <a:pt x="1711121" y="0"/>
                    <a:pt x="2204672" y="493550"/>
                    <a:pt x="2204672" y="1102336"/>
                  </a:cubicBezTo>
                  <a:cubicBezTo>
                    <a:pt x="2204672" y="1711121"/>
                    <a:pt x="1711121" y="2204672"/>
                    <a:pt x="1102336" y="2204672"/>
                  </a:cubicBezTo>
                  <a:cubicBezTo>
                    <a:pt x="493550" y="2204672"/>
                    <a:pt x="0" y="1711121"/>
                    <a:pt x="0" y="1102336"/>
                  </a:cubicBezTo>
                  <a:close/>
                </a:path>
              </a:pathLst>
            </a:custGeom>
            <a:solidFill>
              <a:srgbClr val="DCFCE7"/>
            </a:solidFill>
            <a:ln w="38100" cap="sq">
              <a:solidFill>
                <a:srgbClr val="4ADE80"/>
              </a:solidFill>
              <a:prstDash val="solid"/>
              <a:miter/>
            </a:ln>
          </p:spPr>
        </p:sp>
      </p:grpSp>
      <p:grpSp>
        <p:nvGrpSpPr>
          <p:cNvPr name="Group 69" id="69"/>
          <p:cNvGrpSpPr/>
          <p:nvPr/>
        </p:nvGrpSpPr>
        <p:grpSpPr>
          <a:xfrm rot="0">
            <a:off x="2810775" y="3636047"/>
            <a:ext cx="713232" cy="713232"/>
            <a:chOff x="0" y="0"/>
            <a:chExt cx="950976" cy="950976"/>
          </a:xfrm>
        </p:grpSpPr>
        <p:sp>
          <p:nvSpPr>
            <p:cNvPr name="Freeform 70" id="70" descr="preencoded.png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2371863" y="4155310"/>
            <a:ext cx="1591056" cy="567498"/>
            <a:chOff x="0" y="0"/>
            <a:chExt cx="2121408" cy="756664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121408" cy="756664"/>
            </a:xfrm>
            <a:custGeom>
              <a:avLst/>
              <a:gdLst/>
              <a:ahLst/>
              <a:cxnLst/>
              <a:rect r="r" b="b" t="t" l="l"/>
              <a:pathLst>
                <a:path h="756664" w="2121408">
                  <a:moveTo>
                    <a:pt x="0" y="0"/>
                  </a:moveTo>
                  <a:lnTo>
                    <a:pt x="2121408" y="0"/>
                  </a:lnTo>
                  <a:lnTo>
                    <a:pt x="2121408" y="756664"/>
                  </a:lnTo>
                  <a:lnTo>
                    <a:pt x="0" y="756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58" r="0" b="670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9525"/>
              <a:ext cx="2121408" cy="7471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69"/>
                </a:lnSpc>
              </a:pPr>
              <a:r>
                <a:rPr lang="en-US" sz="1474" b="true">
                  <a:solidFill>
                    <a:srgbClr val="16653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Impact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0733884" y="5664405"/>
            <a:ext cx="6955155" cy="3101920"/>
            <a:chOff x="0" y="0"/>
            <a:chExt cx="9273540" cy="4135894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9273540" cy="4135893"/>
            </a:xfrm>
            <a:custGeom>
              <a:avLst/>
              <a:gdLst/>
              <a:ahLst/>
              <a:cxnLst/>
              <a:rect r="r" b="b" t="t" l="l"/>
              <a:pathLst>
                <a:path h="4135893" w="9273540">
                  <a:moveTo>
                    <a:pt x="0" y="70092"/>
                  </a:moveTo>
                  <a:cubicBezTo>
                    <a:pt x="0" y="31420"/>
                    <a:pt x="41275" y="0"/>
                    <a:pt x="92075" y="0"/>
                  </a:cubicBezTo>
                  <a:lnTo>
                    <a:pt x="9181465" y="0"/>
                  </a:lnTo>
                  <a:cubicBezTo>
                    <a:pt x="9232265" y="0"/>
                    <a:pt x="9273540" y="31420"/>
                    <a:pt x="9273540" y="70092"/>
                  </a:cubicBezTo>
                  <a:lnTo>
                    <a:pt x="9273540" y="4065802"/>
                  </a:lnTo>
                  <a:cubicBezTo>
                    <a:pt x="9273540" y="4104473"/>
                    <a:pt x="9232265" y="4135893"/>
                    <a:pt x="9181465" y="4135893"/>
                  </a:cubicBezTo>
                  <a:lnTo>
                    <a:pt x="92075" y="4135893"/>
                  </a:lnTo>
                  <a:cubicBezTo>
                    <a:pt x="41275" y="4135893"/>
                    <a:pt x="0" y="4104473"/>
                    <a:pt x="0" y="4065802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60A5FA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0733884" y="5556037"/>
            <a:ext cx="6955155" cy="770999"/>
            <a:chOff x="0" y="0"/>
            <a:chExt cx="9273540" cy="1027999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9273540" cy="1027999"/>
            </a:xfrm>
            <a:custGeom>
              <a:avLst/>
              <a:gdLst/>
              <a:ahLst/>
              <a:cxnLst/>
              <a:rect r="r" b="b" t="t" l="l"/>
              <a:pathLst>
                <a:path h="1027999" w="9273540">
                  <a:moveTo>
                    <a:pt x="0" y="60499"/>
                  </a:moveTo>
                  <a:cubicBezTo>
                    <a:pt x="0" y="27053"/>
                    <a:pt x="41910" y="0"/>
                    <a:pt x="93726" y="0"/>
                  </a:cubicBezTo>
                  <a:lnTo>
                    <a:pt x="9179814" y="0"/>
                  </a:lnTo>
                  <a:cubicBezTo>
                    <a:pt x="9231503" y="0"/>
                    <a:pt x="9273540" y="27053"/>
                    <a:pt x="9273540" y="60499"/>
                  </a:cubicBezTo>
                  <a:lnTo>
                    <a:pt x="9273540" y="967500"/>
                  </a:lnTo>
                  <a:cubicBezTo>
                    <a:pt x="9273540" y="1000864"/>
                    <a:pt x="9231630" y="1027999"/>
                    <a:pt x="9179814" y="1027999"/>
                  </a:cubicBezTo>
                  <a:lnTo>
                    <a:pt x="93726" y="1027999"/>
                  </a:lnTo>
                  <a:cubicBezTo>
                    <a:pt x="41910" y="1027999"/>
                    <a:pt x="0" y="1000946"/>
                    <a:pt x="0" y="967500"/>
                  </a:cubicBezTo>
                  <a:close/>
                </a:path>
              </a:pathLst>
            </a:custGeom>
            <a:solidFill>
              <a:srgbClr val="DBEAFE"/>
            </a:solidFill>
            <a:ln w="28575" cap="sq">
              <a:solidFill>
                <a:srgbClr val="60A5FA"/>
              </a:solidFill>
              <a:prstDash val="solid"/>
              <a:miter/>
            </a:ln>
          </p:spPr>
        </p:sp>
      </p:grpSp>
      <p:grpSp>
        <p:nvGrpSpPr>
          <p:cNvPr name="Group 78" id="78"/>
          <p:cNvGrpSpPr/>
          <p:nvPr/>
        </p:nvGrpSpPr>
        <p:grpSpPr>
          <a:xfrm rot="0">
            <a:off x="11132220" y="5712033"/>
            <a:ext cx="548640" cy="482566"/>
            <a:chOff x="0" y="0"/>
            <a:chExt cx="731520" cy="643421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731520" cy="643421"/>
            </a:xfrm>
            <a:custGeom>
              <a:avLst/>
              <a:gdLst/>
              <a:ahLst/>
              <a:cxnLst/>
              <a:rect r="r" b="b" t="t" l="l"/>
              <a:pathLst>
                <a:path h="643421" w="731520">
                  <a:moveTo>
                    <a:pt x="0" y="321711"/>
                  </a:moveTo>
                  <a:cubicBezTo>
                    <a:pt x="0" y="143988"/>
                    <a:pt x="163703" y="0"/>
                    <a:pt x="365760" y="0"/>
                  </a:cubicBezTo>
                  <a:cubicBezTo>
                    <a:pt x="567817" y="0"/>
                    <a:pt x="731520" y="143988"/>
                    <a:pt x="731520" y="321711"/>
                  </a:cubicBezTo>
                  <a:cubicBezTo>
                    <a:pt x="731520" y="499433"/>
                    <a:pt x="567817" y="643421"/>
                    <a:pt x="365760" y="643421"/>
                  </a:cubicBezTo>
                  <a:cubicBezTo>
                    <a:pt x="163703" y="643421"/>
                    <a:pt x="0" y="499433"/>
                    <a:pt x="0" y="321711"/>
                  </a:cubicBezTo>
                  <a:close/>
                </a:path>
              </a:pathLst>
            </a:custGeom>
            <a:solidFill>
              <a:srgbClr val="2563EB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6277318" y="5689796"/>
            <a:ext cx="548640" cy="482566"/>
            <a:chOff x="0" y="0"/>
            <a:chExt cx="731520" cy="643421"/>
          </a:xfrm>
        </p:grpSpPr>
        <p:sp>
          <p:nvSpPr>
            <p:cNvPr name="Freeform 81" id="81" descr="preencoded.png"/>
            <p:cNvSpPr/>
            <p:nvPr/>
          </p:nvSpPr>
          <p:spPr>
            <a:xfrm flipH="false" flipV="false" rot="0">
              <a:off x="0" y="0"/>
              <a:ext cx="731520" cy="643421"/>
            </a:xfrm>
            <a:custGeom>
              <a:avLst/>
              <a:gdLst/>
              <a:ahLst/>
              <a:cxnLst/>
              <a:rect r="r" b="b" t="t" l="l"/>
              <a:pathLst>
                <a:path h="643421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643421"/>
                  </a:lnTo>
                  <a:lnTo>
                    <a:pt x="0" y="6434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-6846" r="0" b="-6846"/>
              </a:stretch>
            </a:blip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11913165" y="5491879"/>
            <a:ext cx="4800600" cy="1236154"/>
            <a:chOff x="0" y="0"/>
            <a:chExt cx="6400800" cy="164820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400800" cy="1648206"/>
            </a:xfrm>
            <a:custGeom>
              <a:avLst/>
              <a:gdLst/>
              <a:ahLst/>
              <a:cxnLst/>
              <a:rect r="r" b="b" t="t" l="l"/>
              <a:pathLst>
                <a:path h="1648206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648206"/>
                  </a:lnTo>
                  <a:lnTo>
                    <a:pt x="0" y="1648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609" r="0" b="-11731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0"/>
              <a:ext cx="6400800" cy="1648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563E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컨텍스트 엔지니어링</a:t>
              </a:r>
            </a:p>
            <a:p>
              <a:pPr algn="l">
                <a:lnSpc>
                  <a:spcPts val="2520"/>
                </a:lnSpc>
              </a:pPr>
            </a:p>
            <a:p>
              <a:pPr algn="l">
                <a:lnSpc>
                  <a:spcPts val="1620"/>
                </a:lnSpc>
              </a:pP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1150127" y="6729107"/>
            <a:ext cx="595122" cy="523450"/>
            <a:chOff x="0" y="0"/>
            <a:chExt cx="793496" cy="697933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793496" cy="697933"/>
            </a:xfrm>
            <a:custGeom>
              <a:avLst/>
              <a:gdLst/>
              <a:ahLst/>
              <a:cxnLst/>
              <a:rect r="r" b="b" t="t" l="l"/>
              <a:pathLst>
                <a:path h="697933" w="793496">
                  <a:moveTo>
                    <a:pt x="0" y="348967"/>
                  </a:moveTo>
                  <a:cubicBezTo>
                    <a:pt x="0" y="156275"/>
                    <a:pt x="177673" y="0"/>
                    <a:pt x="396748" y="0"/>
                  </a:cubicBezTo>
                  <a:cubicBezTo>
                    <a:pt x="615823" y="0"/>
                    <a:pt x="793496" y="156275"/>
                    <a:pt x="793496" y="348967"/>
                  </a:cubicBezTo>
                  <a:cubicBezTo>
                    <a:pt x="793496" y="541658"/>
                    <a:pt x="615823" y="697933"/>
                    <a:pt x="396748" y="697933"/>
                  </a:cubicBezTo>
                  <a:cubicBezTo>
                    <a:pt x="177673" y="697933"/>
                    <a:pt x="0" y="541658"/>
                    <a:pt x="0" y="348967"/>
                  </a:cubicBezTo>
                  <a:close/>
                </a:path>
              </a:pathLst>
            </a:custGeom>
            <a:solidFill>
              <a:srgbClr val="DBEAFE"/>
            </a:solidFill>
            <a:ln w="19050" cap="sq">
              <a:solidFill>
                <a:srgbClr val="60A5FA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11283096" y="6846063"/>
            <a:ext cx="329184" cy="289539"/>
            <a:chOff x="0" y="0"/>
            <a:chExt cx="438912" cy="386053"/>
          </a:xfrm>
        </p:grpSpPr>
        <p:sp>
          <p:nvSpPr>
            <p:cNvPr name="Freeform 88" id="88" descr="preencoded.png"/>
            <p:cNvSpPr/>
            <p:nvPr/>
          </p:nvSpPr>
          <p:spPr>
            <a:xfrm flipH="false" flipV="false" rot="0">
              <a:off x="0" y="0"/>
              <a:ext cx="438912" cy="386053"/>
            </a:xfrm>
            <a:custGeom>
              <a:avLst/>
              <a:gdLst/>
              <a:ahLst/>
              <a:cxnLst/>
              <a:rect r="r" b="b" t="t" l="l"/>
              <a:pathLst>
                <a:path h="386053" w="438912">
                  <a:moveTo>
                    <a:pt x="0" y="0"/>
                  </a:moveTo>
                  <a:lnTo>
                    <a:pt x="438912" y="0"/>
                  </a:lnTo>
                  <a:lnTo>
                    <a:pt x="438912" y="386053"/>
                  </a:lnTo>
                  <a:lnTo>
                    <a:pt x="0" y="386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-6846" r="0" b="-6846"/>
              </a:stretch>
            </a:blipFill>
          </p:spPr>
        </p:sp>
      </p:grpSp>
      <p:grpSp>
        <p:nvGrpSpPr>
          <p:cNvPr name="Group 89" id="89"/>
          <p:cNvGrpSpPr/>
          <p:nvPr/>
        </p:nvGrpSpPr>
        <p:grpSpPr>
          <a:xfrm rot="0">
            <a:off x="11914032" y="6496173"/>
            <a:ext cx="5417820" cy="734567"/>
            <a:chOff x="0" y="0"/>
            <a:chExt cx="7223760" cy="979423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7223760" cy="979423"/>
            </a:xfrm>
            <a:custGeom>
              <a:avLst/>
              <a:gdLst/>
              <a:ahLst/>
              <a:cxnLst/>
              <a:rect r="r" b="b" t="t" l="l"/>
              <a:pathLst>
                <a:path h="979423" w="7223760">
                  <a:moveTo>
                    <a:pt x="0" y="0"/>
                  </a:moveTo>
                  <a:lnTo>
                    <a:pt x="7223760" y="0"/>
                  </a:lnTo>
                  <a:lnTo>
                    <a:pt x="7223760" y="979423"/>
                  </a:lnTo>
                  <a:lnTo>
                    <a:pt x="0" y="97942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562" r="0" b="-97861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9525"/>
              <a:ext cx="7223760" cy="969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DOCS 브랜치</a:t>
              </a:r>
              <a:r>
                <a:rPr lang="en-US" sz="1899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 </a:t>
              </a:r>
              <a:r>
                <a:rPr lang="en-US" sz="1899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프로젝트 내부의 위키피디아 생태계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11150127" y="7436500"/>
            <a:ext cx="595122" cy="523450"/>
            <a:chOff x="0" y="0"/>
            <a:chExt cx="793496" cy="697933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793496" cy="697933"/>
            </a:xfrm>
            <a:custGeom>
              <a:avLst/>
              <a:gdLst/>
              <a:ahLst/>
              <a:cxnLst/>
              <a:rect r="r" b="b" t="t" l="l"/>
              <a:pathLst>
                <a:path h="697933" w="793496">
                  <a:moveTo>
                    <a:pt x="0" y="348967"/>
                  </a:moveTo>
                  <a:cubicBezTo>
                    <a:pt x="0" y="156275"/>
                    <a:pt x="177673" y="0"/>
                    <a:pt x="396748" y="0"/>
                  </a:cubicBezTo>
                  <a:cubicBezTo>
                    <a:pt x="615823" y="0"/>
                    <a:pt x="793496" y="156275"/>
                    <a:pt x="793496" y="348967"/>
                  </a:cubicBezTo>
                  <a:cubicBezTo>
                    <a:pt x="793496" y="541658"/>
                    <a:pt x="615823" y="697933"/>
                    <a:pt x="396748" y="697933"/>
                  </a:cubicBezTo>
                  <a:cubicBezTo>
                    <a:pt x="177673" y="697933"/>
                    <a:pt x="0" y="541658"/>
                    <a:pt x="0" y="348967"/>
                  </a:cubicBezTo>
                  <a:close/>
                </a:path>
              </a:pathLst>
            </a:custGeom>
            <a:solidFill>
              <a:srgbClr val="DBEAFE"/>
            </a:solidFill>
            <a:ln w="19050" cap="sq">
              <a:solidFill>
                <a:srgbClr val="60A5FA"/>
              </a:solidFill>
              <a:prstDash val="solid"/>
              <a:miter/>
            </a:ln>
          </p:spPr>
        </p:sp>
      </p:grpSp>
      <p:grpSp>
        <p:nvGrpSpPr>
          <p:cNvPr name="Group 94" id="94"/>
          <p:cNvGrpSpPr/>
          <p:nvPr/>
        </p:nvGrpSpPr>
        <p:grpSpPr>
          <a:xfrm rot="0">
            <a:off x="11279889" y="7559599"/>
            <a:ext cx="315214" cy="277252"/>
            <a:chOff x="0" y="0"/>
            <a:chExt cx="438912" cy="386053"/>
          </a:xfrm>
        </p:grpSpPr>
        <p:sp>
          <p:nvSpPr>
            <p:cNvPr name="Freeform 95" id="95" descr="preencoded.png"/>
            <p:cNvSpPr/>
            <p:nvPr/>
          </p:nvSpPr>
          <p:spPr>
            <a:xfrm flipH="false" flipV="false" rot="0">
              <a:off x="0" y="0"/>
              <a:ext cx="438912" cy="386053"/>
            </a:xfrm>
            <a:custGeom>
              <a:avLst/>
              <a:gdLst/>
              <a:ahLst/>
              <a:cxnLst/>
              <a:rect r="r" b="b" t="t" l="l"/>
              <a:pathLst>
                <a:path h="386053" w="438912">
                  <a:moveTo>
                    <a:pt x="0" y="0"/>
                  </a:moveTo>
                  <a:lnTo>
                    <a:pt x="438912" y="0"/>
                  </a:lnTo>
                  <a:lnTo>
                    <a:pt x="438912" y="386053"/>
                  </a:lnTo>
                  <a:lnTo>
                    <a:pt x="0" y="386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-6846" r="0" b="-6846"/>
              </a:stretch>
            </a:blip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11914032" y="7220709"/>
            <a:ext cx="5417820" cy="734567"/>
            <a:chOff x="0" y="0"/>
            <a:chExt cx="7223760" cy="979423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7223760" cy="979423"/>
            </a:xfrm>
            <a:custGeom>
              <a:avLst/>
              <a:gdLst/>
              <a:ahLst/>
              <a:cxnLst/>
              <a:rect r="r" b="b" t="t" l="l"/>
              <a:pathLst>
                <a:path h="979423" w="7223760">
                  <a:moveTo>
                    <a:pt x="0" y="0"/>
                  </a:moveTo>
                  <a:lnTo>
                    <a:pt x="7223760" y="0"/>
                  </a:lnTo>
                  <a:lnTo>
                    <a:pt x="7223760" y="979423"/>
                  </a:lnTo>
                  <a:lnTo>
                    <a:pt x="0" y="97942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562" r="0" b="-97861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9525"/>
              <a:ext cx="7223760" cy="969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브랜치 컨텍스트  </a:t>
              </a:r>
              <a:r>
                <a:rPr lang="en-US" sz="1899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main·dev·feature·hotfix</a:t>
              </a:r>
            </a:p>
          </p:txBody>
        </p:sp>
      </p:grpSp>
      <p:grpSp>
        <p:nvGrpSpPr>
          <p:cNvPr name="Group 99" id="99"/>
          <p:cNvGrpSpPr/>
          <p:nvPr/>
        </p:nvGrpSpPr>
        <p:grpSpPr>
          <a:xfrm rot="0">
            <a:off x="11132220" y="8068317"/>
            <a:ext cx="595122" cy="523450"/>
            <a:chOff x="0" y="0"/>
            <a:chExt cx="793496" cy="697933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793496" cy="697933"/>
            </a:xfrm>
            <a:custGeom>
              <a:avLst/>
              <a:gdLst/>
              <a:ahLst/>
              <a:cxnLst/>
              <a:rect r="r" b="b" t="t" l="l"/>
              <a:pathLst>
                <a:path h="697933" w="793496">
                  <a:moveTo>
                    <a:pt x="0" y="348967"/>
                  </a:moveTo>
                  <a:cubicBezTo>
                    <a:pt x="0" y="156275"/>
                    <a:pt x="177673" y="0"/>
                    <a:pt x="396748" y="0"/>
                  </a:cubicBezTo>
                  <a:cubicBezTo>
                    <a:pt x="615823" y="0"/>
                    <a:pt x="793496" y="156275"/>
                    <a:pt x="793496" y="348967"/>
                  </a:cubicBezTo>
                  <a:cubicBezTo>
                    <a:pt x="793496" y="541658"/>
                    <a:pt x="615823" y="697933"/>
                    <a:pt x="396748" y="697933"/>
                  </a:cubicBezTo>
                  <a:cubicBezTo>
                    <a:pt x="177673" y="697933"/>
                    <a:pt x="0" y="541658"/>
                    <a:pt x="0" y="348967"/>
                  </a:cubicBezTo>
                  <a:close/>
                </a:path>
              </a:pathLst>
            </a:custGeom>
            <a:solidFill>
              <a:srgbClr val="DBEAFE"/>
            </a:solidFill>
            <a:ln w="19050" cap="sq">
              <a:solidFill>
                <a:srgbClr val="60A5FA"/>
              </a:solidFill>
              <a:prstDash val="solid"/>
              <a:miter/>
            </a:ln>
          </p:spPr>
        </p:sp>
      </p:grpSp>
      <p:grpSp>
        <p:nvGrpSpPr>
          <p:cNvPr name="Group 101" id="101"/>
          <p:cNvGrpSpPr/>
          <p:nvPr/>
        </p:nvGrpSpPr>
        <p:grpSpPr>
          <a:xfrm rot="0">
            <a:off x="11283096" y="8185272"/>
            <a:ext cx="329184" cy="289539"/>
            <a:chOff x="0" y="0"/>
            <a:chExt cx="438912" cy="386053"/>
          </a:xfrm>
        </p:grpSpPr>
        <p:sp>
          <p:nvSpPr>
            <p:cNvPr name="Freeform 102" id="102" descr="preencoded.png"/>
            <p:cNvSpPr/>
            <p:nvPr/>
          </p:nvSpPr>
          <p:spPr>
            <a:xfrm flipH="false" flipV="false" rot="0">
              <a:off x="0" y="0"/>
              <a:ext cx="438912" cy="386053"/>
            </a:xfrm>
            <a:custGeom>
              <a:avLst/>
              <a:gdLst/>
              <a:ahLst/>
              <a:cxnLst/>
              <a:rect r="r" b="b" t="t" l="l"/>
              <a:pathLst>
                <a:path h="386053" w="438912">
                  <a:moveTo>
                    <a:pt x="0" y="0"/>
                  </a:moveTo>
                  <a:lnTo>
                    <a:pt x="438912" y="0"/>
                  </a:lnTo>
                  <a:lnTo>
                    <a:pt x="438912" y="386053"/>
                  </a:lnTo>
                  <a:lnTo>
                    <a:pt x="0" y="386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-6846" r="0" b="-6846"/>
              </a:stretch>
            </a:blip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11914032" y="7945245"/>
            <a:ext cx="5417820" cy="734567"/>
            <a:chOff x="0" y="0"/>
            <a:chExt cx="7223760" cy="979423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7223760" cy="979423"/>
            </a:xfrm>
            <a:custGeom>
              <a:avLst/>
              <a:gdLst/>
              <a:ahLst/>
              <a:cxnLst/>
              <a:rect r="r" b="b" t="t" l="l"/>
              <a:pathLst>
                <a:path h="979423" w="7223760">
                  <a:moveTo>
                    <a:pt x="0" y="0"/>
                  </a:moveTo>
                  <a:lnTo>
                    <a:pt x="7223760" y="0"/>
                  </a:lnTo>
                  <a:lnTo>
                    <a:pt x="7223760" y="979423"/>
                  </a:lnTo>
                  <a:lnTo>
                    <a:pt x="0" y="97942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562" r="0" b="-97861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9525"/>
              <a:ext cx="7223760" cy="969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9"/>
                </a:lnSpc>
              </a:pPr>
              <a:r>
                <a:rPr lang="en-US" sz="1899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타입 일치 보장  </a:t>
              </a:r>
              <a:r>
                <a:rPr lang="en-US" sz="1899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백/프론트 불일치 차단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644316" y="8808477"/>
            <a:ext cx="2154555" cy="659511"/>
            <a:chOff x="0" y="0"/>
            <a:chExt cx="2872740" cy="879348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2872740" cy="879348"/>
            </a:xfrm>
            <a:custGeom>
              <a:avLst/>
              <a:gdLst/>
              <a:ahLst/>
              <a:cxnLst/>
              <a:rect r="r" b="b" t="t" l="l"/>
              <a:pathLst>
                <a:path h="879348" w="2872740">
                  <a:moveTo>
                    <a:pt x="0" y="439674"/>
                  </a:moveTo>
                  <a:cubicBezTo>
                    <a:pt x="0" y="196850"/>
                    <a:pt x="196850" y="0"/>
                    <a:pt x="439674" y="0"/>
                  </a:cubicBezTo>
                  <a:lnTo>
                    <a:pt x="2433066" y="0"/>
                  </a:lnTo>
                  <a:cubicBezTo>
                    <a:pt x="2675890" y="0"/>
                    <a:pt x="2872740" y="196850"/>
                    <a:pt x="2872740" y="439674"/>
                  </a:cubicBezTo>
                  <a:cubicBezTo>
                    <a:pt x="2872740" y="682498"/>
                    <a:pt x="2675890" y="879348"/>
                    <a:pt x="2433066" y="879348"/>
                  </a:cubicBezTo>
                  <a:lnTo>
                    <a:pt x="439674" y="879348"/>
                  </a:lnTo>
                  <a:cubicBezTo>
                    <a:pt x="196850" y="879348"/>
                    <a:pt x="0" y="682498"/>
                    <a:pt x="0" y="439674"/>
                  </a:cubicBezTo>
                  <a:close/>
                </a:path>
              </a:pathLst>
            </a:custGeom>
            <a:solidFill>
              <a:srgbClr val="FEE2E2"/>
            </a:solidFill>
            <a:ln w="28575" cap="sq">
              <a:solidFill>
                <a:srgbClr val="EF4444"/>
              </a:solidFill>
              <a:prstDash val="solid"/>
              <a:miter/>
            </a:ln>
          </p:spPr>
        </p:sp>
      </p:grpSp>
      <p:grpSp>
        <p:nvGrpSpPr>
          <p:cNvPr name="Group 108" id="108"/>
          <p:cNvGrpSpPr/>
          <p:nvPr/>
        </p:nvGrpSpPr>
        <p:grpSpPr>
          <a:xfrm rot="0">
            <a:off x="1658604" y="8792285"/>
            <a:ext cx="2125980" cy="691896"/>
            <a:chOff x="0" y="0"/>
            <a:chExt cx="2834640" cy="922528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2834640" cy="922528"/>
            </a:xfrm>
            <a:custGeom>
              <a:avLst/>
              <a:gdLst/>
              <a:ahLst/>
              <a:cxnLst/>
              <a:rect r="r" b="b" t="t" l="l"/>
              <a:pathLst>
                <a:path h="922528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276" r="0" b="-5466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0"/>
              <a:ext cx="2834640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EF444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RED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3798871" y="8646552"/>
            <a:ext cx="685800" cy="983361"/>
            <a:chOff x="0" y="0"/>
            <a:chExt cx="914400" cy="1311148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914400" cy="1311148"/>
            </a:xfrm>
            <a:custGeom>
              <a:avLst/>
              <a:gdLst/>
              <a:ahLst/>
              <a:cxnLst/>
              <a:rect r="r" b="b" t="t" l="l"/>
              <a:pathLst>
                <a:path h="1311148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311148"/>
                  </a:lnTo>
                  <a:lnTo>
                    <a:pt x="0" y="13111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8039" t="0" r="-68039" b="35838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0"/>
              <a:ext cx="914400" cy="13111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64748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4521202" y="8808477"/>
            <a:ext cx="2154555" cy="659511"/>
            <a:chOff x="0" y="0"/>
            <a:chExt cx="2872740" cy="8793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2872740" cy="879348"/>
            </a:xfrm>
            <a:custGeom>
              <a:avLst/>
              <a:gdLst/>
              <a:ahLst/>
              <a:cxnLst/>
              <a:rect r="r" b="b" t="t" l="l"/>
              <a:pathLst>
                <a:path h="879348" w="2872740">
                  <a:moveTo>
                    <a:pt x="0" y="439674"/>
                  </a:moveTo>
                  <a:cubicBezTo>
                    <a:pt x="0" y="196850"/>
                    <a:pt x="196850" y="0"/>
                    <a:pt x="439674" y="0"/>
                  </a:cubicBezTo>
                  <a:lnTo>
                    <a:pt x="2433066" y="0"/>
                  </a:lnTo>
                  <a:cubicBezTo>
                    <a:pt x="2675890" y="0"/>
                    <a:pt x="2872740" y="196850"/>
                    <a:pt x="2872740" y="439674"/>
                  </a:cubicBezTo>
                  <a:cubicBezTo>
                    <a:pt x="2872740" y="682498"/>
                    <a:pt x="2675890" y="879348"/>
                    <a:pt x="2433066" y="879348"/>
                  </a:cubicBezTo>
                  <a:lnTo>
                    <a:pt x="439674" y="879348"/>
                  </a:lnTo>
                  <a:cubicBezTo>
                    <a:pt x="196850" y="879348"/>
                    <a:pt x="0" y="682498"/>
                    <a:pt x="0" y="439674"/>
                  </a:cubicBezTo>
                  <a:close/>
                </a:path>
              </a:pathLst>
            </a:custGeom>
            <a:solidFill>
              <a:srgbClr val="DCFCE7"/>
            </a:solidFill>
            <a:ln w="28575" cap="sq">
              <a:solidFill>
                <a:srgbClr val="16A34A"/>
              </a:solidFill>
              <a:prstDash val="solid"/>
              <a:miter/>
            </a:ln>
          </p:spPr>
        </p:sp>
      </p:grpSp>
      <p:grpSp>
        <p:nvGrpSpPr>
          <p:cNvPr name="Group 116" id="116"/>
          <p:cNvGrpSpPr/>
          <p:nvPr/>
        </p:nvGrpSpPr>
        <p:grpSpPr>
          <a:xfrm rot="0">
            <a:off x="4539494" y="8792285"/>
            <a:ext cx="2125980" cy="691896"/>
            <a:chOff x="0" y="0"/>
            <a:chExt cx="2834640" cy="92252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834640" cy="922528"/>
            </a:xfrm>
            <a:custGeom>
              <a:avLst/>
              <a:gdLst/>
              <a:ahLst/>
              <a:cxnLst/>
              <a:rect r="r" b="b" t="t" l="l"/>
              <a:pathLst>
                <a:path h="922528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276" r="0" b="-5466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0"/>
              <a:ext cx="2834640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16A34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GREEN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6675757" y="8646552"/>
            <a:ext cx="685800" cy="983361"/>
            <a:chOff x="0" y="0"/>
            <a:chExt cx="914400" cy="13111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914400" cy="1311148"/>
            </a:xfrm>
            <a:custGeom>
              <a:avLst/>
              <a:gdLst/>
              <a:ahLst/>
              <a:cxnLst/>
              <a:rect r="r" b="b" t="t" l="l"/>
              <a:pathLst>
                <a:path h="1311148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311148"/>
                  </a:lnTo>
                  <a:lnTo>
                    <a:pt x="0" y="13111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8039" t="0" r="-68039" b="35838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0"/>
              <a:ext cx="914400" cy="13111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64748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7306363" y="8808477"/>
            <a:ext cx="2154555" cy="659511"/>
            <a:chOff x="0" y="0"/>
            <a:chExt cx="2872740" cy="8793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2872740" cy="879348"/>
            </a:xfrm>
            <a:custGeom>
              <a:avLst/>
              <a:gdLst/>
              <a:ahLst/>
              <a:cxnLst/>
              <a:rect r="r" b="b" t="t" l="l"/>
              <a:pathLst>
                <a:path h="879348" w="2872740">
                  <a:moveTo>
                    <a:pt x="0" y="439674"/>
                  </a:moveTo>
                  <a:cubicBezTo>
                    <a:pt x="0" y="196850"/>
                    <a:pt x="196850" y="0"/>
                    <a:pt x="439674" y="0"/>
                  </a:cubicBezTo>
                  <a:lnTo>
                    <a:pt x="2433066" y="0"/>
                  </a:lnTo>
                  <a:cubicBezTo>
                    <a:pt x="2675890" y="0"/>
                    <a:pt x="2872740" y="196850"/>
                    <a:pt x="2872740" y="439674"/>
                  </a:cubicBezTo>
                  <a:cubicBezTo>
                    <a:pt x="2872740" y="682498"/>
                    <a:pt x="2675890" y="879348"/>
                    <a:pt x="2433066" y="879348"/>
                  </a:cubicBezTo>
                  <a:lnTo>
                    <a:pt x="439674" y="879348"/>
                  </a:lnTo>
                  <a:cubicBezTo>
                    <a:pt x="196850" y="879348"/>
                    <a:pt x="0" y="682498"/>
                    <a:pt x="0" y="439674"/>
                  </a:cubicBezTo>
                  <a:close/>
                </a:path>
              </a:pathLst>
            </a:custGeom>
            <a:solidFill>
              <a:srgbClr val="DBEAFE"/>
            </a:solidFill>
            <a:ln w="28575" cap="sq">
              <a:solidFill>
                <a:srgbClr val="2563EB"/>
              </a:solidFill>
              <a:prstDash val="solid"/>
              <a:miter/>
            </a:ln>
          </p:spPr>
        </p:sp>
      </p:grpSp>
      <p:grpSp>
        <p:nvGrpSpPr>
          <p:cNvPr name="Group 124" id="124"/>
          <p:cNvGrpSpPr/>
          <p:nvPr/>
        </p:nvGrpSpPr>
        <p:grpSpPr>
          <a:xfrm rot="0">
            <a:off x="7320651" y="8792285"/>
            <a:ext cx="2125980" cy="691896"/>
            <a:chOff x="0" y="0"/>
            <a:chExt cx="2834640" cy="92252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834640" cy="922528"/>
            </a:xfrm>
            <a:custGeom>
              <a:avLst/>
              <a:gdLst/>
              <a:ahLst/>
              <a:cxnLst/>
              <a:rect r="r" b="b" t="t" l="l"/>
              <a:pathLst>
                <a:path h="922528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276" r="0" b="-5466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0"/>
              <a:ext cx="2834640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2563E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REFACTOR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10919833" y="5504855"/>
            <a:ext cx="994199" cy="810387"/>
            <a:chOff x="0" y="0"/>
            <a:chExt cx="1325599" cy="10805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325599" cy="1080516"/>
            </a:xfrm>
            <a:custGeom>
              <a:avLst/>
              <a:gdLst/>
              <a:ahLst/>
              <a:cxnLst/>
              <a:rect r="r" b="b" t="t" l="l"/>
              <a:pathLst>
                <a:path h="1080516" w="1325599">
                  <a:moveTo>
                    <a:pt x="0" y="0"/>
                  </a:moveTo>
                  <a:lnTo>
                    <a:pt x="1325599" y="0"/>
                  </a:lnTo>
                  <a:lnTo>
                    <a:pt x="1325599" y="1080516"/>
                  </a:lnTo>
                  <a:lnTo>
                    <a:pt x="0" y="1080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3211" t="0" r="1604" b="32299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0"/>
              <a:ext cx="1325599" cy="10805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3</a:t>
              </a:r>
            </a:p>
          </p:txBody>
        </p:sp>
      </p:grpSp>
      <p:sp>
        <p:nvSpPr>
          <p:cNvPr name="TextBox 130" id="130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02</a:t>
            </a:r>
          </a:p>
        </p:txBody>
      </p:sp>
      <p:sp>
        <p:nvSpPr>
          <p:cNvPr name="TextBox 131" id="131"/>
          <p:cNvSpPr txBox="true"/>
          <p:nvPr/>
        </p:nvSpPr>
        <p:spPr>
          <a:xfrm rot="0">
            <a:off x="2180911" y="511178"/>
            <a:ext cx="327708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하네스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엔지니어링</a:t>
            </a:r>
          </a:p>
        </p:txBody>
      </p:sp>
      <p:sp>
        <p:nvSpPr>
          <p:cNvPr name="TextBox 132" id="132"/>
          <p:cNvSpPr txBox="true"/>
          <p:nvPr/>
        </p:nvSpPr>
        <p:spPr>
          <a:xfrm rot="0">
            <a:off x="15330973" y="511178"/>
            <a:ext cx="220011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시스템 아키텍처 명세</a:t>
            </a:r>
          </a:p>
        </p:txBody>
      </p:sp>
      <p:sp>
        <p:nvSpPr>
          <p:cNvPr name="TextBox 133" id="133"/>
          <p:cNvSpPr txBox="true"/>
          <p:nvPr/>
        </p:nvSpPr>
        <p:spPr>
          <a:xfrm rot="0">
            <a:off x="787403" y="1111253"/>
            <a:ext cx="9996488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하네스 엔지니어링 — 9종 에이전트시스템 아키텍처 명세</a:t>
            </a:r>
          </a:p>
        </p:txBody>
      </p:sp>
      <p:sp>
        <p:nvSpPr>
          <p:cNvPr name="TextBox 134" id="134"/>
          <p:cNvSpPr txBox="true"/>
          <p:nvPr/>
        </p:nvSpPr>
        <p:spPr>
          <a:xfrm rot="0">
            <a:off x="787403" y="1686686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TDD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자동화 하네스로 Red → Green → Refactor 전 과정을 자동화</a:t>
            </a:r>
          </a:p>
        </p:txBody>
      </p:sp>
      <p:sp>
        <p:nvSpPr>
          <p:cNvPr name="TextBox 135" id="135"/>
          <p:cNvSpPr txBox="true"/>
          <p:nvPr/>
        </p:nvSpPr>
        <p:spPr>
          <a:xfrm rot="0">
            <a:off x="77216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12 / 44</a:t>
            </a:r>
          </a:p>
        </p:txBody>
      </p:sp>
      <p:sp>
        <p:nvSpPr>
          <p:cNvPr name="TextBox 136" id="136"/>
          <p:cNvSpPr txBox="true"/>
          <p:nvPr/>
        </p:nvSpPr>
        <p:spPr>
          <a:xfrm rot="0">
            <a:off x="1685196" y="9620146"/>
            <a:ext cx="17627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| 하네스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엔지니어링</a:t>
            </a:r>
          </a:p>
        </p:txBody>
      </p:sp>
      <p:sp>
        <p:nvSpPr>
          <p:cNvPr name="TextBox 137" id="137"/>
          <p:cNvSpPr txBox="true"/>
          <p:nvPr/>
        </p:nvSpPr>
        <p:spPr>
          <a:xfrm rot="0">
            <a:off x="15585088" y="9459189"/>
            <a:ext cx="270291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2 — Ha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rness</a:t>
            </a:r>
          </a:p>
        </p:txBody>
      </p:sp>
      <p:sp>
        <p:nvSpPr>
          <p:cNvPr name="TextBox 138" id="138"/>
          <p:cNvSpPr txBox="true"/>
          <p:nvPr/>
        </p:nvSpPr>
        <p:spPr>
          <a:xfrm rot="0">
            <a:off x="-1407657" y="2262832"/>
            <a:ext cx="948795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  <a:spcBef>
                <a:spcPct val="0"/>
              </a:spcBef>
            </a:pPr>
            <a:r>
              <a:rPr lang="en-US" b="true" sz="1650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TDD 자동화 하네스 Red → Green → Refactor 자동화</a:t>
            </a:r>
          </a:p>
        </p:txBody>
      </p:sp>
      <p:grpSp>
        <p:nvGrpSpPr>
          <p:cNvPr name="Group 139" id="139"/>
          <p:cNvGrpSpPr/>
          <p:nvPr/>
        </p:nvGrpSpPr>
        <p:grpSpPr>
          <a:xfrm rot="0">
            <a:off x="10733884" y="2166975"/>
            <a:ext cx="6955155" cy="3309155"/>
            <a:chOff x="0" y="0"/>
            <a:chExt cx="9273540" cy="4412206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9273530" cy="4412152"/>
            </a:xfrm>
            <a:custGeom>
              <a:avLst/>
              <a:gdLst/>
              <a:ahLst/>
              <a:cxnLst/>
              <a:rect r="r" b="b" t="t" l="l"/>
              <a:pathLst>
                <a:path h="4412152" w="9273530">
                  <a:moveTo>
                    <a:pt x="0" y="100476"/>
                  </a:moveTo>
                  <a:cubicBezTo>
                    <a:pt x="0" y="44990"/>
                    <a:pt x="61127" y="0"/>
                    <a:pt x="136513" y="0"/>
                  </a:cubicBezTo>
                  <a:lnTo>
                    <a:pt x="9137017" y="0"/>
                  </a:lnTo>
                  <a:cubicBezTo>
                    <a:pt x="9212403" y="0"/>
                    <a:pt x="9273530" y="44990"/>
                    <a:pt x="9273530" y="100476"/>
                  </a:cubicBezTo>
                  <a:lnTo>
                    <a:pt x="9273530" y="4311676"/>
                  </a:lnTo>
                  <a:cubicBezTo>
                    <a:pt x="9273530" y="4367162"/>
                    <a:pt x="9212403" y="4412152"/>
                    <a:pt x="9137017" y="4412152"/>
                  </a:cubicBezTo>
                  <a:lnTo>
                    <a:pt x="136513" y="4412152"/>
                  </a:lnTo>
                  <a:cubicBezTo>
                    <a:pt x="61127" y="4412244"/>
                    <a:pt x="0" y="4367239"/>
                    <a:pt x="0" y="4311676"/>
                  </a:cubicBezTo>
                  <a:close/>
                </a:path>
              </a:pathLst>
            </a:custGeom>
            <a:solidFill>
              <a:srgbClr val="FFFFFF"/>
            </a:solidFill>
            <a:ln w="23831" cap="sq">
              <a:solidFill>
                <a:srgbClr val="E58A8A"/>
              </a:solidFill>
              <a:prstDash val="solid"/>
              <a:miter/>
            </a:ln>
          </p:spPr>
        </p:sp>
      </p:grpSp>
      <p:grpSp>
        <p:nvGrpSpPr>
          <p:cNvPr name="Group 141" id="141"/>
          <p:cNvGrpSpPr/>
          <p:nvPr/>
        </p:nvGrpSpPr>
        <p:grpSpPr>
          <a:xfrm rot="0">
            <a:off x="10737824" y="2649984"/>
            <a:ext cx="6947284" cy="47625"/>
            <a:chOff x="0" y="0"/>
            <a:chExt cx="9263045" cy="63500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9263045" cy="63458"/>
            </a:xfrm>
            <a:custGeom>
              <a:avLst/>
              <a:gdLst/>
              <a:ahLst/>
              <a:cxnLst/>
              <a:rect r="r" b="b" t="t" l="l"/>
              <a:pathLst>
                <a:path h="63458" w="9263045">
                  <a:moveTo>
                    <a:pt x="0" y="0"/>
                  </a:moveTo>
                  <a:lnTo>
                    <a:pt x="9263045" y="63458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0" t="-3430164" r="-21127" b="-3360204"/>
              </a:stretch>
            </a:blipFill>
            <a:ln w="14299" cap="sq">
              <a:solidFill>
                <a:srgbClr val="E58A8A"/>
              </a:solidFill>
              <a:prstDash val="solid"/>
              <a:miter/>
            </a:ln>
          </p:spPr>
        </p:sp>
      </p:grpSp>
      <p:grpSp>
        <p:nvGrpSpPr>
          <p:cNvPr name="Group 143" id="143"/>
          <p:cNvGrpSpPr/>
          <p:nvPr/>
        </p:nvGrpSpPr>
        <p:grpSpPr>
          <a:xfrm rot="0">
            <a:off x="10724047" y="2162936"/>
            <a:ext cx="6955155" cy="770999"/>
            <a:chOff x="0" y="0"/>
            <a:chExt cx="9273540" cy="1027999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9273540" cy="1027999"/>
            </a:xfrm>
            <a:custGeom>
              <a:avLst/>
              <a:gdLst/>
              <a:ahLst/>
              <a:cxnLst/>
              <a:rect r="r" b="b" t="t" l="l"/>
              <a:pathLst>
                <a:path h="1027999" w="9273540">
                  <a:moveTo>
                    <a:pt x="0" y="60499"/>
                  </a:moveTo>
                  <a:cubicBezTo>
                    <a:pt x="0" y="27053"/>
                    <a:pt x="41910" y="0"/>
                    <a:pt x="93726" y="0"/>
                  </a:cubicBezTo>
                  <a:lnTo>
                    <a:pt x="9179814" y="0"/>
                  </a:lnTo>
                  <a:cubicBezTo>
                    <a:pt x="9231503" y="0"/>
                    <a:pt x="9273540" y="27053"/>
                    <a:pt x="9273540" y="60499"/>
                  </a:cubicBezTo>
                  <a:lnTo>
                    <a:pt x="9273540" y="967500"/>
                  </a:lnTo>
                  <a:cubicBezTo>
                    <a:pt x="9273540" y="1000864"/>
                    <a:pt x="9231630" y="1027999"/>
                    <a:pt x="9179814" y="1027999"/>
                  </a:cubicBezTo>
                  <a:lnTo>
                    <a:pt x="93726" y="1027999"/>
                  </a:lnTo>
                  <a:cubicBezTo>
                    <a:pt x="41910" y="1027999"/>
                    <a:pt x="0" y="1000946"/>
                    <a:pt x="0" y="967500"/>
                  </a:cubicBezTo>
                  <a:close/>
                </a:path>
              </a:pathLst>
            </a:custGeom>
            <a:solidFill>
              <a:srgbClr val="FFE1E1"/>
            </a:solidFill>
            <a:ln w="28575" cap="sq">
              <a:solidFill>
                <a:srgbClr val="E58A8A"/>
              </a:solidFill>
              <a:prstDash val="solid"/>
              <a:miter/>
            </a:ln>
          </p:spPr>
        </p:sp>
      </p:grpSp>
      <p:grpSp>
        <p:nvGrpSpPr>
          <p:cNvPr name="Group 145" id="145"/>
          <p:cNvGrpSpPr/>
          <p:nvPr/>
        </p:nvGrpSpPr>
        <p:grpSpPr>
          <a:xfrm rot="0">
            <a:off x="11745249" y="2162936"/>
            <a:ext cx="5348929" cy="783519"/>
            <a:chOff x="0" y="0"/>
            <a:chExt cx="7131906" cy="1044693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7131911" cy="1044690"/>
            </a:xfrm>
            <a:custGeom>
              <a:avLst/>
              <a:gdLst/>
              <a:ahLst/>
              <a:cxnLst/>
              <a:rect r="r" b="b" t="t" l="l"/>
              <a:pathLst>
                <a:path h="1044690" w="7131911">
                  <a:moveTo>
                    <a:pt x="0" y="0"/>
                  </a:moveTo>
                  <a:lnTo>
                    <a:pt x="7131911" y="0"/>
                  </a:lnTo>
                  <a:lnTo>
                    <a:pt x="7131911" y="1044690"/>
                  </a:lnTo>
                  <a:lnTo>
                    <a:pt x="0" y="10446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6814" r="-21127" b="-115434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9525"/>
              <a:ext cx="7131906" cy="1054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1"/>
                </a:lnSpc>
              </a:pPr>
              <a:r>
                <a:rPr lang="en-US" b="true" sz="2026" spc="7">
                  <a:solidFill>
                    <a:srgbClr val="C9232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클로드코드 규칙 강제 — 룰베이스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6292558" y="2311094"/>
            <a:ext cx="533400" cy="478624"/>
            <a:chOff x="0" y="0"/>
            <a:chExt cx="711200" cy="638165"/>
          </a:xfrm>
        </p:grpSpPr>
        <p:sp>
          <p:nvSpPr>
            <p:cNvPr name="Freeform 149" id="149" descr="ic_list_r.png"/>
            <p:cNvSpPr/>
            <p:nvPr/>
          </p:nvSpPr>
          <p:spPr>
            <a:xfrm flipH="false" flipV="false" rot="0">
              <a:off x="0" y="0"/>
              <a:ext cx="711225" cy="638191"/>
            </a:xfrm>
            <a:custGeom>
              <a:avLst/>
              <a:gdLst/>
              <a:ahLst/>
              <a:cxnLst/>
              <a:rect r="r" b="b" t="t" l="l"/>
              <a:pathLst>
                <a:path h="638191" w="711225">
                  <a:moveTo>
                    <a:pt x="0" y="0"/>
                  </a:moveTo>
                  <a:lnTo>
                    <a:pt x="711225" y="0"/>
                  </a:lnTo>
                  <a:lnTo>
                    <a:pt x="711225" y="638191"/>
                  </a:lnTo>
                  <a:lnTo>
                    <a:pt x="0" y="6381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-4" t="-5726" r="0" b="-5722"/>
              </a:stretch>
            </a:blip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1044762" y="3024241"/>
            <a:ext cx="595312" cy="523777"/>
            <a:chOff x="0" y="0"/>
            <a:chExt cx="793750" cy="698369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793726" cy="698348"/>
            </a:xfrm>
            <a:custGeom>
              <a:avLst/>
              <a:gdLst/>
              <a:ahLst/>
              <a:cxnLst/>
              <a:rect r="r" b="b" t="t" l="l"/>
              <a:pathLst>
                <a:path h="698348" w="793726">
                  <a:moveTo>
                    <a:pt x="0" y="349227"/>
                  </a:moveTo>
                  <a:cubicBezTo>
                    <a:pt x="0" y="156336"/>
                    <a:pt x="177687" y="0"/>
                    <a:pt x="396923" y="0"/>
                  </a:cubicBezTo>
                  <a:cubicBezTo>
                    <a:pt x="616158" y="0"/>
                    <a:pt x="793726" y="156336"/>
                    <a:pt x="793726" y="349227"/>
                  </a:cubicBezTo>
                  <a:cubicBezTo>
                    <a:pt x="793726" y="542118"/>
                    <a:pt x="616039" y="698348"/>
                    <a:pt x="396923" y="698348"/>
                  </a:cubicBezTo>
                  <a:cubicBezTo>
                    <a:pt x="177807" y="698348"/>
                    <a:pt x="0" y="542013"/>
                    <a:pt x="0" y="349227"/>
                  </a:cubicBezTo>
                  <a:close/>
                </a:path>
              </a:pathLst>
            </a:custGeom>
            <a:solidFill>
              <a:srgbClr val="DD2E30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1160280" y="3153991"/>
            <a:ext cx="364276" cy="256218"/>
            <a:chOff x="0" y="0"/>
            <a:chExt cx="432506" cy="304208"/>
          </a:xfrm>
        </p:grpSpPr>
        <p:sp>
          <p:nvSpPr>
            <p:cNvPr name="Freeform 153" id="153" descr="ic_wall_w.png"/>
            <p:cNvSpPr/>
            <p:nvPr/>
          </p:nvSpPr>
          <p:spPr>
            <a:xfrm flipH="false" flipV="false" rot="0">
              <a:off x="0" y="0"/>
              <a:ext cx="432518" cy="304221"/>
            </a:xfrm>
            <a:custGeom>
              <a:avLst/>
              <a:gdLst/>
              <a:ahLst/>
              <a:cxnLst/>
              <a:rect r="r" b="b" t="t" l="l"/>
              <a:pathLst>
                <a:path h="304221" w="432518">
                  <a:moveTo>
                    <a:pt x="0" y="0"/>
                  </a:moveTo>
                  <a:lnTo>
                    <a:pt x="432518" y="0"/>
                  </a:lnTo>
                  <a:lnTo>
                    <a:pt x="432518" y="304221"/>
                  </a:lnTo>
                  <a:lnTo>
                    <a:pt x="0" y="3042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-2" t="-21090" r="0" b="-21086"/>
              </a:stretch>
            </a:blipFill>
          </p:spPr>
        </p:sp>
      </p:grpSp>
      <p:grpSp>
        <p:nvGrpSpPr>
          <p:cNvPr name="Group 154" id="154"/>
          <p:cNvGrpSpPr/>
          <p:nvPr/>
        </p:nvGrpSpPr>
        <p:grpSpPr>
          <a:xfrm rot="0">
            <a:off x="11864844" y="2832470"/>
            <a:ext cx="5666243" cy="827029"/>
            <a:chOff x="0" y="0"/>
            <a:chExt cx="7554990" cy="110270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7554989" cy="1102702"/>
            </a:xfrm>
            <a:custGeom>
              <a:avLst/>
              <a:gdLst/>
              <a:ahLst/>
              <a:cxnLst/>
              <a:rect r="r" b="b" t="t" l="l"/>
              <a:pathLst>
                <a:path h="1102702" w="7554989">
                  <a:moveTo>
                    <a:pt x="0" y="0"/>
                  </a:moveTo>
                  <a:lnTo>
                    <a:pt x="7554989" y="0"/>
                  </a:lnTo>
                  <a:lnTo>
                    <a:pt x="7554989" y="1102702"/>
                  </a:lnTo>
                  <a:lnTo>
                    <a:pt x="0" y="110270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353" r="-21127" b="-138052"/>
              </a:stretch>
            </a:blipFill>
          </p:spPr>
        </p:sp>
        <p:sp>
          <p:nvSpPr>
            <p:cNvPr name="TextBox 156" id="156"/>
            <p:cNvSpPr txBox="true"/>
            <p:nvPr/>
          </p:nvSpPr>
          <p:spPr>
            <a:xfrm>
              <a:off x="0" y="-19050"/>
              <a:ext cx="7554990" cy="11217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8"/>
                </a:lnSpc>
              </a:pPr>
              <a:r>
                <a:rPr lang="en-US" b="true" sz="1726" spc="6">
                  <a:solidFill>
                    <a:srgbClr val="1F2A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경계 강제</a:t>
              </a:r>
            </a:p>
            <a:p>
              <a:pPr algn="l">
                <a:lnSpc>
                  <a:spcPts val="1684"/>
                </a:lnSpc>
              </a:pPr>
              <a:r>
                <a:rPr lang="en-US" sz="1275" spc="4">
                  <a:solidFill>
                    <a:srgbClr val="6B74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Clean Architecture 의존성 단방향 · domain import 금지 · 모듈 간 ports만</a:t>
              </a:r>
            </a:p>
          </p:txBody>
        </p:sp>
      </p:grpSp>
      <p:grpSp>
        <p:nvGrpSpPr>
          <p:cNvPr name="Group 157" id="157"/>
          <p:cNvGrpSpPr/>
          <p:nvPr/>
        </p:nvGrpSpPr>
        <p:grpSpPr>
          <a:xfrm rot="0">
            <a:off x="11038372" y="3790014"/>
            <a:ext cx="595312" cy="523777"/>
            <a:chOff x="0" y="0"/>
            <a:chExt cx="793750" cy="698369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793726" cy="698348"/>
            </a:xfrm>
            <a:custGeom>
              <a:avLst/>
              <a:gdLst/>
              <a:ahLst/>
              <a:cxnLst/>
              <a:rect r="r" b="b" t="t" l="l"/>
              <a:pathLst>
                <a:path h="698348" w="793726">
                  <a:moveTo>
                    <a:pt x="0" y="349227"/>
                  </a:moveTo>
                  <a:cubicBezTo>
                    <a:pt x="0" y="156336"/>
                    <a:pt x="177687" y="0"/>
                    <a:pt x="396923" y="0"/>
                  </a:cubicBezTo>
                  <a:cubicBezTo>
                    <a:pt x="616158" y="0"/>
                    <a:pt x="793726" y="156336"/>
                    <a:pt x="793726" y="349227"/>
                  </a:cubicBezTo>
                  <a:cubicBezTo>
                    <a:pt x="793726" y="542118"/>
                    <a:pt x="616039" y="698348"/>
                    <a:pt x="396923" y="698348"/>
                  </a:cubicBezTo>
                  <a:cubicBezTo>
                    <a:pt x="177807" y="698348"/>
                    <a:pt x="0" y="542013"/>
                    <a:pt x="0" y="349227"/>
                  </a:cubicBezTo>
                  <a:close/>
                </a:path>
              </a:pathLst>
            </a:custGeom>
            <a:solidFill>
              <a:srgbClr val="DD2E30"/>
            </a:solidFill>
          </p:spPr>
        </p:sp>
      </p:grpSp>
      <p:grpSp>
        <p:nvGrpSpPr>
          <p:cNvPr name="Group 159" id="159"/>
          <p:cNvGrpSpPr/>
          <p:nvPr/>
        </p:nvGrpSpPr>
        <p:grpSpPr>
          <a:xfrm rot="0">
            <a:off x="11864844" y="3617901"/>
            <a:ext cx="5666243" cy="827029"/>
            <a:chOff x="0" y="0"/>
            <a:chExt cx="7554990" cy="1102706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7554989" cy="1102702"/>
            </a:xfrm>
            <a:custGeom>
              <a:avLst/>
              <a:gdLst/>
              <a:ahLst/>
              <a:cxnLst/>
              <a:rect r="r" b="b" t="t" l="l"/>
              <a:pathLst>
                <a:path h="1102702" w="7554989">
                  <a:moveTo>
                    <a:pt x="0" y="0"/>
                  </a:moveTo>
                  <a:lnTo>
                    <a:pt x="7554989" y="0"/>
                  </a:lnTo>
                  <a:lnTo>
                    <a:pt x="7554989" y="1102702"/>
                  </a:lnTo>
                  <a:lnTo>
                    <a:pt x="0" y="110270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353" r="-21127" b="-138052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19050"/>
              <a:ext cx="7554990" cy="11217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8"/>
                </a:lnSpc>
              </a:pPr>
              <a:r>
                <a:rPr lang="en-US" b="true" sz="1726" spc="6">
                  <a:solidFill>
                    <a:srgbClr val="1F2A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단일 진실원</a:t>
              </a:r>
            </a:p>
            <a:p>
              <a:pPr algn="l">
                <a:lnSpc>
                  <a:spcPts val="1684"/>
                </a:lnSpc>
              </a:pPr>
              <a:r>
                <a:rPr lang="en-US" sz="1275" spc="4">
                  <a:solidFill>
                    <a:srgbClr val="6B74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common_schemas 단일 정의 · 타입힌트·UUID·UtcDatetime 통일</a:t>
              </a:r>
            </a:p>
          </p:txBody>
        </p:sp>
      </p:grpSp>
      <p:grpSp>
        <p:nvGrpSpPr>
          <p:cNvPr name="Group 162" id="162"/>
          <p:cNvGrpSpPr/>
          <p:nvPr/>
        </p:nvGrpSpPr>
        <p:grpSpPr>
          <a:xfrm rot="0">
            <a:off x="11038372" y="4539557"/>
            <a:ext cx="595312" cy="523777"/>
            <a:chOff x="0" y="0"/>
            <a:chExt cx="793750" cy="698369"/>
          </a:xfrm>
        </p:grpSpPr>
        <p:sp>
          <p:nvSpPr>
            <p:cNvPr name="Freeform 163" id="163"/>
            <p:cNvSpPr/>
            <p:nvPr/>
          </p:nvSpPr>
          <p:spPr>
            <a:xfrm flipH="false" flipV="false" rot="0">
              <a:off x="0" y="0"/>
              <a:ext cx="793726" cy="698348"/>
            </a:xfrm>
            <a:custGeom>
              <a:avLst/>
              <a:gdLst/>
              <a:ahLst/>
              <a:cxnLst/>
              <a:rect r="r" b="b" t="t" l="l"/>
              <a:pathLst>
                <a:path h="698348" w="793726">
                  <a:moveTo>
                    <a:pt x="0" y="349227"/>
                  </a:moveTo>
                  <a:cubicBezTo>
                    <a:pt x="0" y="156336"/>
                    <a:pt x="177687" y="0"/>
                    <a:pt x="396923" y="0"/>
                  </a:cubicBezTo>
                  <a:cubicBezTo>
                    <a:pt x="616158" y="0"/>
                    <a:pt x="793726" y="156336"/>
                    <a:pt x="793726" y="349227"/>
                  </a:cubicBezTo>
                  <a:cubicBezTo>
                    <a:pt x="793726" y="542118"/>
                    <a:pt x="616039" y="698348"/>
                    <a:pt x="396923" y="698348"/>
                  </a:cubicBezTo>
                  <a:cubicBezTo>
                    <a:pt x="177807" y="698348"/>
                    <a:pt x="0" y="542013"/>
                    <a:pt x="0" y="349227"/>
                  </a:cubicBezTo>
                  <a:close/>
                </a:path>
              </a:pathLst>
            </a:custGeom>
            <a:solidFill>
              <a:srgbClr val="DD2E30"/>
            </a:solidFill>
          </p:spPr>
        </p:sp>
      </p:grpSp>
      <p:grpSp>
        <p:nvGrpSpPr>
          <p:cNvPr name="Group 164" id="164"/>
          <p:cNvGrpSpPr/>
          <p:nvPr/>
        </p:nvGrpSpPr>
        <p:grpSpPr>
          <a:xfrm rot="0">
            <a:off x="11119166" y="4638157"/>
            <a:ext cx="433724" cy="305065"/>
            <a:chOff x="0" y="0"/>
            <a:chExt cx="432506" cy="304208"/>
          </a:xfrm>
        </p:grpSpPr>
        <p:sp>
          <p:nvSpPr>
            <p:cNvPr name="Freeform 165" id="165" descr="ic_shield_w.png"/>
            <p:cNvSpPr/>
            <p:nvPr/>
          </p:nvSpPr>
          <p:spPr>
            <a:xfrm flipH="false" flipV="false" rot="0">
              <a:off x="0" y="0"/>
              <a:ext cx="432518" cy="304221"/>
            </a:xfrm>
            <a:custGeom>
              <a:avLst/>
              <a:gdLst/>
              <a:ahLst/>
              <a:cxnLst/>
              <a:rect r="r" b="b" t="t" l="l"/>
              <a:pathLst>
                <a:path h="304221" w="432518">
                  <a:moveTo>
                    <a:pt x="0" y="0"/>
                  </a:moveTo>
                  <a:lnTo>
                    <a:pt x="432518" y="0"/>
                  </a:lnTo>
                  <a:lnTo>
                    <a:pt x="432518" y="304221"/>
                  </a:lnTo>
                  <a:lnTo>
                    <a:pt x="0" y="3042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-2" t="-21090" r="0" b="-21086"/>
              </a:stretch>
            </a:blipFill>
          </p:spPr>
        </p:sp>
      </p:grpSp>
      <p:grpSp>
        <p:nvGrpSpPr>
          <p:cNvPr name="Group 166" id="166"/>
          <p:cNvGrpSpPr/>
          <p:nvPr/>
        </p:nvGrpSpPr>
        <p:grpSpPr>
          <a:xfrm rot="0">
            <a:off x="11808977" y="4299944"/>
            <a:ext cx="5666243" cy="827029"/>
            <a:chOff x="0" y="0"/>
            <a:chExt cx="7554990" cy="1102706"/>
          </a:xfrm>
        </p:grpSpPr>
        <p:sp>
          <p:nvSpPr>
            <p:cNvPr name="Freeform 167" id="167"/>
            <p:cNvSpPr/>
            <p:nvPr/>
          </p:nvSpPr>
          <p:spPr>
            <a:xfrm flipH="false" flipV="false" rot="0">
              <a:off x="0" y="0"/>
              <a:ext cx="7554989" cy="1102702"/>
            </a:xfrm>
            <a:custGeom>
              <a:avLst/>
              <a:gdLst/>
              <a:ahLst/>
              <a:cxnLst/>
              <a:rect r="r" b="b" t="t" l="l"/>
              <a:pathLst>
                <a:path h="1102702" w="7554989">
                  <a:moveTo>
                    <a:pt x="0" y="0"/>
                  </a:moveTo>
                  <a:lnTo>
                    <a:pt x="7554989" y="0"/>
                  </a:lnTo>
                  <a:lnTo>
                    <a:pt x="7554989" y="1102702"/>
                  </a:lnTo>
                  <a:lnTo>
                    <a:pt x="0" y="110270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353" r="-21127" b="-138052"/>
              </a:stretch>
            </a:blipFill>
          </p:spPr>
        </p:sp>
        <p:sp>
          <p:nvSpPr>
            <p:cNvPr name="TextBox 168" id="168"/>
            <p:cNvSpPr txBox="true"/>
            <p:nvPr/>
          </p:nvSpPr>
          <p:spPr>
            <a:xfrm>
              <a:off x="0" y="-19050"/>
              <a:ext cx="7554990" cy="11217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78"/>
                </a:lnSpc>
              </a:pPr>
              <a:r>
                <a:rPr lang="en-US" b="true" sz="1726" spc="6">
                  <a:solidFill>
                    <a:srgbClr val="1F2A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변경 · 실행 가드레일</a:t>
              </a:r>
            </a:p>
            <a:p>
              <a:pPr algn="l">
                <a:lnSpc>
                  <a:spcPts val="1684"/>
                </a:lnSpc>
              </a:pPr>
              <a:r>
                <a:rPr lang="en-US" sz="1275" spc="4">
                  <a:solidFill>
                    <a:srgbClr val="6B74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development PR·머지 조장만 · permissions 화이트리스트 · .env 금지</a:t>
              </a:r>
            </a:p>
          </p:txBody>
        </p:sp>
      </p:grpSp>
      <p:grpSp>
        <p:nvGrpSpPr>
          <p:cNvPr name="Group 169" id="169"/>
          <p:cNvGrpSpPr/>
          <p:nvPr/>
        </p:nvGrpSpPr>
        <p:grpSpPr>
          <a:xfrm rot="0">
            <a:off x="10743722" y="5024644"/>
            <a:ext cx="6935480" cy="519171"/>
            <a:chOff x="0" y="0"/>
            <a:chExt cx="9247307" cy="692228"/>
          </a:xfrm>
        </p:grpSpPr>
        <p:sp>
          <p:nvSpPr>
            <p:cNvPr name="Freeform 170" id="170"/>
            <p:cNvSpPr/>
            <p:nvPr/>
          </p:nvSpPr>
          <p:spPr>
            <a:xfrm flipH="false" flipV="false" rot="0">
              <a:off x="0" y="0"/>
              <a:ext cx="9247308" cy="692225"/>
            </a:xfrm>
            <a:custGeom>
              <a:avLst/>
              <a:gdLst/>
              <a:ahLst/>
              <a:cxnLst/>
              <a:rect r="r" b="b" t="t" l="l"/>
              <a:pathLst>
                <a:path h="692225" w="9247308">
                  <a:moveTo>
                    <a:pt x="0" y="0"/>
                  </a:moveTo>
                  <a:lnTo>
                    <a:pt x="9247308" y="0"/>
                  </a:lnTo>
                  <a:lnTo>
                    <a:pt x="9247308" y="692225"/>
                  </a:lnTo>
                  <a:lnTo>
                    <a:pt x="0" y="69222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5630" r="-21127" b="-254950"/>
              </a:stretch>
            </a:blipFill>
          </p:spPr>
        </p:sp>
        <p:sp>
          <p:nvSpPr>
            <p:cNvPr name="TextBox 171" id="171"/>
            <p:cNvSpPr txBox="true"/>
            <p:nvPr/>
          </p:nvSpPr>
          <p:spPr>
            <a:xfrm>
              <a:off x="0" y="-9525"/>
              <a:ext cx="9247307" cy="701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1"/>
                </a:lnSpc>
              </a:pPr>
              <a:r>
                <a:rPr lang="en-US" sz="1351" spc="5">
                  <a:solidFill>
                    <a:srgbClr val="C24A4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경계(Architecture) · 단일원천(SSOT) · 가드레일(Guardrail)</a:t>
              </a:r>
            </a:p>
          </p:txBody>
        </p:sp>
      </p:grpSp>
      <p:grpSp>
        <p:nvGrpSpPr>
          <p:cNvPr name="Group 172" id="172"/>
          <p:cNvGrpSpPr/>
          <p:nvPr/>
        </p:nvGrpSpPr>
        <p:grpSpPr>
          <a:xfrm rot="86990">
            <a:off x="11153890" y="3891476"/>
            <a:ext cx="377055" cy="287680"/>
            <a:chOff x="0" y="0"/>
            <a:chExt cx="395014" cy="301382"/>
          </a:xfrm>
        </p:grpSpPr>
        <p:sp>
          <p:nvSpPr>
            <p:cNvPr name="Freeform 173" id="173" descr="ic_key_w.png"/>
            <p:cNvSpPr/>
            <p:nvPr/>
          </p:nvSpPr>
          <p:spPr>
            <a:xfrm flipH="false" flipV="false" rot="0">
              <a:off x="0" y="0"/>
              <a:ext cx="395027" cy="301395"/>
            </a:xfrm>
            <a:custGeom>
              <a:avLst/>
              <a:gdLst/>
              <a:ahLst/>
              <a:cxnLst/>
              <a:rect r="r" b="b" t="t" l="l"/>
              <a:pathLst>
                <a:path h="301395" w="395027">
                  <a:moveTo>
                    <a:pt x="0" y="0"/>
                  </a:moveTo>
                  <a:lnTo>
                    <a:pt x="395027" y="0"/>
                  </a:lnTo>
                  <a:lnTo>
                    <a:pt x="395027" y="301395"/>
                  </a:lnTo>
                  <a:lnTo>
                    <a:pt x="0" y="301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-2" t="-15536" r="0" b="-15533"/>
              </a:stretch>
            </a:blipFill>
          </p:spPr>
        </p:sp>
      </p:grpSp>
      <p:grpSp>
        <p:nvGrpSpPr>
          <p:cNvPr name="Group 174" id="174"/>
          <p:cNvGrpSpPr/>
          <p:nvPr/>
        </p:nvGrpSpPr>
        <p:grpSpPr>
          <a:xfrm rot="0">
            <a:off x="11016967" y="2307153"/>
            <a:ext cx="548640" cy="482566"/>
            <a:chOff x="0" y="0"/>
            <a:chExt cx="731520" cy="643421"/>
          </a:xfrm>
        </p:grpSpPr>
        <p:sp>
          <p:nvSpPr>
            <p:cNvPr name="Freeform 175" id="175"/>
            <p:cNvSpPr/>
            <p:nvPr/>
          </p:nvSpPr>
          <p:spPr>
            <a:xfrm flipH="false" flipV="false" rot="0">
              <a:off x="0" y="0"/>
              <a:ext cx="731520" cy="643421"/>
            </a:xfrm>
            <a:custGeom>
              <a:avLst/>
              <a:gdLst/>
              <a:ahLst/>
              <a:cxnLst/>
              <a:rect r="r" b="b" t="t" l="l"/>
              <a:pathLst>
                <a:path h="643421" w="731520">
                  <a:moveTo>
                    <a:pt x="0" y="321711"/>
                  </a:moveTo>
                  <a:cubicBezTo>
                    <a:pt x="0" y="143988"/>
                    <a:pt x="163703" y="0"/>
                    <a:pt x="365760" y="0"/>
                  </a:cubicBezTo>
                  <a:cubicBezTo>
                    <a:pt x="567817" y="0"/>
                    <a:pt x="731520" y="143988"/>
                    <a:pt x="731520" y="321711"/>
                  </a:cubicBezTo>
                  <a:cubicBezTo>
                    <a:pt x="731520" y="499433"/>
                    <a:pt x="567817" y="643421"/>
                    <a:pt x="365760" y="643421"/>
                  </a:cubicBezTo>
                  <a:cubicBezTo>
                    <a:pt x="163703" y="643421"/>
                    <a:pt x="0" y="499433"/>
                    <a:pt x="0" y="321711"/>
                  </a:cubicBezTo>
                  <a:close/>
                </a:path>
              </a:pathLst>
            </a:custGeom>
            <a:solidFill>
              <a:srgbClr val="DD2E30"/>
            </a:solidFill>
          </p:spPr>
        </p:sp>
      </p:grpSp>
      <p:grpSp>
        <p:nvGrpSpPr>
          <p:cNvPr name="Group 176" id="176"/>
          <p:cNvGrpSpPr/>
          <p:nvPr/>
        </p:nvGrpSpPr>
        <p:grpSpPr>
          <a:xfrm rot="0">
            <a:off x="10889272" y="2162936"/>
            <a:ext cx="804032" cy="756264"/>
            <a:chOff x="0" y="0"/>
            <a:chExt cx="1072042" cy="1008352"/>
          </a:xfrm>
        </p:grpSpPr>
        <p:sp>
          <p:nvSpPr>
            <p:cNvPr name="Freeform 177" id="177"/>
            <p:cNvSpPr/>
            <p:nvPr/>
          </p:nvSpPr>
          <p:spPr>
            <a:xfrm flipH="false" flipV="false" rot="0">
              <a:off x="0" y="0"/>
              <a:ext cx="1072043" cy="1008353"/>
            </a:xfrm>
            <a:custGeom>
              <a:avLst/>
              <a:gdLst/>
              <a:ahLst/>
              <a:cxnLst/>
              <a:rect r="r" b="b" t="t" l="l"/>
              <a:pathLst>
                <a:path h="1008353" w="1072043">
                  <a:moveTo>
                    <a:pt x="0" y="0"/>
                  </a:moveTo>
                  <a:lnTo>
                    <a:pt x="1072043" y="0"/>
                  </a:lnTo>
                  <a:lnTo>
                    <a:pt x="1072043" y="1008353"/>
                  </a:lnTo>
                  <a:lnTo>
                    <a:pt x="0" y="100835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473" t="0" r="-21762" b="27397"/>
              </a:stretch>
            </a:blipFill>
          </p:spPr>
        </p:sp>
        <p:sp>
          <p:nvSpPr>
            <p:cNvPr name="TextBox 178" id="178"/>
            <p:cNvSpPr txBox="true"/>
            <p:nvPr/>
          </p:nvSpPr>
          <p:spPr>
            <a:xfrm>
              <a:off x="0" y="0"/>
              <a:ext cx="1072042" cy="10083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1"/>
                </a:lnSpc>
              </a:pPr>
              <a:r>
                <a:rPr lang="en-US" b="true" sz="1951" spc="7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02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87403" y="1111253"/>
            <a:ext cx="8588216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시스템 개요 — Clean Architecture · 모노레포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자연어 요청 → 노드 카탈로그(62클래스 / 62 node_type) 조합 → 워크플로우 자동 생성 → 위상정렬 실행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13 / 44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32258" y="9608820"/>
            <a:ext cx="239886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|  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시스템 개요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01698" y="2456183"/>
            <a:ext cx="7249163" cy="1671323"/>
            <a:chOff x="0" y="0"/>
            <a:chExt cx="9665551" cy="222843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665589" cy="2228469"/>
            </a:xfrm>
            <a:custGeom>
              <a:avLst/>
              <a:gdLst/>
              <a:ahLst/>
              <a:cxnLst/>
              <a:rect r="r" b="b" t="t" l="l"/>
              <a:pathLst>
                <a:path h="2228469" w="9665589">
                  <a:moveTo>
                    <a:pt x="0" y="173355"/>
                  </a:moveTo>
                  <a:cubicBezTo>
                    <a:pt x="0" y="77597"/>
                    <a:pt x="77597" y="0"/>
                    <a:pt x="173355" y="0"/>
                  </a:cubicBezTo>
                  <a:lnTo>
                    <a:pt x="9492234" y="0"/>
                  </a:lnTo>
                  <a:cubicBezTo>
                    <a:pt x="9587992" y="0"/>
                    <a:pt x="9665589" y="77597"/>
                    <a:pt x="9665589" y="173355"/>
                  </a:cubicBezTo>
                  <a:lnTo>
                    <a:pt x="9665589" y="2055114"/>
                  </a:lnTo>
                  <a:cubicBezTo>
                    <a:pt x="9665589" y="2150872"/>
                    <a:pt x="9587992" y="2228469"/>
                    <a:pt x="9492234" y="2228469"/>
                  </a:cubicBezTo>
                  <a:lnTo>
                    <a:pt x="173355" y="2228469"/>
                  </a:lnTo>
                  <a:cubicBezTo>
                    <a:pt x="77597" y="2228469"/>
                    <a:pt x="0" y="2150872"/>
                    <a:pt x="0" y="205511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ECEEF1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280155" y="2926080"/>
            <a:ext cx="768096" cy="768096"/>
            <a:chOff x="0" y="0"/>
            <a:chExt cx="1024128" cy="102412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F0653E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472179" y="3118104"/>
            <a:ext cx="347472" cy="347472"/>
            <a:chOff x="0" y="0"/>
            <a:chExt cx="463296" cy="463296"/>
          </a:xfrm>
        </p:grpSpPr>
        <p:sp>
          <p:nvSpPr>
            <p:cNvPr name="Freeform 12" id="12" descr="preencoded.png"/>
            <p:cNvSpPr/>
            <p:nvPr/>
          </p:nvSpPr>
          <p:spPr>
            <a:xfrm flipH="false" flipV="false" rot="0">
              <a:off x="0" y="0"/>
              <a:ext cx="463296" cy="463296"/>
            </a:xfrm>
            <a:custGeom>
              <a:avLst/>
              <a:gdLst/>
              <a:ahLst/>
              <a:cxnLst/>
              <a:rect r="r" b="b" t="t" l="l"/>
              <a:pathLst>
                <a:path h="463296" w="463296">
                  <a:moveTo>
                    <a:pt x="0" y="0"/>
                  </a:moveTo>
                  <a:lnTo>
                    <a:pt x="463296" y="0"/>
                  </a:lnTo>
                  <a:lnTo>
                    <a:pt x="463296" y="463296"/>
                  </a:lnTo>
                  <a:lnTo>
                    <a:pt x="0" y="4632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2340859" y="2670353"/>
            <a:ext cx="3840480" cy="639775"/>
            <a:chOff x="0" y="0"/>
            <a:chExt cx="5120640" cy="85303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120640" cy="853034"/>
            </a:xfrm>
            <a:custGeom>
              <a:avLst/>
              <a:gdLst/>
              <a:ahLst/>
              <a:cxnLst/>
              <a:rect r="r" b="b" t="t" l="l"/>
              <a:pathLst>
                <a:path h="853034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853034"/>
                  </a:lnTo>
                  <a:lnTo>
                    <a:pt x="0" y="8530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8380" r="0" b="-4555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5120640" cy="8530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92"/>
                </a:lnSpc>
              </a:pPr>
              <a:r>
                <a:rPr lang="en-US" b="true" sz="1660" spc="199">
                  <a:solidFill>
                    <a:srgbClr val="F065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LAYER 01 — CONTRACT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199627" y="2724912"/>
            <a:ext cx="1682496" cy="420624"/>
            <a:chOff x="0" y="0"/>
            <a:chExt cx="2243328" cy="56083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43328" cy="560832"/>
            </a:xfrm>
            <a:custGeom>
              <a:avLst/>
              <a:gdLst/>
              <a:ahLst/>
              <a:cxnLst/>
              <a:rect r="r" b="b" t="t" l="l"/>
              <a:pathLst>
                <a:path h="560832" w="2243328">
                  <a:moveTo>
                    <a:pt x="0" y="280416"/>
                  </a:moveTo>
                  <a:cubicBezTo>
                    <a:pt x="0" y="125603"/>
                    <a:pt x="125603" y="0"/>
                    <a:pt x="280416" y="0"/>
                  </a:cubicBezTo>
                  <a:lnTo>
                    <a:pt x="1962912" y="0"/>
                  </a:lnTo>
                  <a:cubicBezTo>
                    <a:pt x="2117725" y="0"/>
                    <a:pt x="2243328" y="125603"/>
                    <a:pt x="2243328" y="280416"/>
                  </a:cubicBezTo>
                  <a:cubicBezTo>
                    <a:pt x="2243328" y="435229"/>
                    <a:pt x="2117725" y="560832"/>
                    <a:pt x="1962912" y="560832"/>
                  </a:cubicBezTo>
                  <a:lnTo>
                    <a:pt x="280416" y="560832"/>
                  </a:lnTo>
                  <a:cubicBezTo>
                    <a:pt x="125603" y="560832"/>
                    <a:pt x="0" y="435229"/>
                    <a:pt x="0" y="280416"/>
                  </a:cubicBezTo>
                  <a:close/>
                </a:path>
              </a:pathLst>
            </a:custGeom>
            <a:solidFill>
              <a:srgbClr val="FDEDE7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217915" y="2653246"/>
            <a:ext cx="1682496" cy="563956"/>
            <a:chOff x="0" y="0"/>
            <a:chExt cx="2243328" cy="75194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43328" cy="751942"/>
            </a:xfrm>
            <a:custGeom>
              <a:avLst/>
              <a:gdLst/>
              <a:ahLst/>
              <a:cxnLst/>
              <a:rect r="r" b="b" t="t" l="l"/>
              <a:pathLst>
                <a:path h="751942" w="2243328">
                  <a:moveTo>
                    <a:pt x="0" y="0"/>
                  </a:moveTo>
                  <a:lnTo>
                    <a:pt x="2243328" y="0"/>
                  </a:lnTo>
                  <a:lnTo>
                    <a:pt x="2243328" y="751942"/>
                  </a:lnTo>
                  <a:lnTo>
                    <a:pt x="0" y="75194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39" r="0" b="4576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2243328" cy="7519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51"/>
                </a:lnSpc>
              </a:pPr>
              <a:r>
                <a:rPr lang="en-US" sz="1459" b="true">
                  <a:solidFill>
                    <a:srgbClr val="F065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SSOT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329167" y="2892047"/>
            <a:ext cx="5577840" cy="962025"/>
            <a:chOff x="0" y="0"/>
            <a:chExt cx="7437120" cy="12827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437120" cy="1282700"/>
            </a:xfrm>
            <a:custGeom>
              <a:avLst/>
              <a:gdLst/>
              <a:ahLst/>
              <a:cxnLst/>
              <a:rect r="r" b="b" t="t" l="l"/>
              <a:pathLst>
                <a:path h="128270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1282700"/>
                  </a:lnTo>
                  <a:lnTo>
                    <a:pt x="0" y="12827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311" r="0" b="-3863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9525"/>
              <a:ext cx="7437120" cy="12731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1F29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공유 스키마 단일 출처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310879" y="3419123"/>
            <a:ext cx="5541264" cy="644500"/>
            <a:chOff x="0" y="0"/>
            <a:chExt cx="7388352" cy="85933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388352" cy="859333"/>
            </a:xfrm>
            <a:custGeom>
              <a:avLst/>
              <a:gdLst/>
              <a:ahLst/>
              <a:cxnLst/>
              <a:rect r="r" b="b" t="t" l="l"/>
              <a:pathLst>
                <a:path h="859333" w="7388352">
                  <a:moveTo>
                    <a:pt x="0" y="0"/>
                  </a:moveTo>
                  <a:lnTo>
                    <a:pt x="7388352" y="0"/>
                  </a:lnTo>
                  <a:lnTo>
                    <a:pt x="7388352" y="859333"/>
                  </a:lnTo>
                  <a:lnTo>
                    <a:pt x="0" y="85933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314" r="0" b="-98741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7388352" cy="8688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15"/>
                </a:lnSpc>
              </a:pPr>
              <a:r>
                <a:rPr lang="en-US" sz="1679">
                  <a:solidFill>
                    <a:srgbClr val="4B5563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common_schemas (Python · TS 타입 동기화)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01698" y="4339847"/>
            <a:ext cx="7249163" cy="1671323"/>
            <a:chOff x="0" y="0"/>
            <a:chExt cx="9665551" cy="222843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665589" cy="2228469"/>
            </a:xfrm>
            <a:custGeom>
              <a:avLst/>
              <a:gdLst/>
              <a:ahLst/>
              <a:cxnLst/>
              <a:rect r="r" b="b" t="t" l="l"/>
              <a:pathLst>
                <a:path h="2228469" w="9665589">
                  <a:moveTo>
                    <a:pt x="0" y="173355"/>
                  </a:moveTo>
                  <a:cubicBezTo>
                    <a:pt x="0" y="77597"/>
                    <a:pt x="77597" y="0"/>
                    <a:pt x="173355" y="0"/>
                  </a:cubicBezTo>
                  <a:lnTo>
                    <a:pt x="9492234" y="0"/>
                  </a:lnTo>
                  <a:cubicBezTo>
                    <a:pt x="9587992" y="0"/>
                    <a:pt x="9665589" y="77597"/>
                    <a:pt x="9665589" y="173355"/>
                  </a:cubicBezTo>
                  <a:lnTo>
                    <a:pt x="9665589" y="2055114"/>
                  </a:lnTo>
                  <a:cubicBezTo>
                    <a:pt x="9665589" y="2150872"/>
                    <a:pt x="9587992" y="2228469"/>
                    <a:pt x="9492234" y="2228469"/>
                  </a:cubicBezTo>
                  <a:lnTo>
                    <a:pt x="173355" y="2228469"/>
                  </a:lnTo>
                  <a:cubicBezTo>
                    <a:pt x="77597" y="2228469"/>
                    <a:pt x="0" y="2150872"/>
                    <a:pt x="0" y="205511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ECEEF1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280155" y="4809744"/>
            <a:ext cx="768096" cy="768096"/>
            <a:chOff x="0" y="0"/>
            <a:chExt cx="1024128" cy="102412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14B8A6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472179" y="5001768"/>
            <a:ext cx="347472" cy="347472"/>
            <a:chOff x="0" y="0"/>
            <a:chExt cx="463296" cy="463296"/>
          </a:xfrm>
        </p:grpSpPr>
        <p:sp>
          <p:nvSpPr>
            <p:cNvPr name="Freeform 32" id="32" descr="preencoded.png"/>
            <p:cNvSpPr/>
            <p:nvPr/>
          </p:nvSpPr>
          <p:spPr>
            <a:xfrm flipH="false" flipV="false" rot="0">
              <a:off x="0" y="0"/>
              <a:ext cx="463296" cy="463296"/>
            </a:xfrm>
            <a:custGeom>
              <a:avLst/>
              <a:gdLst/>
              <a:ahLst/>
              <a:cxnLst/>
              <a:rect r="r" b="b" t="t" l="l"/>
              <a:pathLst>
                <a:path h="463296" w="463296">
                  <a:moveTo>
                    <a:pt x="0" y="0"/>
                  </a:moveTo>
                  <a:lnTo>
                    <a:pt x="463296" y="0"/>
                  </a:lnTo>
                  <a:lnTo>
                    <a:pt x="463296" y="463296"/>
                  </a:lnTo>
                  <a:lnTo>
                    <a:pt x="0" y="4632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2340859" y="4499000"/>
            <a:ext cx="3840480" cy="639775"/>
            <a:chOff x="0" y="0"/>
            <a:chExt cx="5120640" cy="85303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120640" cy="853034"/>
            </a:xfrm>
            <a:custGeom>
              <a:avLst/>
              <a:gdLst/>
              <a:ahLst/>
              <a:cxnLst/>
              <a:rect r="r" b="b" t="t" l="l"/>
              <a:pathLst>
                <a:path h="853034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853034"/>
                  </a:lnTo>
                  <a:lnTo>
                    <a:pt x="0" y="8530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8380" r="0" b="-4555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5120640" cy="8530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92"/>
                </a:lnSpc>
              </a:pPr>
              <a:r>
                <a:rPr lang="en-US" b="true" sz="1660" spc="199">
                  <a:solidFill>
                    <a:srgbClr val="14B8A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LAYER 02 — MODULES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199627" y="4608576"/>
            <a:ext cx="1682496" cy="420624"/>
            <a:chOff x="0" y="0"/>
            <a:chExt cx="2243328" cy="56083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43328" cy="560832"/>
            </a:xfrm>
            <a:custGeom>
              <a:avLst/>
              <a:gdLst/>
              <a:ahLst/>
              <a:cxnLst/>
              <a:rect r="r" b="b" t="t" l="l"/>
              <a:pathLst>
                <a:path h="560832" w="2243328">
                  <a:moveTo>
                    <a:pt x="0" y="280416"/>
                  </a:moveTo>
                  <a:cubicBezTo>
                    <a:pt x="0" y="125603"/>
                    <a:pt x="125603" y="0"/>
                    <a:pt x="280416" y="0"/>
                  </a:cubicBezTo>
                  <a:lnTo>
                    <a:pt x="1962912" y="0"/>
                  </a:lnTo>
                  <a:cubicBezTo>
                    <a:pt x="2117725" y="0"/>
                    <a:pt x="2243328" y="125603"/>
                    <a:pt x="2243328" y="280416"/>
                  </a:cubicBezTo>
                  <a:cubicBezTo>
                    <a:pt x="2243328" y="435229"/>
                    <a:pt x="2117725" y="560832"/>
                    <a:pt x="1962912" y="560832"/>
                  </a:cubicBezTo>
                  <a:lnTo>
                    <a:pt x="280416" y="560832"/>
                  </a:lnTo>
                  <a:cubicBezTo>
                    <a:pt x="125603" y="560832"/>
                    <a:pt x="0" y="435229"/>
                    <a:pt x="0" y="280416"/>
                  </a:cubicBezTo>
                  <a:close/>
                </a:path>
              </a:pathLst>
            </a:custGeom>
            <a:solidFill>
              <a:srgbClr val="E6F7F4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6224511" y="4527766"/>
            <a:ext cx="1682496" cy="563956"/>
            <a:chOff x="0" y="0"/>
            <a:chExt cx="2243328" cy="751942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243328" cy="751942"/>
            </a:xfrm>
            <a:custGeom>
              <a:avLst/>
              <a:gdLst/>
              <a:ahLst/>
              <a:cxnLst/>
              <a:rect r="r" b="b" t="t" l="l"/>
              <a:pathLst>
                <a:path h="751942" w="2243328">
                  <a:moveTo>
                    <a:pt x="0" y="0"/>
                  </a:moveTo>
                  <a:lnTo>
                    <a:pt x="2243328" y="0"/>
                  </a:lnTo>
                  <a:lnTo>
                    <a:pt x="2243328" y="751942"/>
                  </a:lnTo>
                  <a:lnTo>
                    <a:pt x="0" y="75194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39" r="0" b="4576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2243328" cy="7519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51"/>
                </a:lnSpc>
              </a:pPr>
              <a:r>
                <a:rPr lang="en-US" sz="1459" b="true">
                  <a:solidFill>
                    <a:srgbClr val="14B8A6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Hexagonal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2322571" y="4763291"/>
            <a:ext cx="5577840" cy="975551"/>
            <a:chOff x="0" y="0"/>
            <a:chExt cx="7437120" cy="130073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437120" cy="1300734"/>
            </a:xfrm>
            <a:custGeom>
              <a:avLst/>
              <a:gdLst/>
              <a:ahLst/>
              <a:cxnLst/>
              <a:rect r="r" b="b" t="t" l="l"/>
              <a:pathLst>
                <a:path h="1300734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1300734"/>
                  </a:lnTo>
                  <a:lnTo>
                    <a:pt x="0" y="13007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100" r="0" b="-3671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9525"/>
              <a:ext cx="7437120" cy="12912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1F29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도메인 · 포트/어댑터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340859" y="5302787"/>
            <a:ext cx="5541264" cy="644500"/>
            <a:chOff x="0" y="0"/>
            <a:chExt cx="7388352" cy="85933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388352" cy="859333"/>
            </a:xfrm>
            <a:custGeom>
              <a:avLst/>
              <a:gdLst/>
              <a:ahLst/>
              <a:cxnLst/>
              <a:rect r="r" b="b" t="t" l="l"/>
              <a:pathLst>
                <a:path h="859333" w="7388352">
                  <a:moveTo>
                    <a:pt x="0" y="0"/>
                  </a:moveTo>
                  <a:lnTo>
                    <a:pt x="7388352" y="0"/>
                  </a:lnTo>
                  <a:lnTo>
                    <a:pt x="7388352" y="859333"/>
                  </a:lnTo>
                  <a:lnTo>
                    <a:pt x="0" y="85933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314" r="0" b="-98741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7388352" cy="8688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15"/>
                </a:lnSpc>
              </a:pPr>
              <a:r>
                <a:rPr lang="en-US" sz="1679">
                  <a:solidFill>
                    <a:srgbClr val="4B5563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modules/* — domain · application · adapters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01698" y="6223511"/>
            <a:ext cx="7249163" cy="1671323"/>
            <a:chOff x="0" y="0"/>
            <a:chExt cx="9665551" cy="222843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665589" cy="2228469"/>
            </a:xfrm>
            <a:custGeom>
              <a:avLst/>
              <a:gdLst/>
              <a:ahLst/>
              <a:cxnLst/>
              <a:rect r="r" b="b" t="t" l="l"/>
              <a:pathLst>
                <a:path h="2228469" w="9665589">
                  <a:moveTo>
                    <a:pt x="0" y="173355"/>
                  </a:moveTo>
                  <a:cubicBezTo>
                    <a:pt x="0" y="77597"/>
                    <a:pt x="77597" y="0"/>
                    <a:pt x="173355" y="0"/>
                  </a:cubicBezTo>
                  <a:lnTo>
                    <a:pt x="9492234" y="0"/>
                  </a:lnTo>
                  <a:cubicBezTo>
                    <a:pt x="9587992" y="0"/>
                    <a:pt x="9665589" y="77597"/>
                    <a:pt x="9665589" y="173355"/>
                  </a:cubicBezTo>
                  <a:lnTo>
                    <a:pt x="9665589" y="2055114"/>
                  </a:lnTo>
                  <a:cubicBezTo>
                    <a:pt x="9665589" y="2150872"/>
                    <a:pt x="9587992" y="2228469"/>
                    <a:pt x="9492234" y="2228469"/>
                  </a:cubicBezTo>
                  <a:lnTo>
                    <a:pt x="173355" y="2228469"/>
                  </a:lnTo>
                  <a:cubicBezTo>
                    <a:pt x="77597" y="2228469"/>
                    <a:pt x="0" y="2150872"/>
                    <a:pt x="0" y="205511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ECEEF1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280155" y="6693408"/>
            <a:ext cx="768096" cy="768096"/>
            <a:chOff x="0" y="0"/>
            <a:chExt cx="1024128" cy="1024128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22A55E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472179" y="6885432"/>
            <a:ext cx="347472" cy="347472"/>
            <a:chOff x="0" y="0"/>
            <a:chExt cx="463296" cy="463296"/>
          </a:xfrm>
        </p:grpSpPr>
        <p:sp>
          <p:nvSpPr>
            <p:cNvPr name="Freeform 52" id="52" descr="preencoded.png"/>
            <p:cNvSpPr/>
            <p:nvPr/>
          </p:nvSpPr>
          <p:spPr>
            <a:xfrm flipH="false" flipV="false" rot="0">
              <a:off x="0" y="0"/>
              <a:ext cx="463296" cy="463296"/>
            </a:xfrm>
            <a:custGeom>
              <a:avLst/>
              <a:gdLst/>
              <a:ahLst/>
              <a:cxnLst/>
              <a:rect r="r" b="b" t="t" l="l"/>
              <a:pathLst>
                <a:path h="463296" w="463296">
                  <a:moveTo>
                    <a:pt x="0" y="0"/>
                  </a:moveTo>
                  <a:lnTo>
                    <a:pt x="463296" y="0"/>
                  </a:lnTo>
                  <a:lnTo>
                    <a:pt x="463296" y="463296"/>
                  </a:lnTo>
                  <a:lnTo>
                    <a:pt x="0" y="4632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2310879" y="6401695"/>
            <a:ext cx="3840480" cy="639775"/>
            <a:chOff x="0" y="0"/>
            <a:chExt cx="5120640" cy="85303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5120640" cy="853034"/>
            </a:xfrm>
            <a:custGeom>
              <a:avLst/>
              <a:gdLst/>
              <a:ahLst/>
              <a:cxnLst/>
              <a:rect r="r" b="b" t="t" l="l"/>
              <a:pathLst>
                <a:path h="853034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853034"/>
                  </a:lnTo>
                  <a:lnTo>
                    <a:pt x="0" y="8530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8380" r="0" b="-4555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5120640" cy="8530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92"/>
                </a:lnSpc>
              </a:pPr>
              <a:r>
                <a:rPr lang="en-US" b="true" sz="1660" spc="199">
                  <a:solidFill>
                    <a:srgbClr val="22A55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LAYER 03 — ASSEMBLY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6199627" y="6492240"/>
            <a:ext cx="1682496" cy="420624"/>
            <a:chOff x="0" y="0"/>
            <a:chExt cx="2243328" cy="560832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243328" cy="560832"/>
            </a:xfrm>
            <a:custGeom>
              <a:avLst/>
              <a:gdLst/>
              <a:ahLst/>
              <a:cxnLst/>
              <a:rect r="r" b="b" t="t" l="l"/>
              <a:pathLst>
                <a:path h="560832" w="2243328">
                  <a:moveTo>
                    <a:pt x="0" y="280416"/>
                  </a:moveTo>
                  <a:cubicBezTo>
                    <a:pt x="0" y="125603"/>
                    <a:pt x="125603" y="0"/>
                    <a:pt x="280416" y="0"/>
                  </a:cubicBezTo>
                  <a:lnTo>
                    <a:pt x="1962912" y="0"/>
                  </a:lnTo>
                  <a:cubicBezTo>
                    <a:pt x="2117725" y="0"/>
                    <a:pt x="2243328" y="125603"/>
                    <a:pt x="2243328" y="280416"/>
                  </a:cubicBezTo>
                  <a:cubicBezTo>
                    <a:pt x="2243328" y="435229"/>
                    <a:pt x="2117725" y="560832"/>
                    <a:pt x="1962912" y="560832"/>
                  </a:cubicBezTo>
                  <a:lnTo>
                    <a:pt x="280416" y="560832"/>
                  </a:lnTo>
                  <a:cubicBezTo>
                    <a:pt x="125603" y="560832"/>
                    <a:pt x="0" y="435229"/>
                    <a:pt x="0" y="280416"/>
                  </a:cubicBezTo>
                  <a:close/>
                </a:path>
              </a:pathLst>
            </a:custGeom>
            <a:solidFill>
              <a:srgbClr val="E7F6EE"/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6181339" y="6401695"/>
            <a:ext cx="1682496" cy="563956"/>
            <a:chOff x="0" y="0"/>
            <a:chExt cx="2243328" cy="751942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243328" cy="751942"/>
            </a:xfrm>
            <a:custGeom>
              <a:avLst/>
              <a:gdLst/>
              <a:ahLst/>
              <a:cxnLst/>
              <a:rect r="r" b="b" t="t" l="l"/>
              <a:pathLst>
                <a:path h="751942" w="2243328">
                  <a:moveTo>
                    <a:pt x="0" y="0"/>
                  </a:moveTo>
                  <a:lnTo>
                    <a:pt x="2243328" y="0"/>
                  </a:lnTo>
                  <a:lnTo>
                    <a:pt x="2243328" y="751942"/>
                  </a:lnTo>
                  <a:lnTo>
                    <a:pt x="0" y="75194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39" r="0" b="4576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2243328" cy="7519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51"/>
                </a:lnSpc>
              </a:pPr>
              <a:r>
                <a:rPr lang="en-US" sz="1459" b="true">
                  <a:solidFill>
                    <a:srgbClr val="22A55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Mono-repo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2274303" y="6611941"/>
            <a:ext cx="5577840" cy="962025"/>
            <a:chOff x="0" y="0"/>
            <a:chExt cx="7437120" cy="128270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437120" cy="1282700"/>
            </a:xfrm>
            <a:custGeom>
              <a:avLst/>
              <a:gdLst/>
              <a:ahLst/>
              <a:cxnLst/>
              <a:rect r="r" b="b" t="t" l="l"/>
              <a:pathLst>
                <a:path h="1282700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1282700"/>
                  </a:lnTo>
                  <a:lnTo>
                    <a:pt x="0" y="12827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311" r="0" b="-38638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9525"/>
              <a:ext cx="7437120" cy="12731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99"/>
                </a:lnSpc>
              </a:pPr>
              <a:r>
                <a:rPr lang="en-US" sz="2499" b="true">
                  <a:solidFill>
                    <a:srgbClr val="1F29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서비스 = 조립 루트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2274303" y="7152208"/>
            <a:ext cx="5541264" cy="644500"/>
            <a:chOff x="0" y="0"/>
            <a:chExt cx="7388352" cy="859333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7388352" cy="859333"/>
            </a:xfrm>
            <a:custGeom>
              <a:avLst/>
              <a:gdLst/>
              <a:ahLst/>
              <a:cxnLst/>
              <a:rect r="r" b="b" t="t" l="l"/>
              <a:pathLst>
                <a:path h="859333" w="7388352">
                  <a:moveTo>
                    <a:pt x="0" y="0"/>
                  </a:moveTo>
                  <a:lnTo>
                    <a:pt x="7388352" y="0"/>
                  </a:lnTo>
                  <a:lnTo>
                    <a:pt x="7388352" y="859333"/>
                  </a:lnTo>
                  <a:lnTo>
                    <a:pt x="0" y="85933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314" r="0" b="-98741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9525"/>
              <a:ext cx="7388352" cy="8688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15"/>
                </a:lnSpc>
              </a:pPr>
              <a:r>
                <a:rPr lang="en-US" sz="1679">
                  <a:solidFill>
                    <a:srgbClr val="4B5563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api_server · execution_engine · frontend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8569952" y="2456183"/>
            <a:ext cx="8803643" cy="5530091"/>
            <a:chOff x="0" y="0"/>
            <a:chExt cx="11738191" cy="7373455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11738102" cy="7373366"/>
            </a:xfrm>
            <a:custGeom>
              <a:avLst/>
              <a:gdLst/>
              <a:ahLst/>
              <a:cxnLst/>
              <a:rect r="r" b="b" t="t" l="l"/>
              <a:pathLst>
                <a:path h="7373366" w="11738102">
                  <a:moveTo>
                    <a:pt x="0" y="171450"/>
                  </a:moveTo>
                  <a:cubicBezTo>
                    <a:pt x="0" y="76835"/>
                    <a:pt x="76835" y="0"/>
                    <a:pt x="171450" y="0"/>
                  </a:cubicBezTo>
                  <a:lnTo>
                    <a:pt x="11566652" y="0"/>
                  </a:lnTo>
                  <a:cubicBezTo>
                    <a:pt x="11661394" y="0"/>
                    <a:pt x="11738102" y="76835"/>
                    <a:pt x="11738102" y="171450"/>
                  </a:cubicBezTo>
                  <a:lnTo>
                    <a:pt x="11738102" y="7201916"/>
                  </a:lnTo>
                  <a:cubicBezTo>
                    <a:pt x="11738102" y="7296658"/>
                    <a:pt x="11661267" y="7373366"/>
                    <a:pt x="11566652" y="7373366"/>
                  </a:cubicBezTo>
                  <a:lnTo>
                    <a:pt x="171450" y="7373366"/>
                  </a:lnTo>
                  <a:cubicBezTo>
                    <a:pt x="76708" y="7373366"/>
                    <a:pt x="0" y="7296531"/>
                    <a:pt x="0" y="7201916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ECEEF1"/>
              </a:solidFill>
              <a:prstDash val="solid"/>
              <a:miter/>
            </a:ln>
          </p:spPr>
        </p:sp>
      </p:grpSp>
      <p:grpSp>
        <p:nvGrpSpPr>
          <p:cNvPr name="Group 69" id="69"/>
          <p:cNvGrpSpPr/>
          <p:nvPr/>
        </p:nvGrpSpPr>
        <p:grpSpPr>
          <a:xfrm rot="0">
            <a:off x="9593956" y="2570607"/>
            <a:ext cx="7863840" cy="691896"/>
            <a:chOff x="0" y="0"/>
            <a:chExt cx="10485120" cy="922528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10485120" cy="922528"/>
            </a:xfrm>
            <a:custGeom>
              <a:avLst/>
              <a:gdLst/>
              <a:ahLst/>
              <a:cxnLst/>
              <a:rect r="r" b="b" t="t" l="l"/>
              <a:pathLst>
                <a:path h="922528" w="10485120">
                  <a:moveTo>
                    <a:pt x="0" y="0"/>
                  </a:moveTo>
                  <a:lnTo>
                    <a:pt x="10485120" y="0"/>
                  </a:lnTo>
                  <a:lnTo>
                    <a:pt x="10485120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9741" r="0" b="-153177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0"/>
              <a:ext cx="10485120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00">
                  <a:solidFill>
                    <a:srgbClr val="1F29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DEPENDENCY RULE — 의존성은 안쪽으로만 (위반 금지)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0774037" y="3256902"/>
            <a:ext cx="4420867" cy="836419"/>
            <a:chOff x="0" y="0"/>
            <a:chExt cx="5894489" cy="1115225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5894451" cy="1115187"/>
            </a:xfrm>
            <a:custGeom>
              <a:avLst/>
              <a:gdLst/>
              <a:ahLst/>
              <a:cxnLst/>
              <a:rect r="r" b="b" t="t" l="l"/>
              <a:pathLst>
                <a:path h="1115187" w="5894451">
                  <a:moveTo>
                    <a:pt x="0" y="126746"/>
                  </a:moveTo>
                  <a:cubicBezTo>
                    <a:pt x="0" y="56769"/>
                    <a:pt x="56769" y="0"/>
                    <a:pt x="126746" y="0"/>
                  </a:cubicBezTo>
                  <a:lnTo>
                    <a:pt x="5767705" y="0"/>
                  </a:lnTo>
                  <a:cubicBezTo>
                    <a:pt x="5837682" y="0"/>
                    <a:pt x="5894451" y="56769"/>
                    <a:pt x="5894451" y="126746"/>
                  </a:cubicBezTo>
                  <a:lnTo>
                    <a:pt x="5894451" y="988441"/>
                  </a:lnTo>
                  <a:cubicBezTo>
                    <a:pt x="5894451" y="1058418"/>
                    <a:pt x="5837682" y="1115187"/>
                    <a:pt x="5767705" y="1115187"/>
                  </a:cubicBezTo>
                  <a:lnTo>
                    <a:pt x="126746" y="1115187"/>
                  </a:lnTo>
                  <a:cubicBezTo>
                    <a:pt x="56769" y="1115187"/>
                    <a:pt x="0" y="1058545"/>
                    <a:pt x="0" y="988441"/>
                  </a:cubicBezTo>
                  <a:close/>
                </a:path>
              </a:pathLst>
            </a:custGeom>
            <a:solidFill>
              <a:srgbClr val="FDEDE7"/>
            </a:solidFill>
            <a:ln w="31750" cap="sq">
              <a:solidFill>
                <a:srgbClr val="F0653E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10972795" y="3456432"/>
            <a:ext cx="475488" cy="475488"/>
            <a:chOff x="0" y="0"/>
            <a:chExt cx="633984" cy="633984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316992"/>
                  </a:moveTo>
                  <a:cubicBezTo>
                    <a:pt x="0" y="141859"/>
                    <a:pt x="141859" y="0"/>
                    <a:pt x="316992" y="0"/>
                  </a:cubicBezTo>
                  <a:cubicBezTo>
                    <a:pt x="492125" y="0"/>
                    <a:pt x="633984" y="141859"/>
                    <a:pt x="633984" y="316992"/>
                  </a:cubicBezTo>
                  <a:cubicBezTo>
                    <a:pt x="633984" y="492125"/>
                    <a:pt x="492125" y="633984"/>
                    <a:pt x="316992" y="633984"/>
                  </a:cubicBezTo>
                  <a:cubicBezTo>
                    <a:pt x="141859" y="633984"/>
                    <a:pt x="0" y="492125"/>
                    <a:pt x="0" y="316992"/>
                  </a:cubicBezTo>
                  <a:close/>
                </a:path>
              </a:pathLst>
            </a:custGeom>
            <a:solidFill>
              <a:srgbClr val="F0653E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1082523" y="3566160"/>
            <a:ext cx="256032" cy="256032"/>
            <a:chOff x="0" y="0"/>
            <a:chExt cx="341376" cy="341376"/>
          </a:xfrm>
        </p:grpSpPr>
        <p:sp>
          <p:nvSpPr>
            <p:cNvPr name="Freeform 77" id="77" descr="preencoded.png"/>
            <p:cNvSpPr/>
            <p:nvPr/>
          </p:nvSpPr>
          <p:spPr>
            <a:xfrm flipH="false" flipV="false" rot="0">
              <a:off x="0" y="0"/>
              <a:ext cx="341376" cy="341376"/>
            </a:xfrm>
            <a:custGeom>
              <a:avLst/>
              <a:gdLst/>
              <a:ahLst/>
              <a:cxnLst/>
              <a:rect r="r" b="b" t="t" l="l"/>
              <a:pathLst>
                <a:path h="341376" w="341376">
                  <a:moveTo>
                    <a:pt x="0" y="0"/>
                  </a:moveTo>
                  <a:lnTo>
                    <a:pt x="341376" y="0"/>
                  </a:lnTo>
                  <a:lnTo>
                    <a:pt x="341376" y="341376"/>
                  </a:lnTo>
                  <a:lnTo>
                    <a:pt x="0" y="341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1558011" y="3188075"/>
            <a:ext cx="3474720" cy="682447"/>
            <a:chOff x="0" y="0"/>
            <a:chExt cx="4632960" cy="90993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4632960" cy="909930"/>
            </a:xfrm>
            <a:custGeom>
              <a:avLst/>
              <a:gdLst/>
              <a:ahLst/>
              <a:cxnLst/>
              <a:rect r="r" b="b" t="t" l="l"/>
              <a:pathLst>
                <a:path h="909930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909930"/>
                  </a:lnTo>
                  <a:lnTo>
                    <a:pt x="0" y="9099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411" r="0" b="-26006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0"/>
              <a:ext cx="4632960" cy="909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12"/>
                </a:lnSpc>
              </a:pPr>
              <a:r>
                <a:rPr lang="en-US" sz="1760" b="true">
                  <a:solidFill>
                    <a:srgbClr val="1F29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common_schemas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1686027" y="3504814"/>
            <a:ext cx="3474720" cy="540258"/>
            <a:chOff x="0" y="0"/>
            <a:chExt cx="4632960" cy="720344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632960" cy="720344"/>
            </a:xfrm>
            <a:custGeom>
              <a:avLst/>
              <a:gdLst/>
              <a:ahLst/>
              <a:cxnLst/>
              <a:rect r="r" b="b" t="t" l="l"/>
              <a:pathLst>
                <a:path h="720344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720344"/>
                  </a:lnTo>
                  <a:lnTo>
                    <a:pt x="0" y="720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4854" r="0" b="-5578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9525"/>
              <a:ext cx="4632960" cy="71081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79"/>
                </a:lnSpc>
              </a:pPr>
              <a:r>
                <a:rPr lang="en-US" sz="1399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 안쪽(핵심) · Pydantic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2710155" y="4040876"/>
            <a:ext cx="548640" cy="497586"/>
            <a:chOff x="0" y="0"/>
            <a:chExt cx="731520" cy="663448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31520" cy="663448"/>
            </a:xfrm>
            <a:custGeom>
              <a:avLst/>
              <a:gdLst/>
              <a:ahLst/>
              <a:cxnLst/>
              <a:rect r="r" b="b" t="t" l="l"/>
              <a:pathLst>
                <a:path h="663448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663448"/>
                  </a:lnTo>
                  <a:lnTo>
                    <a:pt x="0" y="6634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" r="0" b="57382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0"/>
              <a:ext cx="731520" cy="6634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▲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10298549" y="4198734"/>
            <a:ext cx="5371843" cy="836419"/>
            <a:chOff x="0" y="0"/>
            <a:chExt cx="7162457" cy="1115225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162419" cy="1115187"/>
            </a:xfrm>
            <a:custGeom>
              <a:avLst/>
              <a:gdLst/>
              <a:ahLst/>
              <a:cxnLst/>
              <a:rect r="r" b="b" t="t" l="l"/>
              <a:pathLst>
                <a:path h="1115187" w="7162419">
                  <a:moveTo>
                    <a:pt x="0" y="126746"/>
                  </a:moveTo>
                  <a:cubicBezTo>
                    <a:pt x="0" y="56769"/>
                    <a:pt x="56769" y="0"/>
                    <a:pt x="126746" y="0"/>
                  </a:cubicBezTo>
                  <a:lnTo>
                    <a:pt x="7035673" y="0"/>
                  </a:lnTo>
                  <a:cubicBezTo>
                    <a:pt x="7105650" y="0"/>
                    <a:pt x="7162419" y="56769"/>
                    <a:pt x="7162419" y="126746"/>
                  </a:cubicBezTo>
                  <a:lnTo>
                    <a:pt x="7162419" y="988441"/>
                  </a:lnTo>
                  <a:cubicBezTo>
                    <a:pt x="7162419" y="1058418"/>
                    <a:pt x="7105650" y="1115187"/>
                    <a:pt x="7035673" y="1115187"/>
                  </a:cubicBezTo>
                  <a:lnTo>
                    <a:pt x="126746" y="1115187"/>
                  </a:lnTo>
                  <a:cubicBezTo>
                    <a:pt x="56769" y="1115187"/>
                    <a:pt x="0" y="1058545"/>
                    <a:pt x="0" y="988441"/>
                  </a:cubicBezTo>
                  <a:close/>
                </a:path>
              </a:pathLst>
            </a:custGeom>
            <a:solidFill>
              <a:srgbClr val="EEE9FB"/>
            </a:solidFill>
            <a:ln w="31750" cap="sq">
              <a:solidFill>
                <a:srgbClr val="8B5CF6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10497307" y="4407265"/>
            <a:ext cx="475488" cy="475488"/>
            <a:chOff x="0" y="0"/>
            <a:chExt cx="633984" cy="633984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316992"/>
                  </a:moveTo>
                  <a:cubicBezTo>
                    <a:pt x="0" y="141859"/>
                    <a:pt x="141859" y="0"/>
                    <a:pt x="316992" y="0"/>
                  </a:cubicBezTo>
                  <a:cubicBezTo>
                    <a:pt x="492125" y="0"/>
                    <a:pt x="633984" y="141859"/>
                    <a:pt x="633984" y="316992"/>
                  </a:cubicBezTo>
                  <a:cubicBezTo>
                    <a:pt x="633984" y="492125"/>
                    <a:pt x="492125" y="633984"/>
                    <a:pt x="316992" y="633984"/>
                  </a:cubicBezTo>
                  <a:cubicBezTo>
                    <a:pt x="141859" y="633984"/>
                    <a:pt x="0" y="492125"/>
                    <a:pt x="0" y="316992"/>
                  </a:cubicBez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91" id="91"/>
          <p:cNvGrpSpPr/>
          <p:nvPr/>
        </p:nvGrpSpPr>
        <p:grpSpPr>
          <a:xfrm rot="0">
            <a:off x="10607035" y="4516993"/>
            <a:ext cx="256032" cy="256032"/>
            <a:chOff x="0" y="0"/>
            <a:chExt cx="341376" cy="341376"/>
          </a:xfrm>
        </p:grpSpPr>
        <p:sp>
          <p:nvSpPr>
            <p:cNvPr name="Freeform 92" id="92" descr="preencoded.png"/>
            <p:cNvSpPr/>
            <p:nvPr/>
          </p:nvSpPr>
          <p:spPr>
            <a:xfrm flipH="false" flipV="false" rot="0">
              <a:off x="0" y="0"/>
              <a:ext cx="341376" cy="341376"/>
            </a:xfrm>
            <a:custGeom>
              <a:avLst/>
              <a:gdLst/>
              <a:ahLst/>
              <a:cxnLst/>
              <a:rect r="r" b="b" t="t" l="l"/>
              <a:pathLst>
                <a:path h="341376" w="341376">
                  <a:moveTo>
                    <a:pt x="0" y="0"/>
                  </a:moveTo>
                  <a:lnTo>
                    <a:pt x="341376" y="0"/>
                  </a:lnTo>
                  <a:lnTo>
                    <a:pt x="341376" y="341376"/>
                  </a:lnTo>
                  <a:lnTo>
                    <a:pt x="0" y="341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11210539" y="4149847"/>
            <a:ext cx="4425696" cy="682447"/>
            <a:chOff x="0" y="0"/>
            <a:chExt cx="5900928" cy="90993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5900928" cy="909930"/>
            </a:xfrm>
            <a:custGeom>
              <a:avLst/>
              <a:gdLst/>
              <a:ahLst/>
              <a:cxnLst/>
              <a:rect r="r" b="b" t="t" l="l"/>
              <a:pathLst>
                <a:path h="909930" w="5900928">
                  <a:moveTo>
                    <a:pt x="0" y="0"/>
                  </a:moveTo>
                  <a:lnTo>
                    <a:pt x="5900928" y="0"/>
                  </a:lnTo>
                  <a:lnTo>
                    <a:pt x="5900928" y="909930"/>
                  </a:lnTo>
                  <a:lnTo>
                    <a:pt x="0" y="9099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9563" r="0" b="-53158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0"/>
              <a:ext cx="5900928" cy="909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12"/>
                </a:lnSpc>
              </a:pPr>
              <a:r>
                <a:rPr lang="en-US" sz="1760" b="true">
                  <a:solidFill>
                    <a:srgbClr val="1F29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modules/*/domain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11210539" y="4479031"/>
            <a:ext cx="4425696" cy="540258"/>
            <a:chOff x="0" y="0"/>
            <a:chExt cx="5900928" cy="720344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5900928" cy="720344"/>
            </a:xfrm>
            <a:custGeom>
              <a:avLst/>
              <a:gdLst/>
              <a:ahLst/>
              <a:cxnLst/>
              <a:rect r="r" b="b" t="t" l="l"/>
              <a:pathLst>
                <a:path h="720344" w="5900928">
                  <a:moveTo>
                    <a:pt x="0" y="0"/>
                  </a:moveTo>
                  <a:lnTo>
                    <a:pt x="5900928" y="0"/>
                  </a:lnTo>
                  <a:lnTo>
                    <a:pt x="5900928" y="720344"/>
                  </a:lnTo>
                  <a:lnTo>
                    <a:pt x="0" y="720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9152" r="0" b="-9008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9525"/>
              <a:ext cx="5900928" cy="71081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79"/>
                </a:lnSpc>
              </a:pPr>
              <a:r>
                <a:rPr lang="en-US" sz="1399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+ 자기 도메인</a:t>
              </a:r>
            </a:p>
          </p:txBody>
        </p:sp>
      </p:grpSp>
      <p:grpSp>
        <p:nvGrpSpPr>
          <p:cNvPr name="Group 99" id="99"/>
          <p:cNvGrpSpPr/>
          <p:nvPr/>
        </p:nvGrpSpPr>
        <p:grpSpPr>
          <a:xfrm rot="0">
            <a:off x="12710155" y="4982708"/>
            <a:ext cx="548640" cy="497586"/>
            <a:chOff x="0" y="0"/>
            <a:chExt cx="731520" cy="663448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731520" cy="663448"/>
            </a:xfrm>
            <a:custGeom>
              <a:avLst/>
              <a:gdLst/>
              <a:ahLst/>
              <a:cxnLst/>
              <a:rect r="r" b="b" t="t" l="l"/>
              <a:pathLst>
                <a:path h="663448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663448"/>
                  </a:lnTo>
                  <a:lnTo>
                    <a:pt x="0" y="6634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" r="0" b="57382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0"/>
              <a:ext cx="731520" cy="6634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▲</a:t>
              </a:r>
            </a:p>
          </p:txBody>
        </p:sp>
      </p:grpSp>
      <p:grpSp>
        <p:nvGrpSpPr>
          <p:cNvPr name="Group 102" id="102"/>
          <p:cNvGrpSpPr/>
          <p:nvPr/>
        </p:nvGrpSpPr>
        <p:grpSpPr>
          <a:xfrm rot="0">
            <a:off x="9823061" y="5140566"/>
            <a:ext cx="6322819" cy="836419"/>
            <a:chOff x="0" y="0"/>
            <a:chExt cx="8430425" cy="1115225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8430387" cy="1115187"/>
            </a:xfrm>
            <a:custGeom>
              <a:avLst/>
              <a:gdLst/>
              <a:ahLst/>
              <a:cxnLst/>
              <a:rect r="r" b="b" t="t" l="l"/>
              <a:pathLst>
                <a:path h="1115187" w="8430387">
                  <a:moveTo>
                    <a:pt x="0" y="126746"/>
                  </a:moveTo>
                  <a:cubicBezTo>
                    <a:pt x="0" y="56769"/>
                    <a:pt x="56769" y="0"/>
                    <a:pt x="126746" y="0"/>
                  </a:cubicBezTo>
                  <a:lnTo>
                    <a:pt x="8303641" y="0"/>
                  </a:lnTo>
                  <a:cubicBezTo>
                    <a:pt x="8373618" y="0"/>
                    <a:pt x="8430387" y="56769"/>
                    <a:pt x="8430387" y="126746"/>
                  </a:cubicBezTo>
                  <a:lnTo>
                    <a:pt x="8430387" y="988441"/>
                  </a:lnTo>
                  <a:cubicBezTo>
                    <a:pt x="8430387" y="1058418"/>
                    <a:pt x="8373618" y="1115187"/>
                    <a:pt x="8303641" y="1115187"/>
                  </a:cubicBezTo>
                  <a:lnTo>
                    <a:pt x="126746" y="1115187"/>
                  </a:lnTo>
                  <a:cubicBezTo>
                    <a:pt x="56769" y="1115187"/>
                    <a:pt x="0" y="1058545"/>
                    <a:pt x="0" y="988441"/>
                  </a:cubicBezTo>
                  <a:close/>
                </a:path>
              </a:pathLst>
            </a:custGeom>
            <a:solidFill>
              <a:srgbClr val="E8F0FE"/>
            </a:solidFill>
            <a:ln w="31750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104" id="104"/>
          <p:cNvGrpSpPr/>
          <p:nvPr/>
        </p:nvGrpSpPr>
        <p:grpSpPr>
          <a:xfrm rot="0">
            <a:off x="10021819" y="5349240"/>
            <a:ext cx="475488" cy="475488"/>
            <a:chOff x="0" y="0"/>
            <a:chExt cx="633984" cy="633984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316992"/>
                  </a:moveTo>
                  <a:cubicBezTo>
                    <a:pt x="0" y="141859"/>
                    <a:pt x="141859" y="0"/>
                    <a:pt x="316992" y="0"/>
                  </a:cubicBezTo>
                  <a:cubicBezTo>
                    <a:pt x="492125" y="0"/>
                    <a:pt x="633984" y="141859"/>
                    <a:pt x="633984" y="316992"/>
                  </a:cubicBezTo>
                  <a:cubicBezTo>
                    <a:pt x="633984" y="492125"/>
                    <a:pt x="492125" y="633984"/>
                    <a:pt x="316992" y="633984"/>
                  </a:cubicBezTo>
                  <a:cubicBezTo>
                    <a:pt x="141859" y="633984"/>
                    <a:pt x="0" y="492125"/>
                    <a:pt x="0" y="316992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</p:grpSp>
      <p:grpSp>
        <p:nvGrpSpPr>
          <p:cNvPr name="Group 106" id="106"/>
          <p:cNvGrpSpPr/>
          <p:nvPr/>
        </p:nvGrpSpPr>
        <p:grpSpPr>
          <a:xfrm rot="0">
            <a:off x="10131547" y="5458968"/>
            <a:ext cx="256032" cy="256032"/>
            <a:chOff x="0" y="0"/>
            <a:chExt cx="341376" cy="341376"/>
          </a:xfrm>
        </p:grpSpPr>
        <p:sp>
          <p:nvSpPr>
            <p:cNvPr name="Freeform 107" id="107" descr="preencoded.png"/>
            <p:cNvSpPr/>
            <p:nvPr/>
          </p:nvSpPr>
          <p:spPr>
            <a:xfrm flipH="false" flipV="false" rot="0">
              <a:off x="0" y="0"/>
              <a:ext cx="341376" cy="341376"/>
            </a:xfrm>
            <a:custGeom>
              <a:avLst/>
              <a:gdLst/>
              <a:ahLst/>
              <a:cxnLst/>
              <a:rect r="r" b="b" t="t" l="l"/>
              <a:pathLst>
                <a:path h="341376" w="341376">
                  <a:moveTo>
                    <a:pt x="0" y="0"/>
                  </a:moveTo>
                  <a:lnTo>
                    <a:pt x="341376" y="0"/>
                  </a:lnTo>
                  <a:lnTo>
                    <a:pt x="341376" y="341376"/>
                  </a:lnTo>
                  <a:lnTo>
                    <a:pt x="0" y="341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08" id="108"/>
          <p:cNvGrpSpPr/>
          <p:nvPr/>
        </p:nvGrpSpPr>
        <p:grpSpPr>
          <a:xfrm rot="0">
            <a:off x="10735051" y="5092303"/>
            <a:ext cx="5376672" cy="682447"/>
            <a:chOff x="0" y="0"/>
            <a:chExt cx="7168896" cy="90993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7168896" cy="909930"/>
            </a:xfrm>
            <a:custGeom>
              <a:avLst/>
              <a:gdLst/>
              <a:ahLst/>
              <a:cxnLst/>
              <a:rect r="r" b="b" t="t" l="l"/>
              <a:pathLst>
                <a:path h="909930" w="7168896">
                  <a:moveTo>
                    <a:pt x="0" y="0"/>
                  </a:moveTo>
                  <a:lnTo>
                    <a:pt x="7168896" y="0"/>
                  </a:lnTo>
                  <a:lnTo>
                    <a:pt x="7168896" y="909930"/>
                  </a:lnTo>
                  <a:lnTo>
                    <a:pt x="0" y="9099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715" r="0" b="-80310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0"/>
              <a:ext cx="7168896" cy="909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12"/>
                </a:lnSpc>
              </a:pPr>
              <a:r>
                <a:rPr lang="en-US" sz="1760" b="true">
                  <a:solidFill>
                    <a:srgbClr val="1F29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modules/*/application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0735051" y="5421487"/>
            <a:ext cx="5376672" cy="540258"/>
            <a:chOff x="0" y="0"/>
            <a:chExt cx="7168896" cy="720344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7168896" cy="720344"/>
            </a:xfrm>
            <a:custGeom>
              <a:avLst/>
              <a:gdLst/>
              <a:ahLst/>
              <a:cxnLst/>
              <a:rect r="r" b="b" t="t" l="l"/>
              <a:pathLst>
                <a:path h="720344" w="7168896">
                  <a:moveTo>
                    <a:pt x="0" y="0"/>
                  </a:moveTo>
                  <a:lnTo>
                    <a:pt x="7168896" y="0"/>
                  </a:lnTo>
                  <a:lnTo>
                    <a:pt x="7168896" y="720344"/>
                  </a:lnTo>
                  <a:lnTo>
                    <a:pt x="0" y="720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450" r="0" b="-124381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9525"/>
              <a:ext cx="7168896" cy="71081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79"/>
                </a:lnSpc>
              </a:pPr>
              <a:r>
                <a:rPr lang="en-US" sz="1399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domain + Port ABC</a:t>
              </a: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12710155" y="5924540"/>
            <a:ext cx="548640" cy="497586"/>
            <a:chOff x="0" y="0"/>
            <a:chExt cx="731520" cy="6634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731520" cy="663448"/>
            </a:xfrm>
            <a:custGeom>
              <a:avLst/>
              <a:gdLst/>
              <a:ahLst/>
              <a:cxnLst/>
              <a:rect r="r" b="b" t="t" l="l"/>
              <a:pathLst>
                <a:path h="663448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663448"/>
                  </a:lnTo>
                  <a:lnTo>
                    <a:pt x="0" y="6634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" r="0" b="57382"/>
              </a:stretch>
            </a:blipFill>
          </p:spPr>
        </p:sp>
        <p:sp>
          <p:nvSpPr>
            <p:cNvPr name="TextBox 116" id="116"/>
            <p:cNvSpPr txBox="true"/>
            <p:nvPr/>
          </p:nvSpPr>
          <p:spPr>
            <a:xfrm>
              <a:off x="0" y="0"/>
              <a:ext cx="731520" cy="6634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▲</a:t>
              </a: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9347573" y="6082398"/>
            <a:ext cx="7273795" cy="836419"/>
            <a:chOff x="0" y="0"/>
            <a:chExt cx="9698393" cy="1115225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9698482" cy="1115187"/>
            </a:xfrm>
            <a:custGeom>
              <a:avLst/>
              <a:gdLst/>
              <a:ahLst/>
              <a:cxnLst/>
              <a:rect r="r" b="b" t="t" l="l"/>
              <a:pathLst>
                <a:path h="1115187" w="9698482">
                  <a:moveTo>
                    <a:pt x="0" y="126746"/>
                  </a:moveTo>
                  <a:cubicBezTo>
                    <a:pt x="0" y="56769"/>
                    <a:pt x="56769" y="0"/>
                    <a:pt x="126746" y="0"/>
                  </a:cubicBezTo>
                  <a:lnTo>
                    <a:pt x="9571736" y="0"/>
                  </a:lnTo>
                  <a:cubicBezTo>
                    <a:pt x="9641713" y="0"/>
                    <a:pt x="9698482" y="56769"/>
                    <a:pt x="9698482" y="126746"/>
                  </a:cubicBezTo>
                  <a:lnTo>
                    <a:pt x="9698482" y="988441"/>
                  </a:lnTo>
                  <a:cubicBezTo>
                    <a:pt x="9698482" y="1058418"/>
                    <a:pt x="9641713" y="1115187"/>
                    <a:pt x="9571736" y="1115187"/>
                  </a:cubicBezTo>
                  <a:lnTo>
                    <a:pt x="126746" y="1115187"/>
                  </a:lnTo>
                  <a:cubicBezTo>
                    <a:pt x="56769" y="1115187"/>
                    <a:pt x="0" y="1058545"/>
                    <a:pt x="0" y="988441"/>
                  </a:cubicBezTo>
                  <a:close/>
                </a:path>
              </a:pathLst>
            </a:custGeom>
            <a:solidFill>
              <a:srgbClr val="E6F7F4"/>
            </a:solidFill>
            <a:ln w="31750" cap="sq">
              <a:solidFill>
                <a:srgbClr val="14B8A6"/>
              </a:solidFill>
              <a:prstDash val="solid"/>
              <a:miter/>
            </a:ln>
          </p:spPr>
        </p:sp>
      </p:grpSp>
      <p:grpSp>
        <p:nvGrpSpPr>
          <p:cNvPr name="Group 119" id="119"/>
          <p:cNvGrpSpPr/>
          <p:nvPr/>
        </p:nvGrpSpPr>
        <p:grpSpPr>
          <a:xfrm rot="0">
            <a:off x="9546331" y="6306169"/>
            <a:ext cx="475488" cy="475488"/>
            <a:chOff x="0" y="0"/>
            <a:chExt cx="633984" cy="633984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316992"/>
                  </a:moveTo>
                  <a:cubicBezTo>
                    <a:pt x="0" y="141859"/>
                    <a:pt x="141859" y="0"/>
                    <a:pt x="316992" y="0"/>
                  </a:cubicBezTo>
                  <a:cubicBezTo>
                    <a:pt x="492125" y="0"/>
                    <a:pt x="633984" y="141859"/>
                    <a:pt x="633984" y="316992"/>
                  </a:cubicBezTo>
                  <a:cubicBezTo>
                    <a:pt x="633984" y="492125"/>
                    <a:pt x="492125" y="633984"/>
                    <a:pt x="316992" y="633984"/>
                  </a:cubicBezTo>
                  <a:cubicBezTo>
                    <a:pt x="141859" y="633984"/>
                    <a:pt x="0" y="492125"/>
                    <a:pt x="0" y="316992"/>
                  </a:cubicBezTo>
                  <a:close/>
                </a:path>
              </a:pathLst>
            </a:custGeom>
            <a:solidFill>
              <a:srgbClr val="14B8A6"/>
            </a:solidFill>
          </p:spPr>
        </p:sp>
      </p:grpSp>
      <p:grpSp>
        <p:nvGrpSpPr>
          <p:cNvPr name="Group 121" id="121"/>
          <p:cNvGrpSpPr/>
          <p:nvPr/>
        </p:nvGrpSpPr>
        <p:grpSpPr>
          <a:xfrm rot="0">
            <a:off x="9656059" y="6415897"/>
            <a:ext cx="256032" cy="256032"/>
            <a:chOff x="0" y="0"/>
            <a:chExt cx="341376" cy="341376"/>
          </a:xfrm>
        </p:grpSpPr>
        <p:sp>
          <p:nvSpPr>
            <p:cNvPr name="Freeform 122" id="122" descr="preencoded.png"/>
            <p:cNvSpPr/>
            <p:nvPr/>
          </p:nvSpPr>
          <p:spPr>
            <a:xfrm flipH="false" flipV="false" rot="0">
              <a:off x="0" y="0"/>
              <a:ext cx="341376" cy="341376"/>
            </a:xfrm>
            <a:custGeom>
              <a:avLst/>
              <a:gdLst/>
              <a:ahLst/>
              <a:cxnLst/>
              <a:rect r="r" b="b" t="t" l="l"/>
              <a:pathLst>
                <a:path h="341376" w="341376">
                  <a:moveTo>
                    <a:pt x="0" y="0"/>
                  </a:moveTo>
                  <a:lnTo>
                    <a:pt x="341376" y="0"/>
                  </a:lnTo>
                  <a:lnTo>
                    <a:pt x="341376" y="341376"/>
                  </a:lnTo>
                  <a:lnTo>
                    <a:pt x="0" y="341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123" id="123"/>
          <p:cNvGrpSpPr/>
          <p:nvPr/>
        </p:nvGrpSpPr>
        <p:grpSpPr>
          <a:xfrm rot="0">
            <a:off x="10259563" y="6034135"/>
            <a:ext cx="6327648" cy="682447"/>
            <a:chOff x="0" y="0"/>
            <a:chExt cx="8436864" cy="909930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8436864" cy="909930"/>
            </a:xfrm>
            <a:custGeom>
              <a:avLst/>
              <a:gdLst/>
              <a:ahLst/>
              <a:cxnLst/>
              <a:rect r="r" b="b" t="t" l="l"/>
              <a:pathLst>
                <a:path h="909930" w="8436864">
                  <a:moveTo>
                    <a:pt x="0" y="0"/>
                  </a:moveTo>
                  <a:lnTo>
                    <a:pt x="8436864" y="0"/>
                  </a:lnTo>
                  <a:lnTo>
                    <a:pt x="8436864" y="909930"/>
                  </a:lnTo>
                  <a:lnTo>
                    <a:pt x="0" y="9099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3867" r="0" b="-10746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0"/>
              <a:ext cx="8436864" cy="909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12"/>
                </a:lnSpc>
              </a:pPr>
              <a:r>
                <a:rPr lang="en-US" sz="1760" b="true">
                  <a:solidFill>
                    <a:srgbClr val="1F29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modules/*/adapters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0259563" y="6363319"/>
            <a:ext cx="6327648" cy="540258"/>
            <a:chOff x="0" y="0"/>
            <a:chExt cx="8436864" cy="720344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8436864" cy="720344"/>
            </a:xfrm>
            <a:custGeom>
              <a:avLst/>
              <a:gdLst/>
              <a:ahLst/>
              <a:cxnLst/>
              <a:rect r="r" b="b" t="t" l="l"/>
              <a:pathLst>
                <a:path h="720344" w="8436864">
                  <a:moveTo>
                    <a:pt x="0" y="0"/>
                  </a:moveTo>
                  <a:lnTo>
                    <a:pt x="8436864" y="0"/>
                  </a:lnTo>
                  <a:lnTo>
                    <a:pt x="8436864" y="720344"/>
                  </a:lnTo>
                  <a:lnTo>
                    <a:pt x="0" y="720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7748" r="0" b="-158679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9525"/>
              <a:ext cx="8436864" cy="71081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79"/>
                </a:lnSpc>
              </a:pPr>
              <a:r>
                <a:rPr lang="en-US" sz="1399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Port 구현 + 외부 lib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2710155" y="6866372"/>
            <a:ext cx="548640" cy="497586"/>
            <a:chOff x="0" y="0"/>
            <a:chExt cx="731520" cy="6634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731520" cy="663448"/>
            </a:xfrm>
            <a:custGeom>
              <a:avLst/>
              <a:gdLst/>
              <a:ahLst/>
              <a:cxnLst/>
              <a:rect r="r" b="b" t="t" l="l"/>
              <a:pathLst>
                <a:path h="663448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663448"/>
                  </a:lnTo>
                  <a:lnTo>
                    <a:pt x="0" y="6634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" r="0" b="57382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0"/>
              <a:ext cx="731520" cy="6634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▲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8872085" y="7024230"/>
            <a:ext cx="8224771" cy="836419"/>
            <a:chOff x="0" y="0"/>
            <a:chExt cx="10966361" cy="1115225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10966323" cy="1115187"/>
            </a:xfrm>
            <a:custGeom>
              <a:avLst/>
              <a:gdLst/>
              <a:ahLst/>
              <a:cxnLst/>
              <a:rect r="r" b="b" t="t" l="l"/>
              <a:pathLst>
                <a:path h="1115187" w="10966323">
                  <a:moveTo>
                    <a:pt x="0" y="126746"/>
                  </a:moveTo>
                  <a:cubicBezTo>
                    <a:pt x="0" y="56769"/>
                    <a:pt x="56769" y="0"/>
                    <a:pt x="126746" y="0"/>
                  </a:cubicBezTo>
                  <a:lnTo>
                    <a:pt x="10839577" y="0"/>
                  </a:lnTo>
                  <a:cubicBezTo>
                    <a:pt x="10909554" y="0"/>
                    <a:pt x="10966323" y="56769"/>
                    <a:pt x="10966323" y="126746"/>
                  </a:cubicBezTo>
                  <a:lnTo>
                    <a:pt x="10966323" y="988441"/>
                  </a:lnTo>
                  <a:cubicBezTo>
                    <a:pt x="10966323" y="1058418"/>
                    <a:pt x="10909554" y="1115187"/>
                    <a:pt x="10839577" y="1115187"/>
                  </a:cubicBezTo>
                  <a:lnTo>
                    <a:pt x="126746" y="1115187"/>
                  </a:lnTo>
                  <a:cubicBezTo>
                    <a:pt x="56769" y="1115187"/>
                    <a:pt x="0" y="1058545"/>
                    <a:pt x="0" y="988441"/>
                  </a:cubicBezTo>
                  <a:close/>
                </a:path>
              </a:pathLst>
            </a:custGeom>
            <a:solidFill>
              <a:srgbClr val="E7F6EE"/>
            </a:solidFill>
            <a:ln w="31750" cap="sq">
              <a:solidFill>
                <a:srgbClr val="22A55E"/>
              </a:solidFill>
              <a:prstDash val="solid"/>
              <a:miter/>
            </a:ln>
          </p:spPr>
        </p:sp>
      </p:grpSp>
      <p:grpSp>
        <p:nvGrpSpPr>
          <p:cNvPr name="Group 134" id="134"/>
          <p:cNvGrpSpPr/>
          <p:nvPr/>
        </p:nvGrpSpPr>
        <p:grpSpPr>
          <a:xfrm rot="0">
            <a:off x="9070843" y="7232904"/>
            <a:ext cx="475488" cy="475488"/>
            <a:chOff x="0" y="0"/>
            <a:chExt cx="633984" cy="633984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633984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">
                  <a:moveTo>
                    <a:pt x="0" y="316992"/>
                  </a:moveTo>
                  <a:cubicBezTo>
                    <a:pt x="0" y="141859"/>
                    <a:pt x="141859" y="0"/>
                    <a:pt x="316992" y="0"/>
                  </a:cubicBezTo>
                  <a:cubicBezTo>
                    <a:pt x="492125" y="0"/>
                    <a:pt x="633984" y="141859"/>
                    <a:pt x="633984" y="316992"/>
                  </a:cubicBezTo>
                  <a:cubicBezTo>
                    <a:pt x="633984" y="492125"/>
                    <a:pt x="492125" y="633984"/>
                    <a:pt x="316992" y="633984"/>
                  </a:cubicBezTo>
                  <a:cubicBezTo>
                    <a:pt x="141859" y="633984"/>
                    <a:pt x="0" y="492125"/>
                    <a:pt x="0" y="316992"/>
                  </a:cubicBezTo>
                  <a:close/>
                </a:path>
              </a:pathLst>
            </a:custGeom>
            <a:solidFill>
              <a:srgbClr val="22A55E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180571" y="7346442"/>
            <a:ext cx="256032" cy="256032"/>
            <a:chOff x="0" y="0"/>
            <a:chExt cx="341376" cy="341376"/>
          </a:xfrm>
        </p:grpSpPr>
        <p:sp>
          <p:nvSpPr>
            <p:cNvPr name="Freeform 137" id="137" descr="preencoded.png"/>
            <p:cNvSpPr/>
            <p:nvPr/>
          </p:nvSpPr>
          <p:spPr>
            <a:xfrm flipH="false" flipV="false" rot="0">
              <a:off x="0" y="0"/>
              <a:ext cx="341376" cy="341376"/>
            </a:xfrm>
            <a:custGeom>
              <a:avLst/>
              <a:gdLst/>
              <a:ahLst/>
              <a:cxnLst/>
              <a:rect r="r" b="b" t="t" l="l"/>
              <a:pathLst>
                <a:path h="341376" w="341376">
                  <a:moveTo>
                    <a:pt x="0" y="0"/>
                  </a:moveTo>
                  <a:lnTo>
                    <a:pt x="341376" y="0"/>
                  </a:lnTo>
                  <a:lnTo>
                    <a:pt x="341376" y="341376"/>
                  </a:lnTo>
                  <a:lnTo>
                    <a:pt x="0" y="341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784075" y="6991207"/>
            <a:ext cx="7278624" cy="682447"/>
            <a:chOff x="0" y="0"/>
            <a:chExt cx="9704832" cy="909930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9704832" cy="909930"/>
            </a:xfrm>
            <a:custGeom>
              <a:avLst/>
              <a:gdLst/>
              <a:ahLst/>
              <a:cxnLst/>
              <a:rect r="r" b="b" t="t" l="l"/>
              <a:pathLst>
                <a:path h="909930" w="9704832">
                  <a:moveTo>
                    <a:pt x="0" y="0"/>
                  </a:moveTo>
                  <a:lnTo>
                    <a:pt x="9704832" y="0"/>
                  </a:lnTo>
                  <a:lnTo>
                    <a:pt x="9704832" y="909930"/>
                  </a:lnTo>
                  <a:lnTo>
                    <a:pt x="0" y="9099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1019" r="0" b="-134614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0"/>
              <a:ext cx="9704832" cy="909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12"/>
                </a:lnSpc>
              </a:pPr>
              <a:r>
                <a:rPr lang="en-US" sz="1760" b="true">
                  <a:solidFill>
                    <a:srgbClr val="1F29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services/ (Composition Root)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9784075" y="7320391"/>
            <a:ext cx="7278624" cy="540258"/>
            <a:chOff x="0" y="0"/>
            <a:chExt cx="9704832" cy="720344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9704832" cy="720344"/>
            </a:xfrm>
            <a:custGeom>
              <a:avLst/>
              <a:gdLst/>
              <a:ahLst/>
              <a:cxnLst/>
              <a:rect r="r" b="b" t="t" l="l"/>
              <a:pathLst>
                <a:path h="720344" w="9704832">
                  <a:moveTo>
                    <a:pt x="0" y="0"/>
                  </a:moveTo>
                  <a:lnTo>
                    <a:pt x="9704832" y="0"/>
                  </a:lnTo>
                  <a:lnTo>
                    <a:pt x="9704832" y="720344"/>
                  </a:lnTo>
                  <a:lnTo>
                    <a:pt x="0" y="720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2046" r="0" b="-19297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9525"/>
              <a:ext cx="9704832" cy="71081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79"/>
                </a:lnSpc>
              </a:pPr>
              <a:r>
                <a:rPr lang="en-US" sz="1399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api_server · execution_engine · frontend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914395" y="8174736"/>
            <a:ext cx="16459200" cy="914400"/>
            <a:chOff x="0" y="0"/>
            <a:chExt cx="21945600" cy="1219200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21945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2194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1799296" y="0"/>
                  </a:lnTo>
                  <a:cubicBezTo>
                    <a:pt x="21880068" y="0"/>
                    <a:pt x="21945600" y="65532"/>
                    <a:pt x="21945600" y="146304"/>
                  </a:cubicBezTo>
                  <a:lnTo>
                    <a:pt x="21945600" y="1072896"/>
                  </a:lnTo>
                  <a:cubicBezTo>
                    <a:pt x="21945600" y="1153668"/>
                    <a:pt x="21880068" y="1219200"/>
                    <a:pt x="21799296" y="1219200"/>
                  </a:cubicBezTo>
                  <a:lnTo>
                    <a:pt x="146304" y="1219200"/>
                  </a:lnTo>
                  <a:cubicBezTo>
                    <a:pt x="65532" y="1219200"/>
                    <a:pt x="0" y="1153668"/>
                    <a:pt x="0" y="1072896"/>
                  </a:cubicBezTo>
                  <a:close/>
                </a:path>
              </a:pathLst>
            </a:custGeom>
            <a:solidFill>
              <a:srgbClr val="FCEEE7"/>
            </a:solidFill>
          </p:spPr>
        </p:sp>
      </p:grpSp>
      <p:grpSp>
        <p:nvGrpSpPr>
          <p:cNvPr name="Group 146" id="146"/>
          <p:cNvGrpSpPr/>
          <p:nvPr/>
        </p:nvGrpSpPr>
        <p:grpSpPr>
          <a:xfrm rot="0">
            <a:off x="1353307" y="8467344"/>
            <a:ext cx="365760" cy="365760"/>
            <a:chOff x="0" y="0"/>
            <a:chExt cx="487680" cy="487680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487680" cy="487680"/>
            </a:xfrm>
            <a:custGeom>
              <a:avLst/>
              <a:gdLst/>
              <a:ahLst/>
              <a:cxnLst/>
              <a:rect r="r" b="b" t="t" l="l"/>
              <a:pathLst>
                <a:path h="487680" w="487680">
                  <a:moveTo>
                    <a:pt x="0" y="243840"/>
                  </a:moveTo>
                  <a:cubicBezTo>
                    <a:pt x="0" y="109220"/>
                    <a:pt x="109220" y="0"/>
                    <a:pt x="243840" y="0"/>
                  </a:cubicBezTo>
                  <a:cubicBezTo>
                    <a:pt x="378460" y="0"/>
                    <a:pt x="487680" y="109220"/>
                    <a:pt x="487680" y="243840"/>
                  </a:cubicBezTo>
                  <a:cubicBezTo>
                    <a:pt x="487680" y="378460"/>
                    <a:pt x="378460" y="487680"/>
                    <a:pt x="243840" y="487680"/>
                  </a:cubicBezTo>
                  <a:cubicBezTo>
                    <a:pt x="109220" y="487680"/>
                    <a:pt x="0" y="378460"/>
                    <a:pt x="0" y="243840"/>
                  </a:cubicBezTo>
                  <a:close/>
                </a:path>
              </a:pathLst>
            </a:custGeom>
            <a:solidFill>
              <a:srgbClr val="F0653E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920235" y="8174736"/>
            <a:ext cx="15179040" cy="914400"/>
            <a:chOff x="0" y="0"/>
            <a:chExt cx="20238720" cy="121920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0238720" cy="1219200"/>
            </a:xfrm>
            <a:custGeom>
              <a:avLst/>
              <a:gdLst/>
              <a:ahLst/>
              <a:cxnLst/>
              <a:rect r="r" b="b" t="t" l="l"/>
              <a:pathLst>
                <a:path h="1219200" w="20238720">
                  <a:moveTo>
                    <a:pt x="0" y="0"/>
                  </a:moveTo>
                  <a:lnTo>
                    <a:pt x="20238720" y="0"/>
                  </a:lnTo>
                  <a:lnTo>
                    <a:pt x="202387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451" r="0" b="-273451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0"/>
              <a:ext cx="20238720" cy="1219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6"/>
                </a:lnSpc>
              </a:pPr>
              <a:r>
                <a:rPr lang="en-US" sz="1880" b="true">
                  <a:solidFill>
                    <a:srgbClr val="F065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핵심 원칙   </a:t>
              </a:r>
              <a:r>
                <a:rPr lang="en-US" sz="1880">
                  <a:solidFill>
                    <a:srgbClr val="7A4A39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의존성은 항상 안쪽(common_schemas)으로만 → 모듈·LLM·DB 교체 시 핵심 로직 무변경, 테스트 용이</a:t>
              </a:r>
            </a:p>
          </p:txBody>
        </p:sp>
      </p:grpSp>
      <p:sp>
        <p:nvSpPr>
          <p:cNvPr name="TextBox 151" id="151"/>
          <p:cNvSpPr txBox="true"/>
          <p:nvPr/>
        </p:nvSpPr>
        <p:spPr>
          <a:xfrm rot="0">
            <a:off x="2180911" y="511178"/>
            <a:ext cx="327708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하네스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엔지니어링</a:t>
            </a:r>
          </a:p>
        </p:txBody>
      </p:sp>
      <p:sp>
        <p:nvSpPr>
          <p:cNvPr name="TextBox 152" id="152"/>
          <p:cNvSpPr txBox="true"/>
          <p:nvPr/>
        </p:nvSpPr>
        <p:spPr>
          <a:xfrm rot="0">
            <a:off x="15330973" y="511178"/>
            <a:ext cx="220011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시스템 아키텍처 명세</a:t>
            </a:r>
          </a:p>
        </p:txBody>
      </p:sp>
      <p:sp>
        <p:nvSpPr>
          <p:cNvPr name="TextBox 153" id="153"/>
          <p:cNvSpPr txBox="true"/>
          <p:nvPr/>
        </p:nvSpPr>
        <p:spPr>
          <a:xfrm rot="0">
            <a:off x="15585088" y="9459189"/>
            <a:ext cx="270291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2 — Ha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rness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02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180911" y="511178"/>
            <a:ext cx="150034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CI/CD · 배포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5330973" y="511178"/>
            <a:ext cx="220011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시스템 아키텍처 명세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87403" y="1111253"/>
            <a:ext cx="2328783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CI/CD · 배포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PR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게이트 통과 → 자동 배포 → 모노레포로 일관 관리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14 / 44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94250" y="9608820"/>
            <a:ext cx="17627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|  CI/CD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·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배포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585088" y="9459189"/>
            <a:ext cx="270291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2 — D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eploy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42890" y="2104602"/>
            <a:ext cx="8463915" cy="4074795"/>
            <a:chOff x="0" y="0"/>
            <a:chExt cx="11285220" cy="54330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285220" cy="5433060"/>
            </a:xfrm>
            <a:custGeom>
              <a:avLst/>
              <a:gdLst/>
              <a:ahLst/>
              <a:cxnLst/>
              <a:rect r="r" b="b" t="t" l="l"/>
              <a:pathLst>
                <a:path h="5433060" w="11285220">
                  <a:moveTo>
                    <a:pt x="0" y="147320"/>
                  </a:moveTo>
                  <a:cubicBezTo>
                    <a:pt x="0" y="65913"/>
                    <a:pt x="65913" y="0"/>
                    <a:pt x="147320" y="0"/>
                  </a:cubicBezTo>
                  <a:lnTo>
                    <a:pt x="11137900" y="0"/>
                  </a:lnTo>
                  <a:cubicBezTo>
                    <a:pt x="11219307" y="0"/>
                    <a:pt x="11285220" y="65913"/>
                    <a:pt x="11285220" y="147320"/>
                  </a:cubicBezTo>
                  <a:lnTo>
                    <a:pt x="11285220" y="5285740"/>
                  </a:lnTo>
                  <a:cubicBezTo>
                    <a:pt x="11285220" y="5367147"/>
                    <a:pt x="11219307" y="5433060"/>
                    <a:pt x="11137900" y="5433060"/>
                  </a:cubicBezTo>
                  <a:lnTo>
                    <a:pt x="147320" y="5433060"/>
                  </a:lnTo>
                  <a:cubicBezTo>
                    <a:pt x="65913" y="5433060"/>
                    <a:pt x="0" y="5367147"/>
                    <a:pt x="0" y="5285740"/>
                  </a:cubicBezTo>
                  <a:close/>
                </a:path>
              </a:pathLst>
            </a:custGeom>
            <a:solidFill>
              <a:srgbClr val="FFF7ED"/>
            </a:solidFill>
            <a:ln w="28575" cap="sq">
              <a:solidFill>
                <a:srgbClr val="FED7AA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168658" y="2461790"/>
            <a:ext cx="3017520" cy="685800"/>
            <a:chOff x="0" y="0"/>
            <a:chExt cx="4023360" cy="914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23360" cy="914400"/>
            </a:xfrm>
            <a:custGeom>
              <a:avLst/>
              <a:gdLst/>
              <a:ahLst/>
              <a:cxnLst/>
              <a:rect r="r" b="b" t="t" l="l"/>
              <a:pathLst>
                <a:path h="914400" w="402336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lnTo>
                    <a:pt x="3566160" y="0"/>
                  </a:lnTo>
                  <a:cubicBezTo>
                    <a:pt x="3818636" y="0"/>
                    <a:pt x="4023360" y="204724"/>
                    <a:pt x="4023360" y="457200"/>
                  </a:cubicBezTo>
                  <a:cubicBezTo>
                    <a:pt x="4023360" y="709676"/>
                    <a:pt x="3818636" y="914400"/>
                    <a:pt x="3566160" y="914400"/>
                  </a:cubicBezTo>
                  <a:lnTo>
                    <a:pt x="457200" y="914400"/>
                  </a:ln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A580C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68658" y="2461790"/>
            <a:ext cx="3017520" cy="755904"/>
            <a:chOff x="0" y="0"/>
            <a:chExt cx="4023360" cy="100787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023360" cy="1007872"/>
            </a:xfrm>
            <a:custGeom>
              <a:avLst/>
              <a:gdLst/>
              <a:ahLst/>
              <a:cxnLst/>
              <a:rect r="r" b="b" t="t" l="l"/>
              <a:pathLst>
                <a:path h="1007872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007872"/>
                  </a:lnTo>
                  <a:lnTo>
                    <a:pt x="0" y="1007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420" r="0" b="-2314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4023360" cy="10078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① CI 자동화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4323338" y="2461790"/>
            <a:ext cx="4457700" cy="685800"/>
            <a:chOff x="0" y="0"/>
            <a:chExt cx="5943600" cy="914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943600" cy="914400"/>
            </a:xfrm>
            <a:custGeom>
              <a:avLst/>
              <a:gdLst/>
              <a:ahLst/>
              <a:cxnLst/>
              <a:rect r="r" b="b" t="t" l="l"/>
              <a:pathLst>
                <a:path h="914400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6652" r="0" b="-7665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9525"/>
              <a:ext cx="5943600" cy="904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9A341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PR 게이트 3종 — 통과해야 merge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618047" y="3562689"/>
            <a:ext cx="1638681" cy="1638681"/>
            <a:chOff x="0" y="0"/>
            <a:chExt cx="2184908" cy="218490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84908" cy="2184908"/>
            </a:xfrm>
            <a:custGeom>
              <a:avLst/>
              <a:gdLst/>
              <a:ahLst/>
              <a:cxnLst/>
              <a:rect r="r" b="b" t="t" l="l"/>
              <a:pathLst>
                <a:path h="2184908" w="2184908">
                  <a:moveTo>
                    <a:pt x="0" y="1092454"/>
                  </a:moveTo>
                  <a:cubicBezTo>
                    <a:pt x="0" y="489077"/>
                    <a:pt x="489077" y="0"/>
                    <a:pt x="1092454" y="0"/>
                  </a:cubicBezTo>
                  <a:cubicBezTo>
                    <a:pt x="1695831" y="0"/>
                    <a:pt x="2184908" y="489077"/>
                    <a:pt x="2184908" y="1092454"/>
                  </a:cubicBezTo>
                  <a:cubicBezTo>
                    <a:pt x="2184908" y="1695831"/>
                    <a:pt x="1695831" y="2184908"/>
                    <a:pt x="1092454" y="2184908"/>
                  </a:cubicBezTo>
                  <a:cubicBezTo>
                    <a:pt x="489077" y="2184908"/>
                    <a:pt x="0" y="1695831"/>
                    <a:pt x="0" y="1092454"/>
                  </a:cubicBezTo>
                  <a:close/>
                </a:path>
              </a:pathLst>
            </a:custGeom>
            <a:solidFill>
              <a:srgbClr val="EA580C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2079400" y="4024042"/>
            <a:ext cx="715975" cy="715975"/>
            <a:chOff x="0" y="0"/>
            <a:chExt cx="954634" cy="954634"/>
          </a:xfrm>
        </p:grpSpPr>
        <p:sp>
          <p:nvSpPr>
            <p:cNvPr name="Freeform 23" id="23" descr="preencoded.png"/>
            <p:cNvSpPr/>
            <p:nvPr/>
          </p:nvSpPr>
          <p:spPr>
            <a:xfrm flipH="false" flipV="false" rot="0">
              <a:off x="0" y="0"/>
              <a:ext cx="954659" cy="954659"/>
            </a:xfrm>
            <a:custGeom>
              <a:avLst/>
              <a:gdLst/>
              <a:ahLst/>
              <a:cxnLst/>
              <a:rect r="r" b="b" t="t" l="l"/>
              <a:pathLst>
                <a:path h="954659" w="954659">
                  <a:moveTo>
                    <a:pt x="0" y="0"/>
                  </a:moveTo>
                  <a:lnTo>
                    <a:pt x="954659" y="0"/>
                  </a:lnTo>
                  <a:lnTo>
                    <a:pt x="954659" y="954659"/>
                  </a:lnTo>
                  <a:lnTo>
                    <a:pt x="0" y="9546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2" b="2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928628" y="5259854"/>
            <a:ext cx="3017520" cy="777241"/>
            <a:chOff x="0" y="0"/>
            <a:chExt cx="4023360" cy="103632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023360" cy="1036321"/>
            </a:xfrm>
            <a:custGeom>
              <a:avLst/>
              <a:gdLst/>
              <a:ahLst/>
              <a:cxnLst/>
              <a:rect r="r" b="b" t="t" l="l"/>
              <a:pathLst>
                <a:path h="1036321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036321"/>
                  </a:lnTo>
                  <a:lnTo>
                    <a:pt x="0" y="103632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9177" r="0" b="-2118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4023360" cy="10363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EA580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drift 감지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791468" y="5657618"/>
            <a:ext cx="3291840" cy="491681"/>
            <a:chOff x="0" y="0"/>
            <a:chExt cx="4389120" cy="65557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389120" cy="655574"/>
            </a:xfrm>
            <a:custGeom>
              <a:avLst/>
              <a:gdLst/>
              <a:ahLst/>
              <a:cxnLst/>
              <a:rect r="r" b="b" t="t" l="l"/>
              <a:pathLst>
                <a:path h="655574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655574"/>
                  </a:lnTo>
                  <a:lnTo>
                    <a:pt x="0" y="655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4188" r="0" b="-66718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4389120" cy="6650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TS 불일치 차단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4155507" y="3562689"/>
            <a:ext cx="1638681" cy="1638681"/>
            <a:chOff x="0" y="0"/>
            <a:chExt cx="2184908" cy="218490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84908" cy="2184908"/>
            </a:xfrm>
            <a:custGeom>
              <a:avLst/>
              <a:gdLst/>
              <a:ahLst/>
              <a:cxnLst/>
              <a:rect r="r" b="b" t="t" l="l"/>
              <a:pathLst>
                <a:path h="2184908" w="2184908">
                  <a:moveTo>
                    <a:pt x="0" y="1092454"/>
                  </a:moveTo>
                  <a:cubicBezTo>
                    <a:pt x="0" y="489077"/>
                    <a:pt x="489077" y="0"/>
                    <a:pt x="1092454" y="0"/>
                  </a:cubicBezTo>
                  <a:cubicBezTo>
                    <a:pt x="1695831" y="0"/>
                    <a:pt x="2184908" y="489077"/>
                    <a:pt x="2184908" y="1092454"/>
                  </a:cubicBezTo>
                  <a:cubicBezTo>
                    <a:pt x="2184908" y="1695831"/>
                    <a:pt x="1695831" y="2184908"/>
                    <a:pt x="1092454" y="2184908"/>
                  </a:cubicBezTo>
                  <a:cubicBezTo>
                    <a:pt x="489077" y="2184908"/>
                    <a:pt x="0" y="1695831"/>
                    <a:pt x="0" y="1092454"/>
                  </a:cubicBezTo>
                  <a:close/>
                </a:path>
              </a:pathLst>
            </a:custGeom>
            <a:solidFill>
              <a:srgbClr val="EA580C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4616860" y="4024042"/>
            <a:ext cx="715975" cy="715975"/>
            <a:chOff x="0" y="0"/>
            <a:chExt cx="954634" cy="954634"/>
          </a:xfrm>
        </p:grpSpPr>
        <p:sp>
          <p:nvSpPr>
            <p:cNvPr name="Freeform 33" id="33" descr="preencoded.png"/>
            <p:cNvSpPr/>
            <p:nvPr/>
          </p:nvSpPr>
          <p:spPr>
            <a:xfrm flipH="false" flipV="false" rot="0">
              <a:off x="0" y="0"/>
              <a:ext cx="954659" cy="954659"/>
            </a:xfrm>
            <a:custGeom>
              <a:avLst/>
              <a:gdLst/>
              <a:ahLst/>
              <a:cxnLst/>
              <a:rect r="r" b="b" t="t" l="l"/>
              <a:pathLst>
                <a:path h="954659" w="954659">
                  <a:moveTo>
                    <a:pt x="0" y="0"/>
                  </a:moveTo>
                  <a:lnTo>
                    <a:pt x="954659" y="0"/>
                  </a:lnTo>
                  <a:lnTo>
                    <a:pt x="954659" y="954659"/>
                  </a:lnTo>
                  <a:lnTo>
                    <a:pt x="0" y="9546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2" b="2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3466088" y="5259854"/>
            <a:ext cx="3017520" cy="767714"/>
            <a:chOff x="0" y="0"/>
            <a:chExt cx="4023360" cy="1023618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023360" cy="1023618"/>
            </a:xfrm>
            <a:custGeom>
              <a:avLst/>
              <a:gdLst/>
              <a:ahLst/>
              <a:cxnLst/>
              <a:rect r="r" b="b" t="t" l="l"/>
              <a:pathLst>
                <a:path h="1023618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023618"/>
                  </a:lnTo>
                  <a:lnTo>
                    <a:pt x="0" y="10236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9787" r="0" b="-3385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9525"/>
              <a:ext cx="4023360" cy="10140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99"/>
                </a:lnSpc>
              </a:pPr>
              <a:r>
                <a:rPr lang="en-US" sz="1999" b="true">
                  <a:solidFill>
                    <a:srgbClr val="EA580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pytest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3328928" y="5657618"/>
            <a:ext cx="3291840" cy="491681"/>
            <a:chOff x="0" y="0"/>
            <a:chExt cx="4389120" cy="65557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389120" cy="655574"/>
            </a:xfrm>
            <a:custGeom>
              <a:avLst/>
              <a:gdLst/>
              <a:ahLst/>
              <a:cxnLst/>
              <a:rect r="r" b="b" t="t" l="l"/>
              <a:pathLst>
                <a:path h="655574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655574"/>
                  </a:lnTo>
                  <a:lnTo>
                    <a:pt x="0" y="655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4188" r="0" b="-66718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4389120" cy="6650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94+ 테스트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6692967" y="3562689"/>
            <a:ext cx="1638681" cy="1638681"/>
            <a:chOff x="0" y="0"/>
            <a:chExt cx="2184908" cy="218490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184908" cy="2184908"/>
            </a:xfrm>
            <a:custGeom>
              <a:avLst/>
              <a:gdLst/>
              <a:ahLst/>
              <a:cxnLst/>
              <a:rect r="r" b="b" t="t" l="l"/>
              <a:pathLst>
                <a:path h="2184908" w="2184908">
                  <a:moveTo>
                    <a:pt x="0" y="1092454"/>
                  </a:moveTo>
                  <a:cubicBezTo>
                    <a:pt x="0" y="489077"/>
                    <a:pt x="489077" y="0"/>
                    <a:pt x="1092454" y="0"/>
                  </a:cubicBezTo>
                  <a:cubicBezTo>
                    <a:pt x="1695831" y="0"/>
                    <a:pt x="2184908" y="489077"/>
                    <a:pt x="2184908" y="1092454"/>
                  </a:cubicBezTo>
                  <a:cubicBezTo>
                    <a:pt x="2184908" y="1695831"/>
                    <a:pt x="1695831" y="2184908"/>
                    <a:pt x="1092454" y="2184908"/>
                  </a:cubicBezTo>
                  <a:cubicBezTo>
                    <a:pt x="489077" y="2184908"/>
                    <a:pt x="0" y="1695831"/>
                    <a:pt x="0" y="1092454"/>
                  </a:cubicBezTo>
                  <a:close/>
                </a:path>
              </a:pathLst>
            </a:custGeom>
            <a:solidFill>
              <a:srgbClr val="EA580C"/>
            </a:solidFill>
            <a:ln w="476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7154320" y="4024042"/>
            <a:ext cx="715975" cy="715975"/>
            <a:chOff x="0" y="0"/>
            <a:chExt cx="954634" cy="954634"/>
          </a:xfrm>
        </p:grpSpPr>
        <p:sp>
          <p:nvSpPr>
            <p:cNvPr name="Freeform 43" id="43" descr="preencoded.png"/>
            <p:cNvSpPr/>
            <p:nvPr/>
          </p:nvSpPr>
          <p:spPr>
            <a:xfrm flipH="false" flipV="false" rot="0">
              <a:off x="0" y="0"/>
              <a:ext cx="954659" cy="954659"/>
            </a:xfrm>
            <a:custGeom>
              <a:avLst/>
              <a:gdLst/>
              <a:ahLst/>
              <a:cxnLst/>
              <a:rect r="r" b="b" t="t" l="l"/>
              <a:pathLst>
                <a:path h="954659" w="954659">
                  <a:moveTo>
                    <a:pt x="0" y="0"/>
                  </a:moveTo>
                  <a:lnTo>
                    <a:pt x="954659" y="0"/>
                  </a:lnTo>
                  <a:lnTo>
                    <a:pt x="954659" y="954659"/>
                  </a:lnTo>
                  <a:lnTo>
                    <a:pt x="0" y="9546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2" b="2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6003548" y="5259854"/>
            <a:ext cx="3017520" cy="767714"/>
            <a:chOff x="0" y="0"/>
            <a:chExt cx="4023360" cy="1023618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023360" cy="1023618"/>
            </a:xfrm>
            <a:custGeom>
              <a:avLst/>
              <a:gdLst/>
              <a:ahLst/>
              <a:cxnLst/>
              <a:rect r="r" b="b" t="t" l="l"/>
              <a:pathLst>
                <a:path h="1023618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1023618"/>
                  </a:lnTo>
                  <a:lnTo>
                    <a:pt x="0" y="10236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9787" r="0" b="-338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525"/>
              <a:ext cx="4023360" cy="10140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99"/>
                </a:lnSpc>
              </a:pPr>
              <a:r>
                <a:rPr lang="en-US" sz="1999" b="true">
                  <a:solidFill>
                    <a:srgbClr val="EA580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Ruff lint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5866388" y="5657618"/>
            <a:ext cx="3291840" cy="491681"/>
            <a:chOff x="0" y="0"/>
            <a:chExt cx="4389120" cy="65557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389120" cy="655574"/>
            </a:xfrm>
            <a:custGeom>
              <a:avLst/>
              <a:gdLst/>
              <a:ahLst/>
              <a:cxnLst/>
              <a:rect r="r" b="b" t="t" l="l"/>
              <a:pathLst>
                <a:path h="655574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655574"/>
                  </a:lnTo>
                  <a:lnTo>
                    <a:pt x="0" y="655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4188" r="0" b="-66718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9525"/>
              <a:ext cx="4389120" cy="6650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스타일 검사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242167" y="3788450"/>
            <a:ext cx="700540" cy="700540"/>
            <a:chOff x="0" y="0"/>
            <a:chExt cx="1024128" cy="102412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9221879" y="3548246"/>
            <a:ext cx="726377" cy="1180948"/>
            <a:chOff x="0" y="0"/>
            <a:chExt cx="968502" cy="1574597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968502" cy="1574597"/>
            </a:xfrm>
            <a:custGeom>
              <a:avLst/>
              <a:gdLst/>
              <a:ahLst/>
              <a:cxnLst/>
              <a:rect r="r" b="b" t="t" l="l"/>
              <a:pathLst>
                <a:path h="1574597" w="968502">
                  <a:moveTo>
                    <a:pt x="0" y="0"/>
                  </a:moveTo>
                  <a:lnTo>
                    <a:pt x="968502" y="0"/>
                  </a:lnTo>
                  <a:lnTo>
                    <a:pt x="968502" y="1574597"/>
                  </a:lnTo>
                  <a:lnTo>
                    <a:pt x="0" y="157459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2800" t="0" r="-88544" b="34959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968502" cy="15841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0015478" y="2118890"/>
            <a:ext cx="7612380" cy="4046220"/>
            <a:chOff x="0" y="0"/>
            <a:chExt cx="10149840" cy="539496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149840" cy="5394960"/>
            </a:xfrm>
            <a:custGeom>
              <a:avLst/>
              <a:gdLst/>
              <a:ahLst/>
              <a:cxnLst/>
              <a:rect r="r" b="b" t="t" l="l"/>
              <a:pathLst>
                <a:path h="5394960" w="1014984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003536" y="0"/>
                  </a:lnTo>
                  <a:cubicBezTo>
                    <a:pt x="10084308" y="0"/>
                    <a:pt x="10149840" y="65532"/>
                    <a:pt x="10149840" y="146304"/>
                  </a:cubicBezTo>
                  <a:lnTo>
                    <a:pt x="10149840" y="5248656"/>
                  </a:lnTo>
                  <a:cubicBezTo>
                    <a:pt x="10149840" y="5329428"/>
                    <a:pt x="10084308" y="5394960"/>
                    <a:pt x="10003536" y="5394960"/>
                  </a:cubicBezTo>
                  <a:lnTo>
                    <a:pt x="146304" y="5394960"/>
                  </a:lnTo>
                  <a:cubicBezTo>
                    <a:pt x="65532" y="5394960"/>
                    <a:pt x="0" y="5329428"/>
                    <a:pt x="0" y="5248656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0426958" y="2461790"/>
            <a:ext cx="3291840" cy="685800"/>
            <a:chOff x="0" y="0"/>
            <a:chExt cx="4389120" cy="9144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389120" cy="914400"/>
            </a:xfrm>
            <a:custGeom>
              <a:avLst/>
              <a:gdLst/>
              <a:ahLst/>
              <a:cxnLst/>
              <a:rect r="r" b="b" t="t" l="l"/>
              <a:pathLst>
                <a:path h="914400" w="438912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lnTo>
                    <a:pt x="3931920" y="0"/>
                  </a:lnTo>
                  <a:cubicBezTo>
                    <a:pt x="4184396" y="0"/>
                    <a:pt x="4389120" y="204724"/>
                    <a:pt x="4389120" y="457200"/>
                  </a:cubicBezTo>
                  <a:cubicBezTo>
                    <a:pt x="4389120" y="709676"/>
                    <a:pt x="4184396" y="914400"/>
                    <a:pt x="3931920" y="914400"/>
                  </a:cubicBezTo>
                  <a:lnTo>
                    <a:pt x="457200" y="914400"/>
                  </a:ln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563EB"/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0426958" y="2461790"/>
            <a:ext cx="3291840" cy="728662"/>
            <a:chOff x="0" y="0"/>
            <a:chExt cx="4389120" cy="97155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389120" cy="971550"/>
            </a:xfrm>
            <a:custGeom>
              <a:avLst/>
              <a:gdLst/>
              <a:ahLst/>
              <a:cxnLst/>
              <a:rect r="r" b="b" t="t" l="l"/>
              <a:pathLst>
                <a:path h="97155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971550"/>
                  </a:lnTo>
                  <a:lnTo>
                    <a:pt x="0" y="9715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67" r="0" b="-35085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0"/>
              <a:ext cx="438912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② CD 파이프라인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3855958" y="2461790"/>
            <a:ext cx="3360420" cy="685800"/>
            <a:chOff x="0" y="0"/>
            <a:chExt cx="4480560" cy="9144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4480560" cy="914400"/>
            </a:xfrm>
            <a:custGeom>
              <a:avLst/>
              <a:gdLst/>
              <a:ahLst/>
              <a:cxnLst/>
              <a:rect r="r" b="b" t="t" l="l"/>
              <a:pathLst>
                <a:path h="914400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5476" r="0" b="-45476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4480560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4A3B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git push → 자동 배포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0853678" y="3608600"/>
            <a:ext cx="1409700" cy="1409700"/>
            <a:chOff x="0" y="0"/>
            <a:chExt cx="1879600" cy="18796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8796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1879600">
                  <a:moveTo>
                    <a:pt x="0" y="939800"/>
                  </a:moveTo>
                  <a:cubicBezTo>
                    <a:pt x="0" y="420751"/>
                    <a:pt x="420751" y="0"/>
                    <a:pt x="939800" y="0"/>
                  </a:cubicBezTo>
                  <a:cubicBezTo>
                    <a:pt x="1458849" y="0"/>
                    <a:pt x="1879600" y="420751"/>
                    <a:pt x="1879600" y="939800"/>
                  </a:cubicBezTo>
                  <a:cubicBezTo>
                    <a:pt x="1879600" y="1458849"/>
                    <a:pt x="1458849" y="1879600"/>
                    <a:pt x="939800" y="1879600"/>
                  </a:cubicBezTo>
                  <a:cubicBezTo>
                    <a:pt x="420751" y="1879600"/>
                    <a:pt x="0" y="1458849"/>
                    <a:pt x="0" y="939800"/>
                  </a:cubicBezTo>
                  <a:close/>
                </a:path>
              </a:pathLst>
            </a:custGeom>
            <a:solidFill>
              <a:srgbClr val="F59E0B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256776" y="4011698"/>
            <a:ext cx="603504" cy="603504"/>
            <a:chOff x="0" y="0"/>
            <a:chExt cx="804672" cy="804672"/>
          </a:xfrm>
        </p:grpSpPr>
        <p:sp>
          <p:nvSpPr>
            <p:cNvPr name="Freeform 68" id="68" descr="preencoded.png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0186928" y="5081546"/>
            <a:ext cx="2743200" cy="713231"/>
            <a:chOff x="0" y="0"/>
            <a:chExt cx="3657600" cy="950974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657600" cy="950974"/>
            </a:xfrm>
            <a:custGeom>
              <a:avLst/>
              <a:gdLst/>
              <a:ahLst/>
              <a:cxnLst/>
              <a:rect r="r" b="b" t="t" l="l"/>
              <a:pathLst>
                <a:path h="950974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950974"/>
                  </a:lnTo>
                  <a:lnTo>
                    <a:pt x="0" y="9509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8019" r="0" b="-1865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0"/>
              <a:ext cx="3657600" cy="9509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19"/>
                </a:lnSpc>
              </a:pPr>
              <a:r>
                <a:rPr lang="en-US" sz="1849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키 없는 배포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0049768" y="5451878"/>
            <a:ext cx="3017520" cy="464439"/>
            <a:chOff x="0" y="0"/>
            <a:chExt cx="4023360" cy="619252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4023360" cy="619252"/>
            </a:xfrm>
            <a:custGeom>
              <a:avLst/>
              <a:gdLst/>
              <a:ahLst/>
              <a:cxnLst/>
              <a:rect r="r" b="b" t="t" l="l"/>
              <a:pathLst>
                <a:path h="619252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19252"/>
                  </a:lnTo>
                  <a:lnTo>
                    <a:pt x="0" y="6192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8204" r="0" b="-64988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0"/>
              <a:ext cx="4023360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94A3B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Workload Identity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2347198" y="3970550"/>
            <a:ext cx="685800" cy="1047369"/>
            <a:chOff x="0" y="0"/>
            <a:chExt cx="914400" cy="1396492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914400" cy="1396492"/>
            </a:xfrm>
            <a:custGeom>
              <a:avLst/>
              <a:gdLst/>
              <a:ahLst/>
              <a:cxnLst/>
              <a:rect r="r" b="b" t="t" l="l"/>
              <a:pathLst>
                <a:path h="1396492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396492"/>
                  </a:lnTo>
                  <a:lnTo>
                    <a:pt x="0" y="13964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34521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0"/>
              <a:ext cx="914400" cy="13964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475569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13116818" y="3608600"/>
            <a:ext cx="1409700" cy="1409700"/>
            <a:chOff x="0" y="0"/>
            <a:chExt cx="1879600" cy="187960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8796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1879600">
                  <a:moveTo>
                    <a:pt x="0" y="939800"/>
                  </a:moveTo>
                  <a:cubicBezTo>
                    <a:pt x="0" y="420751"/>
                    <a:pt x="420751" y="0"/>
                    <a:pt x="939800" y="0"/>
                  </a:cubicBezTo>
                  <a:cubicBezTo>
                    <a:pt x="1458849" y="0"/>
                    <a:pt x="1879600" y="420751"/>
                    <a:pt x="1879600" y="939800"/>
                  </a:cubicBezTo>
                  <a:cubicBezTo>
                    <a:pt x="1879600" y="1458849"/>
                    <a:pt x="1458849" y="1879600"/>
                    <a:pt x="939800" y="1879600"/>
                  </a:cubicBezTo>
                  <a:cubicBezTo>
                    <a:pt x="420751" y="1879600"/>
                    <a:pt x="0" y="1458849"/>
                    <a:pt x="0" y="939800"/>
                  </a:cubicBezTo>
                  <a:close/>
                </a:path>
              </a:pathLst>
            </a:custGeom>
            <a:solidFill>
              <a:srgbClr val="3B82F6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80" id="80"/>
          <p:cNvGrpSpPr/>
          <p:nvPr/>
        </p:nvGrpSpPr>
        <p:grpSpPr>
          <a:xfrm rot="0">
            <a:off x="13519916" y="4011698"/>
            <a:ext cx="603504" cy="603504"/>
            <a:chOff x="0" y="0"/>
            <a:chExt cx="804672" cy="804672"/>
          </a:xfrm>
        </p:grpSpPr>
        <p:sp>
          <p:nvSpPr>
            <p:cNvPr name="Freeform 81" id="81" descr="preencoded.png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12450068" y="5081546"/>
            <a:ext cx="2743200" cy="713231"/>
            <a:chOff x="0" y="0"/>
            <a:chExt cx="3657600" cy="950974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657600" cy="950974"/>
            </a:xfrm>
            <a:custGeom>
              <a:avLst/>
              <a:gdLst/>
              <a:ahLst/>
              <a:cxnLst/>
              <a:rect r="r" b="b" t="t" l="l"/>
              <a:pathLst>
                <a:path h="950974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950974"/>
                  </a:lnTo>
                  <a:lnTo>
                    <a:pt x="0" y="9509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8019" r="0" b="-1865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0"/>
              <a:ext cx="3657600" cy="9509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19"/>
                </a:lnSpc>
              </a:pPr>
              <a:r>
                <a:rPr lang="en-US" sz="1849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Cloud Run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2312908" y="5451878"/>
            <a:ext cx="3017520" cy="464439"/>
            <a:chOff x="0" y="0"/>
            <a:chExt cx="4023360" cy="619252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4023360" cy="619252"/>
            </a:xfrm>
            <a:custGeom>
              <a:avLst/>
              <a:gdLst/>
              <a:ahLst/>
              <a:cxnLst/>
              <a:rect r="r" b="b" t="t" l="l"/>
              <a:pathLst>
                <a:path h="619252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19252"/>
                  </a:lnTo>
                  <a:lnTo>
                    <a:pt x="0" y="6192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8204" r="0" b="-64988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0"/>
              <a:ext cx="4023360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94A3B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dev→stg / main→prod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4610338" y="3970550"/>
            <a:ext cx="685800" cy="1047369"/>
            <a:chOff x="0" y="0"/>
            <a:chExt cx="914400" cy="1396492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914400" cy="1396492"/>
            </a:xfrm>
            <a:custGeom>
              <a:avLst/>
              <a:gdLst/>
              <a:ahLst/>
              <a:cxnLst/>
              <a:rect r="r" b="b" t="t" l="l"/>
              <a:pathLst>
                <a:path h="1396492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1396492"/>
                  </a:lnTo>
                  <a:lnTo>
                    <a:pt x="0" y="13964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3452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0"/>
              <a:ext cx="914400" cy="13964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475569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15379958" y="3608600"/>
            <a:ext cx="1409700" cy="1409700"/>
            <a:chOff x="0" y="0"/>
            <a:chExt cx="1879600" cy="187960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8796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1879600">
                  <a:moveTo>
                    <a:pt x="0" y="939800"/>
                  </a:moveTo>
                  <a:cubicBezTo>
                    <a:pt x="0" y="420751"/>
                    <a:pt x="420751" y="0"/>
                    <a:pt x="939800" y="0"/>
                  </a:cubicBezTo>
                  <a:cubicBezTo>
                    <a:pt x="1458849" y="0"/>
                    <a:pt x="1879600" y="420751"/>
                    <a:pt x="1879600" y="939800"/>
                  </a:cubicBezTo>
                  <a:cubicBezTo>
                    <a:pt x="1879600" y="1458849"/>
                    <a:pt x="1458849" y="1879600"/>
                    <a:pt x="939800" y="1879600"/>
                  </a:cubicBezTo>
                  <a:cubicBezTo>
                    <a:pt x="420751" y="1879600"/>
                    <a:pt x="0" y="1458849"/>
                    <a:pt x="0" y="939800"/>
                  </a:cubicBezTo>
                  <a:close/>
                </a:path>
              </a:pathLst>
            </a:custGeom>
            <a:solidFill>
              <a:srgbClr val="8B5CF6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93" id="93"/>
          <p:cNvGrpSpPr/>
          <p:nvPr/>
        </p:nvGrpSpPr>
        <p:grpSpPr>
          <a:xfrm rot="0">
            <a:off x="15783056" y="4011698"/>
            <a:ext cx="603504" cy="603504"/>
            <a:chOff x="0" y="0"/>
            <a:chExt cx="804672" cy="804672"/>
          </a:xfrm>
        </p:grpSpPr>
        <p:sp>
          <p:nvSpPr>
            <p:cNvPr name="Freeform 94" id="94" descr="preencoded.png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14713208" y="5081546"/>
            <a:ext cx="2743200" cy="713231"/>
            <a:chOff x="0" y="0"/>
            <a:chExt cx="3657600" cy="95097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657600" cy="950974"/>
            </a:xfrm>
            <a:custGeom>
              <a:avLst/>
              <a:gdLst/>
              <a:ahLst/>
              <a:cxnLst/>
              <a:rect r="r" b="b" t="t" l="l"/>
              <a:pathLst>
                <a:path h="950974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950974"/>
                  </a:lnTo>
                  <a:lnTo>
                    <a:pt x="0" y="9509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8019" r="0" b="-1865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0"/>
              <a:ext cx="3657600" cy="9509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19"/>
                </a:lnSpc>
              </a:pPr>
              <a:r>
                <a:rPr lang="en-US" sz="1849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modal deploy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14576048" y="5451878"/>
            <a:ext cx="3017520" cy="464439"/>
            <a:chOff x="0" y="0"/>
            <a:chExt cx="4023360" cy="619252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4023360" cy="619252"/>
            </a:xfrm>
            <a:custGeom>
              <a:avLst/>
              <a:gdLst/>
              <a:ahLst/>
              <a:cxnLst/>
              <a:rect r="r" b="b" t="t" l="l"/>
              <a:pathLst>
                <a:path h="619252" w="4023360">
                  <a:moveTo>
                    <a:pt x="0" y="0"/>
                  </a:moveTo>
                  <a:lnTo>
                    <a:pt x="4023360" y="0"/>
                  </a:lnTo>
                  <a:lnTo>
                    <a:pt x="4023360" y="619252"/>
                  </a:lnTo>
                  <a:lnTo>
                    <a:pt x="0" y="6192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8204" r="0" b="-64988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0"/>
              <a:ext cx="4023360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>
                  <a:solidFill>
                    <a:srgbClr val="94A3B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에이전트 재배포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669667" y="6303222"/>
            <a:ext cx="3291840" cy="685800"/>
            <a:chOff x="0" y="0"/>
            <a:chExt cx="4389120" cy="91440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4389120" cy="914400"/>
            </a:xfrm>
            <a:custGeom>
              <a:avLst/>
              <a:gdLst/>
              <a:ahLst/>
              <a:cxnLst/>
              <a:rect r="r" b="b" t="t" l="l"/>
              <a:pathLst>
                <a:path h="914400" w="438912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lnTo>
                    <a:pt x="3931920" y="0"/>
                  </a:lnTo>
                  <a:cubicBezTo>
                    <a:pt x="4184396" y="0"/>
                    <a:pt x="4389120" y="204724"/>
                    <a:pt x="4389120" y="457200"/>
                  </a:cubicBezTo>
                  <a:cubicBezTo>
                    <a:pt x="4389120" y="709676"/>
                    <a:pt x="4184396" y="914400"/>
                    <a:pt x="3931920" y="914400"/>
                  </a:cubicBezTo>
                  <a:lnTo>
                    <a:pt x="457200" y="914400"/>
                  </a:ln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6A34A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654308" y="6281791"/>
            <a:ext cx="3291840" cy="728662"/>
            <a:chOff x="0" y="0"/>
            <a:chExt cx="4389120" cy="97155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4389120" cy="971550"/>
            </a:xfrm>
            <a:custGeom>
              <a:avLst/>
              <a:gdLst/>
              <a:ahLst/>
              <a:cxnLst/>
              <a:rect r="r" b="b" t="t" l="l"/>
              <a:pathLst>
                <a:path h="97155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971550"/>
                  </a:lnTo>
                  <a:lnTo>
                    <a:pt x="0" y="9715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967" r="0" b="-35085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0"/>
              <a:ext cx="438912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③ 모노레포 구조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4098667" y="6303222"/>
            <a:ext cx="6858000" cy="685800"/>
            <a:chOff x="0" y="0"/>
            <a:chExt cx="9144000" cy="914400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91440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0"/>
              <a:ext cx="9144000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4개 워크스페이스 분리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660142" y="7185237"/>
            <a:ext cx="4030980" cy="2073063"/>
            <a:chOff x="0" y="0"/>
            <a:chExt cx="5374640" cy="2764084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374640" cy="2764084"/>
            </a:xfrm>
            <a:custGeom>
              <a:avLst/>
              <a:gdLst/>
              <a:ahLst/>
              <a:cxnLst/>
              <a:rect r="r" b="b" t="t" l="l"/>
              <a:pathLst>
                <a:path h="2764084" w="5374640">
                  <a:moveTo>
                    <a:pt x="0" y="89596"/>
                  </a:moveTo>
                  <a:cubicBezTo>
                    <a:pt x="0" y="40164"/>
                    <a:pt x="49530" y="0"/>
                    <a:pt x="110490" y="0"/>
                  </a:cubicBezTo>
                  <a:lnTo>
                    <a:pt x="5264150" y="0"/>
                  </a:lnTo>
                  <a:cubicBezTo>
                    <a:pt x="5325237" y="0"/>
                    <a:pt x="5374640" y="40164"/>
                    <a:pt x="5374640" y="89596"/>
                  </a:cubicBezTo>
                  <a:lnTo>
                    <a:pt x="5374640" y="2674488"/>
                  </a:lnTo>
                  <a:cubicBezTo>
                    <a:pt x="5374640" y="2724023"/>
                    <a:pt x="5325110" y="2764084"/>
                    <a:pt x="5264150" y="2764084"/>
                  </a:cubicBezTo>
                  <a:lnTo>
                    <a:pt x="110490" y="2764084"/>
                  </a:lnTo>
                  <a:cubicBezTo>
                    <a:pt x="49403" y="2764084"/>
                    <a:pt x="0" y="2723920"/>
                    <a:pt x="0" y="267448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F0"/>
              </a:solidFill>
              <a:prstDash val="solid"/>
              <a:miter/>
            </a:ln>
          </p:spPr>
        </p:sp>
      </p:grpSp>
      <p:grpSp>
        <p:nvGrpSpPr>
          <p:cNvPr name="Group 111" id="111"/>
          <p:cNvGrpSpPr/>
          <p:nvPr/>
        </p:nvGrpSpPr>
        <p:grpSpPr>
          <a:xfrm rot="0">
            <a:off x="669667" y="7194762"/>
            <a:ext cx="4011930" cy="960120"/>
            <a:chOff x="0" y="0"/>
            <a:chExt cx="5349240" cy="1280160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534924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34924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5239512" y="0"/>
                  </a:lnTo>
                  <a:cubicBezTo>
                    <a:pt x="5300091" y="0"/>
                    <a:pt x="5349240" y="49149"/>
                    <a:pt x="5349240" y="109728"/>
                  </a:cubicBezTo>
                  <a:lnTo>
                    <a:pt x="5349240" y="1170432"/>
                  </a:lnTo>
                  <a:cubicBezTo>
                    <a:pt x="5349240" y="1231011"/>
                    <a:pt x="5300091" y="1280160"/>
                    <a:pt x="5239512" y="1280160"/>
                  </a:cubicBezTo>
                  <a:lnTo>
                    <a:pt x="109728" y="1280160"/>
                  </a:lnTo>
                  <a:cubicBezTo>
                    <a:pt x="49149" y="1280160"/>
                    <a:pt x="0" y="1231011"/>
                    <a:pt x="0" y="1170432"/>
                  </a:cubicBezTo>
                  <a:close/>
                </a:path>
              </a:pathLst>
            </a:custGeom>
            <a:solidFill>
              <a:srgbClr val="EA580C"/>
            </a:solid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669667" y="7674822"/>
            <a:ext cx="4011930" cy="480060"/>
            <a:chOff x="0" y="0"/>
            <a:chExt cx="5349240" cy="64008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5349240" cy="640080"/>
            </a:xfrm>
            <a:custGeom>
              <a:avLst/>
              <a:gdLst/>
              <a:ahLst/>
              <a:cxnLst/>
              <a:rect r="r" b="b" t="t" l="l"/>
              <a:pathLst>
                <a:path h="640080" w="5349240">
                  <a:moveTo>
                    <a:pt x="0" y="0"/>
                  </a:moveTo>
                  <a:lnTo>
                    <a:pt x="5349240" y="0"/>
                  </a:lnTo>
                  <a:lnTo>
                    <a:pt x="5349240" y="640080"/>
                  </a:lnTo>
                  <a:lnTo>
                    <a:pt x="0" y="640080"/>
                  </a:lnTo>
                  <a:close/>
                </a:path>
              </a:pathLst>
            </a:custGeom>
            <a:solidFill>
              <a:srgbClr val="EA580C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012567" y="7441650"/>
            <a:ext cx="480060" cy="480060"/>
            <a:chOff x="0" y="0"/>
            <a:chExt cx="640080" cy="640080"/>
          </a:xfrm>
        </p:grpSpPr>
        <p:sp>
          <p:nvSpPr>
            <p:cNvPr name="Freeform 116" id="116" descr="preencoded.png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0"/>
                  </a:moveTo>
                  <a:lnTo>
                    <a:pt x="640080" y="0"/>
                  </a:lnTo>
                  <a:lnTo>
                    <a:pt x="640080" y="640080"/>
                  </a:lnTo>
                  <a:lnTo>
                    <a:pt x="0" y="640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602355" y="7194762"/>
            <a:ext cx="2914650" cy="960120"/>
            <a:chOff x="0" y="0"/>
            <a:chExt cx="3886200" cy="1280160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38862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3886200">
                  <a:moveTo>
                    <a:pt x="0" y="0"/>
                  </a:moveTo>
                  <a:lnTo>
                    <a:pt x="3886200" y="0"/>
                  </a:lnTo>
                  <a:lnTo>
                    <a:pt x="38862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151" r="0" b="-9151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0"/>
              <a:ext cx="3886200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common_schemas/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012567" y="8212032"/>
            <a:ext cx="3463290" cy="767714"/>
            <a:chOff x="0" y="0"/>
            <a:chExt cx="4617720" cy="102361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4617720" cy="1023618"/>
            </a:xfrm>
            <a:custGeom>
              <a:avLst/>
              <a:gdLst/>
              <a:ahLst/>
              <a:cxnLst/>
              <a:rect r="r" b="b" t="t" l="l"/>
              <a:pathLst>
                <a:path h="1023618" w="4617720">
                  <a:moveTo>
                    <a:pt x="0" y="0"/>
                  </a:moveTo>
                  <a:lnTo>
                    <a:pt x="4617720" y="0"/>
                  </a:lnTo>
                  <a:lnTo>
                    <a:pt x="4617720" y="1023618"/>
                  </a:lnTo>
                  <a:lnTo>
                    <a:pt x="0" y="10236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168" r="0" b="-23632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9525"/>
              <a:ext cx="4617720" cy="10140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99"/>
                </a:lnSpc>
              </a:pPr>
              <a:r>
                <a:rPr lang="en-US" sz="1999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공유 타입 SSOT</a:t>
              </a:r>
            </a:p>
          </p:txBody>
        </p:sp>
      </p:grpSp>
      <p:sp>
        <p:nvSpPr>
          <p:cNvPr name="TextBox 123" id="123"/>
          <p:cNvSpPr txBox="true"/>
          <p:nvPr/>
        </p:nvSpPr>
        <p:spPr>
          <a:xfrm rot="0">
            <a:off x="1012567" y="8899737"/>
            <a:ext cx="346329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Python + TS</a:t>
            </a:r>
          </a:p>
        </p:txBody>
      </p:sp>
      <p:grpSp>
        <p:nvGrpSpPr>
          <p:cNvPr name="Group 124" id="124"/>
          <p:cNvGrpSpPr/>
          <p:nvPr/>
        </p:nvGrpSpPr>
        <p:grpSpPr>
          <a:xfrm rot="0">
            <a:off x="4946392" y="7185237"/>
            <a:ext cx="4030980" cy="2073063"/>
            <a:chOff x="0" y="0"/>
            <a:chExt cx="5374640" cy="2764084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5374640" cy="2764084"/>
            </a:xfrm>
            <a:custGeom>
              <a:avLst/>
              <a:gdLst/>
              <a:ahLst/>
              <a:cxnLst/>
              <a:rect r="r" b="b" t="t" l="l"/>
              <a:pathLst>
                <a:path h="2764084" w="5374640">
                  <a:moveTo>
                    <a:pt x="0" y="89596"/>
                  </a:moveTo>
                  <a:cubicBezTo>
                    <a:pt x="0" y="40164"/>
                    <a:pt x="49530" y="0"/>
                    <a:pt x="110490" y="0"/>
                  </a:cubicBezTo>
                  <a:lnTo>
                    <a:pt x="5264150" y="0"/>
                  </a:lnTo>
                  <a:cubicBezTo>
                    <a:pt x="5325237" y="0"/>
                    <a:pt x="5374640" y="40164"/>
                    <a:pt x="5374640" y="89596"/>
                  </a:cubicBezTo>
                  <a:lnTo>
                    <a:pt x="5374640" y="2674488"/>
                  </a:lnTo>
                  <a:cubicBezTo>
                    <a:pt x="5374640" y="2724023"/>
                    <a:pt x="5325110" y="2764084"/>
                    <a:pt x="5264150" y="2764084"/>
                  </a:cubicBezTo>
                  <a:lnTo>
                    <a:pt x="110490" y="2764084"/>
                  </a:lnTo>
                  <a:cubicBezTo>
                    <a:pt x="49403" y="2764084"/>
                    <a:pt x="0" y="2723920"/>
                    <a:pt x="0" y="267448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F0"/>
              </a:solidFill>
              <a:prstDash val="solid"/>
              <a:miter/>
            </a:ln>
          </p:spPr>
        </p:sp>
      </p:grpSp>
      <p:grpSp>
        <p:nvGrpSpPr>
          <p:cNvPr name="Group 126" id="126"/>
          <p:cNvGrpSpPr/>
          <p:nvPr/>
        </p:nvGrpSpPr>
        <p:grpSpPr>
          <a:xfrm rot="0">
            <a:off x="4955917" y="7194762"/>
            <a:ext cx="4011930" cy="960120"/>
            <a:chOff x="0" y="0"/>
            <a:chExt cx="5349240" cy="128016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534924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34924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5239512" y="0"/>
                  </a:lnTo>
                  <a:cubicBezTo>
                    <a:pt x="5300091" y="0"/>
                    <a:pt x="5349240" y="49149"/>
                    <a:pt x="5349240" y="109728"/>
                  </a:cubicBezTo>
                  <a:lnTo>
                    <a:pt x="5349240" y="1170432"/>
                  </a:lnTo>
                  <a:cubicBezTo>
                    <a:pt x="5349240" y="1231011"/>
                    <a:pt x="5300091" y="1280160"/>
                    <a:pt x="5239512" y="1280160"/>
                  </a:cubicBezTo>
                  <a:lnTo>
                    <a:pt x="109728" y="1280160"/>
                  </a:lnTo>
                  <a:cubicBezTo>
                    <a:pt x="49149" y="1280160"/>
                    <a:pt x="0" y="1231011"/>
                    <a:pt x="0" y="1170432"/>
                  </a:cubicBezTo>
                  <a:close/>
                </a:path>
              </a:pathLst>
            </a:custGeom>
            <a:solidFill>
              <a:srgbClr val="2563EB"/>
            </a:solid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4955917" y="7674822"/>
            <a:ext cx="4011930" cy="480060"/>
            <a:chOff x="0" y="0"/>
            <a:chExt cx="5349240" cy="640080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5349240" cy="640080"/>
            </a:xfrm>
            <a:custGeom>
              <a:avLst/>
              <a:gdLst/>
              <a:ahLst/>
              <a:cxnLst/>
              <a:rect r="r" b="b" t="t" l="l"/>
              <a:pathLst>
                <a:path h="640080" w="5349240">
                  <a:moveTo>
                    <a:pt x="0" y="0"/>
                  </a:moveTo>
                  <a:lnTo>
                    <a:pt x="5349240" y="0"/>
                  </a:lnTo>
                  <a:lnTo>
                    <a:pt x="5349240" y="640080"/>
                  </a:lnTo>
                  <a:lnTo>
                    <a:pt x="0" y="640080"/>
                  </a:lnTo>
                  <a:close/>
                </a:path>
              </a:pathLst>
            </a:custGeom>
            <a:solidFill>
              <a:srgbClr val="2563EB"/>
            </a:solid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5298817" y="7441650"/>
            <a:ext cx="480060" cy="480060"/>
            <a:chOff x="0" y="0"/>
            <a:chExt cx="640080" cy="640080"/>
          </a:xfrm>
        </p:grpSpPr>
        <p:sp>
          <p:nvSpPr>
            <p:cNvPr name="Freeform 131" id="131" descr="preencoded.png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0"/>
                  </a:moveTo>
                  <a:lnTo>
                    <a:pt x="640080" y="0"/>
                  </a:lnTo>
                  <a:lnTo>
                    <a:pt x="640080" y="640080"/>
                  </a:lnTo>
                  <a:lnTo>
                    <a:pt x="0" y="640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32" id="132"/>
          <p:cNvGrpSpPr/>
          <p:nvPr/>
        </p:nvGrpSpPr>
        <p:grpSpPr>
          <a:xfrm rot="0">
            <a:off x="5888605" y="7194762"/>
            <a:ext cx="2914650" cy="960120"/>
            <a:chOff x="0" y="0"/>
            <a:chExt cx="3886200" cy="1280160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38862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3886200">
                  <a:moveTo>
                    <a:pt x="0" y="0"/>
                  </a:moveTo>
                  <a:lnTo>
                    <a:pt x="3886200" y="0"/>
                  </a:lnTo>
                  <a:lnTo>
                    <a:pt x="38862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151" r="0" b="-9151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0"/>
              <a:ext cx="3886200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modules/</a:t>
              </a:r>
            </a:p>
          </p:txBody>
        </p:sp>
      </p:grpSp>
      <p:grpSp>
        <p:nvGrpSpPr>
          <p:cNvPr name="Group 135" id="135"/>
          <p:cNvGrpSpPr/>
          <p:nvPr/>
        </p:nvGrpSpPr>
        <p:grpSpPr>
          <a:xfrm rot="0">
            <a:off x="5230237" y="8241561"/>
            <a:ext cx="3463290" cy="767714"/>
            <a:chOff x="0" y="0"/>
            <a:chExt cx="4617720" cy="1023618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4617720" cy="1023618"/>
            </a:xfrm>
            <a:custGeom>
              <a:avLst/>
              <a:gdLst/>
              <a:ahLst/>
              <a:cxnLst/>
              <a:rect r="r" b="b" t="t" l="l"/>
              <a:pathLst>
                <a:path h="1023618" w="4617720">
                  <a:moveTo>
                    <a:pt x="0" y="0"/>
                  </a:moveTo>
                  <a:lnTo>
                    <a:pt x="4617720" y="0"/>
                  </a:lnTo>
                  <a:lnTo>
                    <a:pt x="4617720" y="1023618"/>
                  </a:lnTo>
                  <a:lnTo>
                    <a:pt x="0" y="10236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168" r="0" b="-23632"/>
              </a:stretch>
            </a:blipFill>
          </p:spPr>
        </p:sp>
        <p:sp>
          <p:nvSpPr>
            <p:cNvPr name="TextBox 137" id="137"/>
            <p:cNvSpPr txBox="true"/>
            <p:nvPr/>
          </p:nvSpPr>
          <p:spPr>
            <a:xfrm>
              <a:off x="0" y="9525"/>
              <a:ext cx="4617720" cy="10140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99"/>
                </a:lnSpc>
              </a:pPr>
              <a:r>
                <a:rPr lang="en-US" sz="1999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도메인 모듈</a:t>
              </a:r>
            </a:p>
          </p:txBody>
        </p:sp>
      </p:grpSp>
      <p:sp>
        <p:nvSpPr>
          <p:cNvPr name="TextBox 138" id="138"/>
          <p:cNvSpPr txBox="true"/>
          <p:nvPr/>
        </p:nvSpPr>
        <p:spPr>
          <a:xfrm rot="0">
            <a:off x="5230237" y="8899737"/>
            <a:ext cx="346329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ai_agent · auth · nodes_graph …</a:t>
            </a:r>
          </a:p>
        </p:txBody>
      </p:sp>
      <p:grpSp>
        <p:nvGrpSpPr>
          <p:cNvPr name="Group 139" id="139"/>
          <p:cNvGrpSpPr/>
          <p:nvPr/>
        </p:nvGrpSpPr>
        <p:grpSpPr>
          <a:xfrm rot="0">
            <a:off x="9232642" y="7185237"/>
            <a:ext cx="4030980" cy="2073063"/>
            <a:chOff x="0" y="0"/>
            <a:chExt cx="5374640" cy="2764084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5374640" cy="2764084"/>
            </a:xfrm>
            <a:custGeom>
              <a:avLst/>
              <a:gdLst/>
              <a:ahLst/>
              <a:cxnLst/>
              <a:rect r="r" b="b" t="t" l="l"/>
              <a:pathLst>
                <a:path h="2764084" w="5374640">
                  <a:moveTo>
                    <a:pt x="0" y="89596"/>
                  </a:moveTo>
                  <a:cubicBezTo>
                    <a:pt x="0" y="40164"/>
                    <a:pt x="49530" y="0"/>
                    <a:pt x="110490" y="0"/>
                  </a:cubicBezTo>
                  <a:lnTo>
                    <a:pt x="5264150" y="0"/>
                  </a:lnTo>
                  <a:cubicBezTo>
                    <a:pt x="5325237" y="0"/>
                    <a:pt x="5374640" y="40164"/>
                    <a:pt x="5374640" y="89596"/>
                  </a:cubicBezTo>
                  <a:lnTo>
                    <a:pt x="5374640" y="2674488"/>
                  </a:lnTo>
                  <a:cubicBezTo>
                    <a:pt x="5374640" y="2724023"/>
                    <a:pt x="5325110" y="2764084"/>
                    <a:pt x="5264150" y="2764084"/>
                  </a:cubicBezTo>
                  <a:lnTo>
                    <a:pt x="110490" y="2764084"/>
                  </a:lnTo>
                  <a:cubicBezTo>
                    <a:pt x="49403" y="2764084"/>
                    <a:pt x="0" y="2723920"/>
                    <a:pt x="0" y="267448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F0"/>
              </a:solidFill>
              <a:prstDash val="solid"/>
              <a:miter/>
            </a:ln>
          </p:spPr>
        </p:sp>
      </p:grpSp>
      <p:grpSp>
        <p:nvGrpSpPr>
          <p:cNvPr name="Group 141" id="141"/>
          <p:cNvGrpSpPr/>
          <p:nvPr/>
        </p:nvGrpSpPr>
        <p:grpSpPr>
          <a:xfrm rot="0">
            <a:off x="9242167" y="7194762"/>
            <a:ext cx="4011930" cy="960120"/>
            <a:chOff x="0" y="0"/>
            <a:chExt cx="5349240" cy="1280160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34924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34924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5239512" y="0"/>
                  </a:lnTo>
                  <a:cubicBezTo>
                    <a:pt x="5300091" y="0"/>
                    <a:pt x="5349240" y="49149"/>
                    <a:pt x="5349240" y="109728"/>
                  </a:cubicBezTo>
                  <a:lnTo>
                    <a:pt x="5349240" y="1170432"/>
                  </a:lnTo>
                  <a:cubicBezTo>
                    <a:pt x="5349240" y="1231011"/>
                    <a:pt x="5300091" y="1280160"/>
                    <a:pt x="5239512" y="1280160"/>
                  </a:cubicBezTo>
                  <a:lnTo>
                    <a:pt x="109728" y="1280160"/>
                  </a:lnTo>
                  <a:cubicBezTo>
                    <a:pt x="49149" y="1280160"/>
                    <a:pt x="0" y="1231011"/>
                    <a:pt x="0" y="1170432"/>
                  </a:cubicBezTo>
                  <a:close/>
                </a:path>
              </a:pathLst>
            </a:custGeom>
            <a:solidFill>
              <a:srgbClr val="16A34A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9242167" y="7674822"/>
            <a:ext cx="4011930" cy="480060"/>
            <a:chOff x="0" y="0"/>
            <a:chExt cx="5349240" cy="640080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5349240" cy="640080"/>
            </a:xfrm>
            <a:custGeom>
              <a:avLst/>
              <a:gdLst/>
              <a:ahLst/>
              <a:cxnLst/>
              <a:rect r="r" b="b" t="t" l="l"/>
              <a:pathLst>
                <a:path h="640080" w="5349240">
                  <a:moveTo>
                    <a:pt x="0" y="0"/>
                  </a:moveTo>
                  <a:lnTo>
                    <a:pt x="5349240" y="0"/>
                  </a:lnTo>
                  <a:lnTo>
                    <a:pt x="5349240" y="640080"/>
                  </a:lnTo>
                  <a:lnTo>
                    <a:pt x="0" y="640080"/>
                  </a:lnTo>
                  <a:close/>
                </a:path>
              </a:pathLst>
            </a:custGeom>
            <a:solidFill>
              <a:srgbClr val="16A34A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9585067" y="7441650"/>
            <a:ext cx="480060" cy="480060"/>
            <a:chOff x="0" y="0"/>
            <a:chExt cx="640080" cy="640080"/>
          </a:xfrm>
        </p:grpSpPr>
        <p:sp>
          <p:nvSpPr>
            <p:cNvPr name="Freeform 146" id="146" descr="preencoded.png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0"/>
                  </a:moveTo>
                  <a:lnTo>
                    <a:pt x="640080" y="0"/>
                  </a:lnTo>
                  <a:lnTo>
                    <a:pt x="640080" y="640080"/>
                  </a:lnTo>
                  <a:lnTo>
                    <a:pt x="0" y="640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0174855" y="7194762"/>
            <a:ext cx="2914650" cy="960120"/>
            <a:chOff x="0" y="0"/>
            <a:chExt cx="3886200" cy="1280160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38862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3886200">
                  <a:moveTo>
                    <a:pt x="0" y="0"/>
                  </a:moveTo>
                  <a:lnTo>
                    <a:pt x="3886200" y="0"/>
                  </a:lnTo>
                  <a:lnTo>
                    <a:pt x="38862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151" r="0" b="-9151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0"/>
              <a:ext cx="3886200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services/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9585067" y="8212032"/>
            <a:ext cx="3463290" cy="767714"/>
            <a:chOff x="0" y="0"/>
            <a:chExt cx="4617720" cy="102361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4617720" cy="1023618"/>
            </a:xfrm>
            <a:custGeom>
              <a:avLst/>
              <a:gdLst/>
              <a:ahLst/>
              <a:cxnLst/>
              <a:rect r="r" b="b" t="t" l="l"/>
              <a:pathLst>
                <a:path h="1023618" w="4617720">
                  <a:moveTo>
                    <a:pt x="0" y="0"/>
                  </a:moveTo>
                  <a:lnTo>
                    <a:pt x="4617720" y="0"/>
                  </a:lnTo>
                  <a:lnTo>
                    <a:pt x="4617720" y="1023618"/>
                  </a:lnTo>
                  <a:lnTo>
                    <a:pt x="0" y="10236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168" r="0" b="-23632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9525"/>
              <a:ext cx="4617720" cy="10140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99"/>
                </a:lnSpc>
              </a:pPr>
              <a:r>
                <a:rPr lang="en-US" sz="1999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배포 단위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9569708" y="8869257"/>
            <a:ext cx="346329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api_server · frontend · agents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3518892" y="7185237"/>
            <a:ext cx="4030980" cy="2073063"/>
            <a:chOff x="0" y="0"/>
            <a:chExt cx="5374640" cy="2764084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374640" cy="2764084"/>
            </a:xfrm>
            <a:custGeom>
              <a:avLst/>
              <a:gdLst/>
              <a:ahLst/>
              <a:cxnLst/>
              <a:rect r="r" b="b" t="t" l="l"/>
              <a:pathLst>
                <a:path h="2764084" w="5374640">
                  <a:moveTo>
                    <a:pt x="0" y="89596"/>
                  </a:moveTo>
                  <a:cubicBezTo>
                    <a:pt x="0" y="40164"/>
                    <a:pt x="49530" y="0"/>
                    <a:pt x="110490" y="0"/>
                  </a:cubicBezTo>
                  <a:lnTo>
                    <a:pt x="5264150" y="0"/>
                  </a:lnTo>
                  <a:cubicBezTo>
                    <a:pt x="5325237" y="0"/>
                    <a:pt x="5374640" y="40164"/>
                    <a:pt x="5374640" y="89596"/>
                  </a:cubicBezTo>
                  <a:lnTo>
                    <a:pt x="5374640" y="2674488"/>
                  </a:lnTo>
                  <a:cubicBezTo>
                    <a:pt x="5374640" y="2724023"/>
                    <a:pt x="5325110" y="2764084"/>
                    <a:pt x="5264150" y="2764084"/>
                  </a:cubicBezTo>
                  <a:lnTo>
                    <a:pt x="110490" y="2764084"/>
                  </a:lnTo>
                  <a:cubicBezTo>
                    <a:pt x="49403" y="2764084"/>
                    <a:pt x="0" y="2723920"/>
                    <a:pt x="0" y="2674488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F0"/>
              </a:solidFill>
              <a:prstDash val="solid"/>
              <a:miter/>
            </a:ln>
          </p:spPr>
        </p:sp>
      </p:grpSp>
      <p:grpSp>
        <p:nvGrpSpPr>
          <p:cNvPr name="Group 156" id="156"/>
          <p:cNvGrpSpPr/>
          <p:nvPr/>
        </p:nvGrpSpPr>
        <p:grpSpPr>
          <a:xfrm rot="0">
            <a:off x="13528417" y="7194762"/>
            <a:ext cx="4011930" cy="960120"/>
            <a:chOff x="0" y="0"/>
            <a:chExt cx="5349240" cy="1280160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349240" cy="1280160"/>
            </a:xfrm>
            <a:custGeom>
              <a:avLst/>
              <a:gdLst/>
              <a:ahLst/>
              <a:cxnLst/>
              <a:rect r="r" b="b" t="t" l="l"/>
              <a:pathLst>
                <a:path h="1280160" w="534924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5239512" y="0"/>
                  </a:lnTo>
                  <a:cubicBezTo>
                    <a:pt x="5300091" y="0"/>
                    <a:pt x="5349240" y="49149"/>
                    <a:pt x="5349240" y="109728"/>
                  </a:cubicBezTo>
                  <a:lnTo>
                    <a:pt x="5349240" y="1170432"/>
                  </a:lnTo>
                  <a:cubicBezTo>
                    <a:pt x="5349240" y="1231011"/>
                    <a:pt x="5300091" y="1280160"/>
                    <a:pt x="5239512" y="1280160"/>
                  </a:cubicBezTo>
                  <a:lnTo>
                    <a:pt x="109728" y="1280160"/>
                  </a:lnTo>
                  <a:cubicBezTo>
                    <a:pt x="49149" y="1280160"/>
                    <a:pt x="0" y="1231011"/>
                    <a:pt x="0" y="1170432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58" id="158"/>
          <p:cNvGrpSpPr/>
          <p:nvPr/>
        </p:nvGrpSpPr>
        <p:grpSpPr>
          <a:xfrm rot="0">
            <a:off x="13528417" y="7674822"/>
            <a:ext cx="4011930" cy="480060"/>
            <a:chOff x="0" y="0"/>
            <a:chExt cx="5349240" cy="640080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349240" cy="640080"/>
            </a:xfrm>
            <a:custGeom>
              <a:avLst/>
              <a:gdLst/>
              <a:ahLst/>
              <a:cxnLst/>
              <a:rect r="r" b="b" t="t" l="l"/>
              <a:pathLst>
                <a:path h="640080" w="5349240">
                  <a:moveTo>
                    <a:pt x="0" y="0"/>
                  </a:moveTo>
                  <a:lnTo>
                    <a:pt x="5349240" y="0"/>
                  </a:lnTo>
                  <a:lnTo>
                    <a:pt x="5349240" y="640080"/>
                  </a:lnTo>
                  <a:lnTo>
                    <a:pt x="0" y="64008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160" id="160"/>
          <p:cNvGrpSpPr/>
          <p:nvPr/>
        </p:nvGrpSpPr>
        <p:grpSpPr>
          <a:xfrm rot="0">
            <a:off x="13871317" y="7441650"/>
            <a:ext cx="480060" cy="480060"/>
            <a:chOff x="0" y="0"/>
            <a:chExt cx="640080" cy="640080"/>
          </a:xfrm>
        </p:grpSpPr>
        <p:sp>
          <p:nvSpPr>
            <p:cNvPr name="Freeform 161" id="161" descr="preencoded.png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0"/>
                  </a:moveTo>
                  <a:lnTo>
                    <a:pt x="640080" y="0"/>
                  </a:lnTo>
                  <a:lnTo>
                    <a:pt x="640080" y="640080"/>
                  </a:lnTo>
                  <a:lnTo>
                    <a:pt x="0" y="640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162" id="162"/>
          <p:cNvGrpSpPr/>
          <p:nvPr/>
        </p:nvGrpSpPr>
        <p:grpSpPr>
          <a:xfrm rot="0">
            <a:off x="14461105" y="7194762"/>
            <a:ext cx="2914650" cy="960120"/>
            <a:chOff x="0" y="0"/>
            <a:chExt cx="3886200" cy="1280160"/>
          </a:xfrm>
        </p:grpSpPr>
        <p:sp>
          <p:nvSpPr>
            <p:cNvPr name="Freeform 163" id="163"/>
            <p:cNvSpPr/>
            <p:nvPr/>
          </p:nvSpPr>
          <p:spPr>
            <a:xfrm flipH="false" flipV="false" rot="0">
              <a:off x="0" y="0"/>
              <a:ext cx="38862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3886200">
                  <a:moveTo>
                    <a:pt x="0" y="0"/>
                  </a:moveTo>
                  <a:lnTo>
                    <a:pt x="3886200" y="0"/>
                  </a:lnTo>
                  <a:lnTo>
                    <a:pt x="38862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151" r="0" b="-9151"/>
              </a:stretch>
            </a:blipFill>
          </p:spPr>
        </p:sp>
        <p:sp>
          <p:nvSpPr>
            <p:cNvPr name="TextBox 164" id="164"/>
            <p:cNvSpPr txBox="true"/>
            <p:nvPr/>
          </p:nvSpPr>
          <p:spPr>
            <a:xfrm>
              <a:off x="0" y="0"/>
              <a:ext cx="3886200" cy="128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database/</a:t>
              </a:r>
            </a:p>
          </p:txBody>
        </p:sp>
      </p:grpSp>
      <p:grpSp>
        <p:nvGrpSpPr>
          <p:cNvPr name="Group 165" id="165"/>
          <p:cNvGrpSpPr/>
          <p:nvPr/>
        </p:nvGrpSpPr>
        <p:grpSpPr>
          <a:xfrm rot="0">
            <a:off x="13871317" y="8212032"/>
            <a:ext cx="3463290" cy="767714"/>
            <a:chOff x="0" y="0"/>
            <a:chExt cx="4617720" cy="1023618"/>
          </a:xfrm>
        </p:grpSpPr>
        <p:sp>
          <p:nvSpPr>
            <p:cNvPr name="Freeform 166" id="166"/>
            <p:cNvSpPr/>
            <p:nvPr/>
          </p:nvSpPr>
          <p:spPr>
            <a:xfrm flipH="false" flipV="false" rot="0">
              <a:off x="0" y="0"/>
              <a:ext cx="4617720" cy="1023618"/>
            </a:xfrm>
            <a:custGeom>
              <a:avLst/>
              <a:gdLst/>
              <a:ahLst/>
              <a:cxnLst/>
              <a:rect r="r" b="b" t="t" l="l"/>
              <a:pathLst>
                <a:path h="1023618" w="4617720">
                  <a:moveTo>
                    <a:pt x="0" y="0"/>
                  </a:moveTo>
                  <a:lnTo>
                    <a:pt x="4617720" y="0"/>
                  </a:lnTo>
                  <a:lnTo>
                    <a:pt x="4617720" y="1023618"/>
                  </a:lnTo>
                  <a:lnTo>
                    <a:pt x="0" y="10236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168" r="0" b="-23632"/>
              </a:stretch>
            </a:blipFill>
          </p:spPr>
        </p:sp>
        <p:sp>
          <p:nvSpPr>
            <p:cNvPr name="TextBox 167" id="167"/>
            <p:cNvSpPr txBox="true"/>
            <p:nvPr/>
          </p:nvSpPr>
          <p:spPr>
            <a:xfrm>
              <a:off x="0" y="9525"/>
              <a:ext cx="4617720" cy="10140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99"/>
                </a:lnSpc>
              </a:pPr>
              <a:r>
                <a:rPr lang="en-US" sz="1999" b="true">
                  <a:solidFill>
                    <a:srgbClr val="1E293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순수 SQL</a:t>
              </a:r>
            </a:p>
          </p:txBody>
        </p:sp>
      </p:grpSp>
      <p:sp>
        <p:nvSpPr>
          <p:cNvPr name="TextBox 168" id="168"/>
          <p:cNvSpPr txBox="true"/>
          <p:nvPr/>
        </p:nvSpPr>
        <p:spPr>
          <a:xfrm rot="0">
            <a:off x="13871317" y="8899737"/>
            <a:ext cx="346329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DDL · 마이그레이션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92203" y="3933296"/>
            <a:ext cx="1646932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2100" spc="630">
                <a:solidFill>
                  <a:srgbClr val="EA580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03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92203" y="4423220"/>
            <a:ext cx="6311652" cy="1290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06"/>
              </a:lnSpc>
            </a:pPr>
            <a:r>
              <a:rPr lang="en-US" b="true" sz="8100" spc="-202">
                <a:solidFill>
                  <a:srgbClr val="F6F4EE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아키텍처 설계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92203" y="5822971"/>
            <a:ext cx="15962836" cy="530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2700">
                <a:solidFill>
                  <a:srgbClr val="B5BFCC"/>
                </a:solidFill>
                <a:latin typeface="Noto Sans Kr"/>
                <a:ea typeface="Noto Sans Kr"/>
                <a:cs typeface="Noto Sans Kr"/>
                <a:sym typeface="Noto Sans Kr"/>
              </a:rPr>
              <a:t>Clean Architecture · DIP · AI Native Engineering · 모노레포 의존성 · GCP 배포.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25503" y="9707880"/>
            <a:ext cx="59686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spc="6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15 /44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76275" y="411480"/>
            <a:ext cx="8229600" cy="637413"/>
            <a:chOff x="0" y="0"/>
            <a:chExt cx="10972800" cy="84988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849884"/>
            </a:xfrm>
            <a:custGeom>
              <a:avLst/>
              <a:gdLst/>
              <a:ahLst/>
              <a:cxnLst/>
              <a:rect r="r" b="b" t="t" l="l"/>
              <a:pathLst>
                <a:path h="84988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3913" r="0" b="-18922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1097280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065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PART 03</a:t>
              </a:r>
              <a:r>
                <a:rPr lang="en-US" sz="1650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아키텍처 명세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012680" y="411480"/>
            <a:ext cx="7612380" cy="637413"/>
            <a:chOff x="0" y="0"/>
            <a:chExt cx="10149840" cy="84988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49840" cy="849884"/>
            </a:xfrm>
            <a:custGeom>
              <a:avLst/>
              <a:gdLst/>
              <a:ahLst/>
              <a:cxnLst/>
              <a:rect r="r" b="b" t="t" l="l"/>
              <a:pathLst>
                <a:path h="84988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5045" r="0" b="-17035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014984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 spc="150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시스템 아키텍처 명세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85800" y="800100"/>
            <a:ext cx="15087600" cy="1338834"/>
            <a:chOff x="0" y="0"/>
            <a:chExt cx="20116800" cy="178511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116800" cy="1785112"/>
            </a:xfrm>
            <a:custGeom>
              <a:avLst/>
              <a:gdLst/>
              <a:ahLst/>
              <a:cxnLst/>
              <a:rect r="r" b="b" t="t" l="l"/>
              <a:pathLst>
                <a:path h="1785112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785112"/>
                  </a:lnTo>
                  <a:lnTo>
                    <a:pt x="0" y="178511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7822" r="0" b="-151339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0116800" cy="17851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140"/>
                </a:lnSpc>
              </a:pPr>
              <a:r>
                <a:rPr lang="en-US" sz="3450" b="true">
                  <a:solidFill>
                    <a:srgbClr val="1F293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Agentic AI Workflow System - 전체 아키텍처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5800" y="1728216"/>
            <a:ext cx="16459200" cy="637413"/>
            <a:chOff x="0" y="0"/>
            <a:chExt cx="21945600" cy="8498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849884"/>
            </a:xfrm>
            <a:custGeom>
              <a:avLst/>
              <a:gdLst/>
              <a:ahLst/>
              <a:cxnLst/>
              <a:rect r="r" b="b" t="t" l="l"/>
              <a:pathLst>
                <a:path h="84988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849884"/>
                  </a:lnTo>
                  <a:lnTo>
                    <a:pt x="0" y="8498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66559" r="0" b="-439721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945600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6B728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요청 → 생성(Supervisor 멀티에이전트 루프) → 위상정렬 실행까지, 전 모듈이 어떻게 이어지는가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437876" y="9545955"/>
            <a:ext cx="6858000" cy="582930"/>
            <a:chOff x="0" y="0"/>
            <a:chExt cx="91440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44000" cy="777240"/>
            </a:xfrm>
            <a:custGeom>
              <a:avLst/>
              <a:gdLst/>
              <a:ahLst/>
              <a:cxnLst/>
              <a:rect r="r" b="b" t="t" l="l"/>
              <a:pathLst>
                <a:path h="77724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3941" r="0" b="-16452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9144000" cy="777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Architecture — End-to-End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16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886850" y="9608820"/>
            <a:ext cx="17627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|  전체아키텍처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76275" y="2365629"/>
            <a:ext cx="11660139" cy="491916"/>
            <a:chOff x="0" y="0"/>
            <a:chExt cx="15546852" cy="65588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5546849" cy="655877"/>
            </a:xfrm>
            <a:custGeom>
              <a:avLst/>
              <a:gdLst/>
              <a:ahLst/>
              <a:cxnLst/>
              <a:rect r="r" b="b" t="t" l="l"/>
              <a:pathLst>
                <a:path h="655877" w="15546849">
                  <a:moveTo>
                    <a:pt x="0" y="0"/>
                  </a:moveTo>
                  <a:lnTo>
                    <a:pt x="15546849" y="0"/>
                  </a:lnTo>
                  <a:lnTo>
                    <a:pt x="15546849" y="655877"/>
                  </a:lnTo>
                  <a:lnTo>
                    <a:pt x="0" y="6558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7079" r="5821" b="-36289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15546852" cy="665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1"/>
                </a:lnSpc>
              </a:pPr>
              <a:r>
                <a:rPr lang="en-US" b="true" sz="1275" spc="4">
                  <a:solidFill>
                    <a:srgbClr val="8A949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GENERATION · 생성 (Supervisor 루프)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737008" y="2734738"/>
            <a:ext cx="1773313" cy="730320"/>
            <a:chOff x="0" y="0"/>
            <a:chExt cx="2364417" cy="973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364455" cy="973899"/>
            </a:xfrm>
            <a:custGeom>
              <a:avLst/>
              <a:gdLst/>
              <a:ahLst/>
              <a:cxnLst/>
              <a:rect r="r" b="b" t="t" l="l"/>
              <a:pathLst>
                <a:path h="973899" w="2364455">
                  <a:moveTo>
                    <a:pt x="0" y="97410"/>
                  </a:moveTo>
                  <a:cubicBezTo>
                    <a:pt x="0" y="43610"/>
                    <a:pt x="53670" y="0"/>
                    <a:pt x="119882" y="0"/>
                  </a:cubicBezTo>
                  <a:lnTo>
                    <a:pt x="2244576" y="0"/>
                  </a:lnTo>
                  <a:cubicBezTo>
                    <a:pt x="2310787" y="0"/>
                    <a:pt x="2364455" y="43610"/>
                    <a:pt x="2364455" y="97410"/>
                  </a:cubicBezTo>
                  <a:lnTo>
                    <a:pt x="2364455" y="876470"/>
                  </a:lnTo>
                  <a:cubicBezTo>
                    <a:pt x="2364455" y="930270"/>
                    <a:pt x="2310787" y="973899"/>
                    <a:pt x="2244576" y="973899"/>
                  </a:cubicBezTo>
                  <a:lnTo>
                    <a:pt x="119882" y="973899"/>
                  </a:lnTo>
                  <a:cubicBezTo>
                    <a:pt x="53670" y="973772"/>
                    <a:pt x="0" y="930161"/>
                    <a:pt x="0" y="876361"/>
                  </a:cubicBezTo>
                  <a:close/>
                </a:path>
              </a:pathLst>
            </a:custGeom>
            <a:solidFill>
              <a:srgbClr val="FCEAE3"/>
            </a:solidFill>
            <a:ln w="22878" cap="sq">
              <a:solidFill>
                <a:srgbClr val="E08A6B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749155" y="2744607"/>
            <a:ext cx="1749019" cy="710589"/>
            <a:chOff x="0" y="0"/>
            <a:chExt cx="2332026" cy="94745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32027" cy="947446"/>
            </a:xfrm>
            <a:custGeom>
              <a:avLst/>
              <a:gdLst/>
              <a:ahLst/>
              <a:cxnLst/>
              <a:rect r="r" b="b" t="t" l="l"/>
              <a:pathLst>
                <a:path h="947446" w="2332027">
                  <a:moveTo>
                    <a:pt x="0" y="0"/>
                  </a:moveTo>
                  <a:lnTo>
                    <a:pt x="2332027" y="0"/>
                  </a:lnTo>
                  <a:lnTo>
                    <a:pt x="2332027" y="947446"/>
                  </a:lnTo>
                  <a:lnTo>
                    <a:pt x="0" y="9474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3328" t="0" r="-7507" b="-1590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9525"/>
              <a:ext cx="2332026" cy="93792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A84E2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요청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A84E2C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사용자 자연어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2733804" y="2734738"/>
            <a:ext cx="2210570" cy="730320"/>
            <a:chOff x="0" y="0"/>
            <a:chExt cx="2947427" cy="9737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947541" cy="973899"/>
            </a:xfrm>
            <a:custGeom>
              <a:avLst/>
              <a:gdLst/>
              <a:ahLst/>
              <a:cxnLst/>
              <a:rect r="r" b="b" t="t" l="l"/>
              <a:pathLst>
                <a:path h="973899" w="2947541">
                  <a:moveTo>
                    <a:pt x="0" y="97410"/>
                  </a:moveTo>
                  <a:cubicBezTo>
                    <a:pt x="0" y="43610"/>
                    <a:pt x="53670" y="0"/>
                    <a:pt x="119882" y="0"/>
                  </a:cubicBezTo>
                  <a:lnTo>
                    <a:pt x="2827667" y="0"/>
                  </a:lnTo>
                  <a:cubicBezTo>
                    <a:pt x="2893878" y="0"/>
                    <a:pt x="2947541" y="43610"/>
                    <a:pt x="2947541" y="97410"/>
                  </a:cubicBezTo>
                  <a:lnTo>
                    <a:pt x="2947541" y="876470"/>
                  </a:lnTo>
                  <a:cubicBezTo>
                    <a:pt x="2947541" y="930270"/>
                    <a:pt x="2893878" y="973899"/>
                    <a:pt x="2827667" y="973899"/>
                  </a:cubicBezTo>
                  <a:lnTo>
                    <a:pt x="119882" y="973899"/>
                  </a:lnTo>
                  <a:cubicBezTo>
                    <a:pt x="53670" y="973772"/>
                    <a:pt x="0" y="930161"/>
                    <a:pt x="0" y="876361"/>
                  </a:cubicBezTo>
                  <a:close/>
                </a:path>
              </a:pathLst>
            </a:custGeom>
            <a:solidFill>
              <a:srgbClr val="E3EEFB"/>
            </a:solidFill>
            <a:ln w="22878" cap="sq">
              <a:solidFill>
                <a:srgbClr val="3B7DD8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2745950" y="2744607"/>
            <a:ext cx="2186277" cy="710589"/>
            <a:chOff x="0" y="0"/>
            <a:chExt cx="2915036" cy="94745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915034" cy="947446"/>
            </a:xfrm>
            <a:custGeom>
              <a:avLst/>
              <a:gdLst/>
              <a:ahLst/>
              <a:cxnLst/>
              <a:rect r="r" b="b" t="t" l="l"/>
              <a:pathLst>
                <a:path h="947446" w="2915034">
                  <a:moveTo>
                    <a:pt x="0" y="0"/>
                  </a:moveTo>
                  <a:lnTo>
                    <a:pt x="2915034" y="0"/>
                  </a:lnTo>
                  <a:lnTo>
                    <a:pt x="2915034" y="947446"/>
                  </a:lnTo>
                  <a:lnTo>
                    <a:pt x="0" y="9474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244" t="0" r="4576" b="-15905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9525"/>
              <a:ext cx="2915036" cy="93792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1E54A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Frontend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1E54A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Next.js·React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138709" y="2734738"/>
            <a:ext cx="2502068" cy="730320"/>
            <a:chOff x="0" y="0"/>
            <a:chExt cx="3336091" cy="97376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336180" cy="973899"/>
            </a:xfrm>
            <a:custGeom>
              <a:avLst/>
              <a:gdLst/>
              <a:ahLst/>
              <a:cxnLst/>
              <a:rect r="r" b="b" t="t" l="l"/>
              <a:pathLst>
                <a:path h="973899" w="3336180">
                  <a:moveTo>
                    <a:pt x="0" y="97410"/>
                  </a:moveTo>
                  <a:cubicBezTo>
                    <a:pt x="0" y="43610"/>
                    <a:pt x="53670" y="0"/>
                    <a:pt x="119882" y="0"/>
                  </a:cubicBezTo>
                  <a:lnTo>
                    <a:pt x="3216304" y="0"/>
                  </a:lnTo>
                  <a:cubicBezTo>
                    <a:pt x="3282515" y="0"/>
                    <a:pt x="3336180" y="43610"/>
                    <a:pt x="3336180" y="97410"/>
                  </a:cubicBezTo>
                  <a:lnTo>
                    <a:pt x="3336180" y="876470"/>
                  </a:lnTo>
                  <a:cubicBezTo>
                    <a:pt x="3336180" y="930270"/>
                    <a:pt x="3282515" y="973899"/>
                    <a:pt x="3216304" y="973899"/>
                  </a:cubicBezTo>
                  <a:lnTo>
                    <a:pt x="119882" y="973899"/>
                  </a:lnTo>
                  <a:cubicBezTo>
                    <a:pt x="53670" y="973772"/>
                    <a:pt x="0" y="930161"/>
                    <a:pt x="0" y="876361"/>
                  </a:cubicBezTo>
                  <a:close/>
                </a:path>
              </a:pathLst>
            </a:custGeom>
            <a:solidFill>
              <a:srgbClr val="21304A"/>
            </a:solidFill>
            <a:ln w="22878" cap="sq">
              <a:solidFill>
                <a:srgbClr val="21304A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5150856" y="2744607"/>
            <a:ext cx="2477775" cy="710589"/>
            <a:chOff x="0" y="0"/>
            <a:chExt cx="3303700" cy="94745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303705" cy="947446"/>
            </a:xfrm>
            <a:custGeom>
              <a:avLst/>
              <a:gdLst/>
              <a:ahLst/>
              <a:cxnLst/>
              <a:rect r="r" b="b" t="t" l="l"/>
              <a:pathLst>
                <a:path h="947446" w="3303705">
                  <a:moveTo>
                    <a:pt x="0" y="0"/>
                  </a:moveTo>
                  <a:lnTo>
                    <a:pt x="3303705" y="0"/>
                  </a:lnTo>
                  <a:lnTo>
                    <a:pt x="3303705" y="947446"/>
                  </a:lnTo>
                  <a:lnTo>
                    <a:pt x="0" y="9474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035" r="5821" b="-21941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9525"/>
              <a:ext cx="3303700" cy="93792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api_server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Composition Root·FastAPI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6131838" y="3802256"/>
            <a:ext cx="2206514" cy="1141545"/>
            <a:chOff x="0" y="0"/>
            <a:chExt cx="2942019" cy="152206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942019" cy="1522073"/>
            </a:xfrm>
            <a:custGeom>
              <a:avLst/>
              <a:gdLst/>
              <a:ahLst/>
              <a:cxnLst/>
              <a:rect r="r" b="b" t="t" l="l"/>
              <a:pathLst>
                <a:path h="1522073" w="2942019">
                  <a:moveTo>
                    <a:pt x="0" y="760981"/>
                  </a:moveTo>
                  <a:lnTo>
                    <a:pt x="1471077" y="0"/>
                  </a:lnTo>
                  <a:lnTo>
                    <a:pt x="2942019" y="760981"/>
                  </a:lnTo>
                  <a:lnTo>
                    <a:pt x="1471077" y="1522073"/>
                  </a:lnTo>
                  <a:close/>
                </a:path>
              </a:pathLst>
            </a:custGeom>
            <a:solidFill>
              <a:srgbClr val="2E9D68"/>
            </a:solidFill>
            <a:ln w="19065" cap="sq">
              <a:solidFill>
                <a:srgbClr val="2E9D68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6141962" y="3765333"/>
            <a:ext cx="2186277" cy="1125093"/>
            <a:chOff x="0" y="0"/>
            <a:chExt cx="2915036" cy="150012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915034" cy="1500124"/>
            </a:xfrm>
            <a:custGeom>
              <a:avLst/>
              <a:gdLst/>
              <a:ahLst/>
              <a:cxnLst/>
              <a:rect r="r" b="b" t="t" l="l"/>
              <a:pathLst>
                <a:path h="1500124" w="2915034">
                  <a:moveTo>
                    <a:pt x="0" y="0"/>
                  </a:moveTo>
                  <a:lnTo>
                    <a:pt x="2915034" y="0"/>
                  </a:lnTo>
                  <a:lnTo>
                    <a:pt x="2915034" y="1500124"/>
                  </a:lnTo>
                  <a:lnTo>
                    <a:pt x="0" y="15001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9439" t="0" r="-23618" b="-15905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2915036" cy="150012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59"/>
                </a:lnSpc>
              </a:pPr>
              <a:r>
                <a:rPr lang="en-US" b="true" sz="1299" spc="5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orchestrator</a:t>
              </a:r>
            </a:p>
            <a:p>
              <a:pPr algn="ctr">
                <a:lnSpc>
                  <a:spcPts val="1559"/>
                </a:lnSpc>
              </a:pPr>
              <a:r>
                <a:rPr lang="en-US" sz="1299" spc="5">
                  <a:solidFill>
                    <a:srgbClr val="E8F5E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Supervisor 루프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737008" y="3859831"/>
            <a:ext cx="2429199" cy="671110"/>
            <a:chOff x="0" y="0"/>
            <a:chExt cx="3238931" cy="894813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238957" cy="894889"/>
            </a:xfrm>
            <a:custGeom>
              <a:avLst/>
              <a:gdLst/>
              <a:ahLst/>
              <a:cxnLst/>
              <a:rect r="r" b="b" t="t" l="l"/>
              <a:pathLst>
                <a:path h="894889" w="3238957">
                  <a:moveTo>
                    <a:pt x="0" y="97629"/>
                  </a:moveTo>
                  <a:cubicBezTo>
                    <a:pt x="0" y="43719"/>
                    <a:pt x="53805" y="0"/>
                    <a:pt x="120151" y="0"/>
                  </a:cubicBezTo>
                  <a:lnTo>
                    <a:pt x="3118807" y="0"/>
                  </a:lnTo>
                  <a:cubicBezTo>
                    <a:pt x="3185153" y="0"/>
                    <a:pt x="3238957" y="43719"/>
                    <a:pt x="3238957" y="97629"/>
                  </a:cubicBezTo>
                  <a:lnTo>
                    <a:pt x="3238957" y="797249"/>
                  </a:lnTo>
                  <a:cubicBezTo>
                    <a:pt x="3238957" y="851159"/>
                    <a:pt x="3185153" y="894889"/>
                    <a:pt x="3118807" y="894889"/>
                  </a:cubicBezTo>
                  <a:lnTo>
                    <a:pt x="120151" y="894889"/>
                  </a:lnTo>
                  <a:cubicBezTo>
                    <a:pt x="53805" y="894769"/>
                    <a:pt x="0" y="851159"/>
                    <a:pt x="0" y="797249"/>
                  </a:cubicBezTo>
                  <a:close/>
                </a:path>
              </a:pathLst>
            </a:custGeom>
            <a:solidFill>
              <a:srgbClr val="EFEAF6"/>
            </a:solidFill>
            <a:ln w="22878" cap="sq">
              <a:solidFill>
                <a:srgbClr val="9579C9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749155" y="3853880"/>
            <a:ext cx="2404905" cy="651370"/>
            <a:chOff x="0" y="0"/>
            <a:chExt cx="3206541" cy="86849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206537" cy="868493"/>
            </a:xfrm>
            <a:custGeom>
              <a:avLst/>
              <a:gdLst/>
              <a:ahLst/>
              <a:cxnLst/>
              <a:rect r="r" b="b" t="t" l="l"/>
              <a:pathLst>
                <a:path h="868493" w="3206537">
                  <a:moveTo>
                    <a:pt x="0" y="0"/>
                  </a:moveTo>
                  <a:lnTo>
                    <a:pt x="3206537" y="0"/>
                  </a:lnTo>
                  <a:lnTo>
                    <a:pt x="3206537" y="868493"/>
                  </a:lnTo>
                  <a:lnTo>
                    <a:pt x="0" y="86849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799" r="5821" b="-2570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525"/>
              <a:ext cx="3206541" cy="8589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5B3E8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AgentState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5B3E8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공유 blackboard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737008" y="4653314"/>
            <a:ext cx="2429199" cy="635575"/>
            <a:chOff x="0" y="0"/>
            <a:chExt cx="3238931" cy="84743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238823" cy="847434"/>
            </a:xfrm>
            <a:custGeom>
              <a:avLst/>
              <a:gdLst/>
              <a:ahLst/>
              <a:cxnLst/>
              <a:rect r="r" b="b" t="t" l="l"/>
              <a:pathLst>
                <a:path h="847434" w="3238823">
                  <a:moveTo>
                    <a:pt x="0" y="97739"/>
                  </a:moveTo>
                  <a:cubicBezTo>
                    <a:pt x="0" y="43829"/>
                    <a:pt x="53940" y="0"/>
                    <a:pt x="120286" y="0"/>
                  </a:cubicBezTo>
                  <a:lnTo>
                    <a:pt x="3118538" y="0"/>
                  </a:lnTo>
                  <a:cubicBezTo>
                    <a:pt x="3185019" y="0"/>
                    <a:pt x="3238823" y="43829"/>
                    <a:pt x="3238823" y="97739"/>
                  </a:cubicBezTo>
                  <a:lnTo>
                    <a:pt x="3238823" y="749695"/>
                  </a:lnTo>
                  <a:cubicBezTo>
                    <a:pt x="3238823" y="803714"/>
                    <a:pt x="3184884" y="847434"/>
                    <a:pt x="3118538" y="847434"/>
                  </a:cubicBezTo>
                  <a:lnTo>
                    <a:pt x="120286" y="847434"/>
                  </a:lnTo>
                  <a:cubicBezTo>
                    <a:pt x="53940" y="847434"/>
                    <a:pt x="0" y="803714"/>
                    <a:pt x="0" y="749695"/>
                  </a:cubicBezTo>
                  <a:close/>
                </a:path>
              </a:pathLst>
            </a:custGeom>
            <a:solidFill>
              <a:srgbClr val="FCEEDB"/>
            </a:solidFill>
            <a:ln w="22878" cap="sq">
              <a:solidFill>
                <a:srgbClr val="E0913B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749155" y="4663183"/>
            <a:ext cx="2404905" cy="615844"/>
            <a:chOff x="0" y="0"/>
            <a:chExt cx="3206541" cy="82112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206537" cy="821120"/>
            </a:xfrm>
            <a:custGeom>
              <a:avLst/>
              <a:gdLst/>
              <a:ahLst/>
              <a:cxnLst/>
              <a:rect r="r" b="b" t="t" l="l"/>
              <a:pathLst>
                <a:path h="821120" w="3206537">
                  <a:moveTo>
                    <a:pt x="0" y="0"/>
                  </a:moveTo>
                  <a:lnTo>
                    <a:pt x="3206537" y="0"/>
                  </a:lnTo>
                  <a:lnTo>
                    <a:pt x="3206537" y="821120"/>
                  </a:lnTo>
                  <a:lnTo>
                    <a:pt x="0" y="82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08" r="5821" b="-29614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9525"/>
              <a:ext cx="3206541" cy="8116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9A5A1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GCS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9A5A1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PersonalMemory·recipe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3652040" y="4653314"/>
            <a:ext cx="2793576" cy="635575"/>
            <a:chOff x="0" y="0"/>
            <a:chExt cx="3724769" cy="84743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724688" cy="847434"/>
            </a:xfrm>
            <a:custGeom>
              <a:avLst/>
              <a:gdLst/>
              <a:ahLst/>
              <a:cxnLst/>
              <a:rect r="r" b="b" t="t" l="l"/>
              <a:pathLst>
                <a:path h="847434" w="3724688">
                  <a:moveTo>
                    <a:pt x="0" y="97739"/>
                  </a:moveTo>
                  <a:cubicBezTo>
                    <a:pt x="0" y="43829"/>
                    <a:pt x="53940" y="0"/>
                    <a:pt x="120286" y="0"/>
                  </a:cubicBezTo>
                  <a:lnTo>
                    <a:pt x="3604402" y="0"/>
                  </a:lnTo>
                  <a:cubicBezTo>
                    <a:pt x="3670883" y="0"/>
                    <a:pt x="3724688" y="43829"/>
                    <a:pt x="3724688" y="97739"/>
                  </a:cubicBezTo>
                  <a:lnTo>
                    <a:pt x="3724688" y="749695"/>
                  </a:lnTo>
                  <a:cubicBezTo>
                    <a:pt x="3724688" y="803714"/>
                    <a:pt x="3670748" y="847434"/>
                    <a:pt x="3604402" y="847434"/>
                  </a:cubicBezTo>
                  <a:lnTo>
                    <a:pt x="120286" y="847434"/>
                  </a:lnTo>
                  <a:cubicBezTo>
                    <a:pt x="53940" y="847434"/>
                    <a:pt x="0" y="803714"/>
                    <a:pt x="0" y="749695"/>
                  </a:cubicBezTo>
                  <a:close/>
                </a:path>
              </a:pathLst>
            </a:custGeom>
            <a:solidFill>
              <a:srgbClr val="F1EAF8"/>
            </a:solidFill>
            <a:ln w="22878" cap="sq">
              <a:solidFill>
                <a:srgbClr val="9579C9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3664187" y="4663183"/>
            <a:ext cx="2769283" cy="615844"/>
            <a:chOff x="0" y="0"/>
            <a:chExt cx="3692378" cy="821125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692376" cy="821120"/>
            </a:xfrm>
            <a:custGeom>
              <a:avLst/>
              <a:gdLst/>
              <a:ahLst/>
              <a:cxnLst/>
              <a:rect r="r" b="b" t="t" l="l"/>
              <a:pathLst>
                <a:path h="821120" w="3692376">
                  <a:moveTo>
                    <a:pt x="0" y="0"/>
                  </a:moveTo>
                  <a:lnTo>
                    <a:pt x="3692376" y="0"/>
                  </a:lnTo>
                  <a:lnTo>
                    <a:pt x="3692376" y="821120"/>
                  </a:lnTo>
                  <a:lnTo>
                    <a:pt x="0" y="821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566" r="5821" b="-40471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9525"/>
              <a:ext cx="3692378" cy="8116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6A4A9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Personalization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6A4A9C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메모리 북엔드·매 턴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0283740" y="2734738"/>
            <a:ext cx="2939325" cy="730320"/>
            <a:chOff x="0" y="0"/>
            <a:chExt cx="3919101" cy="97376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919139" cy="973899"/>
            </a:xfrm>
            <a:custGeom>
              <a:avLst/>
              <a:gdLst/>
              <a:ahLst/>
              <a:cxnLst/>
              <a:rect r="r" b="b" t="t" l="l"/>
              <a:pathLst>
                <a:path h="973899" w="3919139">
                  <a:moveTo>
                    <a:pt x="0" y="97410"/>
                  </a:moveTo>
                  <a:cubicBezTo>
                    <a:pt x="0" y="43610"/>
                    <a:pt x="53670" y="0"/>
                    <a:pt x="119882" y="0"/>
                  </a:cubicBezTo>
                  <a:lnTo>
                    <a:pt x="3799260" y="0"/>
                  </a:lnTo>
                  <a:cubicBezTo>
                    <a:pt x="3865471" y="0"/>
                    <a:pt x="3919139" y="43610"/>
                    <a:pt x="3919139" y="97410"/>
                  </a:cubicBezTo>
                  <a:lnTo>
                    <a:pt x="3919139" y="876470"/>
                  </a:lnTo>
                  <a:cubicBezTo>
                    <a:pt x="3919139" y="930270"/>
                    <a:pt x="3865471" y="973899"/>
                    <a:pt x="3799260" y="973899"/>
                  </a:cubicBezTo>
                  <a:lnTo>
                    <a:pt x="119882" y="973899"/>
                  </a:lnTo>
                  <a:cubicBezTo>
                    <a:pt x="53670" y="973772"/>
                    <a:pt x="0" y="930161"/>
                    <a:pt x="0" y="876361"/>
                  </a:cubicBezTo>
                  <a:close/>
                </a:path>
              </a:pathLst>
            </a:custGeom>
            <a:solidFill>
              <a:srgbClr val="FCEAE3"/>
            </a:solidFill>
            <a:ln w="22878" cap="sq">
              <a:solidFill>
                <a:srgbClr val="E08A6B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0295887" y="2744607"/>
            <a:ext cx="2915032" cy="710589"/>
            <a:chOff x="0" y="0"/>
            <a:chExt cx="3886710" cy="947451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886712" cy="947446"/>
            </a:xfrm>
            <a:custGeom>
              <a:avLst/>
              <a:gdLst/>
              <a:ahLst/>
              <a:cxnLst/>
              <a:rect r="r" b="b" t="t" l="l"/>
              <a:pathLst>
                <a:path h="947446" w="3886712">
                  <a:moveTo>
                    <a:pt x="0" y="0"/>
                  </a:moveTo>
                  <a:lnTo>
                    <a:pt x="3886712" y="0"/>
                  </a:lnTo>
                  <a:lnTo>
                    <a:pt x="3886712" y="947446"/>
                  </a:lnTo>
                  <a:lnTo>
                    <a:pt x="0" y="9474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327" r="5821" b="-33233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9525"/>
              <a:ext cx="3886710" cy="93792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A84E2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Composer · 20-node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A84E2C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two-shot DAG·QA-promote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0283740" y="3705868"/>
            <a:ext cx="2939325" cy="730320"/>
            <a:chOff x="0" y="0"/>
            <a:chExt cx="3919101" cy="97376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919139" cy="973899"/>
            </a:xfrm>
            <a:custGeom>
              <a:avLst/>
              <a:gdLst/>
              <a:ahLst/>
              <a:cxnLst/>
              <a:rect r="r" b="b" t="t" l="l"/>
              <a:pathLst>
                <a:path h="973899" w="3919139">
                  <a:moveTo>
                    <a:pt x="0" y="97410"/>
                  </a:moveTo>
                  <a:cubicBezTo>
                    <a:pt x="0" y="43610"/>
                    <a:pt x="53670" y="0"/>
                    <a:pt x="119882" y="0"/>
                  </a:cubicBezTo>
                  <a:lnTo>
                    <a:pt x="3799260" y="0"/>
                  </a:lnTo>
                  <a:cubicBezTo>
                    <a:pt x="3865471" y="0"/>
                    <a:pt x="3919139" y="43610"/>
                    <a:pt x="3919139" y="97410"/>
                  </a:cubicBezTo>
                  <a:lnTo>
                    <a:pt x="3919139" y="876470"/>
                  </a:lnTo>
                  <a:cubicBezTo>
                    <a:pt x="3919139" y="930270"/>
                    <a:pt x="3865471" y="973899"/>
                    <a:pt x="3799260" y="973899"/>
                  </a:cubicBezTo>
                  <a:lnTo>
                    <a:pt x="119882" y="973899"/>
                  </a:lnTo>
                  <a:cubicBezTo>
                    <a:pt x="53670" y="973772"/>
                    <a:pt x="0" y="930161"/>
                    <a:pt x="0" y="876361"/>
                  </a:cubicBezTo>
                  <a:close/>
                </a:path>
              </a:pathLst>
            </a:custGeom>
            <a:solidFill>
              <a:srgbClr val="E2F3F0"/>
            </a:solidFill>
            <a:ln w="22878" cap="sq">
              <a:solidFill>
                <a:srgbClr val="4CA08C"/>
              </a:solidFill>
              <a:prstDash val="solid"/>
              <a:miter/>
            </a:ln>
          </p:spPr>
        </p:sp>
      </p:grpSp>
      <p:grpSp>
        <p:nvGrpSpPr>
          <p:cNvPr name="Group 64" id="64"/>
          <p:cNvGrpSpPr/>
          <p:nvPr/>
        </p:nvGrpSpPr>
        <p:grpSpPr>
          <a:xfrm rot="0">
            <a:off x="10295887" y="3715737"/>
            <a:ext cx="2915032" cy="710589"/>
            <a:chOff x="0" y="0"/>
            <a:chExt cx="3886710" cy="947451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886712" cy="947446"/>
            </a:xfrm>
            <a:custGeom>
              <a:avLst/>
              <a:gdLst/>
              <a:ahLst/>
              <a:cxnLst/>
              <a:rect r="r" b="b" t="t" l="l"/>
              <a:pathLst>
                <a:path h="947446" w="3886712">
                  <a:moveTo>
                    <a:pt x="0" y="0"/>
                  </a:moveTo>
                  <a:lnTo>
                    <a:pt x="3886712" y="0"/>
                  </a:lnTo>
                  <a:lnTo>
                    <a:pt x="3886712" y="947446"/>
                  </a:lnTo>
                  <a:lnTo>
                    <a:pt x="0" y="9474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327" r="5821" b="-33233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9525"/>
              <a:ext cx="3886710" cy="93792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1F6B5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Skills Builder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1F6B5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스킬 빌드·SOP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0283740" y="4677006"/>
            <a:ext cx="2939325" cy="730320"/>
            <a:chOff x="0" y="0"/>
            <a:chExt cx="3919101" cy="97376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919139" cy="973899"/>
            </a:xfrm>
            <a:custGeom>
              <a:avLst/>
              <a:gdLst/>
              <a:ahLst/>
              <a:cxnLst/>
              <a:rect r="r" b="b" t="t" l="l"/>
              <a:pathLst>
                <a:path h="973899" w="3919139">
                  <a:moveTo>
                    <a:pt x="0" y="97410"/>
                  </a:moveTo>
                  <a:cubicBezTo>
                    <a:pt x="0" y="43610"/>
                    <a:pt x="53670" y="0"/>
                    <a:pt x="119882" y="0"/>
                  </a:cubicBezTo>
                  <a:lnTo>
                    <a:pt x="3799260" y="0"/>
                  </a:lnTo>
                  <a:cubicBezTo>
                    <a:pt x="3865471" y="0"/>
                    <a:pt x="3919139" y="43610"/>
                    <a:pt x="3919139" y="97410"/>
                  </a:cubicBezTo>
                  <a:lnTo>
                    <a:pt x="3919139" y="876470"/>
                  </a:lnTo>
                  <a:cubicBezTo>
                    <a:pt x="3919139" y="930270"/>
                    <a:pt x="3865471" y="973899"/>
                    <a:pt x="3799260" y="973899"/>
                  </a:cubicBezTo>
                  <a:lnTo>
                    <a:pt x="119882" y="973899"/>
                  </a:lnTo>
                  <a:cubicBezTo>
                    <a:pt x="53670" y="973772"/>
                    <a:pt x="0" y="930161"/>
                    <a:pt x="0" y="876361"/>
                  </a:cubicBezTo>
                  <a:close/>
                </a:path>
              </a:pathLst>
            </a:custGeom>
            <a:solidFill>
              <a:srgbClr val="E9F0FB"/>
            </a:solidFill>
            <a:ln w="22878" cap="sq">
              <a:solidFill>
                <a:srgbClr val="7BA3DC"/>
              </a:solidFill>
              <a:prstDash val="solid"/>
              <a:miter/>
            </a:ln>
          </p:spPr>
        </p:sp>
      </p:grpSp>
      <p:grpSp>
        <p:nvGrpSpPr>
          <p:cNvPr name="Group 69" id="69"/>
          <p:cNvGrpSpPr/>
          <p:nvPr/>
        </p:nvGrpSpPr>
        <p:grpSpPr>
          <a:xfrm rot="0">
            <a:off x="10295887" y="4686876"/>
            <a:ext cx="2915032" cy="710589"/>
            <a:chOff x="0" y="0"/>
            <a:chExt cx="3886710" cy="947451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886712" cy="947446"/>
            </a:xfrm>
            <a:custGeom>
              <a:avLst/>
              <a:gdLst/>
              <a:ahLst/>
              <a:cxnLst/>
              <a:rect r="r" b="b" t="t" l="l"/>
              <a:pathLst>
                <a:path h="947446" w="3886712">
                  <a:moveTo>
                    <a:pt x="0" y="0"/>
                  </a:moveTo>
                  <a:lnTo>
                    <a:pt x="3886712" y="0"/>
                  </a:lnTo>
                  <a:lnTo>
                    <a:pt x="3886712" y="947446"/>
                  </a:lnTo>
                  <a:lnTo>
                    <a:pt x="0" y="9474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327" r="5821" b="-33233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9525"/>
              <a:ext cx="3886710" cy="93792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33558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fast_response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33558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GENERAL_CHAT·LLM 0~1회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3781779" y="2734738"/>
            <a:ext cx="2866446" cy="943501"/>
            <a:chOff x="0" y="0"/>
            <a:chExt cx="3821928" cy="1258002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3821914" cy="1258002"/>
            </a:xfrm>
            <a:custGeom>
              <a:avLst/>
              <a:gdLst/>
              <a:ahLst/>
              <a:cxnLst/>
              <a:rect r="r" b="b" t="t" l="l"/>
              <a:pathLst>
                <a:path h="1258002" w="3821914">
                  <a:moveTo>
                    <a:pt x="0" y="96753"/>
                  </a:moveTo>
                  <a:cubicBezTo>
                    <a:pt x="0" y="43281"/>
                    <a:pt x="53266" y="0"/>
                    <a:pt x="119072" y="0"/>
                  </a:cubicBezTo>
                  <a:lnTo>
                    <a:pt x="3702842" y="0"/>
                  </a:lnTo>
                  <a:cubicBezTo>
                    <a:pt x="3768649" y="0"/>
                    <a:pt x="3821914" y="43281"/>
                    <a:pt x="3821914" y="96753"/>
                  </a:cubicBezTo>
                  <a:lnTo>
                    <a:pt x="3821914" y="1161249"/>
                  </a:lnTo>
                  <a:cubicBezTo>
                    <a:pt x="3821914" y="1214721"/>
                    <a:pt x="3768649" y="1258002"/>
                    <a:pt x="3702842" y="1258002"/>
                  </a:cubicBezTo>
                  <a:lnTo>
                    <a:pt x="119072" y="1258002"/>
                  </a:lnTo>
                  <a:cubicBezTo>
                    <a:pt x="53266" y="1258002"/>
                    <a:pt x="0" y="1214721"/>
                    <a:pt x="0" y="1161249"/>
                  </a:cubicBezTo>
                  <a:close/>
                </a:path>
              </a:pathLst>
            </a:custGeom>
            <a:solidFill>
              <a:srgbClr val="E7F6EC"/>
            </a:solidFill>
            <a:ln w="22878" cap="sq">
              <a:solidFill>
                <a:srgbClr val="3E9463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13793925" y="2744607"/>
            <a:ext cx="2842163" cy="923762"/>
            <a:chOff x="0" y="0"/>
            <a:chExt cx="3789550" cy="123168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3789545" cy="1231680"/>
            </a:xfrm>
            <a:custGeom>
              <a:avLst/>
              <a:gdLst/>
              <a:ahLst/>
              <a:cxnLst/>
              <a:rect r="r" b="b" t="t" l="l"/>
              <a:pathLst>
                <a:path h="1231680" w="3789545">
                  <a:moveTo>
                    <a:pt x="0" y="0"/>
                  </a:moveTo>
                  <a:lnTo>
                    <a:pt x="3789545" y="0"/>
                  </a:lnTo>
                  <a:lnTo>
                    <a:pt x="3789545" y="1231680"/>
                  </a:lnTo>
                  <a:lnTo>
                    <a:pt x="0" y="123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244" t="0" r="4576" b="-15905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9525"/>
              <a:ext cx="3789550" cy="12221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1F6B43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Neo4j AuraDB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1F6B43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GraphRAG 후보 read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3781779" y="3978259"/>
            <a:ext cx="2866446" cy="730320"/>
            <a:chOff x="0" y="0"/>
            <a:chExt cx="3821928" cy="97376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821914" cy="973899"/>
            </a:xfrm>
            <a:custGeom>
              <a:avLst/>
              <a:gdLst/>
              <a:ahLst/>
              <a:cxnLst/>
              <a:rect r="r" b="b" t="t" l="l"/>
              <a:pathLst>
                <a:path h="973899" w="3821914">
                  <a:moveTo>
                    <a:pt x="0" y="97410"/>
                  </a:moveTo>
                  <a:cubicBezTo>
                    <a:pt x="0" y="43610"/>
                    <a:pt x="53670" y="0"/>
                    <a:pt x="119882" y="0"/>
                  </a:cubicBezTo>
                  <a:lnTo>
                    <a:pt x="3702033" y="0"/>
                  </a:lnTo>
                  <a:cubicBezTo>
                    <a:pt x="3768244" y="0"/>
                    <a:pt x="3821914" y="43610"/>
                    <a:pt x="3821914" y="97410"/>
                  </a:cubicBezTo>
                  <a:lnTo>
                    <a:pt x="3821914" y="876470"/>
                  </a:lnTo>
                  <a:cubicBezTo>
                    <a:pt x="3821914" y="930270"/>
                    <a:pt x="3768244" y="973899"/>
                    <a:pt x="3702033" y="973899"/>
                  </a:cubicBezTo>
                  <a:lnTo>
                    <a:pt x="119882" y="973899"/>
                  </a:lnTo>
                  <a:cubicBezTo>
                    <a:pt x="53670" y="973772"/>
                    <a:pt x="0" y="930161"/>
                    <a:pt x="0" y="876361"/>
                  </a:cubicBezTo>
                  <a:close/>
                </a:path>
              </a:pathLst>
            </a:custGeom>
            <a:solidFill>
              <a:srgbClr val="E9ECEF"/>
            </a:solidFill>
            <a:ln w="22878" cap="sq">
              <a:solidFill>
                <a:srgbClr val="9AA1A9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3793925" y="3988129"/>
            <a:ext cx="2842163" cy="710589"/>
            <a:chOff x="0" y="0"/>
            <a:chExt cx="3789550" cy="947451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89545" cy="947446"/>
            </a:xfrm>
            <a:custGeom>
              <a:avLst/>
              <a:gdLst/>
              <a:ahLst/>
              <a:cxnLst/>
              <a:rect r="r" b="b" t="t" l="l"/>
              <a:pathLst>
                <a:path h="947446" w="3789545">
                  <a:moveTo>
                    <a:pt x="0" y="0"/>
                  </a:moveTo>
                  <a:lnTo>
                    <a:pt x="3789545" y="0"/>
                  </a:lnTo>
                  <a:lnTo>
                    <a:pt x="3789545" y="947446"/>
                  </a:lnTo>
                  <a:lnTo>
                    <a:pt x="0" y="9474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5445" r="5821" b="-31351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9525"/>
              <a:ext cx="3789550" cy="93792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3A4350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llm-base</a:t>
              </a:r>
            </a:p>
            <a:p>
              <a:pPr algn="ctr">
                <a:lnSpc>
                  <a:spcPts val="1053"/>
                </a:lnSpc>
              </a:pPr>
              <a:r>
                <a:rPr lang="en-US" sz="975" spc="3">
                  <a:solidFill>
                    <a:srgbClr val="3A435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Gemma4·BGE-M3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2498174" y="3075961"/>
            <a:ext cx="247776" cy="47625"/>
            <a:chOff x="0" y="0"/>
            <a:chExt cx="330369" cy="6350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30381" cy="63445"/>
            </a:xfrm>
            <a:custGeom>
              <a:avLst/>
              <a:gdLst/>
              <a:ahLst/>
              <a:cxnLst/>
              <a:rect r="r" b="b" t="t" l="l"/>
              <a:pathLst>
                <a:path h="63445" w="330381">
                  <a:moveTo>
                    <a:pt x="0" y="0"/>
                  </a:moveTo>
                  <a:lnTo>
                    <a:pt x="330381" y="0"/>
                  </a:lnTo>
                  <a:lnTo>
                    <a:pt x="330381" y="63445"/>
                  </a:lnTo>
                  <a:lnTo>
                    <a:pt x="0" y="63445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84" id="84"/>
          <p:cNvGrpSpPr/>
          <p:nvPr/>
        </p:nvGrpSpPr>
        <p:grpSpPr>
          <a:xfrm rot="5400000">
            <a:off x="2534605" y="2983300"/>
            <a:ext cx="189489" cy="233203"/>
            <a:chOff x="0" y="0"/>
            <a:chExt cx="252652" cy="310937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252678" cy="310962"/>
            </a:xfrm>
            <a:custGeom>
              <a:avLst/>
              <a:gdLst/>
              <a:ahLst/>
              <a:cxnLst/>
              <a:rect r="r" b="b" t="t" l="l"/>
              <a:pathLst>
                <a:path h="310962" w="252678">
                  <a:moveTo>
                    <a:pt x="0" y="310962"/>
                  </a:moveTo>
                  <a:lnTo>
                    <a:pt x="126337" y="0"/>
                  </a:lnTo>
                  <a:lnTo>
                    <a:pt x="252678" y="310962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4932227" y="3075961"/>
            <a:ext cx="218629" cy="47625"/>
            <a:chOff x="0" y="0"/>
            <a:chExt cx="291505" cy="635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91543" cy="63445"/>
            </a:xfrm>
            <a:custGeom>
              <a:avLst/>
              <a:gdLst/>
              <a:ahLst/>
              <a:cxnLst/>
              <a:rect r="r" b="b" t="t" l="l"/>
              <a:pathLst>
                <a:path h="63445" w="291543">
                  <a:moveTo>
                    <a:pt x="0" y="0"/>
                  </a:moveTo>
                  <a:lnTo>
                    <a:pt x="291543" y="0"/>
                  </a:lnTo>
                  <a:lnTo>
                    <a:pt x="291543" y="63445"/>
                  </a:lnTo>
                  <a:lnTo>
                    <a:pt x="0" y="63445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88" id="88"/>
          <p:cNvGrpSpPr/>
          <p:nvPr/>
        </p:nvGrpSpPr>
        <p:grpSpPr>
          <a:xfrm rot="5400000">
            <a:off x="4939510" y="2983300"/>
            <a:ext cx="189489" cy="233203"/>
            <a:chOff x="0" y="0"/>
            <a:chExt cx="252652" cy="310937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52678" cy="310962"/>
            </a:xfrm>
            <a:custGeom>
              <a:avLst/>
              <a:gdLst/>
              <a:ahLst/>
              <a:cxnLst/>
              <a:rect r="r" b="b" t="t" l="l"/>
              <a:pathLst>
                <a:path h="310962" w="252678">
                  <a:moveTo>
                    <a:pt x="0" y="310962"/>
                  </a:moveTo>
                  <a:lnTo>
                    <a:pt x="126337" y="0"/>
                  </a:lnTo>
                  <a:lnTo>
                    <a:pt x="252678" y="310962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4677164" y="2423351"/>
            <a:ext cx="728756" cy="353206"/>
            <a:chOff x="0" y="0"/>
            <a:chExt cx="971674" cy="470942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971678" cy="470934"/>
            </a:xfrm>
            <a:custGeom>
              <a:avLst/>
              <a:gdLst/>
              <a:ahLst/>
              <a:cxnLst/>
              <a:rect r="r" b="b" t="t" l="l"/>
              <a:pathLst>
                <a:path h="470934" w="971678">
                  <a:moveTo>
                    <a:pt x="0" y="0"/>
                  </a:moveTo>
                  <a:lnTo>
                    <a:pt x="971678" y="0"/>
                  </a:lnTo>
                  <a:lnTo>
                    <a:pt x="971678" y="470934"/>
                  </a:lnTo>
                  <a:lnTo>
                    <a:pt x="0" y="47093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245" t="0" r="4576" b="22271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9525"/>
              <a:ext cx="971674" cy="4804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16"/>
                </a:lnSpc>
              </a:pPr>
              <a:r>
                <a:rPr lang="en-US" sz="930" spc="3">
                  <a:solidFill>
                    <a:srgbClr val="9AA0A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SSE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2297400">
            <a:off x="6312683" y="3580674"/>
            <a:ext cx="707980" cy="47625"/>
            <a:chOff x="0" y="0"/>
            <a:chExt cx="943973" cy="6350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943946" cy="63445"/>
            </a:xfrm>
            <a:custGeom>
              <a:avLst/>
              <a:gdLst/>
              <a:ahLst/>
              <a:cxnLst/>
              <a:rect r="r" b="b" t="t" l="l"/>
              <a:pathLst>
                <a:path h="63445" w="943946">
                  <a:moveTo>
                    <a:pt x="0" y="0"/>
                  </a:moveTo>
                  <a:lnTo>
                    <a:pt x="943946" y="0"/>
                  </a:lnTo>
                  <a:lnTo>
                    <a:pt x="943946" y="63445"/>
                  </a:lnTo>
                  <a:lnTo>
                    <a:pt x="0" y="63445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95" id="95"/>
          <p:cNvGrpSpPr/>
          <p:nvPr/>
        </p:nvGrpSpPr>
        <p:grpSpPr>
          <a:xfrm rot="7697399">
            <a:off x="6855208" y="3697377"/>
            <a:ext cx="165696" cy="241288"/>
            <a:chOff x="0" y="0"/>
            <a:chExt cx="220928" cy="321717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20953" cy="321743"/>
            </a:xfrm>
            <a:custGeom>
              <a:avLst/>
              <a:gdLst/>
              <a:ahLst/>
              <a:cxnLst/>
              <a:rect r="r" b="b" t="t" l="l"/>
              <a:pathLst>
                <a:path h="321743" w="220953">
                  <a:moveTo>
                    <a:pt x="0" y="321743"/>
                  </a:moveTo>
                  <a:lnTo>
                    <a:pt x="110474" y="0"/>
                  </a:lnTo>
                  <a:lnTo>
                    <a:pt x="220953" y="321743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6620514" y="3461113"/>
            <a:ext cx="2040528" cy="346114"/>
            <a:chOff x="0" y="0"/>
            <a:chExt cx="2720704" cy="461486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2720698" cy="461478"/>
            </a:xfrm>
            <a:custGeom>
              <a:avLst/>
              <a:gdLst/>
              <a:ahLst/>
              <a:cxnLst/>
              <a:rect r="r" b="b" t="t" l="l"/>
              <a:pathLst>
                <a:path h="461478" w="2720698">
                  <a:moveTo>
                    <a:pt x="0" y="0"/>
                  </a:moveTo>
                  <a:lnTo>
                    <a:pt x="2720698" y="0"/>
                  </a:lnTo>
                  <a:lnTo>
                    <a:pt x="2720698" y="461478"/>
                  </a:lnTo>
                  <a:lnTo>
                    <a:pt x="0" y="46147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8528" r="5821" b="-47850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0"/>
              <a:ext cx="2720704" cy="461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080"/>
                </a:lnSpc>
              </a:pPr>
              <a:r>
                <a:rPr lang="en-US" sz="900" spc="3">
                  <a:solidFill>
                    <a:srgbClr val="9AA0A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/v1/ai/compose·SSE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-1931759">
            <a:off x="8056249" y="3606280"/>
            <a:ext cx="2327042" cy="47625"/>
            <a:chOff x="0" y="0"/>
            <a:chExt cx="3102723" cy="6350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102669" cy="63445"/>
            </a:xfrm>
            <a:custGeom>
              <a:avLst/>
              <a:gdLst/>
              <a:ahLst/>
              <a:cxnLst/>
              <a:rect r="r" b="b" t="t" l="l"/>
              <a:pathLst>
                <a:path h="63445" w="3102669">
                  <a:moveTo>
                    <a:pt x="0" y="0"/>
                  </a:moveTo>
                  <a:lnTo>
                    <a:pt x="3102669" y="0"/>
                  </a:lnTo>
                  <a:lnTo>
                    <a:pt x="3102669" y="63445"/>
                  </a:lnTo>
                  <a:lnTo>
                    <a:pt x="0" y="63445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3468240">
            <a:off x="10106308" y="2896729"/>
            <a:ext cx="170513" cy="239839"/>
            <a:chOff x="0" y="0"/>
            <a:chExt cx="227351" cy="319785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27376" cy="319810"/>
            </a:xfrm>
            <a:custGeom>
              <a:avLst/>
              <a:gdLst/>
              <a:ahLst/>
              <a:cxnLst/>
              <a:rect r="r" b="b" t="t" l="l"/>
              <a:pathLst>
                <a:path h="319810" w="227376">
                  <a:moveTo>
                    <a:pt x="0" y="319810"/>
                  </a:moveTo>
                  <a:lnTo>
                    <a:pt x="113685" y="0"/>
                  </a:lnTo>
                  <a:lnTo>
                    <a:pt x="227376" y="319810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-629460">
            <a:off x="8274798" y="4106783"/>
            <a:ext cx="2001649" cy="47625"/>
            <a:chOff x="0" y="0"/>
            <a:chExt cx="2668866" cy="63500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2668866" cy="63445"/>
            </a:xfrm>
            <a:custGeom>
              <a:avLst/>
              <a:gdLst/>
              <a:ahLst/>
              <a:cxnLst/>
              <a:rect r="r" b="b" t="t" l="l"/>
              <a:pathLst>
                <a:path h="63445" w="2668866">
                  <a:moveTo>
                    <a:pt x="0" y="0"/>
                  </a:moveTo>
                  <a:lnTo>
                    <a:pt x="2668866" y="0"/>
                  </a:lnTo>
                  <a:lnTo>
                    <a:pt x="2668866" y="63445"/>
                  </a:lnTo>
                  <a:lnTo>
                    <a:pt x="0" y="63445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106" id="106"/>
          <p:cNvGrpSpPr/>
          <p:nvPr/>
        </p:nvGrpSpPr>
        <p:grpSpPr>
          <a:xfrm rot="4770540">
            <a:off x="10114086" y="3835525"/>
            <a:ext cx="183908" cy="235308"/>
            <a:chOff x="0" y="0"/>
            <a:chExt cx="245211" cy="313743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245236" cy="313769"/>
            </a:xfrm>
            <a:custGeom>
              <a:avLst/>
              <a:gdLst/>
              <a:ahLst/>
              <a:cxnLst/>
              <a:rect r="r" b="b" t="t" l="l"/>
              <a:pathLst>
                <a:path h="313769" w="245236">
                  <a:moveTo>
                    <a:pt x="0" y="313769"/>
                  </a:moveTo>
                  <a:lnTo>
                    <a:pt x="122616" y="0"/>
                  </a:lnTo>
                  <a:lnTo>
                    <a:pt x="245236" y="313769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108" id="108"/>
          <p:cNvGrpSpPr/>
          <p:nvPr/>
        </p:nvGrpSpPr>
        <p:grpSpPr>
          <a:xfrm rot="1069140">
            <a:off x="8203478" y="4662010"/>
            <a:ext cx="2144290" cy="47625"/>
            <a:chOff x="0" y="0"/>
            <a:chExt cx="2859053" cy="6350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2859000" cy="63445"/>
            </a:xfrm>
            <a:custGeom>
              <a:avLst/>
              <a:gdLst/>
              <a:ahLst/>
              <a:cxnLst/>
              <a:rect r="r" b="b" t="t" l="l"/>
              <a:pathLst>
                <a:path h="63445" w="2859000">
                  <a:moveTo>
                    <a:pt x="0" y="0"/>
                  </a:moveTo>
                  <a:lnTo>
                    <a:pt x="2859000" y="0"/>
                  </a:lnTo>
                  <a:lnTo>
                    <a:pt x="2859000" y="63445"/>
                  </a:lnTo>
                  <a:lnTo>
                    <a:pt x="0" y="63445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8487094" y="4336241"/>
            <a:ext cx="1457521" cy="353206"/>
            <a:chOff x="0" y="0"/>
            <a:chExt cx="1943362" cy="470942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1943356" cy="470934"/>
            </a:xfrm>
            <a:custGeom>
              <a:avLst/>
              <a:gdLst/>
              <a:ahLst/>
              <a:cxnLst/>
              <a:rect r="r" b="b" t="t" l="l"/>
              <a:pathLst>
                <a:path h="470934" w="1943356">
                  <a:moveTo>
                    <a:pt x="0" y="0"/>
                  </a:moveTo>
                  <a:lnTo>
                    <a:pt x="1943356" y="0"/>
                  </a:lnTo>
                  <a:lnTo>
                    <a:pt x="1943356" y="470934"/>
                  </a:lnTo>
                  <a:lnTo>
                    <a:pt x="0" y="47093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6862" r="5820" b="-14591"/>
              </a:stretch>
            </a:blipFill>
          </p:spPr>
        </p:sp>
        <p:sp>
          <p:nvSpPr>
            <p:cNvPr name="TextBox 112" id="112"/>
            <p:cNvSpPr txBox="true"/>
            <p:nvPr/>
          </p:nvSpPr>
          <p:spPr>
            <a:xfrm>
              <a:off x="0" y="-9525"/>
              <a:ext cx="1943362" cy="4804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16"/>
                </a:lnSpc>
              </a:pPr>
              <a:r>
                <a:rPr lang="en-US" sz="930" spc="3">
                  <a:solidFill>
                    <a:srgbClr val="9AA0A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디스패치</a:t>
              </a:r>
            </a:p>
          </p:txBody>
        </p:sp>
      </p:grpSp>
      <p:grpSp>
        <p:nvGrpSpPr>
          <p:cNvPr name="Group 113" id="113"/>
          <p:cNvGrpSpPr/>
          <p:nvPr/>
        </p:nvGrpSpPr>
        <p:grpSpPr>
          <a:xfrm rot="134100">
            <a:off x="3285604" y="4209152"/>
            <a:ext cx="2674288" cy="46039"/>
            <a:chOff x="0" y="0"/>
            <a:chExt cx="3987080" cy="6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3987131" cy="68585"/>
            </a:xfrm>
            <a:custGeom>
              <a:avLst/>
              <a:gdLst/>
              <a:ahLst/>
              <a:cxnLst/>
              <a:rect r="r" b="b" t="t" l="l"/>
              <a:pathLst>
                <a:path h="68585" w="3987131">
                  <a:moveTo>
                    <a:pt x="0" y="0"/>
                  </a:moveTo>
                  <a:lnTo>
                    <a:pt x="3987131" y="0"/>
                  </a:lnTo>
                  <a:lnTo>
                    <a:pt x="3987131" y="68585"/>
                  </a:lnTo>
                  <a:lnTo>
                    <a:pt x="0" y="68585"/>
                  </a:lnTo>
                  <a:close/>
                </a:path>
              </a:pathLst>
            </a:custGeom>
            <a:solidFill>
              <a:srgbClr val="9579C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5534100">
            <a:off x="5931295" y="4163687"/>
            <a:ext cx="188313" cy="233657"/>
            <a:chOff x="0" y="0"/>
            <a:chExt cx="251084" cy="311542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51109" cy="311568"/>
            </a:xfrm>
            <a:custGeom>
              <a:avLst/>
              <a:gdLst/>
              <a:ahLst/>
              <a:cxnLst/>
              <a:rect r="r" b="b" t="t" l="l"/>
              <a:pathLst>
                <a:path h="311568" w="251109">
                  <a:moveTo>
                    <a:pt x="0" y="311568"/>
                  </a:moveTo>
                  <a:lnTo>
                    <a:pt x="125553" y="0"/>
                  </a:lnTo>
                  <a:lnTo>
                    <a:pt x="251109" y="311568"/>
                  </a:lnTo>
                  <a:close/>
                </a:path>
              </a:pathLst>
            </a:custGeom>
            <a:solidFill>
              <a:srgbClr val="9579C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-5265900">
            <a:off x="3176414" y="4076330"/>
            <a:ext cx="188313" cy="233657"/>
            <a:chOff x="0" y="0"/>
            <a:chExt cx="251084" cy="311542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51109" cy="311568"/>
            </a:xfrm>
            <a:custGeom>
              <a:avLst/>
              <a:gdLst/>
              <a:ahLst/>
              <a:cxnLst/>
              <a:rect r="r" b="b" t="t" l="l"/>
              <a:pathLst>
                <a:path h="311568" w="251109">
                  <a:moveTo>
                    <a:pt x="0" y="311568"/>
                  </a:moveTo>
                  <a:lnTo>
                    <a:pt x="125553" y="0"/>
                  </a:lnTo>
                  <a:lnTo>
                    <a:pt x="251109" y="311568"/>
                  </a:lnTo>
                  <a:close/>
                </a:path>
              </a:pathLst>
            </a:custGeom>
            <a:solidFill>
              <a:srgbClr val="9579C9"/>
            </a:solid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3729780" y="3916981"/>
            <a:ext cx="1894768" cy="353206"/>
            <a:chOff x="0" y="0"/>
            <a:chExt cx="2526358" cy="470942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2526362" cy="470934"/>
            </a:xfrm>
            <a:custGeom>
              <a:avLst/>
              <a:gdLst/>
              <a:ahLst/>
              <a:cxnLst/>
              <a:rect r="r" b="b" t="t" l="l"/>
              <a:pathLst>
                <a:path h="470934" w="2526362">
                  <a:moveTo>
                    <a:pt x="0" y="0"/>
                  </a:moveTo>
                  <a:lnTo>
                    <a:pt x="2526362" y="0"/>
                  </a:lnTo>
                  <a:lnTo>
                    <a:pt x="2526362" y="470934"/>
                  </a:lnTo>
                  <a:lnTo>
                    <a:pt x="0" y="47093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579" r="5821" b="-37308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9525"/>
              <a:ext cx="2526358" cy="4804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16"/>
                </a:lnSpc>
              </a:pPr>
              <a:r>
                <a:rPr lang="en-US" sz="930" spc="3">
                  <a:solidFill>
                    <a:srgbClr val="9579C9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read / write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-515940">
            <a:off x="3153008" y="4910293"/>
            <a:ext cx="146194" cy="47625"/>
            <a:chOff x="0" y="0"/>
            <a:chExt cx="194926" cy="6350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-515940">
            <a:off x="3398003" y="4880191"/>
            <a:ext cx="146194" cy="47625"/>
            <a:chOff x="0" y="0"/>
            <a:chExt cx="194926" cy="63500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-515940">
            <a:off x="3642999" y="4850089"/>
            <a:ext cx="146194" cy="47625"/>
            <a:chOff x="0" y="0"/>
            <a:chExt cx="194926" cy="6350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28" id="128"/>
          <p:cNvGrpSpPr/>
          <p:nvPr/>
        </p:nvGrpSpPr>
        <p:grpSpPr>
          <a:xfrm rot="-515940">
            <a:off x="3887994" y="4819987"/>
            <a:ext cx="146194" cy="47625"/>
            <a:chOff x="0" y="0"/>
            <a:chExt cx="194926" cy="63500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30" id="130"/>
          <p:cNvGrpSpPr/>
          <p:nvPr/>
        </p:nvGrpSpPr>
        <p:grpSpPr>
          <a:xfrm rot="-515940">
            <a:off x="4132979" y="4789884"/>
            <a:ext cx="146194" cy="47625"/>
            <a:chOff x="0" y="0"/>
            <a:chExt cx="194926" cy="63500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32" id="132"/>
          <p:cNvGrpSpPr/>
          <p:nvPr/>
        </p:nvGrpSpPr>
        <p:grpSpPr>
          <a:xfrm rot="-515940">
            <a:off x="4377974" y="4759774"/>
            <a:ext cx="146194" cy="47625"/>
            <a:chOff x="0" y="0"/>
            <a:chExt cx="194926" cy="63500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34" id="134"/>
          <p:cNvGrpSpPr/>
          <p:nvPr/>
        </p:nvGrpSpPr>
        <p:grpSpPr>
          <a:xfrm rot="-515940">
            <a:off x="4622969" y="4729671"/>
            <a:ext cx="146194" cy="47625"/>
            <a:chOff x="0" y="0"/>
            <a:chExt cx="194926" cy="63500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-515940">
            <a:off x="4867964" y="4699569"/>
            <a:ext cx="146194" cy="47625"/>
            <a:chOff x="0" y="0"/>
            <a:chExt cx="194926" cy="63500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-515940">
            <a:off x="5112949" y="4669467"/>
            <a:ext cx="146194" cy="47625"/>
            <a:chOff x="0" y="0"/>
            <a:chExt cx="194926" cy="63500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40" id="140"/>
          <p:cNvGrpSpPr/>
          <p:nvPr/>
        </p:nvGrpSpPr>
        <p:grpSpPr>
          <a:xfrm rot="-515940">
            <a:off x="5357945" y="4639365"/>
            <a:ext cx="146194" cy="47625"/>
            <a:chOff x="0" y="0"/>
            <a:chExt cx="194926" cy="63500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42" id="142"/>
          <p:cNvGrpSpPr/>
          <p:nvPr/>
        </p:nvGrpSpPr>
        <p:grpSpPr>
          <a:xfrm rot="-515940">
            <a:off x="5602940" y="4609262"/>
            <a:ext cx="146194" cy="47625"/>
            <a:chOff x="0" y="0"/>
            <a:chExt cx="194926" cy="63500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44" id="144"/>
          <p:cNvGrpSpPr/>
          <p:nvPr/>
        </p:nvGrpSpPr>
        <p:grpSpPr>
          <a:xfrm rot="-515940">
            <a:off x="5847935" y="4579160"/>
            <a:ext cx="146194" cy="47625"/>
            <a:chOff x="0" y="0"/>
            <a:chExt cx="194926" cy="63500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194912" cy="63450"/>
            </a:xfrm>
            <a:custGeom>
              <a:avLst/>
              <a:gdLst/>
              <a:ahLst/>
              <a:cxnLst/>
              <a:rect r="r" b="b" t="t" l="l"/>
              <a:pathLst>
                <a:path h="63450" w="194912">
                  <a:moveTo>
                    <a:pt x="0" y="0"/>
                  </a:moveTo>
                  <a:lnTo>
                    <a:pt x="194912" y="0"/>
                  </a:lnTo>
                  <a:lnTo>
                    <a:pt x="194912" y="63450"/>
                  </a:lnTo>
                  <a:lnTo>
                    <a:pt x="0" y="63450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46" id="146"/>
          <p:cNvGrpSpPr/>
          <p:nvPr/>
        </p:nvGrpSpPr>
        <p:grpSpPr>
          <a:xfrm rot="4884060">
            <a:off x="5934209" y="4476983"/>
            <a:ext cx="184932" cy="234931"/>
            <a:chOff x="0" y="0"/>
            <a:chExt cx="246576" cy="313241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246601" cy="313267"/>
            </a:xfrm>
            <a:custGeom>
              <a:avLst/>
              <a:gdLst/>
              <a:ahLst/>
              <a:cxnLst/>
              <a:rect r="r" b="b" t="t" l="l"/>
              <a:pathLst>
                <a:path h="313267" w="246601">
                  <a:moveTo>
                    <a:pt x="0" y="313267"/>
                  </a:moveTo>
                  <a:lnTo>
                    <a:pt x="123299" y="0"/>
                  </a:lnTo>
                  <a:lnTo>
                    <a:pt x="246601" y="313267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3559674" y="4403537"/>
            <a:ext cx="2040528" cy="346114"/>
            <a:chOff x="0" y="0"/>
            <a:chExt cx="2720704" cy="461486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720698" cy="461478"/>
            </a:xfrm>
            <a:custGeom>
              <a:avLst/>
              <a:gdLst/>
              <a:ahLst/>
              <a:cxnLst/>
              <a:rect r="r" b="b" t="t" l="l"/>
              <a:pathLst>
                <a:path h="461478" w="2720698">
                  <a:moveTo>
                    <a:pt x="0" y="0"/>
                  </a:moveTo>
                  <a:lnTo>
                    <a:pt x="2720698" y="0"/>
                  </a:lnTo>
                  <a:lnTo>
                    <a:pt x="2720698" y="461478"/>
                  </a:lnTo>
                  <a:lnTo>
                    <a:pt x="0" y="46147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8528" r="5821" b="-4785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0"/>
              <a:ext cx="2720704" cy="461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080"/>
                </a:lnSpc>
              </a:pPr>
              <a:r>
                <a:rPr lang="en-US" sz="900" spc="3">
                  <a:solidFill>
                    <a:srgbClr val="D7872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SUSPEND·resume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-487800">
            <a:off x="3153111" y="5014501"/>
            <a:ext cx="146170" cy="47625"/>
            <a:chOff x="0" y="0"/>
            <a:chExt cx="194893" cy="63500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194879" cy="63456"/>
            </a:xfrm>
            <a:custGeom>
              <a:avLst/>
              <a:gdLst/>
              <a:ahLst/>
              <a:cxnLst/>
              <a:rect r="r" b="b" t="t" l="l"/>
              <a:pathLst>
                <a:path h="63456" w="194879">
                  <a:moveTo>
                    <a:pt x="0" y="0"/>
                  </a:moveTo>
                  <a:lnTo>
                    <a:pt x="194879" y="0"/>
                  </a:lnTo>
                  <a:lnTo>
                    <a:pt x="194879" y="63456"/>
                  </a:lnTo>
                  <a:lnTo>
                    <a:pt x="0" y="63456"/>
                  </a:lnTo>
                  <a:close/>
                </a:path>
              </a:pathLst>
            </a:custGeom>
            <a:solidFill>
              <a:srgbClr val="9579C9"/>
            </a:solidFill>
          </p:spPr>
        </p:sp>
      </p:grpSp>
      <p:grpSp>
        <p:nvGrpSpPr>
          <p:cNvPr name="Group 153" id="153"/>
          <p:cNvGrpSpPr/>
          <p:nvPr/>
        </p:nvGrpSpPr>
        <p:grpSpPr>
          <a:xfrm rot="-487800">
            <a:off x="3398400" y="4986026"/>
            <a:ext cx="146170" cy="47625"/>
            <a:chOff x="0" y="0"/>
            <a:chExt cx="194893" cy="63500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194879" cy="63456"/>
            </a:xfrm>
            <a:custGeom>
              <a:avLst/>
              <a:gdLst/>
              <a:ahLst/>
              <a:cxnLst/>
              <a:rect r="r" b="b" t="t" l="l"/>
              <a:pathLst>
                <a:path h="63456" w="194879">
                  <a:moveTo>
                    <a:pt x="0" y="0"/>
                  </a:moveTo>
                  <a:lnTo>
                    <a:pt x="194879" y="0"/>
                  </a:lnTo>
                  <a:lnTo>
                    <a:pt x="194879" y="63456"/>
                  </a:lnTo>
                  <a:lnTo>
                    <a:pt x="0" y="63456"/>
                  </a:lnTo>
                  <a:close/>
                </a:path>
              </a:pathLst>
            </a:custGeom>
            <a:solidFill>
              <a:srgbClr val="9579C9"/>
            </a:solidFill>
          </p:spPr>
        </p:sp>
      </p:grpSp>
      <p:grpSp>
        <p:nvGrpSpPr>
          <p:cNvPr name="Group 155" id="155"/>
          <p:cNvGrpSpPr/>
          <p:nvPr/>
        </p:nvGrpSpPr>
        <p:grpSpPr>
          <a:xfrm rot="4912200">
            <a:off x="3456167" y="4890770"/>
            <a:ext cx="185184" cy="234838"/>
            <a:chOff x="0" y="0"/>
            <a:chExt cx="246912" cy="313117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46937" cy="313142"/>
            </a:xfrm>
            <a:custGeom>
              <a:avLst/>
              <a:gdLst/>
              <a:ahLst/>
              <a:cxnLst/>
              <a:rect r="r" b="b" t="t" l="l"/>
              <a:pathLst>
                <a:path h="313142" w="246937">
                  <a:moveTo>
                    <a:pt x="0" y="313142"/>
                  </a:moveTo>
                  <a:lnTo>
                    <a:pt x="123467" y="0"/>
                  </a:lnTo>
                  <a:lnTo>
                    <a:pt x="246937" y="313142"/>
                  </a:lnTo>
                  <a:close/>
                </a:path>
              </a:pathLst>
            </a:custGeom>
            <a:solidFill>
              <a:srgbClr val="9579C9"/>
            </a:solidFill>
          </p:spPr>
        </p:sp>
      </p:grpSp>
      <p:grpSp>
        <p:nvGrpSpPr>
          <p:cNvPr name="Group 157" id="157"/>
          <p:cNvGrpSpPr/>
          <p:nvPr/>
        </p:nvGrpSpPr>
        <p:grpSpPr>
          <a:xfrm rot="-3396060">
            <a:off x="6341670" y="4691299"/>
            <a:ext cx="218764" cy="32233"/>
            <a:chOff x="0" y="0"/>
            <a:chExt cx="479001" cy="70577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479001" cy="70528"/>
            </a:xfrm>
            <a:custGeom>
              <a:avLst/>
              <a:gdLst/>
              <a:ahLst/>
              <a:cxnLst/>
              <a:rect r="r" b="b" t="t" l="l"/>
              <a:pathLst>
                <a:path h="70528" w="479001">
                  <a:moveTo>
                    <a:pt x="0" y="0"/>
                  </a:moveTo>
                  <a:lnTo>
                    <a:pt x="479001" y="0"/>
                  </a:lnTo>
                  <a:lnTo>
                    <a:pt x="479001" y="70528"/>
                  </a:lnTo>
                  <a:lnTo>
                    <a:pt x="0" y="70528"/>
                  </a:lnTo>
                  <a:close/>
                </a:path>
              </a:pathLst>
            </a:custGeom>
            <a:solidFill>
              <a:srgbClr val="9579C9"/>
            </a:solidFill>
          </p:spPr>
        </p:sp>
      </p:grpSp>
      <p:grpSp>
        <p:nvGrpSpPr>
          <p:cNvPr name="Group 159" id="159"/>
          <p:cNvGrpSpPr/>
          <p:nvPr/>
        </p:nvGrpSpPr>
        <p:grpSpPr>
          <a:xfrm rot="2010206">
            <a:off x="6424272" y="4527466"/>
            <a:ext cx="192476" cy="151020"/>
            <a:chOff x="0" y="0"/>
            <a:chExt cx="313470" cy="245955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313496" cy="245980"/>
            </a:xfrm>
            <a:custGeom>
              <a:avLst/>
              <a:gdLst/>
              <a:ahLst/>
              <a:cxnLst/>
              <a:rect r="r" b="b" t="t" l="l"/>
              <a:pathLst>
                <a:path h="245980" w="313496">
                  <a:moveTo>
                    <a:pt x="0" y="245980"/>
                  </a:moveTo>
                  <a:lnTo>
                    <a:pt x="156749" y="0"/>
                  </a:lnTo>
                  <a:lnTo>
                    <a:pt x="313496" y="245980"/>
                  </a:lnTo>
                  <a:close/>
                </a:path>
              </a:pathLst>
            </a:custGeom>
            <a:solidFill>
              <a:srgbClr val="9579C9"/>
            </a:solidFill>
          </p:spPr>
        </p:sp>
      </p:grpSp>
      <p:grpSp>
        <p:nvGrpSpPr>
          <p:cNvPr name="Group 161" id="161"/>
          <p:cNvGrpSpPr/>
          <p:nvPr/>
        </p:nvGrpSpPr>
        <p:grpSpPr>
          <a:xfrm rot="-64994">
            <a:off x="13328806" y="3091450"/>
            <a:ext cx="364709" cy="40407"/>
            <a:chOff x="0" y="0"/>
            <a:chExt cx="783887" cy="86848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783833" cy="86779"/>
            </a:xfrm>
            <a:custGeom>
              <a:avLst/>
              <a:gdLst/>
              <a:ahLst/>
              <a:cxnLst/>
              <a:rect r="r" b="b" t="t" l="l"/>
              <a:pathLst>
                <a:path h="86779" w="783833">
                  <a:moveTo>
                    <a:pt x="0" y="0"/>
                  </a:moveTo>
                  <a:lnTo>
                    <a:pt x="783833" y="0"/>
                  </a:lnTo>
                  <a:lnTo>
                    <a:pt x="783833" y="86779"/>
                  </a:lnTo>
                  <a:lnTo>
                    <a:pt x="0" y="86779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163" id="163"/>
          <p:cNvGrpSpPr/>
          <p:nvPr/>
        </p:nvGrpSpPr>
        <p:grpSpPr>
          <a:xfrm rot="5400000">
            <a:off x="13601003" y="2984467"/>
            <a:ext cx="185722" cy="234638"/>
            <a:chOff x="0" y="0"/>
            <a:chExt cx="247629" cy="312850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0" y="0"/>
              <a:ext cx="247655" cy="312875"/>
            </a:xfrm>
            <a:custGeom>
              <a:avLst/>
              <a:gdLst/>
              <a:ahLst/>
              <a:cxnLst/>
              <a:rect r="r" b="b" t="t" l="l"/>
              <a:pathLst>
                <a:path h="312875" w="247655">
                  <a:moveTo>
                    <a:pt x="0" y="312875"/>
                  </a:moveTo>
                  <a:lnTo>
                    <a:pt x="123825" y="0"/>
                  </a:lnTo>
                  <a:lnTo>
                    <a:pt x="247655" y="312875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165" id="165"/>
          <p:cNvGrpSpPr/>
          <p:nvPr/>
        </p:nvGrpSpPr>
        <p:grpSpPr>
          <a:xfrm rot="-5400000">
            <a:off x="13233759" y="2994335"/>
            <a:ext cx="185722" cy="234638"/>
            <a:chOff x="0" y="0"/>
            <a:chExt cx="247629" cy="312850"/>
          </a:xfrm>
        </p:grpSpPr>
        <p:sp>
          <p:nvSpPr>
            <p:cNvPr name="Freeform 166" id="166"/>
            <p:cNvSpPr/>
            <p:nvPr/>
          </p:nvSpPr>
          <p:spPr>
            <a:xfrm flipH="false" flipV="false" rot="0">
              <a:off x="0" y="0"/>
              <a:ext cx="247655" cy="312875"/>
            </a:xfrm>
            <a:custGeom>
              <a:avLst/>
              <a:gdLst/>
              <a:ahLst/>
              <a:cxnLst/>
              <a:rect r="r" b="b" t="t" l="l"/>
              <a:pathLst>
                <a:path h="312875" w="247655">
                  <a:moveTo>
                    <a:pt x="0" y="312875"/>
                  </a:moveTo>
                  <a:lnTo>
                    <a:pt x="123825" y="0"/>
                  </a:lnTo>
                  <a:lnTo>
                    <a:pt x="247655" y="312875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167" id="167"/>
          <p:cNvGrpSpPr/>
          <p:nvPr/>
        </p:nvGrpSpPr>
        <p:grpSpPr>
          <a:xfrm rot="0">
            <a:off x="13073903" y="2734738"/>
            <a:ext cx="874515" cy="353206"/>
            <a:chOff x="0" y="0"/>
            <a:chExt cx="1166020" cy="470942"/>
          </a:xfrm>
        </p:grpSpPr>
        <p:sp>
          <p:nvSpPr>
            <p:cNvPr name="Freeform 168" id="168"/>
            <p:cNvSpPr/>
            <p:nvPr/>
          </p:nvSpPr>
          <p:spPr>
            <a:xfrm flipH="false" flipV="false" rot="0">
              <a:off x="0" y="0"/>
              <a:ext cx="1166014" cy="470934"/>
            </a:xfrm>
            <a:custGeom>
              <a:avLst/>
              <a:gdLst/>
              <a:ahLst/>
              <a:cxnLst/>
              <a:rect r="r" b="b" t="t" l="l"/>
              <a:pathLst>
                <a:path h="470934" w="1166014">
                  <a:moveTo>
                    <a:pt x="0" y="0"/>
                  </a:moveTo>
                  <a:lnTo>
                    <a:pt x="1166014" y="0"/>
                  </a:lnTo>
                  <a:lnTo>
                    <a:pt x="1166014" y="470934"/>
                  </a:lnTo>
                  <a:lnTo>
                    <a:pt x="0" y="47093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571" r="5820" b="15699"/>
              </a:stretch>
            </a:blipFill>
          </p:spPr>
        </p:sp>
        <p:sp>
          <p:nvSpPr>
            <p:cNvPr name="TextBox 169" id="169"/>
            <p:cNvSpPr txBox="true"/>
            <p:nvPr/>
          </p:nvSpPr>
          <p:spPr>
            <a:xfrm>
              <a:off x="0" y="-9525"/>
              <a:ext cx="1166020" cy="4804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16"/>
                </a:lnSpc>
              </a:pPr>
              <a:r>
                <a:rPr lang="en-US" sz="930" spc="3">
                  <a:solidFill>
                    <a:srgbClr val="9AA0A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read</a:t>
              </a:r>
            </a:p>
          </p:txBody>
        </p:sp>
      </p:grpSp>
      <p:grpSp>
        <p:nvGrpSpPr>
          <p:cNvPr name="Group 170" id="170"/>
          <p:cNvGrpSpPr/>
          <p:nvPr/>
        </p:nvGrpSpPr>
        <p:grpSpPr>
          <a:xfrm rot="1233360">
            <a:off x="13205735" y="3976133"/>
            <a:ext cx="146853" cy="47625"/>
            <a:chOff x="0" y="0"/>
            <a:chExt cx="195804" cy="63500"/>
          </a:xfrm>
        </p:grpSpPr>
        <p:sp>
          <p:nvSpPr>
            <p:cNvPr name="Freeform 171" id="171"/>
            <p:cNvSpPr/>
            <p:nvPr/>
          </p:nvSpPr>
          <p:spPr>
            <a:xfrm flipH="false" flipV="false" rot="0">
              <a:off x="0" y="0"/>
              <a:ext cx="195790" cy="63456"/>
            </a:xfrm>
            <a:custGeom>
              <a:avLst/>
              <a:gdLst/>
              <a:ahLst/>
              <a:cxnLst/>
              <a:rect r="r" b="b" t="t" l="l"/>
              <a:pathLst>
                <a:path h="63456" w="195790">
                  <a:moveTo>
                    <a:pt x="0" y="0"/>
                  </a:moveTo>
                  <a:lnTo>
                    <a:pt x="195790" y="0"/>
                  </a:lnTo>
                  <a:lnTo>
                    <a:pt x="195790" y="63456"/>
                  </a:lnTo>
                  <a:lnTo>
                    <a:pt x="0" y="63456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172" id="172"/>
          <p:cNvGrpSpPr/>
          <p:nvPr/>
        </p:nvGrpSpPr>
        <p:grpSpPr>
          <a:xfrm rot="1233360">
            <a:off x="13437734" y="4046832"/>
            <a:ext cx="146853" cy="47625"/>
            <a:chOff x="0" y="0"/>
            <a:chExt cx="195804" cy="63500"/>
          </a:xfrm>
        </p:grpSpPr>
        <p:sp>
          <p:nvSpPr>
            <p:cNvPr name="Freeform 173" id="173"/>
            <p:cNvSpPr/>
            <p:nvPr/>
          </p:nvSpPr>
          <p:spPr>
            <a:xfrm flipH="false" flipV="false" rot="0">
              <a:off x="0" y="0"/>
              <a:ext cx="195790" cy="63456"/>
            </a:xfrm>
            <a:custGeom>
              <a:avLst/>
              <a:gdLst/>
              <a:ahLst/>
              <a:cxnLst/>
              <a:rect r="r" b="b" t="t" l="l"/>
              <a:pathLst>
                <a:path h="63456" w="195790">
                  <a:moveTo>
                    <a:pt x="0" y="0"/>
                  </a:moveTo>
                  <a:lnTo>
                    <a:pt x="195790" y="0"/>
                  </a:lnTo>
                  <a:lnTo>
                    <a:pt x="195790" y="63456"/>
                  </a:lnTo>
                  <a:lnTo>
                    <a:pt x="0" y="63456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174" id="174"/>
          <p:cNvGrpSpPr/>
          <p:nvPr/>
        </p:nvGrpSpPr>
        <p:grpSpPr>
          <a:xfrm rot="6633360">
            <a:off x="13595654" y="4013844"/>
            <a:ext cx="178187" cy="237333"/>
            <a:chOff x="0" y="0"/>
            <a:chExt cx="237583" cy="316444"/>
          </a:xfrm>
        </p:grpSpPr>
        <p:sp>
          <p:nvSpPr>
            <p:cNvPr name="Freeform 175" id="175"/>
            <p:cNvSpPr/>
            <p:nvPr/>
          </p:nvSpPr>
          <p:spPr>
            <a:xfrm flipH="false" flipV="false" rot="0">
              <a:off x="0" y="0"/>
              <a:ext cx="237609" cy="316469"/>
            </a:xfrm>
            <a:custGeom>
              <a:avLst/>
              <a:gdLst/>
              <a:ahLst/>
              <a:cxnLst/>
              <a:rect r="r" b="b" t="t" l="l"/>
              <a:pathLst>
                <a:path h="316469" w="237609">
                  <a:moveTo>
                    <a:pt x="0" y="316469"/>
                  </a:moveTo>
                  <a:lnTo>
                    <a:pt x="118802" y="0"/>
                  </a:lnTo>
                  <a:lnTo>
                    <a:pt x="237609" y="316469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176" id="176"/>
          <p:cNvGrpSpPr/>
          <p:nvPr/>
        </p:nvGrpSpPr>
        <p:grpSpPr>
          <a:xfrm rot="-2471160">
            <a:off x="13191598" y="4802800"/>
            <a:ext cx="148325" cy="47625"/>
            <a:chOff x="0" y="0"/>
            <a:chExt cx="197766" cy="63500"/>
          </a:xfrm>
        </p:grpSpPr>
        <p:sp>
          <p:nvSpPr>
            <p:cNvPr name="Freeform 177" id="177"/>
            <p:cNvSpPr/>
            <p:nvPr/>
          </p:nvSpPr>
          <p:spPr>
            <a:xfrm flipH="false" flipV="false" rot="0">
              <a:off x="0" y="0"/>
              <a:ext cx="197753" cy="63456"/>
            </a:xfrm>
            <a:custGeom>
              <a:avLst/>
              <a:gdLst/>
              <a:ahLst/>
              <a:cxnLst/>
              <a:rect r="r" b="b" t="t" l="l"/>
              <a:pathLst>
                <a:path h="63456" w="197753">
                  <a:moveTo>
                    <a:pt x="0" y="0"/>
                  </a:moveTo>
                  <a:lnTo>
                    <a:pt x="197753" y="0"/>
                  </a:lnTo>
                  <a:lnTo>
                    <a:pt x="197753" y="63456"/>
                  </a:lnTo>
                  <a:lnTo>
                    <a:pt x="0" y="63456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178" id="178"/>
          <p:cNvGrpSpPr/>
          <p:nvPr/>
        </p:nvGrpSpPr>
        <p:grpSpPr>
          <a:xfrm rot="-2471160">
            <a:off x="13378075" y="4670220"/>
            <a:ext cx="148325" cy="47625"/>
            <a:chOff x="0" y="0"/>
            <a:chExt cx="197766" cy="63500"/>
          </a:xfrm>
        </p:grpSpPr>
        <p:sp>
          <p:nvSpPr>
            <p:cNvPr name="Freeform 179" id="179"/>
            <p:cNvSpPr/>
            <p:nvPr/>
          </p:nvSpPr>
          <p:spPr>
            <a:xfrm flipH="false" flipV="false" rot="0">
              <a:off x="0" y="0"/>
              <a:ext cx="197753" cy="63456"/>
            </a:xfrm>
            <a:custGeom>
              <a:avLst/>
              <a:gdLst/>
              <a:ahLst/>
              <a:cxnLst/>
              <a:rect r="r" b="b" t="t" l="l"/>
              <a:pathLst>
                <a:path h="63456" w="197753">
                  <a:moveTo>
                    <a:pt x="0" y="0"/>
                  </a:moveTo>
                  <a:lnTo>
                    <a:pt x="197753" y="0"/>
                  </a:lnTo>
                  <a:lnTo>
                    <a:pt x="197753" y="63456"/>
                  </a:lnTo>
                  <a:lnTo>
                    <a:pt x="0" y="63456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180" id="180"/>
          <p:cNvGrpSpPr/>
          <p:nvPr/>
        </p:nvGrpSpPr>
        <p:grpSpPr>
          <a:xfrm rot="-2471160">
            <a:off x="13564542" y="4537640"/>
            <a:ext cx="148325" cy="47625"/>
            <a:chOff x="0" y="0"/>
            <a:chExt cx="197766" cy="63500"/>
          </a:xfrm>
        </p:grpSpPr>
        <p:sp>
          <p:nvSpPr>
            <p:cNvPr name="Freeform 181" id="181"/>
            <p:cNvSpPr/>
            <p:nvPr/>
          </p:nvSpPr>
          <p:spPr>
            <a:xfrm flipH="false" flipV="false" rot="0">
              <a:off x="0" y="0"/>
              <a:ext cx="197753" cy="63456"/>
            </a:xfrm>
            <a:custGeom>
              <a:avLst/>
              <a:gdLst/>
              <a:ahLst/>
              <a:cxnLst/>
              <a:rect r="r" b="b" t="t" l="l"/>
              <a:pathLst>
                <a:path h="63456" w="197753">
                  <a:moveTo>
                    <a:pt x="0" y="0"/>
                  </a:moveTo>
                  <a:lnTo>
                    <a:pt x="197753" y="0"/>
                  </a:lnTo>
                  <a:lnTo>
                    <a:pt x="197753" y="63456"/>
                  </a:lnTo>
                  <a:lnTo>
                    <a:pt x="0" y="63456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182" id="182"/>
          <p:cNvGrpSpPr/>
          <p:nvPr/>
        </p:nvGrpSpPr>
        <p:grpSpPr>
          <a:xfrm rot="2928840">
            <a:off x="13624619" y="4403230"/>
            <a:ext cx="163118" cy="242025"/>
            <a:chOff x="0" y="0"/>
            <a:chExt cx="217491" cy="322699"/>
          </a:xfrm>
        </p:grpSpPr>
        <p:sp>
          <p:nvSpPr>
            <p:cNvPr name="Freeform 183" id="183"/>
            <p:cNvSpPr/>
            <p:nvPr/>
          </p:nvSpPr>
          <p:spPr>
            <a:xfrm flipH="false" flipV="false" rot="0">
              <a:off x="0" y="0"/>
              <a:ext cx="217516" cy="322725"/>
            </a:xfrm>
            <a:custGeom>
              <a:avLst/>
              <a:gdLst/>
              <a:ahLst/>
              <a:cxnLst/>
              <a:rect r="r" b="b" t="t" l="l"/>
              <a:pathLst>
                <a:path h="322725" w="217516">
                  <a:moveTo>
                    <a:pt x="0" y="322725"/>
                  </a:moveTo>
                  <a:lnTo>
                    <a:pt x="108755" y="0"/>
                  </a:lnTo>
                  <a:lnTo>
                    <a:pt x="217516" y="322725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184" id="184"/>
          <p:cNvGrpSpPr/>
          <p:nvPr/>
        </p:nvGrpSpPr>
        <p:grpSpPr>
          <a:xfrm rot="1453680">
            <a:off x="13203844" y="4062134"/>
            <a:ext cx="147074" cy="47625"/>
            <a:chOff x="0" y="0"/>
            <a:chExt cx="196098" cy="63500"/>
          </a:xfrm>
        </p:grpSpPr>
        <p:sp>
          <p:nvSpPr>
            <p:cNvPr name="Freeform 185" id="185"/>
            <p:cNvSpPr/>
            <p:nvPr/>
          </p:nvSpPr>
          <p:spPr>
            <a:xfrm flipH="false" flipV="false" rot="0">
              <a:off x="0" y="0"/>
              <a:ext cx="196085" cy="63456"/>
            </a:xfrm>
            <a:custGeom>
              <a:avLst/>
              <a:gdLst/>
              <a:ahLst/>
              <a:cxnLst/>
              <a:rect r="r" b="b" t="t" l="l"/>
              <a:pathLst>
                <a:path h="63456" w="196085">
                  <a:moveTo>
                    <a:pt x="0" y="0"/>
                  </a:moveTo>
                  <a:lnTo>
                    <a:pt x="196085" y="0"/>
                  </a:lnTo>
                  <a:lnTo>
                    <a:pt x="196085" y="63456"/>
                  </a:lnTo>
                  <a:lnTo>
                    <a:pt x="0" y="63456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186" id="186"/>
          <p:cNvGrpSpPr/>
          <p:nvPr/>
        </p:nvGrpSpPr>
        <p:grpSpPr>
          <a:xfrm rot="1453680">
            <a:off x="13429795" y="4144757"/>
            <a:ext cx="147074" cy="47625"/>
            <a:chOff x="0" y="0"/>
            <a:chExt cx="196098" cy="63500"/>
          </a:xfrm>
        </p:grpSpPr>
        <p:sp>
          <p:nvSpPr>
            <p:cNvPr name="Freeform 187" id="187"/>
            <p:cNvSpPr/>
            <p:nvPr/>
          </p:nvSpPr>
          <p:spPr>
            <a:xfrm flipH="false" flipV="false" rot="0">
              <a:off x="0" y="0"/>
              <a:ext cx="196085" cy="63456"/>
            </a:xfrm>
            <a:custGeom>
              <a:avLst/>
              <a:gdLst/>
              <a:ahLst/>
              <a:cxnLst/>
              <a:rect r="r" b="b" t="t" l="l"/>
              <a:pathLst>
                <a:path h="63456" w="196085">
                  <a:moveTo>
                    <a:pt x="0" y="0"/>
                  </a:moveTo>
                  <a:lnTo>
                    <a:pt x="196085" y="0"/>
                  </a:lnTo>
                  <a:lnTo>
                    <a:pt x="196085" y="63456"/>
                  </a:lnTo>
                  <a:lnTo>
                    <a:pt x="0" y="63456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188" id="188"/>
          <p:cNvGrpSpPr/>
          <p:nvPr/>
        </p:nvGrpSpPr>
        <p:grpSpPr>
          <a:xfrm rot="6853680">
            <a:off x="13599636" y="4126278"/>
            <a:ext cx="175927" cy="238096"/>
            <a:chOff x="0" y="0"/>
            <a:chExt cx="234569" cy="317461"/>
          </a:xfrm>
        </p:grpSpPr>
        <p:sp>
          <p:nvSpPr>
            <p:cNvPr name="Freeform 189" id="189"/>
            <p:cNvSpPr/>
            <p:nvPr/>
          </p:nvSpPr>
          <p:spPr>
            <a:xfrm flipH="false" flipV="false" rot="0">
              <a:off x="0" y="0"/>
              <a:ext cx="234594" cy="317487"/>
            </a:xfrm>
            <a:custGeom>
              <a:avLst/>
              <a:gdLst/>
              <a:ahLst/>
              <a:cxnLst/>
              <a:rect r="r" b="b" t="t" l="l"/>
              <a:pathLst>
                <a:path h="317487" w="234594">
                  <a:moveTo>
                    <a:pt x="0" y="317487"/>
                  </a:moveTo>
                  <a:lnTo>
                    <a:pt x="117295" y="0"/>
                  </a:lnTo>
                  <a:lnTo>
                    <a:pt x="234594" y="317487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190" id="190"/>
          <p:cNvGrpSpPr/>
          <p:nvPr/>
        </p:nvGrpSpPr>
        <p:grpSpPr>
          <a:xfrm rot="0">
            <a:off x="676275" y="5607422"/>
            <a:ext cx="17145000" cy="47625"/>
            <a:chOff x="0" y="0"/>
            <a:chExt cx="22860000" cy="63500"/>
          </a:xfrm>
        </p:grpSpPr>
        <p:sp>
          <p:nvSpPr>
            <p:cNvPr name="Freeform 191" id="191"/>
            <p:cNvSpPr/>
            <p:nvPr/>
          </p:nvSpPr>
          <p:spPr>
            <a:xfrm flipH="false" flipV="false" rot="0">
              <a:off x="0" y="0"/>
              <a:ext cx="22860039" cy="63441"/>
            </a:xfrm>
            <a:custGeom>
              <a:avLst/>
              <a:gdLst/>
              <a:ahLst/>
              <a:cxnLst/>
              <a:rect r="r" b="b" t="t" l="l"/>
              <a:pathLst>
                <a:path h="63441" w="22860039">
                  <a:moveTo>
                    <a:pt x="0" y="0"/>
                  </a:moveTo>
                  <a:lnTo>
                    <a:pt x="22860039" y="0"/>
                  </a:lnTo>
                  <a:lnTo>
                    <a:pt x="22860039" y="63441"/>
                  </a:lnTo>
                  <a:lnTo>
                    <a:pt x="0" y="63441"/>
                  </a:lnTo>
                  <a:close/>
                </a:path>
              </a:pathLst>
            </a:custGeom>
            <a:solidFill>
              <a:srgbClr val="D7DBDF"/>
            </a:solidFill>
          </p:spPr>
        </p:sp>
      </p:grpSp>
      <p:grpSp>
        <p:nvGrpSpPr>
          <p:cNvPr name="Group 192" id="192"/>
          <p:cNvGrpSpPr/>
          <p:nvPr/>
        </p:nvGrpSpPr>
        <p:grpSpPr>
          <a:xfrm rot="0">
            <a:off x="676275" y="5688125"/>
            <a:ext cx="13117650" cy="491916"/>
            <a:chOff x="0" y="0"/>
            <a:chExt cx="17490200" cy="655888"/>
          </a:xfrm>
        </p:grpSpPr>
        <p:sp>
          <p:nvSpPr>
            <p:cNvPr name="Freeform 193" id="193"/>
            <p:cNvSpPr/>
            <p:nvPr/>
          </p:nvSpPr>
          <p:spPr>
            <a:xfrm flipH="false" flipV="false" rot="0">
              <a:off x="0" y="0"/>
              <a:ext cx="17490204" cy="655877"/>
            </a:xfrm>
            <a:custGeom>
              <a:avLst/>
              <a:gdLst/>
              <a:ahLst/>
              <a:cxnLst/>
              <a:rect r="r" b="b" t="t" l="l"/>
              <a:pathLst>
                <a:path h="655877" w="17490204">
                  <a:moveTo>
                    <a:pt x="0" y="0"/>
                  </a:moveTo>
                  <a:lnTo>
                    <a:pt x="17490204" y="0"/>
                  </a:lnTo>
                  <a:lnTo>
                    <a:pt x="17490204" y="655877"/>
                  </a:lnTo>
                  <a:lnTo>
                    <a:pt x="0" y="6558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61452" r="5821" b="-417263"/>
              </a:stretch>
            </a:blipFill>
          </p:spPr>
        </p:sp>
        <p:sp>
          <p:nvSpPr>
            <p:cNvPr name="TextBox 194" id="194"/>
            <p:cNvSpPr txBox="true"/>
            <p:nvPr/>
          </p:nvSpPr>
          <p:spPr>
            <a:xfrm>
              <a:off x="0" y="-9525"/>
              <a:ext cx="17490200" cy="665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31"/>
                </a:lnSpc>
              </a:pPr>
              <a:r>
                <a:rPr lang="en-US" b="true" sz="1275" spc="4">
                  <a:solidFill>
                    <a:srgbClr val="8A949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STORAGE · AI 산출물 저장 (쓰기 전용 · 색 = 도착 DB)</a:t>
              </a:r>
            </a:p>
          </p:txBody>
        </p:sp>
      </p:grpSp>
      <p:grpSp>
        <p:nvGrpSpPr>
          <p:cNvPr name="Group 195" id="195"/>
          <p:cNvGrpSpPr/>
          <p:nvPr/>
        </p:nvGrpSpPr>
        <p:grpSpPr>
          <a:xfrm rot="0">
            <a:off x="2046747" y="6428133"/>
            <a:ext cx="3234879" cy="1420511"/>
            <a:chOff x="0" y="0"/>
            <a:chExt cx="4313172" cy="1894015"/>
          </a:xfrm>
        </p:grpSpPr>
        <p:sp>
          <p:nvSpPr>
            <p:cNvPr name="Freeform 196" id="196"/>
            <p:cNvSpPr/>
            <p:nvPr/>
          </p:nvSpPr>
          <p:spPr>
            <a:xfrm flipH="false" flipV="false" rot="0">
              <a:off x="0" y="236677"/>
              <a:ext cx="4313038" cy="1657402"/>
            </a:xfrm>
            <a:custGeom>
              <a:avLst/>
              <a:gdLst/>
              <a:ahLst/>
              <a:cxnLst/>
              <a:rect r="r" b="b" t="t" l="l"/>
              <a:pathLst>
                <a:path h="1657402" w="4313038">
                  <a:moveTo>
                    <a:pt x="0" y="109"/>
                  </a:moveTo>
                  <a:cubicBezTo>
                    <a:pt x="0" y="130829"/>
                    <a:pt x="965525" y="236786"/>
                    <a:pt x="2156519" y="236786"/>
                  </a:cubicBezTo>
                  <a:cubicBezTo>
                    <a:pt x="3347513" y="236786"/>
                    <a:pt x="4313038" y="130829"/>
                    <a:pt x="4313038" y="0"/>
                  </a:cubicBezTo>
                  <a:lnTo>
                    <a:pt x="4313038" y="1420607"/>
                  </a:lnTo>
                  <a:cubicBezTo>
                    <a:pt x="4313038" y="1551327"/>
                    <a:pt x="3347513" y="1657402"/>
                    <a:pt x="2156519" y="1657402"/>
                  </a:cubicBezTo>
                  <a:cubicBezTo>
                    <a:pt x="965525" y="1657402"/>
                    <a:pt x="0" y="1551327"/>
                    <a:pt x="0" y="1420607"/>
                  </a:cubicBezTo>
                  <a:close/>
                </a:path>
              </a:pathLst>
            </a:custGeom>
            <a:solidFill>
              <a:srgbClr val="FCEEDB"/>
            </a:solidFill>
            <a:ln w="26691" cap="sq">
              <a:solidFill>
                <a:srgbClr val="E0913B"/>
              </a:solidFill>
              <a:prstDash val="solid"/>
              <a:miter/>
            </a:ln>
          </p:spPr>
        </p:sp>
        <p:sp>
          <p:nvSpPr>
            <p:cNvPr name="Freeform 197" id="197"/>
            <p:cNvSpPr/>
            <p:nvPr/>
          </p:nvSpPr>
          <p:spPr>
            <a:xfrm flipH="false" flipV="false" rot="0">
              <a:off x="0" y="0"/>
              <a:ext cx="4313172" cy="473572"/>
            </a:xfrm>
            <a:custGeom>
              <a:avLst/>
              <a:gdLst/>
              <a:ahLst/>
              <a:cxnLst/>
              <a:rect r="r" b="b" t="t" l="l"/>
              <a:pathLst>
                <a:path h="473572" w="4313172">
                  <a:moveTo>
                    <a:pt x="0" y="236786"/>
                  </a:moveTo>
                  <a:cubicBezTo>
                    <a:pt x="0" y="105957"/>
                    <a:pt x="965525" y="0"/>
                    <a:pt x="2156519" y="0"/>
                  </a:cubicBezTo>
                  <a:cubicBezTo>
                    <a:pt x="3347513" y="0"/>
                    <a:pt x="4313172" y="105957"/>
                    <a:pt x="4313172" y="236786"/>
                  </a:cubicBezTo>
                  <a:cubicBezTo>
                    <a:pt x="4313172" y="367616"/>
                    <a:pt x="3347648" y="473572"/>
                    <a:pt x="2156654" y="473572"/>
                  </a:cubicBezTo>
                  <a:cubicBezTo>
                    <a:pt x="965660" y="473572"/>
                    <a:pt x="0" y="367506"/>
                    <a:pt x="0" y="236786"/>
                  </a:cubicBezTo>
                  <a:close/>
                </a:path>
              </a:pathLst>
            </a:custGeom>
            <a:solidFill>
              <a:srgbClr val="FDF4E9"/>
            </a:solidFill>
            <a:ln w="26691" cap="sq">
              <a:solidFill>
                <a:srgbClr val="E0913B"/>
              </a:solidFill>
              <a:prstDash val="solid"/>
              <a:miter/>
            </a:ln>
          </p:spPr>
        </p:sp>
        <p:sp>
          <p:nvSpPr>
            <p:cNvPr name="Freeform 198" id="198"/>
            <p:cNvSpPr/>
            <p:nvPr/>
          </p:nvSpPr>
          <p:spPr>
            <a:xfrm flipH="false" flipV="false" rot="0">
              <a:off x="0" y="0"/>
              <a:ext cx="4313172" cy="1894079"/>
            </a:xfrm>
            <a:custGeom>
              <a:avLst/>
              <a:gdLst/>
              <a:ahLst/>
              <a:cxnLst/>
              <a:rect r="r" b="b" t="t" l="l"/>
              <a:pathLst>
                <a:path h="1894079" w="4313172">
                  <a:moveTo>
                    <a:pt x="4313172" y="236786"/>
                  </a:moveTo>
                  <a:cubicBezTo>
                    <a:pt x="4313172" y="367506"/>
                    <a:pt x="3347648" y="473572"/>
                    <a:pt x="2156654" y="473572"/>
                  </a:cubicBezTo>
                  <a:cubicBezTo>
                    <a:pt x="965660" y="473572"/>
                    <a:pt x="0" y="367506"/>
                    <a:pt x="0" y="236786"/>
                  </a:cubicBezTo>
                  <a:cubicBezTo>
                    <a:pt x="0" y="106066"/>
                    <a:pt x="965525" y="0"/>
                    <a:pt x="2156519" y="0"/>
                  </a:cubicBezTo>
                  <a:cubicBezTo>
                    <a:pt x="3347513" y="0"/>
                    <a:pt x="4313172" y="105957"/>
                    <a:pt x="4313172" y="236786"/>
                  </a:cubicBezTo>
                  <a:lnTo>
                    <a:pt x="4313172" y="1657284"/>
                  </a:lnTo>
                  <a:cubicBezTo>
                    <a:pt x="4313172" y="1788004"/>
                    <a:pt x="3347648" y="1894079"/>
                    <a:pt x="2156654" y="1894079"/>
                  </a:cubicBezTo>
                  <a:cubicBezTo>
                    <a:pt x="965660" y="1894079"/>
                    <a:pt x="0" y="1788004"/>
                    <a:pt x="0" y="1657284"/>
                  </a:cubicBezTo>
                  <a:lnTo>
                    <a:pt x="0" y="236786"/>
                  </a:lnTo>
                </a:path>
              </a:pathLst>
            </a:custGeom>
            <a:solidFill>
              <a:srgbClr val="FDF4E9"/>
            </a:solidFill>
            <a:ln w="26691" cap="sq">
              <a:solidFill>
                <a:srgbClr val="E0913B"/>
              </a:solidFill>
              <a:prstDash val="solid"/>
              <a:miter/>
            </a:ln>
          </p:spPr>
        </p:sp>
      </p:grpSp>
      <p:grpSp>
        <p:nvGrpSpPr>
          <p:cNvPr name="Group 199" id="199"/>
          <p:cNvGrpSpPr/>
          <p:nvPr/>
        </p:nvGrpSpPr>
        <p:grpSpPr>
          <a:xfrm rot="0">
            <a:off x="1623659" y="6771257"/>
            <a:ext cx="4081045" cy="1042190"/>
            <a:chOff x="0" y="0"/>
            <a:chExt cx="5441394" cy="1389587"/>
          </a:xfrm>
        </p:grpSpPr>
        <p:sp>
          <p:nvSpPr>
            <p:cNvPr name="Freeform 200" id="200"/>
            <p:cNvSpPr/>
            <p:nvPr/>
          </p:nvSpPr>
          <p:spPr>
            <a:xfrm flipH="false" flipV="false" rot="0">
              <a:off x="0" y="0"/>
              <a:ext cx="5441397" cy="1389588"/>
            </a:xfrm>
            <a:custGeom>
              <a:avLst/>
              <a:gdLst/>
              <a:ahLst/>
              <a:cxnLst/>
              <a:rect r="r" b="b" t="t" l="l"/>
              <a:pathLst>
                <a:path h="1389588" w="5441397">
                  <a:moveTo>
                    <a:pt x="0" y="0"/>
                  </a:moveTo>
                  <a:lnTo>
                    <a:pt x="5441397" y="0"/>
                  </a:lnTo>
                  <a:lnTo>
                    <a:pt x="5441397" y="1389588"/>
                  </a:lnTo>
                  <a:lnTo>
                    <a:pt x="0" y="13895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06" r="5821" b="-29811"/>
              </a:stretch>
            </a:blipFill>
          </p:spPr>
        </p:sp>
        <p:sp>
          <p:nvSpPr>
            <p:cNvPr name="TextBox 201" id="201"/>
            <p:cNvSpPr txBox="true"/>
            <p:nvPr/>
          </p:nvSpPr>
          <p:spPr>
            <a:xfrm>
              <a:off x="0" y="0"/>
              <a:ext cx="5441394" cy="13895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11"/>
                </a:lnSpc>
              </a:pPr>
              <a:r>
                <a:rPr lang="en-US" b="true" sz="1426" spc="5">
                  <a:solidFill>
                    <a:srgbClr val="9A5A1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</a:t>
              </a:r>
              <a:r>
                <a:rPr lang="en-US" b="true" sz="1426" spc="5">
                  <a:solidFill>
                    <a:srgbClr val="9A5A1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GCS</a:t>
              </a:r>
            </a:p>
            <a:p>
              <a:pPr algn="ctr">
                <a:lnSpc>
                  <a:spcPts val="1170"/>
                </a:lnSpc>
              </a:pPr>
              <a:r>
                <a:rPr lang="en-US" sz="975" spc="3">
                  <a:solidFill>
                    <a:srgbClr val="9A5A1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초안·세션·재개상태</a:t>
              </a:r>
            </a:p>
            <a:p>
              <a:pPr algn="ctr">
                <a:lnSpc>
                  <a:spcPts val="1170"/>
                </a:lnSpc>
              </a:pPr>
              <a:r>
                <a:rPr lang="en-US" sz="975" spc="3">
                  <a:solidFill>
                    <a:srgbClr val="9A5A12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·스킬문서·개인메모리</a:t>
              </a:r>
            </a:p>
          </p:txBody>
        </p:sp>
      </p:grpSp>
      <p:grpSp>
        <p:nvGrpSpPr>
          <p:cNvPr name="Group 202" id="202"/>
          <p:cNvGrpSpPr/>
          <p:nvPr/>
        </p:nvGrpSpPr>
        <p:grpSpPr>
          <a:xfrm rot="0">
            <a:off x="7293805" y="6428133"/>
            <a:ext cx="3963635" cy="1420511"/>
            <a:chOff x="0" y="0"/>
            <a:chExt cx="5284846" cy="1894015"/>
          </a:xfrm>
        </p:grpSpPr>
        <p:sp>
          <p:nvSpPr>
            <p:cNvPr name="Freeform 203" id="203"/>
            <p:cNvSpPr/>
            <p:nvPr/>
          </p:nvSpPr>
          <p:spPr>
            <a:xfrm flipH="false" flipV="false" rot="0">
              <a:off x="0" y="236677"/>
              <a:ext cx="5284765" cy="1657402"/>
            </a:xfrm>
            <a:custGeom>
              <a:avLst/>
              <a:gdLst/>
              <a:ahLst/>
              <a:cxnLst/>
              <a:rect r="r" b="b" t="t" l="l"/>
              <a:pathLst>
                <a:path h="1657402" w="5284765">
                  <a:moveTo>
                    <a:pt x="0" y="109"/>
                  </a:moveTo>
                  <a:cubicBezTo>
                    <a:pt x="0" y="130829"/>
                    <a:pt x="1183038" y="236786"/>
                    <a:pt x="2642383" y="236786"/>
                  </a:cubicBezTo>
                  <a:cubicBezTo>
                    <a:pt x="4101728" y="236786"/>
                    <a:pt x="5284765" y="130829"/>
                    <a:pt x="5284765" y="0"/>
                  </a:cubicBezTo>
                  <a:lnTo>
                    <a:pt x="5284765" y="1420607"/>
                  </a:lnTo>
                  <a:cubicBezTo>
                    <a:pt x="5284765" y="1551327"/>
                    <a:pt x="4101728" y="1657402"/>
                    <a:pt x="2642383" y="1657402"/>
                  </a:cubicBezTo>
                  <a:cubicBezTo>
                    <a:pt x="1183038" y="1657402"/>
                    <a:pt x="0" y="1551327"/>
                    <a:pt x="0" y="1420607"/>
                  </a:cubicBezTo>
                  <a:close/>
                </a:path>
              </a:pathLst>
            </a:custGeom>
            <a:solidFill>
              <a:srgbClr val="DCEBFB"/>
            </a:solidFill>
            <a:ln w="26691" cap="sq">
              <a:solidFill>
                <a:srgbClr val="3B7DD8"/>
              </a:solidFill>
              <a:prstDash val="solid"/>
              <a:miter/>
            </a:ln>
          </p:spPr>
        </p:sp>
        <p:sp>
          <p:nvSpPr>
            <p:cNvPr name="Freeform 204" id="204"/>
            <p:cNvSpPr/>
            <p:nvPr/>
          </p:nvSpPr>
          <p:spPr>
            <a:xfrm flipH="false" flipV="false" rot="0">
              <a:off x="0" y="0"/>
              <a:ext cx="5284897" cy="473463"/>
            </a:xfrm>
            <a:custGeom>
              <a:avLst/>
              <a:gdLst/>
              <a:ahLst/>
              <a:cxnLst/>
              <a:rect r="r" b="b" t="t" l="l"/>
              <a:pathLst>
                <a:path h="473463" w="5284897">
                  <a:moveTo>
                    <a:pt x="0" y="236786"/>
                  </a:moveTo>
                  <a:cubicBezTo>
                    <a:pt x="0" y="105957"/>
                    <a:pt x="1183038" y="0"/>
                    <a:pt x="2642383" y="0"/>
                  </a:cubicBezTo>
                  <a:cubicBezTo>
                    <a:pt x="4101728" y="0"/>
                    <a:pt x="5284897" y="105957"/>
                    <a:pt x="5284897" y="236786"/>
                  </a:cubicBezTo>
                  <a:cubicBezTo>
                    <a:pt x="5284897" y="367616"/>
                    <a:pt x="4101728" y="473463"/>
                    <a:pt x="2642383" y="473463"/>
                  </a:cubicBezTo>
                  <a:cubicBezTo>
                    <a:pt x="1183037" y="473463"/>
                    <a:pt x="0" y="367506"/>
                    <a:pt x="0" y="236786"/>
                  </a:cubicBezTo>
                  <a:close/>
                </a:path>
              </a:pathLst>
            </a:custGeom>
            <a:solidFill>
              <a:srgbClr val="EAF3FC"/>
            </a:solidFill>
            <a:ln w="26691" cap="sq">
              <a:solidFill>
                <a:srgbClr val="3B7DD8"/>
              </a:solidFill>
              <a:prstDash val="solid"/>
              <a:miter/>
            </a:ln>
          </p:spPr>
        </p:sp>
        <p:sp>
          <p:nvSpPr>
            <p:cNvPr name="Freeform 205" id="205"/>
            <p:cNvSpPr/>
            <p:nvPr/>
          </p:nvSpPr>
          <p:spPr>
            <a:xfrm flipH="false" flipV="false" rot="0">
              <a:off x="0" y="0"/>
              <a:ext cx="5284897" cy="1894079"/>
            </a:xfrm>
            <a:custGeom>
              <a:avLst/>
              <a:gdLst/>
              <a:ahLst/>
              <a:cxnLst/>
              <a:rect r="r" b="b" t="t" l="l"/>
              <a:pathLst>
                <a:path h="1894079" w="5284897">
                  <a:moveTo>
                    <a:pt x="5284897" y="236786"/>
                  </a:moveTo>
                  <a:cubicBezTo>
                    <a:pt x="5284897" y="367506"/>
                    <a:pt x="4101862" y="473572"/>
                    <a:pt x="2642518" y="473572"/>
                  </a:cubicBezTo>
                  <a:cubicBezTo>
                    <a:pt x="1183173" y="473572"/>
                    <a:pt x="0" y="367506"/>
                    <a:pt x="0" y="236786"/>
                  </a:cubicBezTo>
                  <a:cubicBezTo>
                    <a:pt x="0" y="106066"/>
                    <a:pt x="1183038" y="0"/>
                    <a:pt x="2642383" y="0"/>
                  </a:cubicBezTo>
                  <a:cubicBezTo>
                    <a:pt x="4101728" y="0"/>
                    <a:pt x="5284897" y="105957"/>
                    <a:pt x="5284897" y="236786"/>
                  </a:cubicBezTo>
                  <a:lnTo>
                    <a:pt x="5284897" y="1657284"/>
                  </a:lnTo>
                  <a:cubicBezTo>
                    <a:pt x="5284897" y="1788004"/>
                    <a:pt x="4101862" y="1894079"/>
                    <a:pt x="2642518" y="1894079"/>
                  </a:cubicBezTo>
                  <a:cubicBezTo>
                    <a:pt x="1183173" y="1894079"/>
                    <a:pt x="0" y="1788004"/>
                    <a:pt x="0" y="1657284"/>
                  </a:cubicBezTo>
                  <a:lnTo>
                    <a:pt x="0" y="236786"/>
                  </a:lnTo>
                </a:path>
              </a:pathLst>
            </a:custGeom>
            <a:solidFill>
              <a:srgbClr val="EAF3FC"/>
            </a:solidFill>
            <a:ln w="26691" cap="sq">
              <a:solidFill>
                <a:srgbClr val="3B7DD8"/>
              </a:solidFill>
              <a:prstDash val="solid"/>
              <a:miter/>
            </a:ln>
          </p:spPr>
        </p:sp>
      </p:grpSp>
      <p:grpSp>
        <p:nvGrpSpPr>
          <p:cNvPr name="Group 206" id="206"/>
          <p:cNvGrpSpPr/>
          <p:nvPr/>
        </p:nvGrpSpPr>
        <p:grpSpPr>
          <a:xfrm rot="0">
            <a:off x="6870727" y="6771257"/>
            <a:ext cx="4809811" cy="1042190"/>
            <a:chOff x="0" y="0"/>
            <a:chExt cx="6413081" cy="1389587"/>
          </a:xfrm>
        </p:grpSpPr>
        <p:sp>
          <p:nvSpPr>
            <p:cNvPr name="Freeform 207" id="207"/>
            <p:cNvSpPr/>
            <p:nvPr/>
          </p:nvSpPr>
          <p:spPr>
            <a:xfrm flipH="false" flipV="false" rot="0">
              <a:off x="0" y="0"/>
              <a:ext cx="6413075" cy="1389588"/>
            </a:xfrm>
            <a:custGeom>
              <a:avLst/>
              <a:gdLst/>
              <a:ahLst/>
              <a:cxnLst/>
              <a:rect r="r" b="b" t="t" l="l"/>
              <a:pathLst>
                <a:path h="1389588" w="6413075">
                  <a:moveTo>
                    <a:pt x="0" y="0"/>
                  </a:moveTo>
                  <a:lnTo>
                    <a:pt x="6413075" y="0"/>
                  </a:lnTo>
                  <a:lnTo>
                    <a:pt x="6413075" y="1389588"/>
                  </a:lnTo>
                  <a:lnTo>
                    <a:pt x="0" y="13895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738" r="5821" b="-42643"/>
              </a:stretch>
            </a:blipFill>
          </p:spPr>
        </p:sp>
        <p:sp>
          <p:nvSpPr>
            <p:cNvPr name="TextBox 208" id="208"/>
            <p:cNvSpPr txBox="true"/>
            <p:nvPr/>
          </p:nvSpPr>
          <p:spPr>
            <a:xfrm>
              <a:off x="0" y="0"/>
              <a:ext cx="6413081" cy="13895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11"/>
                </a:lnSpc>
              </a:pPr>
              <a:r>
                <a:rPr lang="en-US" b="true" sz="1426" spc="5">
                  <a:solidFill>
                    <a:srgbClr val="1E54A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</a:t>
              </a:r>
              <a:r>
                <a:rPr lang="en-US" b="true" sz="1426" spc="5">
                  <a:solidFill>
                    <a:srgbClr val="1E54A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PostgreSQL 16 + pgvector</a:t>
              </a:r>
            </a:p>
            <a:p>
              <a:pPr algn="ctr">
                <a:lnSpc>
                  <a:spcPts val="1170"/>
                </a:lnSpc>
              </a:pPr>
              <a:r>
                <a:rPr lang="en-US" sz="975" spc="3">
                  <a:solidFill>
                    <a:srgbClr val="1E54A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workflows·skills·agent_memory</a:t>
              </a:r>
            </a:p>
            <a:p>
              <a:pPr algn="ctr">
                <a:lnSpc>
                  <a:spcPts val="1170"/>
                </a:lnSpc>
              </a:pPr>
              <a:r>
                <a:rPr lang="en-US" sz="975" spc="3">
                  <a:solidFill>
                    <a:srgbClr val="1E54A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·document_chunks(768·HNSW)·executions·node_logs</a:t>
              </a:r>
            </a:p>
          </p:txBody>
        </p:sp>
      </p:grpSp>
      <p:grpSp>
        <p:nvGrpSpPr>
          <p:cNvPr name="Group 209" id="209"/>
          <p:cNvGrpSpPr/>
          <p:nvPr/>
        </p:nvGrpSpPr>
        <p:grpSpPr>
          <a:xfrm rot="0">
            <a:off x="13269629" y="6428133"/>
            <a:ext cx="3380628" cy="1420511"/>
            <a:chOff x="0" y="0"/>
            <a:chExt cx="4507504" cy="1894015"/>
          </a:xfrm>
        </p:grpSpPr>
        <p:sp>
          <p:nvSpPr>
            <p:cNvPr name="Freeform 210" id="210"/>
            <p:cNvSpPr/>
            <p:nvPr/>
          </p:nvSpPr>
          <p:spPr>
            <a:xfrm flipH="false" flipV="false" rot="0">
              <a:off x="0" y="236677"/>
              <a:ext cx="4507491" cy="1657402"/>
            </a:xfrm>
            <a:custGeom>
              <a:avLst/>
              <a:gdLst/>
              <a:ahLst/>
              <a:cxnLst/>
              <a:rect r="r" b="b" t="t" l="l"/>
              <a:pathLst>
                <a:path h="1657402" w="4507491">
                  <a:moveTo>
                    <a:pt x="0" y="109"/>
                  </a:moveTo>
                  <a:cubicBezTo>
                    <a:pt x="0" y="130829"/>
                    <a:pt x="1009081" y="236786"/>
                    <a:pt x="2253746" y="236786"/>
                  </a:cubicBezTo>
                  <a:cubicBezTo>
                    <a:pt x="3498410" y="236786"/>
                    <a:pt x="4507491" y="130829"/>
                    <a:pt x="4507491" y="0"/>
                  </a:cubicBezTo>
                  <a:lnTo>
                    <a:pt x="4507491" y="1420607"/>
                  </a:lnTo>
                  <a:cubicBezTo>
                    <a:pt x="4507491" y="1551327"/>
                    <a:pt x="3498410" y="1657402"/>
                    <a:pt x="2253746" y="1657402"/>
                  </a:cubicBezTo>
                  <a:cubicBezTo>
                    <a:pt x="1009081" y="1657402"/>
                    <a:pt x="0" y="1551327"/>
                    <a:pt x="0" y="1420607"/>
                  </a:cubicBezTo>
                  <a:close/>
                </a:path>
              </a:pathLst>
            </a:custGeom>
            <a:solidFill>
              <a:srgbClr val="E2F3E5"/>
            </a:solidFill>
            <a:ln w="26691" cap="sq">
              <a:solidFill>
                <a:srgbClr val="3E9463"/>
              </a:solidFill>
              <a:prstDash val="solid"/>
              <a:miter/>
            </a:ln>
          </p:spPr>
        </p:sp>
        <p:sp>
          <p:nvSpPr>
            <p:cNvPr name="Freeform 211" id="211"/>
            <p:cNvSpPr/>
            <p:nvPr/>
          </p:nvSpPr>
          <p:spPr>
            <a:xfrm flipH="false" flipV="false" rot="0">
              <a:off x="0" y="0"/>
              <a:ext cx="4507491" cy="473463"/>
            </a:xfrm>
            <a:custGeom>
              <a:avLst/>
              <a:gdLst/>
              <a:ahLst/>
              <a:cxnLst/>
              <a:rect r="r" b="b" t="t" l="l"/>
              <a:pathLst>
                <a:path h="473463" w="4507491">
                  <a:moveTo>
                    <a:pt x="0" y="236786"/>
                  </a:moveTo>
                  <a:cubicBezTo>
                    <a:pt x="0" y="105957"/>
                    <a:pt x="1009081" y="0"/>
                    <a:pt x="2253746" y="0"/>
                  </a:cubicBezTo>
                  <a:cubicBezTo>
                    <a:pt x="3498410" y="0"/>
                    <a:pt x="4507491" y="105957"/>
                    <a:pt x="4507491" y="236786"/>
                  </a:cubicBezTo>
                  <a:cubicBezTo>
                    <a:pt x="4507491" y="367616"/>
                    <a:pt x="3498409" y="473463"/>
                    <a:pt x="2253746" y="473463"/>
                  </a:cubicBezTo>
                  <a:cubicBezTo>
                    <a:pt x="1009082" y="473463"/>
                    <a:pt x="0" y="367506"/>
                    <a:pt x="0" y="236786"/>
                  </a:cubicBezTo>
                  <a:close/>
                </a:path>
              </a:pathLst>
            </a:custGeom>
            <a:solidFill>
              <a:srgbClr val="EDF7EF"/>
            </a:solidFill>
            <a:ln w="26691" cap="sq">
              <a:solidFill>
                <a:srgbClr val="3E9463"/>
              </a:solidFill>
              <a:prstDash val="solid"/>
              <a:miter/>
            </a:ln>
          </p:spPr>
        </p:sp>
        <p:sp>
          <p:nvSpPr>
            <p:cNvPr name="Freeform 212" id="212"/>
            <p:cNvSpPr/>
            <p:nvPr/>
          </p:nvSpPr>
          <p:spPr>
            <a:xfrm flipH="false" flipV="false" rot="0">
              <a:off x="0" y="0"/>
              <a:ext cx="4507491" cy="1894079"/>
            </a:xfrm>
            <a:custGeom>
              <a:avLst/>
              <a:gdLst/>
              <a:ahLst/>
              <a:cxnLst/>
              <a:rect r="r" b="b" t="t" l="l"/>
              <a:pathLst>
                <a:path h="1894079" w="4507491">
                  <a:moveTo>
                    <a:pt x="4507491" y="236786"/>
                  </a:moveTo>
                  <a:cubicBezTo>
                    <a:pt x="4507491" y="367506"/>
                    <a:pt x="3498410" y="473572"/>
                    <a:pt x="2253746" y="473572"/>
                  </a:cubicBezTo>
                  <a:cubicBezTo>
                    <a:pt x="1009081" y="473572"/>
                    <a:pt x="0" y="367506"/>
                    <a:pt x="0" y="236786"/>
                  </a:cubicBezTo>
                  <a:cubicBezTo>
                    <a:pt x="0" y="106066"/>
                    <a:pt x="1009081" y="0"/>
                    <a:pt x="2253746" y="0"/>
                  </a:cubicBezTo>
                  <a:cubicBezTo>
                    <a:pt x="3498410" y="0"/>
                    <a:pt x="4507491" y="105957"/>
                    <a:pt x="4507491" y="236786"/>
                  </a:cubicBezTo>
                  <a:lnTo>
                    <a:pt x="4507491" y="1657284"/>
                  </a:lnTo>
                  <a:cubicBezTo>
                    <a:pt x="4507491" y="1788004"/>
                    <a:pt x="3498410" y="1894079"/>
                    <a:pt x="2253746" y="1894079"/>
                  </a:cubicBezTo>
                  <a:cubicBezTo>
                    <a:pt x="1009081" y="1894079"/>
                    <a:pt x="0" y="1788004"/>
                    <a:pt x="0" y="1657284"/>
                  </a:cubicBezTo>
                  <a:lnTo>
                    <a:pt x="0" y="236786"/>
                  </a:lnTo>
                </a:path>
              </a:pathLst>
            </a:custGeom>
            <a:solidFill>
              <a:srgbClr val="EDF7EF"/>
            </a:solidFill>
            <a:ln w="26691" cap="sq">
              <a:solidFill>
                <a:srgbClr val="3E9463"/>
              </a:solidFill>
              <a:prstDash val="solid"/>
              <a:miter/>
            </a:ln>
          </p:spPr>
        </p:sp>
      </p:grpSp>
      <p:grpSp>
        <p:nvGrpSpPr>
          <p:cNvPr name="Group 213" id="213"/>
          <p:cNvGrpSpPr/>
          <p:nvPr/>
        </p:nvGrpSpPr>
        <p:grpSpPr>
          <a:xfrm rot="0">
            <a:off x="12846541" y="6771257"/>
            <a:ext cx="4226804" cy="1042190"/>
            <a:chOff x="0" y="0"/>
            <a:chExt cx="5635739" cy="1389587"/>
          </a:xfrm>
        </p:grpSpPr>
        <p:sp>
          <p:nvSpPr>
            <p:cNvPr name="Freeform 214" id="214"/>
            <p:cNvSpPr/>
            <p:nvPr/>
          </p:nvSpPr>
          <p:spPr>
            <a:xfrm flipH="false" flipV="false" rot="0">
              <a:off x="0" y="0"/>
              <a:ext cx="5635733" cy="1389588"/>
            </a:xfrm>
            <a:custGeom>
              <a:avLst/>
              <a:gdLst/>
              <a:ahLst/>
              <a:cxnLst/>
              <a:rect r="r" b="b" t="t" l="l"/>
              <a:pathLst>
                <a:path h="1389588" w="5635733">
                  <a:moveTo>
                    <a:pt x="0" y="0"/>
                  </a:moveTo>
                  <a:lnTo>
                    <a:pt x="5635733" y="0"/>
                  </a:lnTo>
                  <a:lnTo>
                    <a:pt x="5635733" y="1389588"/>
                  </a:lnTo>
                  <a:lnTo>
                    <a:pt x="0" y="13895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472" r="5821" b="-32377"/>
              </a:stretch>
            </a:blipFill>
          </p:spPr>
        </p:sp>
        <p:sp>
          <p:nvSpPr>
            <p:cNvPr name="TextBox 215" id="215"/>
            <p:cNvSpPr txBox="true"/>
            <p:nvPr/>
          </p:nvSpPr>
          <p:spPr>
            <a:xfrm>
              <a:off x="0" y="0"/>
              <a:ext cx="5635739" cy="13895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11"/>
                </a:lnSpc>
              </a:pPr>
              <a:r>
                <a:rPr lang="en-US" b="true" sz="1426" spc="5">
                  <a:solidFill>
                    <a:srgbClr val="1F6B43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</a:t>
              </a:r>
              <a:r>
                <a:rPr lang="en-US" b="true" sz="1426" spc="5">
                  <a:solidFill>
                    <a:srgbClr val="1F6B43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Neo4j AuraDB</a:t>
              </a:r>
            </a:p>
            <a:p>
              <a:pPr algn="ctr">
                <a:lnSpc>
                  <a:spcPts val="1170"/>
                </a:lnSpc>
              </a:pPr>
              <a:r>
                <a:rPr lang="en-US" sz="975" spc="3">
                  <a:solidFill>
                    <a:srgbClr val="1F6B43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(:Skill)-[:BINDS]-&gt;(:Node)</a:t>
              </a:r>
            </a:p>
          </p:txBody>
        </p:sp>
      </p:grpSp>
      <p:grpSp>
        <p:nvGrpSpPr>
          <p:cNvPr name="Group 216" id="216"/>
          <p:cNvGrpSpPr/>
          <p:nvPr/>
        </p:nvGrpSpPr>
        <p:grpSpPr>
          <a:xfrm rot="0">
            <a:off x="9931509" y="3247940"/>
            <a:ext cx="364378" cy="59218"/>
            <a:chOff x="0" y="0"/>
            <a:chExt cx="485837" cy="78958"/>
          </a:xfrm>
        </p:grpSpPr>
        <p:sp>
          <p:nvSpPr>
            <p:cNvPr name="Freeform 217" id="217"/>
            <p:cNvSpPr/>
            <p:nvPr/>
          </p:nvSpPr>
          <p:spPr>
            <a:xfrm flipH="false" flipV="false" rot="0">
              <a:off x="0" y="0"/>
              <a:ext cx="485862" cy="79009"/>
            </a:xfrm>
            <a:custGeom>
              <a:avLst/>
              <a:gdLst/>
              <a:ahLst/>
              <a:cxnLst/>
              <a:rect r="r" b="b" t="t" l="l"/>
              <a:pathLst>
                <a:path h="79009" w="485862">
                  <a:moveTo>
                    <a:pt x="0" y="0"/>
                  </a:moveTo>
                  <a:lnTo>
                    <a:pt x="485862" y="0"/>
                  </a:lnTo>
                  <a:lnTo>
                    <a:pt x="485862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218" id="218"/>
          <p:cNvGrpSpPr/>
          <p:nvPr/>
        </p:nvGrpSpPr>
        <p:grpSpPr>
          <a:xfrm rot="0">
            <a:off x="9895069" y="3277549"/>
            <a:ext cx="72880" cy="2569946"/>
            <a:chOff x="0" y="0"/>
            <a:chExt cx="97173" cy="3426595"/>
          </a:xfrm>
        </p:grpSpPr>
        <p:sp>
          <p:nvSpPr>
            <p:cNvPr name="Freeform 219" id="219"/>
            <p:cNvSpPr/>
            <p:nvPr/>
          </p:nvSpPr>
          <p:spPr>
            <a:xfrm flipH="false" flipV="false" rot="0">
              <a:off x="0" y="0"/>
              <a:ext cx="97224" cy="3426551"/>
            </a:xfrm>
            <a:custGeom>
              <a:avLst/>
              <a:gdLst/>
              <a:ahLst/>
              <a:cxnLst/>
              <a:rect r="r" b="b" t="t" l="l"/>
              <a:pathLst>
                <a:path h="3426551" w="97224">
                  <a:moveTo>
                    <a:pt x="0" y="0"/>
                  </a:moveTo>
                  <a:lnTo>
                    <a:pt x="97224" y="0"/>
                  </a:lnTo>
                  <a:lnTo>
                    <a:pt x="97224" y="3426551"/>
                  </a:lnTo>
                  <a:lnTo>
                    <a:pt x="0" y="3426551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220" id="220"/>
          <p:cNvGrpSpPr/>
          <p:nvPr/>
        </p:nvGrpSpPr>
        <p:grpSpPr>
          <a:xfrm rot="0">
            <a:off x="8692616" y="5817886"/>
            <a:ext cx="1238893" cy="59218"/>
            <a:chOff x="0" y="0"/>
            <a:chExt cx="1651857" cy="78958"/>
          </a:xfrm>
        </p:grpSpPr>
        <p:sp>
          <p:nvSpPr>
            <p:cNvPr name="Freeform 221" id="221"/>
            <p:cNvSpPr/>
            <p:nvPr/>
          </p:nvSpPr>
          <p:spPr>
            <a:xfrm flipH="false" flipV="false" rot="0">
              <a:off x="0" y="0"/>
              <a:ext cx="1651908" cy="79009"/>
            </a:xfrm>
            <a:custGeom>
              <a:avLst/>
              <a:gdLst/>
              <a:ahLst/>
              <a:cxnLst/>
              <a:rect r="r" b="b" t="t" l="l"/>
              <a:pathLst>
                <a:path h="79009" w="1651908">
                  <a:moveTo>
                    <a:pt x="0" y="0"/>
                  </a:moveTo>
                  <a:lnTo>
                    <a:pt x="1651908" y="0"/>
                  </a:lnTo>
                  <a:lnTo>
                    <a:pt x="1651908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222" id="222"/>
          <p:cNvGrpSpPr/>
          <p:nvPr/>
        </p:nvGrpSpPr>
        <p:grpSpPr>
          <a:xfrm rot="0">
            <a:off x="8656176" y="5847495"/>
            <a:ext cx="72880" cy="592152"/>
            <a:chOff x="0" y="0"/>
            <a:chExt cx="97173" cy="789536"/>
          </a:xfrm>
        </p:grpSpPr>
        <p:sp>
          <p:nvSpPr>
            <p:cNvPr name="Freeform 223" id="223"/>
            <p:cNvSpPr/>
            <p:nvPr/>
          </p:nvSpPr>
          <p:spPr>
            <a:xfrm flipH="false" flipV="false" rot="0">
              <a:off x="0" y="0"/>
              <a:ext cx="97224" cy="789586"/>
            </a:xfrm>
            <a:custGeom>
              <a:avLst/>
              <a:gdLst/>
              <a:ahLst/>
              <a:cxnLst/>
              <a:rect r="r" b="b" t="t" l="l"/>
              <a:pathLst>
                <a:path h="789586" w="97224">
                  <a:moveTo>
                    <a:pt x="0" y="0"/>
                  </a:moveTo>
                  <a:lnTo>
                    <a:pt x="97224" y="0"/>
                  </a:lnTo>
                  <a:lnTo>
                    <a:pt x="97224" y="789586"/>
                  </a:lnTo>
                  <a:lnTo>
                    <a:pt x="0" y="789586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224" id="224"/>
          <p:cNvGrpSpPr/>
          <p:nvPr/>
        </p:nvGrpSpPr>
        <p:grpSpPr>
          <a:xfrm rot="-10800000">
            <a:off x="8532293" y="6250157"/>
            <a:ext cx="320656" cy="213173"/>
            <a:chOff x="0" y="0"/>
            <a:chExt cx="427541" cy="284231"/>
          </a:xfrm>
        </p:grpSpPr>
        <p:sp>
          <p:nvSpPr>
            <p:cNvPr name="Freeform 225" id="225"/>
            <p:cNvSpPr/>
            <p:nvPr/>
          </p:nvSpPr>
          <p:spPr>
            <a:xfrm flipH="false" flipV="false" rot="0">
              <a:off x="0" y="0"/>
              <a:ext cx="427474" cy="284231"/>
            </a:xfrm>
            <a:custGeom>
              <a:avLst/>
              <a:gdLst/>
              <a:ahLst/>
              <a:cxnLst/>
              <a:rect r="r" b="b" t="t" l="l"/>
              <a:pathLst>
                <a:path h="284231" w="427474">
                  <a:moveTo>
                    <a:pt x="0" y="284231"/>
                  </a:moveTo>
                  <a:lnTo>
                    <a:pt x="213737" y="0"/>
                  </a:lnTo>
                  <a:lnTo>
                    <a:pt x="427474" y="284231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226" id="226"/>
          <p:cNvGrpSpPr/>
          <p:nvPr/>
        </p:nvGrpSpPr>
        <p:grpSpPr>
          <a:xfrm rot="0">
            <a:off x="6742941" y="5731247"/>
            <a:ext cx="2915032" cy="393533"/>
            <a:chOff x="0" y="0"/>
            <a:chExt cx="3886710" cy="524710"/>
          </a:xfrm>
        </p:grpSpPr>
        <p:sp>
          <p:nvSpPr>
            <p:cNvPr name="Freeform 227" id="227"/>
            <p:cNvSpPr/>
            <p:nvPr/>
          </p:nvSpPr>
          <p:spPr>
            <a:xfrm flipH="false" flipV="false" rot="0">
              <a:off x="0" y="0"/>
              <a:ext cx="3886712" cy="524702"/>
            </a:xfrm>
            <a:custGeom>
              <a:avLst/>
              <a:gdLst/>
              <a:ahLst/>
              <a:cxnLst/>
              <a:rect r="r" b="b" t="t" l="l"/>
              <a:pathLst>
                <a:path h="524702" w="3886712">
                  <a:moveTo>
                    <a:pt x="0" y="0"/>
                  </a:moveTo>
                  <a:lnTo>
                    <a:pt x="3886712" y="0"/>
                  </a:lnTo>
                  <a:lnTo>
                    <a:pt x="3886712" y="524702"/>
                  </a:lnTo>
                  <a:lnTo>
                    <a:pt x="0" y="52470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050" r="5821" b="-70814"/>
              </a:stretch>
            </a:blipFill>
          </p:spPr>
        </p:sp>
        <p:sp>
          <p:nvSpPr>
            <p:cNvPr name="TextBox 228" id="228"/>
            <p:cNvSpPr txBox="true"/>
            <p:nvPr/>
          </p:nvSpPr>
          <p:spPr>
            <a:xfrm>
              <a:off x="0" y="-9525"/>
              <a:ext cx="3886710" cy="5342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24"/>
                </a:lnSpc>
              </a:pPr>
              <a:r>
                <a:rPr lang="en-US" sz="1020" spc="3">
                  <a:solidFill>
                    <a:srgbClr val="3B7DD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완성 워크플로우</a:t>
              </a:r>
            </a:p>
          </p:txBody>
        </p:sp>
      </p:grpSp>
      <p:grpSp>
        <p:nvGrpSpPr>
          <p:cNvPr name="Group 229" id="229"/>
          <p:cNvGrpSpPr/>
          <p:nvPr/>
        </p:nvGrpSpPr>
        <p:grpSpPr>
          <a:xfrm rot="0">
            <a:off x="9742028" y="3401894"/>
            <a:ext cx="553859" cy="59218"/>
            <a:chOff x="0" y="0"/>
            <a:chExt cx="738478" cy="78958"/>
          </a:xfrm>
        </p:grpSpPr>
        <p:sp>
          <p:nvSpPr>
            <p:cNvPr name="Freeform 230" id="230"/>
            <p:cNvSpPr/>
            <p:nvPr/>
          </p:nvSpPr>
          <p:spPr>
            <a:xfrm flipH="false" flipV="false" rot="0">
              <a:off x="0" y="0"/>
              <a:ext cx="738438" cy="79009"/>
            </a:xfrm>
            <a:custGeom>
              <a:avLst/>
              <a:gdLst/>
              <a:ahLst/>
              <a:cxnLst/>
              <a:rect r="r" b="b" t="t" l="l"/>
              <a:pathLst>
                <a:path h="79009" w="738438">
                  <a:moveTo>
                    <a:pt x="0" y="0"/>
                  </a:moveTo>
                  <a:lnTo>
                    <a:pt x="738438" y="0"/>
                  </a:lnTo>
                  <a:lnTo>
                    <a:pt x="738438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31" id="231"/>
          <p:cNvGrpSpPr/>
          <p:nvPr/>
        </p:nvGrpSpPr>
        <p:grpSpPr>
          <a:xfrm rot="0">
            <a:off x="9705598" y="3431504"/>
            <a:ext cx="72880" cy="2629164"/>
            <a:chOff x="0" y="0"/>
            <a:chExt cx="97173" cy="3505553"/>
          </a:xfrm>
        </p:grpSpPr>
        <p:sp>
          <p:nvSpPr>
            <p:cNvPr name="Freeform 232" id="232"/>
            <p:cNvSpPr/>
            <p:nvPr/>
          </p:nvSpPr>
          <p:spPr>
            <a:xfrm flipH="false" flipV="false" rot="0">
              <a:off x="0" y="0"/>
              <a:ext cx="97224" cy="3505553"/>
            </a:xfrm>
            <a:custGeom>
              <a:avLst/>
              <a:gdLst/>
              <a:ahLst/>
              <a:cxnLst/>
              <a:rect r="r" b="b" t="t" l="l"/>
              <a:pathLst>
                <a:path h="3505553" w="97224">
                  <a:moveTo>
                    <a:pt x="0" y="0"/>
                  </a:moveTo>
                  <a:lnTo>
                    <a:pt x="97224" y="0"/>
                  </a:lnTo>
                  <a:lnTo>
                    <a:pt x="97224" y="3505553"/>
                  </a:lnTo>
                  <a:lnTo>
                    <a:pt x="0" y="3505553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33" id="233"/>
          <p:cNvGrpSpPr/>
          <p:nvPr/>
        </p:nvGrpSpPr>
        <p:grpSpPr>
          <a:xfrm rot="0">
            <a:off x="4101444" y="6031059"/>
            <a:ext cx="5640594" cy="59218"/>
            <a:chOff x="0" y="0"/>
            <a:chExt cx="7520792" cy="78958"/>
          </a:xfrm>
        </p:grpSpPr>
        <p:sp>
          <p:nvSpPr>
            <p:cNvPr name="Freeform 234" id="234"/>
            <p:cNvSpPr/>
            <p:nvPr/>
          </p:nvSpPr>
          <p:spPr>
            <a:xfrm flipH="false" flipV="false" rot="0">
              <a:off x="0" y="0"/>
              <a:ext cx="7520842" cy="79009"/>
            </a:xfrm>
            <a:custGeom>
              <a:avLst/>
              <a:gdLst/>
              <a:ahLst/>
              <a:cxnLst/>
              <a:rect r="r" b="b" t="t" l="l"/>
              <a:pathLst>
                <a:path h="79009" w="7520842">
                  <a:moveTo>
                    <a:pt x="0" y="0"/>
                  </a:moveTo>
                  <a:lnTo>
                    <a:pt x="7520842" y="0"/>
                  </a:lnTo>
                  <a:lnTo>
                    <a:pt x="7520842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35" id="235"/>
          <p:cNvGrpSpPr/>
          <p:nvPr/>
        </p:nvGrpSpPr>
        <p:grpSpPr>
          <a:xfrm rot="0">
            <a:off x="4065004" y="6060668"/>
            <a:ext cx="72880" cy="378978"/>
            <a:chOff x="0" y="0"/>
            <a:chExt cx="97173" cy="505304"/>
          </a:xfrm>
        </p:grpSpPr>
        <p:sp>
          <p:nvSpPr>
            <p:cNvPr name="Freeform 236" id="236"/>
            <p:cNvSpPr/>
            <p:nvPr/>
          </p:nvSpPr>
          <p:spPr>
            <a:xfrm flipH="false" flipV="false" rot="0">
              <a:off x="0" y="0"/>
              <a:ext cx="97224" cy="505355"/>
            </a:xfrm>
            <a:custGeom>
              <a:avLst/>
              <a:gdLst/>
              <a:ahLst/>
              <a:cxnLst/>
              <a:rect r="r" b="b" t="t" l="l"/>
              <a:pathLst>
                <a:path h="505355" w="97224">
                  <a:moveTo>
                    <a:pt x="0" y="0"/>
                  </a:moveTo>
                  <a:lnTo>
                    <a:pt x="97224" y="0"/>
                  </a:lnTo>
                  <a:lnTo>
                    <a:pt x="97224" y="505355"/>
                  </a:lnTo>
                  <a:lnTo>
                    <a:pt x="0" y="505355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37" id="237"/>
          <p:cNvGrpSpPr/>
          <p:nvPr/>
        </p:nvGrpSpPr>
        <p:grpSpPr>
          <a:xfrm rot="-10800000">
            <a:off x="3941111" y="6250157"/>
            <a:ext cx="320656" cy="213173"/>
            <a:chOff x="0" y="0"/>
            <a:chExt cx="427541" cy="284231"/>
          </a:xfrm>
        </p:grpSpPr>
        <p:sp>
          <p:nvSpPr>
            <p:cNvPr name="Freeform 238" id="238"/>
            <p:cNvSpPr/>
            <p:nvPr/>
          </p:nvSpPr>
          <p:spPr>
            <a:xfrm flipH="false" flipV="false" rot="0">
              <a:off x="0" y="0"/>
              <a:ext cx="427474" cy="284231"/>
            </a:xfrm>
            <a:custGeom>
              <a:avLst/>
              <a:gdLst/>
              <a:ahLst/>
              <a:cxnLst/>
              <a:rect r="r" b="b" t="t" l="l"/>
              <a:pathLst>
                <a:path h="284231" w="427474">
                  <a:moveTo>
                    <a:pt x="0" y="284231"/>
                  </a:moveTo>
                  <a:lnTo>
                    <a:pt x="213737" y="0"/>
                  </a:lnTo>
                  <a:lnTo>
                    <a:pt x="427474" y="284231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39" id="239"/>
          <p:cNvGrpSpPr/>
          <p:nvPr/>
        </p:nvGrpSpPr>
        <p:grpSpPr>
          <a:xfrm rot="0">
            <a:off x="5005097" y="5759822"/>
            <a:ext cx="2623534" cy="393533"/>
            <a:chOff x="0" y="0"/>
            <a:chExt cx="3498045" cy="524710"/>
          </a:xfrm>
        </p:grpSpPr>
        <p:sp>
          <p:nvSpPr>
            <p:cNvPr name="Freeform 240" id="240"/>
            <p:cNvSpPr/>
            <p:nvPr/>
          </p:nvSpPr>
          <p:spPr>
            <a:xfrm flipH="false" flipV="false" rot="0">
              <a:off x="0" y="0"/>
              <a:ext cx="3498041" cy="524702"/>
            </a:xfrm>
            <a:custGeom>
              <a:avLst/>
              <a:gdLst/>
              <a:ahLst/>
              <a:cxnLst/>
              <a:rect r="r" b="b" t="t" l="l"/>
              <a:pathLst>
                <a:path h="524702" w="3498041">
                  <a:moveTo>
                    <a:pt x="0" y="0"/>
                  </a:moveTo>
                  <a:lnTo>
                    <a:pt x="3498041" y="0"/>
                  </a:lnTo>
                  <a:lnTo>
                    <a:pt x="3498041" y="524702"/>
                  </a:lnTo>
                  <a:lnTo>
                    <a:pt x="0" y="52470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7457" r="5821" b="-57221"/>
              </a:stretch>
            </a:blipFill>
          </p:spPr>
        </p:sp>
        <p:sp>
          <p:nvSpPr>
            <p:cNvPr name="TextBox 241" id="241"/>
            <p:cNvSpPr txBox="true"/>
            <p:nvPr/>
          </p:nvSpPr>
          <p:spPr>
            <a:xfrm>
              <a:off x="0" y="-9525"/>
              <a:ext cx="3498045" cy="5342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24"/>
                </a:lnSpc>
              </a:pPr>
              <a:r>
                <a:rPr lang="en-US" sz="1020" spc="3">
                  <a:solidFill>
                    <a:srgbClr val="D7872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초안</a:t>
              </a:r>
            </a:p>
          </p:txBody>
        </p:sp>
      </p:grpSp>
      <p:grpSp>
        <p:nvGrpSpPr>
          <p:cNvPr name="Group 242" id="242"/>
          <p:cNvGrpSpPr/>
          <p:nvPr/>
        </p:nvGrpSpPr>
        <p:grpSpPr>
          <a:xfrm rot="0">
            <a:off x="10120990" y="4041422"/>
            <a:ext cx="174907" cy="59218"/>
            <a:chOff x="0" y="0"/>
            <a:chExt cx="233209" cy="78958"/>
          </a:xfrm>
        </p:grpSpPr>
        <p:sp>
          <p:nvSpPr>
            <p:cNvPr name="Freeform 243" id="243"/>
            <p:cNvSpPr/>
            <p:nvPr/>
          </p:nvSpPr>
          <p:spPr>
            <a:xfrm flipH="false" flipV="false" rot="0">
              <a:off x="0" y="0"/>
              <a:ext cx="233155" cy="79009"/>
            </a:xfrm>
            <a:custGeom>
              <a:avLst/>
              <a:gdLst/>
              <a:ahLst/>
              <a:cxnLst/>
              <a:rect r="r" b="b" t="t" l="l"/>
              <a:pathLst>
                <a:path h="79009" w="233155">
                  <a:moveTo>
                    <a:pt x="0" y="0"/>
                  </a:moveTo>
                  <a:lnTo>
                    <a:pt x="233155" y="0"/>
                  </a:lnTo>
                  <a:lnTo>
                    <a:pt x="233155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244" id="244"/>
          <p:cNvGrpSpPr/>
          <p:nvPr/>
        </p:nvGrpSpPr>
        <p:grpSpPr>
          <a:xfrm rot="0">
            <a:off x="10084550" y="4071032"/>
            <a:ext cx="72880" cy="1871208"/>
            <a:chOff x="0" y="0"/>
            <a:chExt cx="97173" cy="2494944"/>
          </a:xfrm>
        </p:grpSpPr>
        <p:sp>
          <p:nvSpPr>
            <p:cNvPr name="Freeform 245" id="245"/>
            <p:cNvSpPr/>
            <p:nvPr/>
          </p:nvSpPr>
          <p:spPr>
            <a:xfrm flipH="false" flipV="false" rot="0">
              <a:off x="0" y="0"/>
              <a:ext cx="97224" cy="2494969"/>
            </a:xfrm>
            <a:custGeom>
              <a:avLst/>
              <a:gdLst/>
              <a:ahLst/>
              <a:cxnLst/>
              <a:rect r="r" b="b" t="t" l="l"/>
              <a:pathLst>
                <a:path h="2494969" w="97224">
                  <a:moveTo>
                    <a:pt x="0" y="0"/>
                  </a:moveTo>
                  <a:lnTo>
                    <a:pt x="97224" y="0"/>
                  </a:lnTo>
                  <a:lnTo>
                    <a:pt x="97224" y="2494969"/>
                  </a:lnTo>
                  <a:lnTo>
                    <a:pt x="0" y="2494969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246" id="246"/>
          <p:cNvGrpSpPr/>
          <p:nvPr/>
        </p:nvGrpSpPr>
        <p:grpSpPr>
          <a:xfrm rot="6592068">
            <a:off x="10124716" y="4857542"/>
            <a:ext cx="179802" cy="236775"/>
            <a:chOff x="0" y="0"/>
            <a:chExt cx="239736" cy="315700"/>
          </a:xfrm>
        </p:grpSpPr>
        <p:sp>
          <p:nvSpPr>
            <p:cNvPr name="Freeform 247" id="247"/>
            <p:cNvSpPr/>
            <p:nvPr/>
          </p:nvSpPr>
          <p:spPr>
            <a:xfrm flipH="false" flipV="false" rot="0">
              <a:off x="0" y="0"/>
              <a:ext cx="239761" cy="315725"/>
            </a:xfrm>
            <a:custGeom>
              <a:avLst/>
              <a:gdLst/>
              <a:ahLst/>
              <a:cxnLst/>
              <a:rect r="r" b="b" t="t" l="l"/>
              <a:pathLst>
                <a:path h="315725" w="239761">
                  <a:moveTo>
                    <a:pt x="0" y="315725"/>
                  </a:moveTo>
                  <a:lnTo>
                    <a:pt x="119878" y="0"/>
                  </a:lnTo>
                  <a:lnTo>
                    <a:pt x="239761" y="315725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248" id="248"/>
          <p:cNvGrpSpPr/>
          <p:nvPr/>
        </p:nvGrpSpPr>
        <p:grpSpPr>
          <a:xfrm rot="0">
            <a:off x="9858629" y="5912630"/>
            <a:ext cx="262350" cy="59218"/>
            <a:chOff x="0" y="0"/>
            <a:chExt cx="349801" cy="78958"/>
          </a:xfrm>
        </p:grpSpPr>
        <p:sp>
          <p:nvSpPr>
            <p:cNvPr name="Freeform 249" id="249"/>
            <p:cNvSpPr/>
            <p:nvPr/>
          </p:nvSpPr>
          <p:spPr>
            <a:xfrm flipH="false" flipV="false" rot="0">
              <a:off x="0" y="0"/>
              <a:ext cx="349800" cy="79009"/>
            </a:xfrm>
            <a:custGeom>
              <a:avLst/>
              <a:gdLst/>
              <a:ahLst/>
              <a:cxnLst/>
              <a:rect r="r" b="b" t="t" l="l"/>
              <a:pathLst>
                <a:path h="79009" w="349800">
                  <a:moveTo>
                    <a:pt x="0" y="0"/>
                  </a:moveTo>
                  <a:lnTo>
                    <a:pt x="349800" y="0"/>
                  </a:lnTo>
                  <a:lnTo>
                    <a:pt x="349800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250" id="250"/>
          <p:cNvGrpSpPr/>
          <p:nvPr/>
        </p:nvGrpSpPr>
        <p:grpSpPr>
          <a:xfrm rot="0">
            <a:off x="9822199" y="5942239"/>
            <a:ext cx="72880" cy="497407"/>
            <a:chOff x="0" y="0"/>
            <a:chExt cx="97173" cy="663209"/>
          </a:xfrm>
        </p:grpSpPr>
        <p:sp>
          <p:nvSpPr>
            <p:cNvPr name="Freeform 251" id="251"/>
            <p:cNvSpPr/>
            <p:nvPr/>
          </p:nvSpPr>
          <p:spPr>
            <a:xfrm flipH="false" flipV="false" rot="0">
              <a:off x="0" y="0"/>
              <a:ext cx="97224" cy="663248"/>
            </a:xfrm>
            <a:custGeom>
              <a:avLst/>
              <a:gdLst/>
              <a:ahLst/>
              <a:cxnLst/>
              <a:rect r="r" b="b" t="t" l="l"/>
              <a:pathLst>
                <a:path h="663248" w="97224">
                  <a:moveTo>
                    <a:pt x="0" y="0"/>
                  </a:moveTo>
                  <a:lnTo>
                    <a:pt x="97224" y="0"/>
                  </a:lnTo>
                  <a:lnTo>
                    <a:pt x="97224" y="663248"/>
                  </a:lnTo>
                  <a:lnTo>
                    <a:pt x="0" y="663248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252" id="252"/>
          <p:cNvGrpSpPr/>
          <p:nvPr/>
        </p:nvGrpSpPr>
        <p:grpSpPr>
          <a:xfrm rot="-10800000">
            <a:off x="9698306" y="6250157"/>
            <a:ext cx="320656" cy="213173"/>
            <a:chOff x="0" y="0"/>
            <a:chExt cx="427541" cy="284231"/>
          </a:xfrm>
        </p:grpSpPr>
        <p:sp>
          <p:nvSpPr>
            <p:cNvPr name="Freeform 253" id="253"/>
            <p:cNvSpPr/>
            <p:nvPr/>
          </p:nvSpPr>
          <p:spPr>
            <a:xfrm flipH="false" flipV="false" rot="0">
              <a:off x="0" y="0"/>
              <a:ext cx="427474" cy="284231"/>
            </a:xfrm>
            <a:custGeom>
              <a:avLst/>
              <a:gdLst/>
              <a:ahLst/>
              <a:cxnLst/>
              <a:rect r="r" b="b" t="t" l="l"/>
              <a:pathLst>
                <a:path h="284231" w="427474">
                  <a:moveTo>
                    <a:pt x="0" y="284231"/>
                  </a:moveTo>
                  <a:lnTo>
                    <a:pt x="213737" y="0"/>
                  </a:lnTo>
                  <a:lnTo>
                    <a:pt x="427474" y="284231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254" id="254"/>
          <p:cNvGrpSpPr/>
          <p:nvPr/>
        </p:nvGrpSpPr>
        <p:grpSpPr>
          <a:xfrm rot="0">
            <a:off x="10441636" y="5757896"/>
            <a:ext cx="2915032" cy="393533"/>
            <a:chOff x="0" y="0"/>
            <a:chExt cx="3886710" cy="524710"/>
          </a:xfrm>
        </p:grpSpPr>
        <p:sp>
          <p:nvSpPr>
            <p:cNvPr name="Freeform 255" id="255"/>
            <p:cNvSpPr/>
            <p:nvPr/>
          </p:nvSpPr>
          <p:spPr>
            <a:xfrm flipH="false" flipV="false" rot="0">
              <a:off x="0" y="0"/>
              <a:ext cx="3886712" cy="524702"/>
            </a:xfrm>
            <a:custGeom>
              <a:avLst/>
              <a:gdLst/>
              <a:ahLst/>
              <a:cxnLst/>
              <a:rect r="r" b="b" t="t" l="l"/>
              <a:pathLst>
                <a:path h="524702" w="3886712">
                  <a:moveTo>
                    <a:pt x="0" y="0"/>
                  </a:moveTo>
                  <a:lnTo>
                    <a:pt x="3886712" y="0"/>
                  </a:lnTo>
                  <a:lnTo>
                    <a:pt x="3886712" y="524702"/>
                  </a:lnTo>
                  <a:lnTo>
                    <a:pt x="0" y="52470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050" r="5821" b="-70814"/>
              </a:stretch>
            </a:blipFill>
          </p:spPr>
        </p:sp>
        <p:sp>
          <p:nvSpPr>
            <p:cNvPr name="TextBox 256" id="256"/>
            <p:cNvSpPr txBox="true"/>
            <p:nvPr/>
          </p:nvSpPr>
          <p:spPr>
            <a:xfrm>
              <a:off x="0" y="-9525"/>
              <a:ext cx="3886710" cy="5342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24"/>
                </a:lnSpc>
              </a:pPr>
              <a:r>
                <a:rPr lang="en-US" sz="1020" spc="3">
                  <a:solidFill>
                    <a:srgbClr val="3B7DD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스킬 정의·임베딩</a:t>
              </a:r>
            </a:p>
          </p:txBody>
        </p:sp>
      </p:grpSp>
      <p:grpSp>
        <p:nvGrpSpPr>
          <p:cNvPr name="Group 257" id="257"/>
          <p:cNvGrpSpPr/>
          <p:nvPr/>
        </p:nvGrpSpPr>
        <p:grpSpPr>
          <a:xfrm rot="0">
            <a:off x="9567131" y="4195385"/>
            <a:ext cx="728756" cy="59218"/>
            <a:chOff x="0" y="0"/>
            <a:chExt cx="971674" cy="78958"/>
          </a:xfrm>
        </p:grpSpPr>
        <p:sp>
          <p:nvSpPr>
            <p:cNvPr name="Freeform 258" id="258"/>
            <p:cNvSpPr/>
            <p:nvPr/>
          </p:nvSpPr>
          <p:spPr>
            <a:xfrm flipH="false" flipV="false" rot="0">
              <a:off x="0" y="0"/>
              <a:ext cx="971725" cy="79009"/>
            </a:xfrm>
            <a:custGeom>
              <a:avLst/>
              <a:gdLst/>
              <a:ahLst/>
              <a:cxnLst/>
              <a:rect r="r" b="b" t="t" l="l"/>
              <a:pathLst>
                <a:path h="79009" w="971725">
                  <a:moveTo>
                    <a:pt x="0" y="0"/>
                  </a:moveTo>
                  <a:lnTo>
                    <a:pt x="971725" y="0"/>
                  </a:lnTo>
                  <a:lnTo>
                    <a:pt x="971725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59" id="259"/>
          <p:cNvGrpSpPr/>
          <p:nvPr/>
        </p:nvGrpSpPr>
        <p:grpSpPr>
          <a:xfrm rot="0">
            <a:off x="9530691" y="4224995"/>
            <a:ext cx="72880" cy="2025171"/>
            <a:chOff x="0" y="0"/>
            <a:chExt cx="97173" cy="2700228"/>
          </a:xfrm>
        </p:grpSpPr>
        <p:sp>
          <p:nvSpPr>
            <p:cNvPr name="Freeform 260" id="260"/>
            <p:cNvSpPr/>
            <p:nvPr/>
          </p:nvSpPr>
          <p:spPr>
            <a:xfrm flipH="false" flipV="false" rot="0">
              <a:off x="0" y="0"/>
              <a:ext cx="97224" cy="2700195"/>
            </a:xfrm>
            <a:custGeom>
              <a:avLst/>
              <a:gdLst/>
              <a:ahLst/>
              <a:cxnLst/>
              <a:rect r="r" b="b" t="t" l="l"/>
              <a:pathLst>
                <a:path h="2700195" w="97224">
                  <a:moveTo>
                    <a:pt x="0" y="0"/>
                  </a:moveTo>
                  <a:lnTo>
                    <a:pt x="97224" y="0"/>
                  </a:lnTo>
                  <a:lnTo>
                    <a:pt x="97224" y="2700195"/>
                  </a:lnTo>
                  <a:lnTo>
                    <a:pt x="0" y="2700195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61" id="261"/>
          <p:cNvGrpSpPr/>
          <p:nvPr/>
        </p:nvGrpSpPr>
        <p:grpSpPr>
          <a:xfrm rot="0">
            <a:off x="4465822" y="6220548"/>
            <a:ext cx="5101309" cy="59218"/>
            <a:chOff x="0" y="0"/>
            <a:chExt cx="6801745" cy="78958"/>
          </a:xfrm>
        </p:grpSpPr>
        <p:sp>
          <p:nvSpPr>
            <p:cNvPr name="Freeform 262" id="262"/>
            <p:cNvSpPr/>
            <p:nvPr/>
          </p:nvSpPr>
          <p:spPr>
            <a:xfrm flipH="false" flipV="false" rot="0">
              <a:off x="0" y="0"/>
              <a:ext cx="6801692" cy="79009"/>
            </a:xfrm>
            <a:custGeom>
              <a:avLst/>
              <a:gdLst/>
              <a:ahLst/>
              <a:cxnLst/>
              <a:rect r="r" b="b" t="t" l="l"/>
              <a:pathLst>
                <a:path h="79009" w="6801692">
                  <a:moveTo>
                    <a:pt x="0" y="0"/>
                  </a:moveTo>
                  <a:lnTo>
                    <a:pt x="6801692" y="0"/>
                  </a:lnTo>
                  <a:lnTo>
                    <a:pt x="6801692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63" id="263"/>
          <p:cNvGrpSpPr/>
          <p:nvPr/>
        </p:nvGrpSpPr>
        <p:grpSpPr>
          <a:xfrm rot="0">
            <a:off x="4429382" y="6250157"/>
            <a:ext cx="72880" cy="189489"/>
            <a:chOff x="0" y="0"/>
            <a:chExt cx="97173" cy="252652"/>
          </a:xfrm>
        </p:grpSpPr>
        <p:sp>
          <p:nvSpPr>
            <p:cNvPr name="Freeform 264" id="264"/>
            <p:cNvSpPr/>
            <p:nvPr/>
          </p:nvSpPr>
          <p:spPr>
            <a:xfrm flipH="false" flipV="false" rot="0">
              <a:off x="0" y="0"/>
              <a:ext cx="97224" cy="252678"/>
            </a:xfrm>
            <a:custGeom>
              <a:avLst/>
              <a:gdLst/>
              <a:ahLst/>
              <a:cxnLst/>
              <a:rect r="r" b="b" t="t" l="l"/>
              <a:pathLst>
                <a:path h="252678" w="97224">
                  <a:moveTo>
                    <a:pt x="0" y="0"/>
                  </a:moveTo>
                  <a:lnTo>
                    <a:pt x="97224" y="0"/>
                  </a:lnTo>
                  <a:lnTo>
                    <a:pt x="97224" y="252678"/>
                  </a:lnTo>
                  <a:lnTo>
                    <a:pt x="0" y="252678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65" id="265"/>
          <p:cNvGrpSpPr/>
          <p:nvPr/>
        </p:nvGrpSpPr>
        <p:grpSpPr>
          <a:xfrm rot="-10800000">
            <a:off x="4305489" y="6250157"/>
            <a:ext cx="320656" cy="213173"/>
            <a:chOff x="0" y="0"/>
            <a:chExt cx="427541" cy="284231"/>
          </a:xfrm>
        </p:grpSpPr>
        <p:sp>
          <p:nvSpPr>
            <p:cNvPr name="Freeform 266" id="266"/>
            <p:cNvSpPr/>
            <p:nvPr/>
          </p:nvSpPr>
          <p:spPr>
            <a:xfrm flipH="false" flipV="false" rot="0">
              <a:off x="0" y="0"/>
              <a:ext cx="427474" cy="284231"/>
            </a:xfrm>
            <a:custGeom>
              <a:avLst/>
              <a:gdLst/>
              <a:ahLst/>
              <a:cxnLst/>
              <a:rect r="r" b="b" t="t" l="l"/>
              <a:pathLst>
                <a:path h="284231" w="427474">
                  <a:moveTo>
                    <a:pt x="0" y="284231"/>
                  </a:moveTo>
                  <a:lnTo>
                    <a:pt x="213737" y="0"/>
                  </a:lnTo>
                  <a:lnTo>
                    <a:pt x="427474" y="284231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67" id="267"/>
          <p:cNvGrpSpPr/>
          <p:nvPr/>
        </p:nvGrpSpPr>
        <p:grpSpPr>
          <a:xfrm rot="0">
            <a:off x="5745922" y="6220548"/>
            <a:ext cx="2332026" cy="393533"/>
            <a:chOff x="0" y="0"/>
            <a:chExt cx="3109368" cy="524710"/>
          </a:xfrm>
        </p:grpSpPr>
        <p:sp>
          <p:nvSpPr>
            <p:cNvPr name="Freeform 268" id="268"/>
            <p:cNvSpPr/>
            <p:nvPr/>
          </p:nvSpPr>
          <p:spPr>
            <a:xfrm flipH="false" flipV="false" rot="0">
              <a:off x="0" y="0"/>
              <a:ext cx="3109370" cy="524702"/>
            </a:xfrm>
            <a:custGeom>
              <a:avLst/>
              <a:gdLst/>
              <a:ahLst/>
              <a:cxnLst/>
              <a:rect r="r" b="b" t="t" l="l"/>
              <a:pathLst>
                <a:path h="524702" w="3109370">
                  <a:moveTo>
                    <a:pt x="0" y="0"/>
                  </a:moveTo>
                  <a:lnTo>
                    <a:pt x="3109370" y="0"/>
                  </a:lnTo>
                  <a:lnTo>
                    <a:pt x="3109370" y="524702"/>
                  </a:lnTo>
                  <a:lnTo>
                    <a:pt x="0" y="52470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3864" r="5821" b="-43628"/>
              </a:stretch>
            </a:blipFill>
          </p:spPr>
        </p:sp>
        <p:sp>
          <p:nvSpPr>
            <p:cNvPr name="TextBox 269" id="269"/>
            <p:cNvSpPr txBox="true"/>
            <p:nvPr/>
          </p:nvSpPr>
          <p:spPr>
            <a:xfrm>
              <a:off x="0" y="-9525"/>
              <a:ext cx="3109368" cy="5342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24"/>
                </a:lnSpc>
              </a:pPr>
              <a:r>
                <a:rPr lang="en-US" sz="1020" spc="3">
                  <a:solidFill>
                    <a:srgbClr val="D7872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스킬 문서</a:t>
              </a:r>
            </a:p>
          </p:txBody>
        </p:sp>
      </p:grpSp>
      <p:grpSp>
        <p:nvGrpSpPr>
          <p:cNvPr name="Group 270" id="270"/>
          <p:cNvGrpSpPr/>
          <p:nvPr/>
        </p:nvGrpSpPr>
        <p:grpSpPr>
          <a:xfrm rot="0">
            <a:off x="13210919" y="4041422"/>
            <a:ext cx="801635" cy="59218"/>
            <a:chOff x="0" y="0"/>
            <a:chExt cx="1068847" cy="78958"/>
          </a:xfrm>
        </p:grpSpPr>
        <p:sp>
          <p:nvSpPr>
            <p:cNvPr name="Freeform 271" id="271"/>
            <p:cNvSpPr/>
            <p:nvPr/>
          </p:nvSpPr>
          <p:spPr>
            <a:xfrm flipH="false" flipV="false" rot="0">
              <a:off x="0" y="0"/>
              <a:ext cx="1068820" cy="79009"/>
            </a:xfrm>
            <a:custGeom>
              <a:avLst/>
              <a:gdLst/>
              <a:ahLst/>
              <a:cxnLst/>
              <a:rect r="r" b="b" t="t" l="l"/>
              <a:pathLst>
                <a:path h="79009" w="1068820">
                  <a:moveTo>
                    <a:pt x="0" y="0"/>
                  </a:moveTo>
                  <a:lnTo>
                    <a:pt x="1068820" y="0"/>
                  </a:lnTo>
                  <a:lnTo>
                    <a:pt x="1068820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3E9463"/>
            </a:solidFill>
          </p:spPr>
        </p:sp>
      </p:grpSp>
      <p:grpSp>
        <p:nvGrpSpPr>
          <p:cNvPr name="Group 272" id="272"/>
          <p:cNvGrpSpPr/>
          <p:nvPr/>
        </p:nvGrpSpPr>
        <p:grpSpPr>
          <a:xfrm rot="0">
            <a:off x="13976114" y="4071032"/>
            <a:ext cx="72880" cy="1871208"/>
            <a:chOff x="0" y="0"/>
            <a:chExt cx="97173" cy="2494944"/>
          </a:xfrm>
        </p:grpSpPr>
        <p:sp>
          <p:nvSpPr>
            <p:cNvPr name="Freeform 273" id="273"/>
            <p:cNvSpPr/>
            <p:nvPr/>
          </p:nvSpPr>
          <p:spPr>
            <a:xfrm flipH="false" flipV="false" rot="0">
              <a:off x="0" y="0"/>
              <a:ext cx="97224" cy="2494969"/>
            </a:xfrm>
            <a:custGeom>
              <a:avLst/>
              <a:gdLst/>
              <a:ahLst/>
              <a:cxnLst/>
              <a:rect r="r" b="b" t="t" l="l"/>
              <a:pathLst>
                <a:path h="2494969" w="97224">
                  <a:moveTo>
                    <a:pt x="0" y="0"/>
                  </a:moveTo>
                  <a:lnTo>
                    <a:pt x="97224" y="0"/>
                  </a:lnTo>
                  <a:lnTo>
                    <a:pt x="97224" y="2494969"/>
                  </a:lnTo>
                  <a:lnTo>
                    <a:pt x="0" y="2494969"/>
                  </a:lnTo>
                  <a:close/>
                </a:path>
              </a:pathLst>
            </a:custGeom>
            <a:solidFill>
              <a:srgbClr val="3E9463"/>
            </a:solidFill>
          </p:spPr>
        </p:sp>
      </p:grpSp>
      <p:grpSp>
        <p:nvGrpSpPr>
          <p:cNvPr name="Group 274" id="274"/>
          <p:cNvGrpSpPr/>
          <p:nvPr/>
        </p:nvGrpSpPr>
        <p:grpSpPr>
          <a:xfrm rot="0">
            <a:off x="14012554" y="5912630"/>
            <a:ext cx="947384" cy="59218"/>
            <a:chOff x="0" y="0"/>
            <a:chExt cx="1263179" cy="78958"/>
          </a:xfrm>
        </p:grpSpPr>
        <p:sp>
          <p:nvSpPr>
            <p:cNvPr name="Freeform 275" id="275"/>
            <p:cNvSpPr/>
            <p:nvPr/>
          </p:nvSpPr>
          <p:spPr>
            <a:xfrm flipH="false" flipV="false" rot="0">
              <a:off x="0" y="0"/>
              <a:ext cx="1263139" cy="79009"/>
            </a:xfrm>
            <a:custGeom>
              <a:avLst/>
              <a:gdLst/>
              <a:ahLst/>
              <a:cxnLst/>
              <a:rect r="r" b="b" t="t" l="l"/>
              <a:pathLst>
                <a:path h="79009" w="1263139">
                  <a:moveTo>
                    <a:pt x="0" y="0"/>
                  </a:moveTo>
                  <a:lnTo>
                    <a:pt x="1263139" y="0"/>
                  </a:lnTo>
                  <a:lnTo>
                    <a:pt x="1263139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3E9463"/>
            </a:solidFill>
          </p:spPr>
        </p:sp>
      </p:grpSp>
      <p:grpSp>
        <p:nvGrpSpPr>
          <p:cNvPr name="Group 276" id="276"/>
          <p:cNvGrpSpPr/>
          <p:nvPr/>
        </p:nvGrpSpPr>
        <p:grpSpPr>
          <a:xfrm rot="0">
            <a:off x="14923508" y="5942239"/>
            <a:ext cx="72880" cy="497407"/>
            <a:chOff x="0" y="0"/>
            <a:chExt cx="97173" cy="663209"/>
          </a:xfrm>
        </p:grpSpPr>
        <p:sp>
          <p:nvSpPr>
            <p:cNvPr name="Freeform 277" id="277"/>
            <p:cNvSpPr/>
            <p:nvPr/>
          </p:nvSpPr>
          <p:spPr>
            <a:xfrm flipH="false" flipV="false" rot="0">
              <a:off x="0" y="0"/>
              <a:ext cx="97224" cy="663248"/>
            </a:xfrm>
            <a:custGeom>
              <a:avLst/>
              <a:gdLst/>
              <a:ahLst/>
              <a:cxnLst/>
              <a:rect r="r" b="b" t="t" l="l"/>
              <a:pathLst>
                <a:path h="663248" w="97224">
                  <a:moveTo>
                    <a:pt x="0" y="0"/>
                  </a:moveTo>
                  <a:lnTo>
                    <a:pt x="97224" y="0"/>
                  </a:lnTo>
                  <a:lnTo>
                    <a:pt x="97224" y="663248"/>
                  </a:lnTo>
                  <a:lnTo>
                    <a:pt x="0" y="663248"/>
                  </a:lnTo>
                  <a:close/>
                </a:path>
              </a:pathLst>
            </a:custGeom>
            <a:solidFill>
              <a:srgbClr val="3E9463"/>
            </a:solidFill>
          </p:spPr>
        </p:sp>
      </p:grpSp>
      <p:grpSp>
        <p:nvGrpSpPr>
          <p:cNvPr name="Group 278" id="278"/>
          <p:cNvGrpSpPr/>
          <p:nvPr/>
        </p:nvGrpSpPr>
        <p:grpSpPr>
          <a:xfrm rot="-10800000">
            <a:off x="14799615" y="6250157"/>
            <a:ext cx="320656" cy="213173"/>
            <a:chOff x="0" y="0"/>
            <a:chExt cx="427541" cy="284231"/>
          </a:xfrm>
        </p:grpSpPr>
        <p:sp>
          <p:nvSpPr>
            <p:cNvPr name="Freeform 279" id="279"/>
            <p:cNvSpPr/>
            <p:nvPr/>
          </p:nvSpPr>
          <p:spPr>
            <a:xfrm flipH="false" flipV="false" rot="0">
              <a:off x="0" y="0"/>
              <a:ext cx="427474" cy="284231"/>
            </a:xfrm>
            <a:custGeom>
              <a:avLst/>
              <a:gdLst/>
              <a:ahLst/>
              <a:cxnLst/>
              <a:rect r="r" b="b" t="t" l="l"/>
              <a:pathLst>
                <a:path h="284231" w="427474">
                  <a:moveTo>
                    <a:pt x="0" y="284231"/>
                  </a:moveTo>
                  <a:lnTo>
                    <a:pt x="213737" y="0"/>
                  </a:lnTo>
                  <a:lnTo>
                    <a:pt x="427474" y="284231"/>
                  </a:lnTo>
                  <a:close/>
                </a:path>
              </a:pathLst>
            </a:custGeom>
            <a:solidFill>
              <a:srgbClr val="3E9463"/>
            </a:solidFill>
          </p:spPr>
        </p:sp>
      </p:grpSp>
      <p:grpSp>
        <p:nvGrpSpPr>
          <p:cNvPr name="Group 280" id="280"/>
          <p:cNvGrpSpPr/>
          <p:nvPr/>
        </p:nvGrpSpPr>
        <p:grpSpPr>
          <a:xfrm rot="0">
            <a:off x="14572869" y="5817886"/>
            <a:ext cx="2477775" cy="393533"/>
            <a:chOff x="0" y="0"/>
            <a:chExt cx="3303700" cy="524710"/>
          </a:xfrm>
        </p:grpSpPr>
        <p:sp>
          <p:nvSpPr>
            <p:cNvPr name="Freeform 281" id="281"/>
            <p:cNvSpPr/>
            <p:nvPr/>
          </p:nvSpPr>
          <p:spPr>
            <a:xfrm flipH="false" flipV="false" rot="0">
              <a:off x="0" y="0"/>
              <a:ext cx="3303705" cy="524702"/>
            </a:xfrm>
            <a:custGeom>
              <a:avLst/>
              <a:gdLst/>
              <a:ahLst/>
              <a:cxnLst/>
              <a:rect r="r" b="b" t="t" l="l"/>
              <a:pathLst>
                <a:path h="524702" w="3303705">
                  <a:moveTo>
                    <a:pt x="0" y="0"/>
                  </a:moveTo>
                  <a:lnTo>
                    <a:pt x="3303705" y="0"/>
                  </a:lnTo>
                  <a:lnTo>
                    <a:pt x="3303705" y="524702"/>
                  </a:lnTo>
                  <a:lnTo>
                    <a:pt x="0" y="52470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0660" r="5821" b="-50424"/>
              </a:stretch>
            </a:blipFill>
          </p:spPr>
        </p:sp>
        <p:sp>
          <p:nvSpPr>
            <p:cNvPr name="TextBox 282" id="282"/>
            <p:cNvSpPr txBox="true"/>
            <p:nvPr/>
          </p:nvSpPr>
          <p:spPr>
            <a:xfrm>
              <a:off x="0" y="-9525"/>
              <a:ext cx="3303700" cy="5342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224"/>
                </a:lnSpc>
              </a:pPr>
              <a:r>
                <a:rPr lang="en-US" sz="1020" spc="3">
                  <a:solidFill>
                    <a:srgbClr val="3E9463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게시 BINDS (write)</a:t>
              </a:r>
            </a:p>
          </p:txBody>
        </p:sp>
      </p:grpSp>
      <p:grpSp>
        <p:nvGrpSpPr>
          <p:cNvPr name="Group 283" id="283"/>
          <p:cNvGrpSpPr/>
          <p:nvPr/>
        </p:nvGrpSpPr>
        <p:grpSpPr>
          <a:xfrm rot="0">
            <a:off x="8328238" y="4491461"/>
            <a:ext cx="364378" cy="59218"/>
            <a:chOff x="0" y="0"/>
            <a:chExt cx="485837" cy="78958"/>
          </a:xfrm>
        </p:grpSpPr>
        <p:sp>
          <p:nvSpPr>
            <p:cNvPr name="Freeform 284" id="284"/>
            <p:cNvSpPr/>
            <p:nvPr/>
          </p:nvSpPr>
          <p:spPr>
            <a:xfrm flipH="false" flipV="false" rot="0">
              <a:off x="0" y="0"/>
              <a:ext cx="485862" cy="79009"/>
            </a:xfrm>
            <a:custGeom>
              <a:avLst/>
              <a:gdLst/>
              <a:ahLst/>
              <a:cxnLst/>
              <a:rect r="r" b="b" t="t" l="l"/>
              <a:pathLst>
                <a:path h="79009" w="485862">
                  <a:moveTo>
                    <a:pt x="0" y="0"/>
                  </a:moveTo>
                  <a:lnTo>
                    <a:pt x="485862" y="0"/>
                  </a:lnTo>
                  <a:lnTo>
                    <a:pt x="485862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85" id="285"/>
          <p:cNvGrpSpPr/>
          <p:nvPr/>
        </p:nvGrpSpPr>
        <p:grpSpPr>
          <a:xfrm rot="0">
            <a:off x="8656176" y="4521070"/>
            <a:ext cx="72880" cy="1089567"/>
            <a:chOff x="0" y="0"/>
            <a:chExt cx="97173" cy="1452756"/>
          </a:xfrm>
        </p:grpSpPr>
        <p:sp>
          <p:nvSpPr>
            <p:cNvPr name="Freeform 286" id="286"/>
            <p:cNvSpPr/>
            <p:nvPr/>
          </p:nvSpPr>
          <p:spPr>
            <a:xfrm flipH="false" flipV="false" rot="0">
              <a:off x="0" y="0"/>
              <a:ext cx="97224" cy="1452712"/>
            </a:xfrm>
            <a:custGeom>
              <a:avLst/>
              <a:gdLst/>
              <a:ahLst/>
              <a:cxnLst/>
              <a:rect r="r" b="b" t="t" l="l"/>
              <a:pathLst>
                <a:path h="1452712" w="97224">
                  <a:moveTo>
                    <a:pt x="0" y="0"/>
                  </a:moveTo>
                  <a:lnTo>
                    <a:pt x="97224" y="0"/>
                  </a:lnTo>
                  <a:lnTo>
                    <a:pt x="97224" y="1452712"/>
                  </a:lnTo>
                  <a:lnTo>
                    <a:pt x="0" y="1452712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87" id="287"/>
          <p:cNvGrpSpPr/>
          <p:nvPr/>
        </p:nvGrpSpPr>
        <p:grpSpPr>
          <a:xfrm rot="0">
            <a:off x="3226929" y="5581028"/>
            <a:ext cx="5465687" cy="59218"/>
            <a:chOff x="0" y="0"/>
            <a:chExt cx="7287582" cy="78958"/>
          </a:xfrm>
        </p:grpSpPr>
        <p:sp>
          <p:nvSpPr>
            <p:cNvPr name="Freeform 288" id="288"/>
            <p:cNvSpPr/>
            <p:nvPr/>
          </p:nvSpPr>
          <p:spPr>
            <a:xfrm flipH="false" flipV="false" rot="0">
              <a:off x="0" y="0"/>
              <a:ext cx="7287555" cy="79009"/>
            </a:xfrm>
            <a:custGeom>
              <a:avLst/>
              <a:gdLst/>
              <a:ahLst/>
              <a:cxnLst/>
              <a:rect r="r" b="b" t="t" l="l"/>
              <a:pathLst>
                <a:path h="79009" w="7287555">
                  <a:moveTo>
                    <a:pt x="0" y="0"/>
                  </a:moveTo>
                  <a:lnTo>
                    <a:pt x="7287555" y="0"/>
                  </a:lnTo>
                  <a:lnTo>
                    <a:pt x="7287555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89" id="289"/>
          <p:cNvGrpSpPr/>
          <p:nvPr/>
        </p:nvGrpSpPr>
        <p:grpSpPr>
          <a:xfrm rot="0">
            <a:off x="3190490" y="5610629"/>
            <a:ext cx="72880" cy="829017"/>
            <a:chOff x="0" y="0"/>
            <a:chExt cx="97173" cy="1105356"/>
          </a:xfrm>
        </p:grpSpPr>
        <p:sp>
          <p:nvSpPr>
            <p:cNvPr name="Freeform 290" id="290"/>
            <p:cNvSpPr/>
            <p:nvPr/>
          </p:nvSpPr>
          <p:spPr>
            <a:xfrm flipH="false" flipV="false" rot="0">
              <a:off x="0" y="0"/>
              <a:ext cx="97224" cy="1105369"/>
            </a:xfrm>
            <a:custGeom>
              <a:avLst/>
              <a:gdLst/>
              <a:ahLst/>
              <a:cxnLst/>
              <a:rect r="r" b="b" t="t" l="l"/>
              <a:pathLst>
                <a:path h="1105369" w="97224">
                  <a:moveTo>
                    <a:pt x="0" y="0"/>
                  </a:moveTo>
                  <a:lnTo>
                    <a:pt x="97224" y="0"/>
                  </a:lnTo>
                  <a:lnTo>
                    <a:pt x="97224" y="1105369"/>
                  </a:lnTo>
                  <a:lnTo>
                    <a:pt x="0" y="1105369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91" id="291"/>
          <p:cNvGrpSpPr/>
          <p:nvPr/>
        </p:nvGrpSpPr>
        <p:grpSpPr>
          <a:xfrm rot="-10800000">
            <a:off x="3066607" y="6250157"/>
            <a:ext cx="320656" cy="213173"/>
            <a:chOff x="0" y="0"/>
            <a:chExt cx="427541" cy="284231"/>
          </a:xfrm>
        </p:grpSpPr>
        <p:sp>
          <p:nvSpPr>
            <p:cNvPr name="Freeform 292" id="292"/>
            <p:cNvSpPr/>
            <p:nvPr/>
          </p:nvSpPr>
          <p:spPr>
            <a:xfrm flipH="false" flipV="false" rot="0">
              <a:off x="0" y="0"/>
              <a:ext cx="427474" cy="284231"/>
            </a:xfrm>
            <a:custGeom>
              <a:avLst/>
              <a:gdLst/>
              <a:ahLst/>
              <a:cxnLst/>
              <a:rect r="r" b="b" t="t" l="l"/>
              <a:pathLst>
                <a:path h="284231" w="427474">
                  <a:moveTo>
                    <a:pt x="0" y="284231"/>
                  </a:moveTo>
                  <a:lnTo>
                    <a:pt x="213737" y="0"/>
                  </a:lnTo>
                  <a:lnTo>
                    <a:pt x="427474" y="284231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93" id="293"/>
          <p:cNvGrpSpPr/>
          <p:nvPr/>
        </p:nvGrpSpPr>
        <p:grpSpPr>
          <a:xfrm rot="0">
            <a:off x="4465822" y="5533913"/>
            <a:ext cx="2623534" cy="376916"/>
            <a:chOff x="0" y="0"/>
            <a:chExt cx="3498045" cy="502554"/>
          </a:xfrm>
        </p:grpSpPr>
        <p:sp>
          <p:nvSpPr>
            <p:cNvPr name="Freeform 294" id="294"/>
            <p:cNvSpPr/>
            <p:nvPr/>
          </p:nvSpPr>
          <p:spPr>
            <a:xfrm flipH="false" flipV="false" rot="0">
              <a:off x="0" y="0"/>
              <a:ext cx="3498041" cy="502546"/>
            </a:xfrm>
            <a:custGeom>
              <a:avLst/>
              <a:gdLst/>
              <a:ahLst/>
              <a:cxnLst/>
              <a:rect r="r" b="b" t="t" l="l"/>
              <a:pathLst>
                <a:path h="502546" w="3498041">
                  <a:moveTo>
                    <a:pt x="0" y="0"/>
                  </a:moveTo>
                  <a:lnTo>
                    <a:pt x="3498041" y="0"/>
                  </a:lnTo>
                  <a:lnTo>
                    <a:pt x="3498041" y="502546"/>
                  </a:lnTo>
                  <a:lnTo>
                    <a:pt x="0" y="5025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1313" r="5821" b="-64153"/>
              </a:stretch>
            </a:blipFill>
          </p:spPr>
        </p:sp>
        <p:sp>
          <p:nvSpPr>
            <p:cNvPr name="TextBox 295" id="295"/>
            <p:cNvSpPr txBox="true"/>
            <p:nvPr/>
          </p:nvSpPr>
          <p:spPr>
            <a:xfrm>
              <a:off x="0" y="0"/>
              <a:ext cx="3498045" cy="5025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88"/>
                </a:lnSpc>
              </a:pPr>
              <a:r>
                <a:rPr lang="en-US" sz="990" spc="3">
                  <a:solidFill>
                    <a:srgbClr val="D7872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세션·재개상태</a:t>
              </a:r>
            </a:p>
          </p:txBody>
        </p:sp>
      </p:grpSp>
      <p:grpSp>
        <p:nvGrpSpPr>
          <p:cNvPr name="Group 296" id="296"/>
          <p:cNvGrpSpPr/>
          <p:nvPr/>
        </p:nvGrpSpPr>
        <p:grpSpPr>
          <a:xfrm rot="0">
            <a:off x="5012389" y="5279027"/>
            <a:ext cx="72880" cy="1018506"/>
            <a:chOff x="0" y="0"/>
            <a:chExt cx="97173" cy="1358009"/>
          </a:xfrm>
        </p:grpSpPr>
        <p:sp>
          <p:nvSpPr>
            <p:cNvPr name="Freeform 297" id="297"/>
            <p:cNvSpPr/>
            <p:nvPr/>
          </p:nvSpPr>
          <p:spPr>
            <a:xfrm flipH="false" flipV="false" rot="0">
              <a:off x="0" y="0"/>
              <a:ext cx="97224" cy="1358047"/>
            </a:xfrm>
            <a:custGeom>
              <a:avLst/>
              <a:gdLst/>
              <a:ahLst/>
              <a:cxnLst/>
              <a:rect r="r" b="b" t="t" l="l"/>
              <a:pathLst>
                <a:path h="1358047" w="97224">
                  <a:moveTo>
                    <a:pt x="0" y="0"/>
                  </a:moveTo>
                  <a:lnTo>
                    <a:pt x="97224" y="0"/>
                  </a:lnTo>
                  <a:lnTo>
                    <a:pt x="97224" y="1358047"/>
                  </a:lnTo>
                  <a:lnTo>
                    <a:pt x="0" y="1358047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298" id="298"/>
          <p:cNvGrpSpPr/>
          <p:nvPr/>
        </p:nvGrpSpPr>
        <p:grpSpPr>
          <a:xfrm rot="0">
            <a:off x="3809936" y="6267924"/>
            <a:ext cx="1238893" cy="59218"/>
            <a:chOff x="0" y="0"/>
            <a:chExt cx="1651857" cy="78958"/>
          </a:xfrm>
        </p:grpSpPr>
        <p:sp>
          <p:nvSpPr>
            <p:cNvPr name="Freeform 299" id="299"/>
            <p:cNvSpPr/>
            <p:nvPr/>
          </p:nvSpPr>
          <p:spPr>
            <a:xfrm flipH="false" flipV="false" rot="0">
              <a:off x="0" y="0"/>
              <a:ext cx="1651908" cy="79009"/>
            </a:xfrm>
            <a:custGeom>
              <a:avLst/>
              <a:gdLst/>
              <a:ahLst/>
              <a:cxnLst/>
              <a:rect r="r" b="b" t="t" l="l"/>
              <a:pathLst>
                <a:path h="79009" w="1651908">
                  <a:moveTo>
                    <a:pt x="0" y="0"/>
                  </a:moveTo>
                  <a:lnTo>
                    <a:pt x="1651908" y="0"/>
                  </a:lnTo>
                  <a:lnTo>
                    <a:pt x="1651908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300" id="300"/>
          <p:cNvGrpSpPr/>
          <p:nvPr/>
        </p:nvGrpSpPr>
        <p:grpSpPr>
          <a:xfrm rot="0">
            <a:off x="3773496" y="6297534"/>
            <a:ext cx="72880" cy="142121"/>
            <a:chOff x="0" y="0"/>
            <a:chExt cx="97173" cy="189495"/>
          </a:xfrm>
        </p:grpSpPr>
        <p:sp>
          <p:nvSpPr>
            <p:cNvPr name="Freeform 301" id="301"/>
            <p:cNvSpPr/>
            <p:nvPr/>
          </p:nvSpPr>
          <p:spPr>
            <a:xfrm flipH="false" flipV="false" rot="0">
              <a:off x="0" y="0"/>
              <a:ext cx="97224" cy="189451"/>
            </a:xfrm>
            <a:custGeom>
              <a:avLst/>
              <a:gdLst/>
              <a:ahLst/>
              <a:cxnLst/>
              <a:rect r="r" b="b" t="t" l="l"/>
              <a:pathLst>
                <a:path h="189451" w="97224">
                  <a:moveTo>
                    <a:pt x="0" y="0"/>
                  </a:moveTo>
                  <a:lnTo>
                    <a:pt x="97224" y="0"/>
                  </a:lnTo>
                  <a:lnTo>
                    <a:pt x="97224" y="189451"/>
                  </a:lnTo>
                  <a:lnTo>
                    <a:pt x="0" y="189451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302" id="302"/>
          <p:cNvGrpSpPr/>
          <p:nvPr/>
        </p:nvGrpSpPr>
        <p:grpSpPr>
          <a:xfrm rot="-10800000">
            <a:off x="3649613" y="6250157"/>
            <a:ext cx="320656" cy="213173"/>
            <a:chOff x="0" y="0"/>
            <a:chExt cx="427541" cy="284231"/>
          </a:xfrm>
        </p:grpSpPr>
        <p:sp>
          <p:nvSpPr>
            <p:cNvPr name="Freeform 303" id="303"/>
            <p:cNvSpPr/>
            <p:nvPr/>
          </p:nvSpPr>
          <p:spPr>
            <a:xfrm flipH="false" flipV="false" rot="0">
              <a:off x="0" y="0"/>
              <a:ext cx="427474" cy="284231"/>
            </a:xfrm>
            <a:custGeom>
              <a:avLst/>
              <a:gdLst/>
              <a:ahLst/>
              <a:cxnLst/>
              <a:rect r="r" b="b" t="t" l="l"/>
              <a:pathLst>
                <a:path h="284231" w="427474">
                  <a:moveTo>
                    <a:pt x="0" y="284231"/>
                  </a:moveTo>
                  <a:lnTo>
                    <a:pt x="213737" y="0"/>
                  </a:lnTo>
                  <a:lnTo>
                    <a:pt x="427474" y="284231"/>
                  </a:lnTo>
                  <a:close/>
                </a:path>
              </a:pathLst>
            </a:custGeom>
            <a:solidFill>
              <a:srgbClr val="D7872F"/>
            </a:solidFill>
          </p:spPr>
        </p:sp>
      </p:grpSp>
      <p:grpSp>
        <p:nvGrpSpPr>
          <p:cNvPr name="Group 304" id="304"/>
          <p:cNvGrpSpPr/>
          <p:nvPr/>
        </p:nvGrpSpPr>
        <p:grpSpPr>
          <a:xfrm rot="0">
            <a:off x="3795367" y="6227666"/>
            <a:ext cx="2477775" cy="369824"/>
            <a:chOff x="0" y="0"/>
            <a:chExt cx="3303700" cy="493098"/>
          </a:xfrm>
        </p:grpSpPr>
        <p:sp>
          <p:nvSpPr>
            <p:cNvPr name="Freeform 305" id="305"/>
            <p:cNvSpPr/>
            <p:nvPr/>
          </p:nvSpPr>
          <p:spPr>
            <a:xfrm flipH="false" flipV="false" rot="0">
              <a:off x="0" y="0"/>
              <a:ext cx="3303705" cy="493090"/>
            </a:xfrm>
            <a:custGeom>
              <a:avLst/>
              <a:gdLst/>
              <a:ahLst/>
              <a:cxnLst/>
              <a:rect r="r" b="b" t="t" l="l"/>
              <a:pathLst>
                <a:path h="493090" w="3303705">
                  <a:moveTo>
                    <a:pt x="0" y="0"/>
                  </a:moveTo>
                  <a:lnTo>
                    <a:pt x="3303705" y="0"/>
                  </a:lnTo>
                  <a:lnTo>
                    <a:pt x="3303705" y="493090"/>
                  </a:lnTo>
                  <a:lnTo>
                    <a:pt x="0" y="49309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5831" r="5821" b="-60068"/>
              </a:stretch>
            </a:blipFill>
          </p:spPr>
        </p:sp>
        <p:sp>
          <p:nvSpPr>
            <p:cNvPr name="TextBox 306" id="306"/>
            <p:cNvSpPr txBox="true"/>
            <p:nvPr/>
          </p:nvSpPr>
          <p:spPr>
            <a:xfrm>
              <a:off x="0" y="0"/>
              <a:ext cx="3303700" cy="4930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52"/>
                </a:lnSpc>
              </a:pPr>
              <a:r>
                <a:rPr lang="en-US" sz="960" spc="3">
                  <a:solidFill>
                    <a:srgbClr val="D7872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개인메모리</a:t>
              </a:r>
            </a:p>
          </p:txBody>
        </p:sp>
      </p:grpSp>
      <p:grpSp>
        <p:nvGrpSpPr>
          <p:cNvPr name="Group 307" id="307"/>
          <p:cNvGrpSpPr/>
          <p:nvPr/>
        </p:nvGrpSpPr>
        <p:grpSpPr>
          <a:xfrm rot="0">
            <a:off x="6433470" y="4965184"/>
            <a:ext cx="291508" cy="59218"/>
            <a:chOff x="0" y="0"/>
            <a:chExt cx="388678" cy="78958"/>
          </a:xfrm>
        </p:grpSpPr>
        <p:sp>
          <p:nvSpPr>
            <p:cNvPr name="Freeform 308" id="308"/>
            <p:cNvSpPr/>
            <p:nvPr/>
          </p:nvSpPr>
          <p:spPr>
            <a:xfrm flipH="false" flipV="false" rot="0">
              <a:off x="0" y="0"/>
              <a:ext cx="388637" cy="79009"/>
            </a:xfrm>
            <a:custGeom>
              <a:avLst/>
              <a:gdLst/>
              <a:ahLst/>
              <a:cxnLst/>
              <a:rect r="r" b="b" t="t" l="l"/>
              <a:pathLst>
                <a:path h="79009" w="388637">
                  <a:moveTo>
                    <a:pt x="0" y="0"/>
                  </a:moveTo>
                  <a:lnTo>
                    <a:pt x="388637" y="0"/>
                  </a:lnTo>
                  <a:lnTo>
                    <a:pt x="388637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309" id="309"/>
          <p:cNvGrpSpPr/>
          <p:nvPr/>
        </p:nvGrpSpPr>
        <p:grpSpPr>
          <a:xfrm rot="0">
            <a:off x="6688528" y="4994793"/>
            <a:ext cx="72880" cy="769799"/>
            <a:chOff x="0" y="0"/>
            <a:chExt cx="97173" cy="1026398"/>
          </a:xfrm>
        </p:grpSpPr>
        <p:sp>
          <p:nvSpPr>
            <p:cNvPr name="Freeform 310" id="310"/>
            <p:cNvSpPr/>
            <p:nvPr/>
          </p:nvSpPr>
          <p:spPr>
            <a:xfrm flipH="false" flipV="false" rot="0">
              <a:off x="0" y="0"/>
              <a:ext cx="97224" cy="1026365"/>
            </a:xfrm>
            <a:custGeom>
              <a:avLst/>
              <a:gdLst/>
              <a:ahLst/>
              <a:cxnLst/>
              <a:rect r="r" b="b" t="t" l="l"/>
              <a:pathLst>
                <a:path h="1026365" w="97224">
                  <a:moveTo>
                    <a:pt x="0" y="0"/>
                  </a:moveTo>
                  <a:lnTo>
                    <a:pt x="97224" y="0"/>
                  </a:lnTo>
                  <a:lnTo>
                    <a:pt x="97224" y="1026365"/>
                  </a:lnTo>
                  <a:lnTo>
                    <a:pt x="0" y="1026365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311" id="311"/>
          <p:cNvGrpSpPr/>
          <p:nvPr/>
        </p:nvGrpSpPr>
        <p:grpSpPr>
          <a:xfrm rot="0">
            <a:off x="6724968" y="5734983"/>
            <a:ext cx="2332026" cy="59218"/>
            <a:chOff x="0" y="0"/>
            <a:chExt cx="3109368" cy="78958"/>
          </a:xfrm>
        </p:grpSpPr>
        <p:sp>
          <p:nvSpPr>
            <p:cNvPr name="Freeform 312" id="312"/>
            <p:cNvSpPr/>
            <p:nvPr/>
          </p:nvSpPr>
          <p:spPr>
            <a:xfrm flipH="false" flipV="false" rot="0">
              <a:off x="0" y="0"/>
              <a:ext cx="3109368" cy="79009"/>
            </a:xfrm>
            <a:custGeom>
              <a:avLst/>
              <a:gdLst/>
              <a:ahLst/>
              <a:cxnLst/>
              <a:rect r="r" b="b" t="t" l="l"/>
              <a:pathLst>
                <a:path h="79009" w="3109368">
                  <a:moveTo>
                    <a:pt x="0" y="0"/>
                  </a:moveTo>
                  <a:lnTo>
                    <a:pt x="3109368" y="0"/>
                  </a:lnTo>
                  <a:lnTo>
                    <a:pt x="3109368" y="79009"/>
                  </a:lnTo>
                  <a:lnTo>
                    <a:pt x="0" y="79009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313" id="313"/>
          <p:cNvGrpSpPr/>
          <p:nvPr/>
        </p:nvGrpSpPr>
        <p:grpSpPr>
          <a:xfrm rot="0">
            <a:off x="9020564" y="5764592"/>
            <a:ext cx="72880" cy="675054"/>
            <a:chOff x="0" y="0"/>
            <a:chExt cx="97173" cy="900072"/>
          </a:xfrm>
        </p:grpSpPr>
        <p:sp>
          <p:nvSpPr>
            <p:cNvPr name="Freeform 314" id="314"/>
            <p:cNvSpPr/>
            <p:nvPr/>
          </p:nvSpPr>
          <p:spPr>
            <a:xfrm flipH="false" flipV="false" rot="0">
              <a:off x="0" y="0"/>
              <a:ext cx="97224" cy="900028"/>
            </a:xfrm>
            <a:custGeom>
              <a:avLst/>
              <a:gdLst/>
              <a:ahLst/>
              <a:cxnLst/>
              <a:rect r="r" b="b" t="t" l="l"/>
              <a:pathLst>
                <a:path h="900028" w="97224">
                  <a:moveTo>
                    <a:pt x="0" y="0"/>
                  </a:moveTo>
                  <a:lnTo>
                    <a:pt x="97224" y="0"/>
                  </a:lnTo>
                  <a:lnTo>
                    <a:pt x="97224" y="900028"/>
                  </a:lnTo>
                  <a:lnTo>
                    <a:pt x="0" y="900028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315" id="315"/>
          <p:cNvGrpSpPr/>
          <p:nvPr/>
        </p:nvGrpSpPr>
        <p:grpSpPr>
          <a:xfrm rot="-10800000">
            <a:off x="8896671" y="6250157"/>
            <a:ext cx="320656" cy="213173"/>
            <a:chOff x="0" y="0"/>
            <a:chExt cx="427541" cy="284231"/>
          </a:xfrm>
        </p:grpSpPr>
        <p:sp>
          <p:nvSpPr>
            <p:cNvPr name="Freeform 316" id="316"/>
            <p:cNvSpPr/>
            <p:nvPr/>
          </p:nvSpPr>
          <p:spPr>
            <a:xfrm flipH="false" flipV="false" rot="0">
              <a:off x="0" y="0"/>
              <a:ext cx="427474" cy="284231"/>
            </a:xfrm>
            <a:custGeom>
              <a:avLst/>
              <a:gdLst/>
              <a:ahLst/>
              <a:cxnLst/>
              <a:rect r="r" b="b" t="t" l="l"/>
              <a:pathLst>
                <a:path h="284231" w="427474">
                  <a:moveTo>
                    <a:pt x="0" y="284231"/>
                  </a:moveTo>
                  <a:lnTo>
                    <a:pt x="213737" y="0"/>
                  </a:lnTo>
                  <a:lnTo>
                    <a:pt x="427474" y="284231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317" id="317"/>
          <p:cNvGrpSpPr/>
          <p:nvPr/>
        </p:nvGrpSpPr>
        <p:grpSpPr>
          <a:xfrm rot="0">
            <a:off x="5845196" y="4919001"/>
            <a:ext cx="2477775" cy="376916"/>
            <a:chOff x="0" y="0"/>
            <a:chExt cx="3303700" cy="502554"/>
          </a:xfrm>
        </p:grpSpPr>
        <p:sp>
          <p:nvSpPr>
            <p:cNvPr name="Freeform 318" id="318"/>
            <p:cNvSpPr/>
            <p:nvPr/>
          </p:nvSpPr>
          <p:spPr>
            <a:xfrm flipH="false" flipV="false" rot="0">
              <a:off x="0" y="0"/>
              <a:ext cx="3303705" cy="502546"/>
            </a:xfrm>
            <a:custGeom>
              <a:avLst/>
              <a:gdLst/>
              <a:ahLst/>
              <a:cxnLst/>
              <a:rect r="r" b="b" t="t" l="l"/>
              <a:pathLst>
                <a:path h="502546" w="3303705">
                  <a:moveTo>
                    <a:pt x="0" y="0"/>
                  </a:moveTo>
                  <a:lnTo>
                    <a:pt x="3303705" y="0"/>
                  </a:lnTo>
                  <a:lnTo>
                    <a:pt x="3303705" y="502546"/>
                  </a:lnTo>
                  <a:lnTo>
                    <a:pt x="0" y="5025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4216" r="5821" b="-57056"/>
              </a:stretch>
            </a:blipFill>
          </p:spPr>
        </p:sp>
        <p:sp>
          <p:nvSpPr>
            <p:cNvPr name="TextBox 319" id="319"/>
            <p:cNvSpPr txBox="true"/>
            <p:nvPr/>
          </p:nvSpPr>
          <p:spPr>
            <a:xfrm>
              <a:off x="0" y="0"/>
              <a:ext cx="3303700" cy="5025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188"/>
                </a:lnSpc>
              </a:pPr>
              <a:r>
                <a:rPr lang="en-US" sz="990" spc="3">
                  <a:solidFill>
                    <a:srgbClr val="3B7DD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개인메모리</a:t>
              </a:r>
            </a:p>
          </p:txBody>
        </p:sp>
      </p:grpSp>
      <p:grpSp>
        <p:nvGrpSpPr>
          <p:cNvPr name="Group 320" id="320"/>
          <p:cNvGrpSpPr/>
          <p:nvPr/>
        </p:nvGrpSpPr>
        <p:grpSpPr>
          <a:xfrm rot="0">
            <a:off x="7295828" y="8123337"/>
            <a:ext cx="3959589" cy="552681"/>
            <a:chOff x="0" y="0"/>
            <a:chExt cx="5279452" cy="736908"/>
          </a:xfrm>
        </p:grpSpPr>
        <p:sp>
          <p:nvSpPr>
            <p:cNvPr name="Freeform 321" id="321"/>
            <p:cNvSpPr/>
            <p:nvPr/>
          </p:nvSpPr>
          <p:spPr>
            <a:xfrm flipH="false" flipV="false" rot="0">
              <a:off x="0" y="0"/>
              <a:ext cx="5279503" cy="736997"/>
            </a:xfrm>
            <a:custGeom>
              <a:avLst/>
              <a:gdLst/>
              <a:ahLst/>
              <a:cxnLst/>
              <a:rect r="r" b="b" t="t" l="l"/>
              <a:pathLst>
                <a:path h="736997" w="5279503">
                  <a:moveTo>
                    <a:pt x="0" y="98287"/>
                  </a:moveTo>
                  <a:cubicBezTo>
                    <a:pt x="0" y="43939"/>
                    <a:pt x="54075" y="0"/>
                    <a:pt x="120960" y="0"/>
                  </a:cubicBezTo>
                  <a:lnTo>
                    <a:pt x="5158546" y="0"/>
                  </a:lnTo>
                  <a:cubicBezTo>
                    <a:pt x="5225297" y="0"/>
                    <a:pt x="5279503" y="43939"/>
                    <a:pt x="5279503" y="98287"/>
                  </a:cubicBezTo>
                  <a:lnTo>
                    <a:pt x="5279503" y="638698"/>
                  </a:lnTo>
                  <a:cubicBezTo>
                    <a:pt x="5279503" y="692936"/>
                    <a:pt x="5225431" y="736997"/>
                    <a:pt x="5158546" y="736997"/>
                  </a:cubicBezTo>
                  <a:lnTo>
                    <a:pt x="120960" y="736997"/>
                  </a:lnTo>
                  <a:cubicBezTo>
                    <a:pt x="54075" y="736875"/>
                    <a:pt x="0" y="692936"/>
                    <a:pt x="0" y="638698"/>
                  </a:cubicBezTo>
                  <a:close/>
                </a:path>
              </a:pathLst>
            </a:custGeom>
            <a:solidFill>
              <a:srgbClr val="E5E7EC"/>
            </a:solidFill>
            <a:ln w="22878" cap="sq">
              <a:solidFill>
                <a:srgbClr val="6B7480"/>
              </a:solidFill>
              <a:prstDash val="solid"/>
              <a:miter/>
            </a:ln>
          </p:spPr>
        </p:sp>
      </p:grpSp>
      <p:grpSp>
        <p:nvGrpSpPr>
          <p:cNvPr name="Group 322" id="322"/>
          <p:cNvGrpSpPr/>
          <p:nvPr/>
        </p:nvGrpSpPr>
        <p:grpSpPr>
          <a:xfrm rot="0">
            <a:off x="7307975" y="8133207"/>
            <a:ext cx="3935296" cy="532941"/>
            <a:chOff x="0" y="0"/>
            <a:chExt cx="5247061" cy="710589"/>
          </a:xfrm>
        </p:grpSpPr>
        <p:sp>
          <p:nvSpPr>
            <p:cNvPr name="Freeform 323" id="323"/>
            <p:cNvSpPr/>
            <p:nvPr/>
          </p:nvSpPr>
          <p:spPr>
            <a:xfrm flipH="false" flipV="false" rot="0">
              <a:off x="0" y="0"/>
              <a:ext cx="5247061" cy="710585"/>
            </a:xfrm>
            <a:custGeom>
              <a:avLst/>
              <a:gdLst/>
              <a:ahLst/>
              <a:cxnLst/>
              <a:rect r="r" b="b" t="t" l="l"/>
              <a:pathLst>
                <a:path h="710585" w="5247061">
                  <a:moveTo>
                    <a:pt x="0" y="0"/>
                  </a:moveTo>
                  <a:lnTo>
                    <a:pt x="5247061" y="0"/>
                  </a:lnTo>
                  <a:lnTo>
                    <a:pt x="5247061" y="710585"/>
                  </a:lnTo>
                  <a:lnTo>
                    <a:pt x="0" y="71058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7552" r="5821" b="-93457"/>
              </a:stretch>
            </a:blipFill>
          </p:spPr>
        </p:sp>
        <p:sp>
          <p:nvSpPr>
            <p:cNvPr name="TextBox 324" id="324"/>
            <p:cNvSpPr txBox="true"/>
            <p:nvPr/>
          </p:nvSpPr>
          <p:spPr>
            <a:xfrm>
              <a:off x="0" y="9525"/>
              <a:ext cx="5247061" cy="7010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59"/>
                </a:lnSpc>
              </a:pPr>
              <a:r>
                <a:rPr lang="en-US" b="true" sz="1351" spc="5">
                  <a:solidFill>
                    <a:srgbClr val="3A4350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⑥ 실행 · 위상정렬</a:t>
              </a:r>
            </a:p>
          </p:txBody>
        </p:sp>
      </p:grpSp>
      <p:grpSp>
        <p:nvGrpSpPr>
          <p:cNvPr name="Group 325" id="325"/>
          <p:cNvGrpSpPr/>
          <p:nvPr/>
        </p:nvGrpSpPr>
        <p:grpSpPr>
          <a:xfrm rot="0">
            <a:off x="8146050" y="7730545"/>
            <a:ext cx="72880" cy="402662"/>
            <a:chOff x="0" y="0"/>
            <a:chExt cx="97173" cy="536883"/>
          </a:xfrm>
        </p:grpSpPr>
        <p:sp>
          <p:nvSpPr>
            <p:cNvPr name="Freeform 326" id="326"/>
            <p:cNvSpPr/>
            <p:nvPr/>
          </p:nvSpPr>
          <p:spPr>
            <a:xfrm flipH="false" flipV="false" rot="0">
              <a:off x="0" y="0"/>
              <a:ext cx="97224" cy="536909"/>
            </a:xfrm>
            <a:custGeom>
              <a:avLst/>
              <a:gdLst/>
              <a:ahLst/>
              <a:cxnLst/>
              <a:rect r="r" b="b" t="t" l="l"/>
              <a:pathLst>
                <a:path h="536909" w="97224">
                  <a:moveTo>
                    <a:pt x="0" y="0"/>
                  </a:moveTo>
                  <a:lnTo>
                    <a:pt x="97224" y="0"/>
                  </a:lnTo>
                  <a:lnTo>
                    <a:pt x="97224" y="536909"/>
                  </a:lnTo>
                  <a:lnTo>
                    <a:pt x="0" y="536909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327" id="327"/>
          <p:cNvGrpSpPr/>
          <p:nvPr/>
        </p:nvGrpSpPr>
        <p:grpSpPr>
          <a:xfrm rot="-10800000">
            <a:off x="8022156" y="7943718"/>
            <a:ext cx="320656" cy="213173"/>
            <a:chOff x="0" y="0"/>
            <a:chExt cx="427541" cy="284231"/>
          </a:xfrm>
        </p:grpSpPr>
        <p:sp>
          <p:nvSpPr>
            <p:cNvPr name="Freeform 328" id="328"/>
            <p:cNvSpPr/>
            <p:nvPr/>
          </p:nvSpPr>
          <p:spPr>
            <a:xfrm flipH="false" flipV="false" rot="0">
              <a:off x="0" y="0"/>
              <a:ext cx="427474" cy="284231"/>
            </a:xfrm>
            <a:custGeom>
              <a:avLst/>
              <a:gdLst/>
              <a:ahLst/>
              <a:cxnLst/>
              <a:rect r="r" b="b" t="t" l="l"/>
              <a:pathLst>
                <a:path h="284231" w="427474">
                  <a:moveTo>
                    <a:pt x="0" y="284231"/>
                  </a:moveTo>
                  <a:lnTo>
                    <a:pt x="213737" y="0"/>
                  </a:lnTo>
                  <a:lnTo>
                    <a:pt x="427474" y="284231"/>
                  </a:lnTo>
                  <a:close/>
                </a:path>
              </a:pathLst>
            </a:custGeom>
            <a:solidFill>
              <a:srgbClr val="6B7480"/>
            </a:solidFill>
          </p:spPr>
        </p:sp>
      </p:grpSp>
      <p:grpSp>
        <p:nvGrpSpPr>
          <p:cNvPr name="Group 329" id="329"/>
          <p:cNvGrpSpPr/>
          <p:nvPr/>
        </p:nvGrpSpPr>
        <p:grpSpPr>
          <a:xfrm rot="0">
            <a:off x="5745922" y="7779975"/>
            <a:ext cx="2186277" cy="376916"/>
            <a:chOff x="0" y="0"/>
            <a:chExt cx="2915036" cy="502554"/>
          </a:xfrm>
        </p:grpSpPr>
        <p:sp>
          <p:nvSpPr>
            <p:cNvPr name="Freeform 330" id="330"/>
            <p:cNvSpPr/>
            <p:nvPr/>
          </p:nvSpPr>
          <p:spPr>
            <a:xfrm flipH="false" flipV="false" rot="0">
              <a:off x="0" y="0"/>
              <a:ext cx="2915034" cy="502546"/>
            </a:xfrm>
            <a:custGeom>
              <a:avLst/>
              <a:gdLst/>
              <a:ahLst/>
              <a:cxnLst/>
              <a:rect r="r" b="b" t="t" l="l"/>
              <a:pathLst>
                <a:path h="502546" w="2915034">
                  <a:moveTo>
                    <a:pt x="0" y="0"/>
                  </a:moveTo>
                  <a:lnTo>
                    <a:pt x="2915034" y="0"/>
                  </a:lnTo>
                  <a:lnTo>
                    <a:pt x="2915034" y="502546"/>
                  </a:lnTo>
                  <a:lnTo>
                    <a:pt x="0" y="5025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0024" r="5821" b="-42864"/>
              </a:stretch>
            </a:blipFill>
          </p:spPr>
        </p:sp>
        <p:sp>
          <p:nvSpPr>
            <p:cNvPr name="TextBox 331" id="331"/>
            <p:cNvSpPr txBox="true"/>
            <p:nvPr/>
          </p:nvSpPr>
          <p:spPr>
            <a:xfrm>
              <a:off x="0" y="0"/>
              <a:ext cx="2915036" cy="5025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188"/>
                </a:lnSpc>
              </a:pPr>
              <a:r>
                <a:rPr lang="en-US" sz="990" spc="3">
                  <a:solidFill>
                    <a:srgbClr val="8A909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workflow_id</a:t>
              </a:r>
            </a:p>
          </p:txBody>
        </p:sp>
      </p:grpSp>
      <p:grpSp>
        <p:nvGrpSpPr>
          <p:cNvPr name="Group 332" id="332"/>
          <p:cNvGrpSpPr/>
          <p:nvPr/>
        </p:nvGrpSpPr>
        <p:grpSpPr>
          <a:xfrm rot="0">
            <a:off x="10332326" y="7730545"/>
            <a:ext cx="72880" cy="402662"/>
            <a:chOff x="0" y="0"/>
            <a:chExt cx="97173" cy="536883"/>
          </a:xfrm>
        </p:grpSpPr>
        <p:sp>
          <p:nvSpPr>
            <p:cNvPr name="Freeform 333" id="333"/>
            <p:cNvSpPr/>
            <p:nvPr/>
          </p:nvSpPr>
          <p:spPr>
            <a:xfrm flipH="false" flipV="false" rot="0">
              <a:off x="0" y="0"/>
              <a:ext cx="97224" cy="536909"/>
            </a:xfrm>
            <a:custGeom>
              <a:avLst/>
              <a:gdLst/>
              <a:ahLst/>
              <a:cxnLst/>
              <a:rect r="r" b="b" t="t" l="l"/>
              <a:pathLst>
                <a:path h="536909" w="97224">
                  <a:moveTo>
                    <a:pt x="0" y="0"/>
                  </a:moveTo>
                  <a:lnTo>
                    <a:pt x="97224" y="0"/>
                  </a:lnTo>
                  <a:lnTo>
                    <a:pt x="97224" y="536909"/>
                  </a:lnTo>
                  <a:lnTo>
                    <a:pt x="0" y="536909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334" id="334"/>
          <p:cNvGrpSpPr/>
          <p:nvPr/>
        </p:nvGrpSpPr>
        <p:grpSpPr>
          <a:xfrm rot="0">
            <a:off x="10208433" y="7706860"/>
            <a:ext cx="320656" cy="213173"/>
            <a:chOff x="0" y="0"/>
            <a:chExt cx="427541" cy="284231"/>
          </a:xfrm>
        </p:grpSpPr>
        <p:sp>
          <p:nvSpPr>
            <p:cNvPr name="Freeform 335" id="335"/>
            <p:cNvSpPr/>
            <p:nvPr/>
          </p:nvSpPr>
          <p:spPr>
            <a:xfrm flipH="false" flipV="false" rot="0">
              <a:off x="0" y="0"/>
              <a:ext cx="427474" cy="284231"/>
            </a:xfrm>
            <a:custGeom>
              <a:avLst/>
              <a:gdLst/>
              <a:ahLst/>
              <a:cxnLst/>
              <a:rect r="r" b="b" t="t" l="l"/>
              <a:pathLst>
                <a:path h="284231" w="427474">
                  <a:moveTo>
                    <a:pt x="0" y="284231"/>
                  </a:moveTo>
                  <a:lnTo>
                    <a:pt x="213737" y="0"/>
                  </a:lnTo>
                  <a:lnTo>
                    <a:pt x="427474" y="284231"/>
                  </a:lnTo>
                  <a:close/>
                </a:path>
              </a:pathLst>
            </a:custGeom>
            <a:solidFill>
              <a:srgbClr val="3B7DD8"/>
            </a:solidFill>
          </p:spPr>
        </p:sp>
      </p:grpSp>
      <p:grpSp>
        <p:nvGrpSpPr>
          <p:cNvPr name="Group 336" id="336"/>
          <p:cNvGrpSpPr/>
          <p:nvPr/>
        </p:nvGrpSpPr>
        <p:grpSpPr>
          <a:xfrm rot="0">
            <a:off x="10623825" y="7770716"/>
            <a:ext cx="3352290" cy="376916"/>
            <a:chOff x="0" y="0"/>
            <a:chExt cx="4469720" cy="502554"/>
          </a:xfrm>
        </p:grpSpPr>
        <p:sp>
          <p:nvSpPr>
            <p:cNvPr name="Freeform 337" id="337"/>
            <p:cNvSpPr/>
            <p:nvPr/>
          </p:nvSpPr>
          <p:spPr>
            <a:xfrm flipH="false" flipV="false" rot="0">
              <a:off x="0" y="0"/>
              <a:ext cx="4469719" cy="502546"/>
            </a:xfrm>
            <a:custGeom>
              <a:avLst/>
              <a:gdLst/>
              <a:ahLst/>
              <a:cxnLst/>
              <a:rect r="r" b="b" t="t" l="l"/>
              <a:pathLst>
                <a:path h="502546" w="4469719">
                  <a:moveTo>
                    <a:pt x="0" y="0"/>
                  </a:moveTo>
                  <a:lnTo>
                    <a:pt x="4469719" y="0"/>
                  </a:lnTo>
                  <a:lnTo>
                    <a:pt x="4469719" y="502546"/>
                  </a:lnTo>
                  <a:lnTo>
                    <a:pt x="0" y="50254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6794" r="5821" b="-99634"/>
              </a:stretch>
            </a:blipFill>
          </p:spPr>
        </p:sp>
        <p:sp>
          <p:nvSpPr>
            <p:cNvPr name="TextBox 338" id="338"/>
            <p:cNvSpPr txBox="true"/>
            <p:nvPr/>
          </p:nvSpPr>
          <p:spPr>
            <a:xfrm>
              <a:off x="0" y="0"/>
              <a:ext cx="4469720" cy="5025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88"/>
                </a:lnSpc>
              </a:pPr>
              <a:r>
                <a:rPr lang="en-US" sz="990" spc="3">
                  <a:solidFill>
                    <a:srgbClr val="3B7DD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실행 결과 → executions</a:t>
              </a:r>
            </a:p>
          </p:txBody>
        </p:sp>
      </p:grpSp>
      <p:grpSp>
        <p:nvGrpSpPr>
          <p:cNvPr name="Group 339" id="339"/>
          <p:cNvGrpSpPr/>
          <p:nvPr/>
        </p:nvGrpSpPr>
        <p:grpSpPr>
          <a:xfrm rot="0">
            <a:off x="734150" y="9061363"/>
            <a:ext cx="208342" cy="177647"/>
            <a:chOff x="0" y="0"/>
            <a:chExt cx="277789" cy="236863"/>
          </a:xfrm>
        </p:grpSpPr>
        <p:sp>
          <p:nvSpPr>
            <p:cNvPr name="Freeform 340" id="340"/>
            <p:cNvSpPr/>
            <p:nvPr/>
          </p:nvSpPr>
          <p:spPr>
            <a:xfrm flipH="false" flipV="false" rot="0">
              <a:off x="0" y="0"/>
              <a:ext cx="277827" cy="236901"/>
            </a:xfrm>
            <a:custGeom>
              <a:avLst/>
              <a:gdLst/>
              <a:ahLst/>
              <a:cxnLst/>
              <a:rect r="r" b="b" t="t" l="l"/>
              <a:pathLst>
                <a:path h="236901" w="277827">
                  <a:moveTo>
                    <a:pt x="0" y="118448"/>
                  </a:moveTo>
                  <a:cubicBezTo>
                    <a:pt x="0" y="53033"/>
                    <a:pt x="62196" y="0"/>
                    <a:pt x="138914" y="0"/>
                  </a:cubicBezTo>
                  <a:cubicBezTo>
                    <a:pt x="215631" y="0"/>
                    <a:pt x="277827" y="53033"/>
                    <a:pt x="277827" y="118448"/>
                  </a:cubicBezTo>
                  <a:cubicBezTo>
                    <a:pt x="277827" y="183863"/>
                    <a:pt x="215631" y="236901"/>
                    <a:pt x="138914" y="236901"/>
                  </a:cubicBezTo>
                  <a:cubicBezTo>
                    <a:pt x="62196" y="236901"/>
                    <a:pt x="0" y="183863"/>
                    <a:pt x="0" y="118448"/>
                  </a:cubicBezTo>
                  <a:close/>
                </a:path>
              </a:pathLst>
            </a:custGeom>
            <a:solidFill>
              <a:srgbClr val="E5484D"/>
            </a:solidFill>
          </p:spPr>
        </p:sp>
      </p:grpSp>
      <p:grpSp>
        <p:nvGrpSpPr>
          <p:cNvPr name="Group 341" id="341"/>
          <p:cNvGrpSpPr/>
          <p:nvPr/>
        </p:nvGrpSpPr>
        <p:grpSpPr>
          <a:xfrm rot="0">
            <a:off x="1065182" y="8890600"/>
            <a:ext cx="17222818" cy="519171"/>
            <a:chOff x="0" y="0"/>
            <a:chExt cx="22963757" cy="692228"/>
          </a:xfrm>
        </p:grpSpPr>
        <p:sp>
          <p:nvSpPr>
            <p:cNvPr name="Freeform 342" id="342"/>
            <p:cNvSpPr/>
            <p:nvPr/>
          </p:nvSpPr>
          <p:spPr>
            <a:xfrm flipH="false" flipV="false" rot="0">
              <a:off x="0" y="0"/>
              <a:ext cx="22963758" cy="692225"/>
            </a:xfrm>
            <a:custGeom>
              <a:avLst/>
              <a:gdLst/>
              <a:ahLst/>
              <a:cxnLst/>
              <a:rect r="r" b="b" t="t" l="l"/>
              <a:pathLst>
                <a:path h="692225" w="22963758">
                  <a:moveTo>
                    <a:pt x="0" y="0"/>
                  </a:moveTo>
                  <a:lnTo>
                    <a:pt x="22963758" y="0"/>
                  </a:lnTo>
                  <a:lnTo>
                    <a:pt x="22963758" y="692225"/>
                  </a:lnTo>
                  <a:lnTo>
                    <a:pt x="0" y="69222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164" r="1171" b="-578484"/>
              </a:stretch>
            </a:blipFill>
          </p:spPr>
        </p:sp>
        <p:sp>
          <p:nvSpPr>
            <p:cNvPr name="TextBox 343" id="343"/>
            <p:cNvSpPr txBox="true"/>
            <p:nvPr/>
          </p:nvSpPr>
          <p:spPr>
            <a:xfrm>
              <a:off x="0" y="-9525"/>
              <a:ext cx="22963757" cy="701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1"/>
                </a:lnSpc>
              </a:pPr>
              <a:r>
                <a:rPr lang="en-US" b="true" sz="1351" spc="5">
                  <a:solidFill>
                    <a:srgbClr val="C2403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흐름 핵심   </a:t>
              </a:r>
              <a:r>
                <a:rPr lang="en-US" b="true" sz="1351" spc="5">
                  <a:solidFill>
                    <a:srgbClr val="33404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요청 → Supervisor 루프 생성 → 산출물별 정해진 DB 저장(파일/세션 GCS · 정형/벡터 PostgreSQL · 관계 Neo4j) → 위상정렬 실행 → 실행결과까지 PostgreSQL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50497" y="630717"/>
            <a:ext cx="10972257" cy="637413"/>
            <a:chOff x="0" y="0"/>
            <a:chExt cx="14629676" cy="84988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849888"/>
            </a:xfrm>
            <a:custGeom>
              <a:avLst/>
              <a:gdLst/>
              <a:ahLst/>
              <a:cxnLst/>
              <a:rect r="r" b="b" t="t" l="l"/>
              <a:pathLst>
                <a:path h="849888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849888"/>
                  </a:lnTo>
                  <a:lnTo>
                    <a:pt x="0" y="8498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3174" r="0" b="-26764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14629676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-1">
                  <a:solidFill>
                    <a:srgbClr val="EF6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PART 03</a:t>
              </a:r>
              <a:r>
                <a:rPr lang="en-US" sz="165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 데이터 파이프라인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0" y="630717"/>
            <a:ext cx="7845123" cy="637413"/>
            <a:chOff x="0" y="0"/>
            <a:chExt cx="10460164" cy="84988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460160" cy="849888"/>
            </a:xfrm>
            <a:custGeom>
              <a:avLst/>
              <a:gdLst/>
              <a:ahLst/>
              <a:cxnLst/>
              <a:rect r="r" b="b" t="t" l="l"/>
              <a:pathLst>
                <a:path h="849888" w="10460160">
                  <a:moveTo>
                    <a:pt x="0" y="0"/>
                  </a:moveTo>
                  <a:lnTo>
                    <a:pt x="10460160" y="0"/>
                  </a:lnTo>
                  <a:lnTo>
                    <a:pt x="10460160" y="849888"/>
                  </a:lnTo>
                  <a:lnTo>
                    <a:pt x="0" y="8498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581" r="0" b="-17205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0460164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시스템 아키텍처 명세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50497" y="992886"/>
            <a:ext cx="15772857" cy="1338834"/>
            <a:chOff x="0" y="0"/>
            <a:chExt cx="21030476" cy="178511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030481" cy="1785111"/>
            </a:xfrm>
            <a:custGeom>
              <a:avLst/>
              <a:gdLst/>
              <a:ahLst/>
              <a:cxnLst/>
              <a:rect r="r" b="b" t="t" l="l"/>
              <a:pathLst>
                <a:path h="1785111" w="21030481">
                  <a:moveTo>
                    <a:pt x="0" y="0"/>
                  </a:moveTo>
                  <a:lnTo>
                    <a:pt x="21030481" y="0"/>
                  </a:lnTo>
                  <a:lnTo>
                    <a:pt x="21030481" y="1785111"/>
                  </a:lnTo>
                  <a:lnTo>
                    <a:pt x="0" y="178511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9868" r="0" b="-159239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1030476" cy="17851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140"/>
                </a:lnSpc>
              </a:pPr>
              <a:r>
                <a:rPr lang="en-US" b="true" sz="3450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데이터 파이프라인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38591" y="1874168"/>
            <a:ext cx="16184337" cy="637413"/>
            <a:chOff x="0" y="0"/>
            <a:chExt cx="21579116" cy="8498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579120" cy="849877"/>
            </a:xfrm>
            <a:custGeom>
              <a:avLst/>
              <a:gdLst/>
              <a:ahLst/>
              <a:cxnLst/>
              <a:rect r="r" b="b" t="t" l="l"/>
              <a:pathLst>
                <a:path h="849877" w="21579120">
                  <a:moveTo>
                    <a:pt x="0" y="0"/>
                  </a:moveTo>
                  <a:lnTo>
                    <a:pt x="21579120" y="0"/>
                  </a:lnTo>
                  <a:lnTo>
                    <a:pt x="21579120" y="849877"/>
                  </a:lnTo>
                  <a:lnTo>
                    <a:pt x="0" y="8498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60345" r="0" b="-429137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579116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PostgreSQL 16 · pgvector — Raw → 변환 → 저장 → 이벤트의 4계층 흐름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50497" y="2674620"/>
            <a:ext cx="7680417" cy="664654"/>
            <a:chOff x="0" y="0"/>
            <a:chExt cx="10240556" cy="88620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40560" cy="886205"/>
            </a:xfrm>
            <a:custGeom>
              <a:avLst/>
              <a:gdLst/>
              <a:ahLst/>
              <a:cxnLst/>
              <a:rect r="r" b="b" t="t" l="l"/>
              <a:pathLst>
                <a:path h="88620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886205"/>
                  </a:lnTo>
                  <a:lnTo>
                    <a:pt x="0" y="88620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6317" r="0" b="-15400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10240556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4계층 데이터 흐름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38591" y="3170311"/>
            <a:ext cx="7731776" cy="1038473"/>
            <a:chOff x="0" y="0"/>
            <a:chExt cx="10309034" cy="138463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309098" cy="1384681"/>
            </a:xfrm>
            <a:custGeom>
              <a:avLst/>
              <a:gdLst/>
              <a:ahLst/>
              <a:cxnLst/>
              <a:rect r="r" b="b" t="t" l="l"/>
              <a:pathLst>
                <a:path h="1384681" w="10309098">
                  <a:moveTo>
                    <a:pt x="0" y="149733"/>
                  </a:moveTo>
                  <a:cubicBezTo>
                    <a:pt x="0" y="67056"/>
                    <a:pt x="67056" y="0"/>
                    <a:pt x="149733" y="0"/>
                  </a:cubicBezTo>
                  <a:lnTo>
                    <a:pt x="10159365" y="0"/>
                  </a:lnTo>
                  <a:cubicBezTo>
                    <a:pt x="10242042" y="0"/>
                    <a:pt x="10309098" y="67056"/>
                    <a:pt x="10309098" y="149733"/>
                  </a:cubicBezTo>
                  <a:lnTo>
                    <a:pt x="10309098" y="1234948"/>
                  </a:lnTo>
                  <a:cubicBezTo>
                    <a:pt x="10309098" y="1317625"/>
                    <a:pt x="10242042" y="1384681"/>
                    <a:pt x="10159365" y="1384681"/>
                  </a:cubicBezTo>
                  <a:lnTo>
                    <a:pt x="149733" y="1384681"/>
                  </a:lnTo>
                  <a:cubicBezTo>
                    <a:pt x="67056" y="1384681"/>
                    <a:pt x="0" y="1317625"/>
                    <a:pt x="0" y="1234948"/>
                  </a:cubicBezTo>
                  <a:close/>
                </a:path>
              </a:pathLst>
            </a:custGeom>
            <a:solidFill>
              <a:srgbClr val="FDEBE6"/>
            </a:solidFill>
            <a:ln w="23812" cap="sq">
              <a:solidFill>
                <a:srgbClr val="F6C5B8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069743" y="3373917"/>
            <a:ext cx="2056857" cy="630184"/>
            <a:chOff x="0" y="0"/>
            <a:chExt cx="2742476" cy="84024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742565" cy="840232"/>
            </a:xfrm>
            <a:custGeom>
              <a:avLst/>
              <a:gdLst/>
              <a:ahLst/>
              <a:cxnLst/>
              <a:rect r="r" b="b" t="t" l="l"/>
              <a:pathLst>
                <a:path h="840232" w="2742565">
                  <a:moveTo>
                    <a:pt x="0" y="127889"/>
                  </a:moveTo>
                  <a:cubicBezTo>
                    <a:pt x="0" y="57277"/>
                    <a:pt x="57277" y="0"/>
                    <a:pt x="127889" y="0"/>
                  </a:cubicBezTo>
                  <a:lnTo>
                    <a:pt x="2614676" y="0"/>
                  </a:lnTo>
                  <a:cubicBezTo>
                    <a:pt x="2685288" y="0"/>
                    <a:pt x="2742565" y="57277"/>
                    <a:pt x="2742565" y="127889"/>
                  </a:cubicBezTo>
                  <a:lnTo>
                    <a:pt x="2742565" y="712343"/>
                  </a:lnTo>
                  <a:cubicBezTo>
                    <a:pt x="2742565" y="782955"/>
                    <a:pt x="2685288" y="840232"/>
                    <a:pt x="2614676" y="840232"/>
                  </a:cubicBezTo>
                  <a:lnTo>
                    <a:pt x="127889" y="840232"/>
                  </a:lnTo>
                  <a:cubicBezTo>
                    <a:pt x="57277" y="840232"/>
                    <a:pt x="0" y="782955"/>
                    <a:pt x="0" y="712343"/>
                  </a:cubicBezTo>
                  <a:close/>
                </a:path>
              </a:pathLst>
            </a:custGeom>
            <a:solidFill>
              <a:srgbClr val="F0664E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069743" y="3373917"/>
            <a:ext cx="2056857" cy="630180"/>
            <a:chOff x="0" y="0"/>
            <a:chExt cx="2742476" cy="8402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742480" cy="840235"/>
            </a:xfrm>
            <a:custGeom>
              <a:avLst/>
              <a:gdLst/>
              <a:ahLst/>
              <a:cxnLst/>
              <a:rect r="r" b="b" t="t" l="l"/>
              <a:pathLst>
                <a:path h="840235" w="2742480">
                  <a:moveTo>
                    <a:pt x="0" y="0"/>
                  </a:moveTo>
                  <a:lnTo>
                    <a:pt x="2742480" y="0"/>
                  </a:lnTo>
                  <a:lnTo>
                    <a:pt x="27424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597" r="0" b="-1359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9525"/>
              <a:ext cx="2742476" cy="830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-1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SOURCES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346923" y="3182217"/>
            <a:ext cx="4992300" cy="1014660"/>
            <a:chOff x="0" y="0"/>
            <a:chExt cx="6656400" cy="13528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656400" cy="1352880"/>
            </a:xfrm>
            <a:custGeom>
              <a:avLst/>
              <a:gdLst/>
              <a:ahLst/>
              <a:cxnLst/>
              <a:rect r="r" b="b" t="t" l="l"/>
              <a:pathLst>
                <a:path h="1352880" w="6656400">
                  <a:moveTo>
                    <a:pt x="0" y="0"/>
                  </a:moveTo>
                  <a:lnTo>
                    <a:pt x="6656400" y="0"/>
                  </a:lnTo>
                  <a:lnTo>
                    <a:pt x="6656400" y="1352880"/>
                  </a:lnTo>
                  <a:lnTo>
                    <a:pt x="0" y="13528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5869" r="0" b="-4586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6656400" cy="1362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4"/>
                </a:lnSpc>
              </a:pPr>
              <a:r>
                <a:rPr lang="en-US" b="true" sz="1350" spc="-1">
                  <a:solidFill>
                    <a:srgbClr val="F0664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① 입력</a:t>
              </a:r>
            </a:p>
            <a:p>
              <a:pPr algn="l">
                <a:lnSpc>
                  <a:spcPts val="1684"/>
                </a:lnSpc>
              </a:pPr>
              <a:r>
                <a:rPr lang="en-US" sz="1350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OAuth 토큰 · 자연어 발화 · 파일 업로드(SOP) · 스킬 요청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-10800000">
            <a:off x="4567857" y="4231977"/>
            <a:ext cx="273777" cy="177660"/>
            <a:chOff x="0" y="0"/>
            <a:chExt cx="365036" cy="23688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64998" cy="236855"/>
            </a:xfrm>
            <a:custGeom>
              <a:avLst/>
              <a:gdLst/>
              <a:ahLst/>
              <a:cxnLst/>
              <a:rect r="r" b="b" t="t" l="l"/>
              <a:pathLst>
                <a:path h="236855" w="364998">
                  <a:moveTo>
                    <a:pt x="0" y="236855"/>
                  </a:moveTo>
                  <a:lnTo>
                    <a:pt x="182499" y="0"/>
                  </a:lnTo>
                  <a:lnTo>
                    <a:pt x="364998" y="236855"/>
                  </a:lnTo>
                  <a:close/>
                </a:path>
              </a:pathLst>
            </a:custGeom>
            <a:solidFill>
              <a:srgbClr val="A7AAB6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38591" y="4411770"/>
            <a:ext cx="7731776" cy="1038473"/>
            <a:chOff x="0" y="0"/>
            <a:chExt cx="10309034" cy="138463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309098" cy="1384681"/>
            </a:xfrm>
            <a:custGeom>
              <a:avLst/>
              <a:gdLst/>
              <a:ahLst/>
              <a:cxnLst/>
              <a:rect r="r" b="b" t="t" l="l"/>
              <a:pathLst>
                <a:path h="1384681" w="10309098">
                  <a:moveTo>
                    <a:pt x="0" y="149733"/>
                  </a:moveTo>
                  <a:cubicBezTo>
                    <a:pt x="0" y="67056"/>
                    <a:pt x="67056" y="0"/>
                    <a:pt x="149733" y="0"/>
                  </a:cubicBezTo>
                  <a:lnTo>
                    <a:pt x="10159365" y="0"/>
                  </a:lnTo>
                  <a:cubicBezTo>
                    <a:pt x="10242042" y="0"/>
                    <a:pt x="10309098" y="67056"/>
                    <a:pt x="10309098" y="149733"/>
                  </a:cubicBezTo>
                  <a:lnTo>
                    <a:pt x="10309098" y="1234948"/>
                  </a:lnTo>
                  <a:cubicBezTo>
                    <a:pt x="10309098" y="1317625"/>
                    <a:pt x="10242042" y="1384681"/>
                    <a:pt x="10159365" y="1384681"/>
                  </a:cubicBezTo>
                  <a:lnTo>
                    <a:pt x="149733" y="1384681"/>
                  </a:lnTo>
                  <a:cubicBezTo>
                    <a:pt x="67056" y="1384681"/>
                    <a:pt x="0" y="1317625"/>
                    <a:pt x="0" y="1234948"/>
                  </a:cubicBezTo>
                  <a:close/>
                </a:path>
              </a:pathLst>
            </a:custGeom>
            <a:solidFill>
              <a:srgbClr val="F1ECFD"/>
            </a:solidFill>
            <a:ln w="23812" cap="sq">
              <a:solidFill>
                <a:srgbClr val="D9CCF7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069743" y="4615377"/>
            <a:ext cx="2056857" cy="630184"/>
            <a:chOff x="0" y="0"/>
            <a:chExt cx="2742476" cy="84024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742565" cy="840232"/>
            </a:xfrm>
            <a:custGeom>
              <a:avLst/>
              <a:gdLst/>
              <a:ahLst/>
              <a:cxnLst/>
              <a:rect r="r" b="b" t="t" l="l"/>
              <a:pathLst>
                <a:path h="840232" w="2742565">
                  <a:moveTo>
                    <a:pt x="0" y="127889"/>
                  </a:moveTo>
                  <a:cubicBezTo>
                    <a:pt x="0" y="57277"/>
                    <a:pt x="57277" y="0"/>
                    <a:pt x="127889" y="0"/>
                  </a:cubicBezTo>
                  <a:lnTo>
                    <a:pt x="2614676" y="0"/>
                  </a:lnTo>
                  <a:cubicBezTo>
                    <a:pt x="2685288" y="0"/>
                    <a:pt x="2742565" y="57277"/>
                    <a:pt x="2742565" y="127889"/>
                  </a:cubicBezTo>
                  <a:lnTo>
                    <a:pt x="2742565" y="712343"/>
                  </a:lnTo>
                  <a:cubicBezTo>
                    <a:pt x="2742565" y="782955"/>
                    <a:pt x="2685288" y="840232"/>
                    <a:pt x="2614676" y="840232"/>
                  </a:cubicBezTo>
                  <a:lnTo>
                    <a:pt x="127889" y="840232"/>
                  </a:lnTo>
                  <a:cubicBezTo>
                    <a:pt x="57277" y="840232"/>
                    <a:pt x="0" y="782955"/>
                    <a:pt x="0" y="712343"/>
                  </a:cubicBezTo>
                  <a:close/>
                </a:path>
              </a:pathLst>
            </a:custGeom>
            <a:solidFill>
              <a:srgbClr val="8C5BE0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069743" y="4615377"/>
            <a:ext cx="2056857" cy="630180"/>
            <a:chOff x="0" y="0"/>
            <a:chExt cx="2742476" cy="8402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742480" cy="840235"/>
            </a:xfrm>
            <a:custGeom>
              <a:avLst/>
              <a:gdLst/>
              <a:ahLst/>
              <a:cxnLst/>
              <a:rect r="r" b="b" t="t" l="l"/>
              <a:pathLst>
                <a:path h="840235" w="2742480">
                  <a:moveTo>
                    <a:pt x="0" y="0"/>
                  </a:moveTo>
                  <a:lnTo>
                    <a:pt x="2742480" y="0"/>
                  </a:lnTo>
                  <a:lnTo>
                    <a:pt x="27424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597" r="0" b="-1359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9525"/>
              <a:ext cx="2742476" cy="830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-1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TRANSFORM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3346923" y="4423677"/>
            <a:ext cx="4992300" cy="1014660"/>
            <a:chOff x="0" y="0"/>
            <a:chExt cx="6656400" cy="135288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56400" cy="1352880"/>
            </a:xfrm>
            <a:custGeom>
              <a:avLst/>
              <a:gdLst/>
              <a:ahLst/>
              <a:cxnLst/>
              <a:rect r="r" b="b" t="t" l="l"/>
              <a:pathLst>
                <a:path h="1352880" w="6656400">
                  <a:moveTo>
                    <a:pt x="0" y="0"/>
                  </a:moveTo>
                  <a:lnTo>
                    <a:pt x="6656400" y="0"/>
                  </a:lnTo>
                  <a:lnTo>
                    <a:pt x="6656400" y="1352880"/>
                  </a:lnTo>
                  <a:lnTo>
                    <a:pt x="0" y="13528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5869" r="0" b="-45869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6656400" cy="1362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4"/>
                </a:lnSpc>
              </a:pPr>
              <a:r>
                <a:rPr lang="en-US" b="true" sz="1350" spc="-1">
                  <a:solidFill>
                    <a:srgbClr val="8C5BE0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② 변환</a:t>
              </a:r>
            </a:p>
            <a:p>
              <a:pPr algn="l">
                <a:lnSpc>
                  <a:spcPts val="1684"/>
                </a:lnSpc>
              </a:pPr>
              <a:r>
                <a:rPr lang="en-US" sz="1350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토큰 암호화(AES-256-GCM) · 의도분석+노드검색 · 파서+PII 마스킹 · BGE-M3 임베딩(768d)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-10800000">
            <a:off x="4567857" y="5473436"/>
            <a:ext cx="273777" cy="177660"/>
            <a:chOff x="0" y="0"/>
            <a:chExt cx="365036" cy="2368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64998" cy="236855"/>
            </a:xfrm>
            <a:custGeom>
              <a:avLst/>
              <a:gdLst/>
              <a:ahLst/>
              <a:cxnLst/>
              <a:rect r="r" b="b" t="t" l="l"/>
              <a:pathLst>
                <a:path h="236855" w="364998">
                  <a:moveTo>
                    <a:pt x="0" y="236855"/>
                  </a:moveTo>
                  <a:lnTo>
                    <a:pt x="182499" y="0"/>
                  </a:lnTo>
                  <a:lnTo>
                    <a:pt x="364998" y="236855"/>
                  </a:lnTo>
                  <a:close/>
                </a:path>
              </a:pathLst>
            </a:custGeom>
            <a:solidFill>
              <a:srgbClr val="A7AAB6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838591" y="5652697"/>
            <a:ext cx="7731776" cy="1038473"/>
            <a:chOff x="0" y="0"/>
            <a:chExt cx="10309034" cy="138463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309098" cy="1384681"/>
            </a:xfrm>
            <a:custGeom>
              <a:avLst/>
              <a:gdLst/>
              <a:ahLst/>
              <a:cxnLst/>
              <a:rect r="r" b="b" t="t" l="l"/>
              <a:pathLst>
                <a:path h="1384681" w="10309098">
                  <a:moveTo>
                    <a:pt x="0" y="149733"/>
                  </a:moveTo>
                  <a:cubicBezTo>
                    <a:pt x="0" y="67056"/>
                    <a:pt x="67056" y="0"/>
                    <a:pt x="149733" y="0"/>
                  </a:cubicBezTo>
                  <a:lnTo>
                    <a:pt x="10159365" y="0"/>
                  </a:lnTo>
                  <a:cubicBezTo>
                    <a:pt x="10242042" y="0"/>
                    <a:pt x="10309098" y="67056"/>
                    <a:pt x="10309098" y="149733"/>
                  </a:cubicBezTo>
                  <a:lnTo>
                    <a:pt x="10309098" y="1234948"/>
                  </a:lnTo>
                  <a:cubicBezTo>
                    <a:pt x="10309098" y="1317625"/>
                    <a:pt x="10242042" y="1384681"/>
                    <a:pt x="10159365" y="1384681"/>
                  </a:cubicBezTo>
                  <a:lnTo>
                    <a:pt x="149733" y="1384681"/>
                  </a:lnTo>
                  <a:cubicBezTo>
                    <a:pt x="67056" y="1384681"/>
                    <a:pt x="0" y="1317625"/>
                    <a:pt x="0" y="1234948"/>
                  </a:cubicBezTo>
                  <a:close/>
                </a:path>
              </a:pathLst>
            </a:custGeom>
            <a:solidFill>
              <a:srgbClr val="EAF0FE"/>
            </a:solidFill>
            <a:ln w="23812" cap="sq">
              <a:solidFill>
                <a:srgbClr val="C9D7F7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1069743" y="5856837"/>
            <a:ext cx="2056857" cy="630184"/>
            <a:chOff x="0" y="0"/>
            <a:chExt cx="2742476" cy="840245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742565" cy="840232"/>
            </a:xfrm>
            <a:custGeom>
              <a:avLst/>
              <a:gdLst/>
              <a:ahLst/>
              <a:cxnLst/>
              <a:rect r="r" b="b" t="t" l="l"/>
              <a:pathLst>
                <a:path h="840232" w="2742565">
                  <a:moveTo>
                    <a:pt x="0" y="127889"/>
                  </a:moveTo>
                  <a:cubicBezTo>
                    <a:pt x="0" y="57277"/>
                    <a:pt x="57277" y="0"/>
                    <a:pt x="127889" y="0"/>
                  </a:cubicBezTo>
                  <a:lnTo>
                    <a:pt x="2614676" y="0"/>
                  </a:lnTo>
                  <a:cubicBezTo>
                    <a:pt x="2685288" y="0"/>
                    <a:pt x="2742565" y="57277"/>
                    <a:pt x="2742565" y="127889"/>
                  </a:cubicBezTo>
                  <a:lnTo>
                    <a:pt x="2742565" y="712343"/>
                  </a:lnTo>
                  <a:cubicBezTo>
                    <a:pt x="2742565" y="782955"/>
                    <a:pt x="2685288" y="840232"/>
                    <a:pt x="2614676" y="840232"/>
                  </a:cubicBezTo>
                  <a:lnTo>
                    <a:pt x="127889" y="840232"/>
                  </a:lnTo>
                  <a:cubicBezTo>
                    <a:pt x="57277" y="840232"/>
                    <a:pt x="0" y="782955"/>
                    <a:pt x="0" y="712343"/>
                  </a:cubicBezTo>
                  <a:close/>
                </a:path>
              </a:pathLst>
            </a:custGeom>
            <a:solidFill>
              <a:srgbClr val="5277E8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069743" y="5856837"/>
            <a:ext cx="2056857" cy="630180"/>
            <a:chOff x="0" y="0"/>
            <a:chExt cx="2742476" cy="8402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742480" cy="840235"/>
            </a:xfrm>
            <a:custGeom>
              <a:avLst/>
              <a:gdLst/>
              <a:ahLst/>
              <a:cxnLst/>
              <a:rect r="r" b="b" t="t" l="l"/>
              <a:pathLst>
                <a:path h="840235" w="2742480">
                  <a:moveTo>
                    <a:pt x="0" y="0"/>
                  </a:moveTo>
                  <a:lnTo>
                    <a:pt x="2742480" y="0"/>
                  </a:lnTo>
                  <a:lnTo>
                    <a:pt x="27424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597" r="0" b="-13598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9525"/>
              <a:ext cx="2742476" cy="830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-1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STORAGE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3346923" y="5664603"/>
            <a:ext cx="4992300" cy="1148867"/>
            <a:chOff x="0" y="0"/>
            <a:chExt cx="6656400" cy="1531823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656400" cy="1531823"/>
            </a:xfrm>
            <a:custGeom>
              <a:avLst/>
              <a:gdLst/>
              <a:ahLst/>
              <a:cxnLst/>
              <a:rect r="r" b="b" t="t" l="l"/>
              <a:pathLst>
                <a:path h="1531823" w="6656400">
                  <a:moveTo>
                    <a:pt x="0" y="0"/>
                  </a:moveTo>
                  <a:lnTo>
                    <a:pt x="6656400" y="0"/>
                  </a:lnTo>
                  <a:lnTo>
                    <a:pt x="6656400" y="1531823"/>
                  </a:lnTo>
                  <a:lnTo>
                    <a:pt x="0" y="153182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511" r="0" b="-28829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6656400" cy="1541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4"/>
                </a:lnSpc>
              </a:pPr>
              <a:r>
                <a:rPr lang="en-US" b="true" sz="1350" spc="-1">
                  <a:solidFill>
                    <a:srgbClr val="5277E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③ 저장 · PG16+pgvector / GCS</a:t>
              </a:r>
            </a:p>
            <a:p>
              <a:pPr algn="l">
                <a:lnSpc>
                  <a:spcPts val="1684"/>
                </a:lnSpc>
              </a:pPr>
              <a:r>
                <a:rPr lang="en-US" sz="1350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credentials(BYTEA) · node_logs(월 파티션) · document_chunks(vec768·HNSW) · skills 3-scope · executions(실행 결과) · GCS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-10800000">
            <a:off x="4567857" y="6714896"/>
            <a:ext cx="273777" cy="177660"/>
            <a:chOff x="0" y="0"/>
            <a:chExt cx="365036" cy="23688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364998" cy="236855"/>
            </a:xfrm>
            <a:custGeom>
              <a:avLst/>
              <a:gdLst/>
              <a:ahLst/>
              <a:cxnLst/>
              <a:rect r="r" b="b" t="t" l="l"/>
              <a:pathLst>
                <a:path h="236855" w="364998">
                  <a:moveTo>
                    <a:pt x="0" y="236855"/>
                  </a:moveTo>
                  <a:lnTo>
                    <a:pt x="182499" y="0"/>
                  </a:lnTo>
                  <a:lnTo>
                    <a:pt x="364998" y="236855"/>
                  </a:lnTo>
                  <a:close/>
                </a:path>
              </a:pathLst>
            </a:custGeom>
            <a:solidFill>
              <a:srgbClr val="A7AAB6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838591" y="6894157"/>
            <a:ext cx="7731776" cy="1038473"/>
            <a:chOff x="0" y="0"/>
            <a:chExt cx="10309034" cy="138463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09098" cy="1384681"/>
            </a:xfrm>
            <a:custGeom>
              <a:avLst/>
              <a:gdLst/>
              <a:ahLst/>
              <a:cxnLst/>
              <a:rect r="r" b="b" t="t" l="l"/>
              <a:pathLst>
                <a:path h="1384681" w="10309098">
                  <a:moveTo>
                    <a:pt x="0" y="149733"/>
                  </a:moveTo>
                  <a:cubicBezTo>
                    <a:pt x="0" y="67056"/>
                    <a:pt x="67056" y="0"/>
                    <a:pt x="149733" y="0"/>
                  </a:cubicBezTo>
                  <a:lnTo>
                    <a:pt x="10159365" y="0"/>
                  </a:lnTo>
                  <a:cubicBezTo>
                    <a:pt x="10242042" y="0"/>
                    <a:pt x="10309098" y="67056"/>
                    <a:pt x="10309098" y="149733"/>
                  </a:cubicBezTo>
                  <a:lnTo>
                    <a:pt x="10309098" y="1234948"/>
                  </a:lnTo>
                  <a:cubicBezTo>
                    <a:pt x="10309098" y="1317625"/>
                    <a:pt x="10242042" y="1384681"/>
                    <a:pt x="10159365" y="1384681"/>
                  </a:cubicBezTo>
                  <a:lnTo>
                    <a:pt x="149733" y="1384681"/>
                  </a:lnTo>
                  <a:cubicBezTo>
                    <a:pt x="67056" y="1384681"/>
                    <a:pt x="0" y="1317625"/>
                    <a:pt x="0" y="1234948"/>
                  </a:cubicBezTo>
                  <a:close/>
                </a:path>
              </a:pathLst>
            </a:custGeom>
            <a:solidFill>
              <a:srgbClr val="E7F4EB"/>
            </a:solidFill>
            <a:ln w="23812" cap="sq">
              <a:solidFill>
                <a:srgbClr val="BFE3C9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1069743" y="7098297"/>
            <a:ext cx="2056857" cy="630184"/>
            <a:chOff x="0" y="0"/>
            <a:chExt cx="2742476" cy="840245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742565" cy="840232"/>
            </a:xfrm>
            <a:custGeom>
              <a:avLst/>
              <a:gdLst/>
              <a:ahLst/>
              <a:cxnLst/>
              <a:rect r="r" b="b" t="t" l="l"/>
              <a:pathLst>
                <a:path h="840232" w="2742565">
                  <a:moveTo>
                    <a:pt x="0" y="127889"/>
                  </a:moveTo>
                  <a:cubicBezTo>
                    <a:pt x="0" y="57277"/>
                    <a:pt x="57277" y="0"/>
                    <a:pt x="127889" y="0"/>
                  </a:cubicBezTo>
                  <a:lnTo>
                    <a:pt x="2614676" y="0"/>
                  </a:lnTo>
                  <a:cubicBezTo>
                    <a:pt x="2685288" y="0"/>
                    <a:pt x="2742565" y="57277"/>
                    <a:pt x="2742565" y="127889"/>
                  </a:cubicBezTo>
                  <a:lnTo>
                    <a:pt x="2742565" y="712343"/>
                  </a:lnTo>
                  <a:cubicBezTo>
                    <a:pt x="2742565" y="782955"/>
                    <a:pt x="2685288" y="840232"/>
                    <a:pt x="2614676" y="840232"/>
                  </a:cubicBezTo>
                  <a:lnTo>
                    <a:pt x="127889" y="840232"/>
                  </a:lnTo>
                  <a:cubicBezTo>
                    <a:pt x="57277" y="840232"/>
                    <a:pt x="0" y="782955"/>
                    <a:pt x="0" y="712343"/>
                  </a:cubicBezTo>
                  <a:close/>
                </a:path>
              </a:pathLst>
            </a:custGeom>
            <a:solidFill>
              <a:srgbClr val="2E9E4F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069743" y="7098297"/>
            <a:ext cx="2056857" cy="630180"/>
            <a:chOff x="0" y="0"/>
            <a:chExt cx="2742476" cy="8402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742480" cy="840235"/>
            </a:xfrm>
            <a:custGeom>
              <a:avLst/>
              <a:gdLst/>
              <a:ahLst/>
              <a:cxnLst/>
              <a:rect r="r" b="b" t="t" l="l"/>
              <a:pathLst>
                <a:path h="840235" w="2742480">
                  <a:moveTo>
                    <a:pt x="0" y="0"/>
                  </a:moveTo>
                  <a:lnTo>
                    <a:pt x="2742480" y="0"/>
                  </a:lnTo>
                  <a:lnTo>
                    <a:pt x="27424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597" r="0" b="-13598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2742476" cy="830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-1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EVENT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3346923" y="6906063"/>
            <a:ext cx="4992300" cy="1014660"/>
            <a:chOff x="0" y="0"/>
            <a:chExt cx="6656400" cy="135288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656400" cy="1352880"/>
            </a:xfrm>
            <a:custGeom>
              <a:avLst/>
              <a:gdLst/>
              <a:ahLst/>
              <a:cxnLst/>
              <a:rect r="r" b="b" t="t" l="l"/>
              <a:pathLst>
                <a:path h="1352880" w="6656400">
                  <a:moveTo>
                    <a:pt x="0" y="0"/>
                  </a:moveTo>
                  <a:lnTo>
                    <a:pt x="6656400" y="0"/>
                  </a:lnTo>
                  <a:lnTo>
                    <a:pt x="6656400" y="1352880"/>
                  </a:lnTo>
                  <a:lnTo>
                    <a:pt x="0" y="13528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5869" r="0" b="-45869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9525"/>
              <a:ext cx="6656400" cy="1362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4"/>
                </a:lnSpc>
              </a:pPr>
              <a:r>
                <a:rPr lang="en-US" b="true" sz="1350" spc="-1">
                  <a:solidFill>
                    <a:srgbClr val="2E9E4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④ 이벤트</a:t>
              </a:r>
            </a:p>
            <a:p>
              <a:pPr algn="l">
                <a:lnSpc>
                  <a:spcPts val="1684"/>
                </a:lnSpc>
              </a:pPr>
              <a:r>
                <a:rPr lang="en-US" sz="1350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상태변경 → Redis Pub/Sub → SSE → 프론트(실시간) · GCS 세션 이력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8983980" y="2585380"/>
            <a:ext cx="8462343" cy="664654"/>
            <a:chOff x="0" y="0"/>
            <a:chExt cx="11283124" cy="886206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1283120" cy="886205"/>
            </a:xfrm>
            <a:custGeom>
              <a:avLst/>
              <a:gdLst/>
              <a:ahLst/>
              <a:cxnLst/>
              <a:rect r="r" b="b" t="t" l="l"/>
              <a:pathLst>
                <a:path h="886205" w="11283120">
                  <a:moveTo>
                    <a:pt x="0" y="0"/>
                  </a:moveTo>
                  <a:lnTo>
                    <a:pt x="11283120" y="0"/>
                  </a:lnTo>
                  <a:lnTo>
                    <a:pt x="11283120" y="886205"/>
                  </a:lnTo>
                  <a:lnTo>
                    <a:pt x="0" y="88620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9240" r="0" b="-176924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11283124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핵심 파이프라인 (코드 검증)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8974455" y="3117618"/>
            <a:ext cx="8481393" cy="779907"/>
            <a:chOff x="0" y="0"/>
            <a:chExt cx="11308524" cy="103987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308588" cy="1039876"/>
            </a:xfrm>
            <a:custGeom>
              <a:avLst/>
              <a:gdLst/>
              <a:ahLst/>
              <a:cxnLst/>
              <a:rect r="r" b="b" t="t" l="l"/>
              <a:pathLst>
                <a:path h="1039876" w="11308588">
                  <a:moveTo>
                    <a:pt x="0" y="131191"/>
                  </a:moveTo>
                  <a:cubicBezTo>
                    <a:pt x="0" y="58674"/>
                    <a:pt x="58674" y="0"/>
                    <a:pt x="131191" y="0"/>
                  </a:cubicBezTo>
                  <a:lnTo>
                    <a:pt x="11177397" y="0"/>
                  </a:lnTo>
                  <a:cubicBezTo>
                    <a:pt x="11249787" y="0"/>
                    <a:pt x="11308588" y="58674"/>
                    <a:pt x="11308588" y="131191"/>
                  </a:cubicBezTo>
                  <a:lnTo>
                    <a:pt x="11308588" y="908685"/>
                  </a:lnTo>
                  <a:cubicBezTo>
                    <a:pt x="11308588" y="981075"/>
                    <a:pt x="11249914" y="1039876"/>
                    <a:pt x="11177397" y="1039876"/>
                  </a:cubicBezTo>
                  <a:lnTo>
                    <a:pt x="131191" y="1039876"/>
                  </a:lnTo>
                  <a:cubicBezTo>
                    <a:pt x="58674" y="1039876"/>
                    <a:pt x="0" y="981202"/>
                    <a:pt x="0" y="90868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CF2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9213754" y="3250035"/>
            <a:ext cx="520560" cy="520560"/>
            <a:chOff x="0" y="0"/>
            <a:chExt cx="694080" cy="69408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055" cy="694055"/>
            </a:xfrm>
            <a:custGeom>
              <a:avLst/>
              <a:gdLst/>
              <a:ahLst/>
              <a:cxnLst/>
              <a:rect r="r" b="b" t="t" l="l"/>
              <a:pathLst>
                <a:path h="694055" w="694055">
                  <a:moveTo>
                    <a:pt x="0" y="347091"/>
                  </a:moveTo>
                  <a:cubicBezTo>
                    <a:pt x="0" y="155321"/>
                    <a:pt x="155321" y="0"/>
                    <a:pt x="347091" y="0"/>
                  </a:cubicBezTo>
                  <a:cubicBezTo>
                    <a:pt x="538861" y="0"/>
                    <a:pt x="694055" y="155321"/>
                    <a:pt x="694055" y="347091"/>
                  </a:cubicBezTo>
                  <a:cubicBezTo>
                    <a:pt x="694055" y="538861"/>
                    <a:pt x="538734" y="694055"/>
                    <a:pt x="347091" y="694055"/>
                  </a:cubicBezTo>
                  <a:cubicBezTo>
                    <a:pt x="155448" y="694055"/>
                    <a:pt x="0" y="538734"/>
                    <a:pt x="0" y="347091"/>
                  </a:cubicBezTo>
                  <a:close/>
                </a:path>
              </a:pathLst>
            </a:custGeom>
            <a:solidFill>
              <a:srgbClr val="F0664E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9213754" y="3154899"/>
            <a:ext cx="527585" cy="691896"/>
            <a:chOff x="0" y="0"/>
            <a:chExt cx="703447" cy="922528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703446" cy="922528"/>
            </a:xfrm>
            <a:custGeom>
              <a:avLst/>
              <a:gdLst/>
              <a:ahLst/>
              <a:cxnLst/>
              <a:rect r="r" b="b" t="t" l="l"/>
              <a:pathLst>
                <a:path h="922528" w="703446">
                  <a:moveTo>
                    <a:pt x="0" y="0"/>
                  </a:moveTo>
                  <a:lnTo>
                    <a:pt x="703446" y="0"/>
                  </a:lnTo>
                  <a:lnTo>
                    <a:pt x="703446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7261" t="0" r="-75929" b="24763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0"/>
              <a:ext cx="703447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b="true" sz="1800" spc="-1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①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9944100" y="3127143"/>
            <a:ext cx="7309980" cy="760895"/>
            <a:chOff x="0" y="0"/>
            <a:chExt cx="9746640" cy="1014527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9746640" cy="1014531"/>
            </a:xfrm>
            <a:custGeom>
              <a:avLst/>
              <a:gdLst/>
              <a:ahLst/>
              <a:cxnLst/>
              <a:rect r="r" b="b" t="t" l="l"/>
              <a:pathLst>
                <a:path h="1014531" w="9746640">
                  <a:moveTo>
                    <a:pt x="0" y="0"/>
                  </a:moveTo>
                  <a:lnTo>
                    <a:pt x="9746640" y="0"/>
                  </a:lnTo>
                  <a:lnTo>
                    <a:pt x="9746640" y="1014531"/>
                  </a:lnTo>
                  <a:lnTo>
                    <a:pt x="0" y="10145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196" r="0" b="-13719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0"/>
              <a:ext cx="9746640" cy="10145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7"/>
                </a:lnSpc>
              </a:pPr>
              <a:r>
                <a:rPr lang="en-US" b="true" sz="157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인증</a:t>
              </a:r>
            </a:p>
            <a:p>
              <a:pPr algn="l">
                <a:lnSpc>
                  <a:spcPts val="1560"/>
                </a:lnSpc>
              </a:pPr>
              <a:r>
                <a:rPr lang="en-US" sz="12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OAuth 토큰 → AES-256-GCM 암호화 → credentials(BYTEA)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8974455" y="3961095"/>
            <a:ext cx="8481393" cy="779907"/>
            <a:chOff x="0" y="0"/>
            <a:chExt cx="11308524" cy="1039876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1308588" cy="1039876"/>
            </a:xfrm>
            <a:custGeom>
              <a:avLst/>
              <a:gdLst/>
              <a:ahLst/>
              <a:cxnLst/>
              <a:rect r="r" b="b" t="t" l="l"/>
              <a:pathLst>
                <a:path h="1039876" w="11308588">
                  <a:moveTo>
                    <a:pt x="0" y="131191"/>
                  </a:moveTo>
                  <a:cubicBezTo>
                    <a:pt x="0" y="58674"/>
                    <a:pt x="58674" y="0"/>
                    <a:pt x="131191" y="0"/>
                  </a:cubicBezTo>
                  <a:lnTo>
                    <a:pt x="11177397" y="0"/>
                  </a:lnTo>
                  <a:cubicBezTo>
                    <a:pt x="11249787" y="0"/>
                    <a:pt x="11308588" y="58674"/>
                    <a:pt x="11308588" y="131191"/>
                  </a:cubicBezTo>
                  <a:lnTo>
                    <a:pt x="11308588" y="908685"/>
                  </a:lnTo>
                  <a:cubicBezTo>
                    <a:pt x="11308588" y="981075"/>
                    <a:pt x="11249914" y="1039876"/>
                    <a:pt x="11177397" y="1039876"/>
                  </a:cubicBezTo>
                  <a:lnTo>
                    <a:pt x="131191" y="1039876"/>
                  </a:lnTo>
                  <a:cubicBezTo>
                    <a:pt x="58674" y="1039876"/>
                    <a:pt x="0" y="981202"/>
                    <a:pt x="0" y="90868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CF2"/>
              </a:solidFill>
              <a:prstDash val="solid"/>
              <a:miter/>
            </a:ln>
          </p:spPr>
        </p:sp>
      </p:grpSp>
      <p:grpSp>
        <p:nvGrpSpPr>
          <p:cNvPr name="Group 78" id="78"/>
          <p:cNvGrpSpPr/>
          <p:nvPr/>
        </p:nvGrpSpPr>
        <p:grpSpPr>
          <a:xfrm rot="0">
            <a:off x="9203217" y="4091045"/>
            <a:ext cx="520560" cy="520560"/>
            <a:chOff x="0" y="0"/>
            <a:chExt cx="694080" cy="69408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94055" cy="694055"/>
            </a:xfrm>
            <a:custGeom>
              <a:avLst/>
              <a:gdLst/>
              <a:ahLst/>
              <a:cxnLst/>
              <a:rect r="r" b="b" t="t" l="l"/>
              <a:pathLst>
                <a:path h="694055" w="694055">
                  <a:moveTo>
                    <a:pt x="0" y="347091"/>
                  </a:moveTo>
                  <a:cubicBezTo>
                    <a:pt x="0" y="155321"/>
                    <a:pt x="155321" y="0"/>
                    <a:pt x="347091" y="0"/>
                  </a:cubicBezTo>
                  <a:cubicBezTo>
                    <a:pt x="538861" y="0"/>
                    <a:pt x="694055" y="155321"/>
                    <a:pt x="694055" y="347091"/>
                  </a:cubicBezTo>
                  <a:cubicBezTo>
                    <a:pt x="694055" y="538861"/>
                    <a:pt x="538734" y="694055"/>
                    <a:pt x="347091" y="694055"/>
                  </a:cubicBezTo>
                  <a:cubicBezTo>
                    <a:pt x="155448" y="694055"/>
                    <a:pt x="0" y="538734"/>
                    <a:pt x="0" y="347091"/>
                  </a:cubicBezTo>
                  <a:close/>
                </a:path>
              </a:pathLst>
            </a:custGeom>
            <a:solidFill>
              <a:srgbClr val="8C5BE0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9203217" y="3979326"/>
            <a:ext cx="520560" cy="691896"/>
            <a:chOff x="0" y="0"/>
            <a:chExt cx="694080" cy="922528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694080" cy="922528"/>
            </a:xfrm>
            <a:custGeom>
              <a:avLst/>
              <a:gdLst/>
              <a:ahLst/>
              <a:cxnLst/>
              <a:rect r="r" b="b" t="t" l="l"/>
              <a:pathLst>
                <a:path h="922528" w="694080">
                  <a:moveTo>
                    <a:pt x="0" y="0"/>
                  </a:moveTo>
                  <a:lnTo>
                    <a:pt x="694080" y="0"/>
                  </a:lnTo>
                  <a:lnTo>
                    <a:pt x="694080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24763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0"/>
              <a:ext cx="694080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b="true" sz="1800" spc="-1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②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9944100" y="3970620"/>
            <a:ext cx="7309980" cy="760895"/>
            <a:chOff x="0" y="0"/>
            <a:chExt cx="9746640" cy="1014527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9746640" cy="1014531"/>
            </a:xfrm>
            <a:custGeom>
              <a:avLst/>
              <a:gdLst/>
              <a:ahLst/>
              <a:cxnLst/>
              <a:rect r="r" b="b" t="t" l="l"/>
              <a:pathLst>
                <a:path h="1014531" w="9746640">
                  <a:moveTo>
                    <a:pt x="0" y="0"/>
                  </a:moveTo>
                  <a:lnTo>
                    <a:pt x="9746640" y="0"/>
                  </a:lnTo>
                  <a:lnTo>
                    <a:pt x="9746640" y="1014531"/>
                  </a:lnTo>
                  <a:lnTo>
                    <a:pt x="0" y="10145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196" r="0" b="-13719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0"/>
              <a:ext cx="9746640" cy="10145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7"/>
                </a:lnSpc>
              </a:pPr>
              <a:r>
                <a:rPr lang="en-US" b="true" sz="157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워크플로우 생성</a:t>
              </a:r>
            </a:p>
            <a:p>
              <a:pPr algn="l">
                <a:lnSpc>
                  <a:spcPts val="1560"/>
                </a:lnSpc>
              </a:pPr>
              <a:r>
                <a:rPr lang="en-US" sz="12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자연어 → 의도분석 → 노드검색(벡터) → QA → workflows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8974455" y="4804572"/>
            <a:ext cx="8481393" cy="779907"/>
            <a:chOff x="0" y="0"/>
            <a:chExt cx="11308524" cy="1039876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1308588" cy="1039876"/>
            </a:xfrm>
            <a:custGeom>
              <a:avLst/>
              <a:gdLst/>
              <a:ahLst/>
              <a:cxnLst/>
              <a:rect r="r" b="b" t="t" l="l"/>
              <a:pathLst>
                <a:path h="1039876" w="11308588">
                  <a:moveTo>
                    <a:pt x="0" y="131191"/>
                  </a:moveTo>
                  <a:cubicBezTo>
                    <a:pt x="0" y="58674"/>
                    <a:pt x="58674" y="0"/>
                    <a:pt x="131191" y="0"/>
                  </a:cubicBezTo>
                  <a:lnTo>
                    <a:pt x="11177397" y="0"/>
                  </a:lnTo>
                  <a:cubicBezTo>
                    <a:pt x="11249787" y="0"/>
                    <a:pt x="11308588" y="58674"/>
                    <a:pt x="11308588" y="131191"/>
                  </a:cubicBezTo>
                  <a:lnTo>
                    <a:pt x="11308588" y="908685"/>
                  </a:lnTo>
                  <a:cubicBezTo>
                    <a:pt x="11308588" y="981075"/>
                    <a:pt x="11249914" y="1039876"/>
                    <a:pt x="11177397" y="1039876"/>
                  </a:cubicBezTo>
                  <a:lnTo>
                    <a:pt x="131191" y="1039876"/>
                  </a:lnTo>
                  <a:cubicBezTo>
                    <a:pt x="58674" y="1039876"/>
                    <a:pt x="0" y="981202"/>
                    <a:pt x="0" y="90868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CF2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9203217" y="4934521"/>
            <a:ext cx="520560" cy="520560"/>
            <a:chOff x="0" y="0"/>
            <a:chExt cx="694080" cy="69408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694055" cy="694055"/>
            </a:xfrm>
            <a:custGeom>
              <a:avLst/>
              <a:gdLst/>
              <a:ahLst/>
              <a:cxnLst/>
              <a:rect r="r" b="b" t="t" l="l"/>
              <a:pathLst>
                <a:path h="694055" w="694055">
                  <a:moveTo>
                    <a:pt x="0" y="347091"/>
                  </a:moveTo>
                  <a:cubicBezTo>
                    <a:pt x="0" y="155321"/>
                    <a:pt x="155321" y="0"/>
                    <a:pt x="347091" y="0"/>
                  </a:cubicBezTo>
                  <a:cubicBezTo>
                    <a:pt x="538861" y="0"/>
                    <a:pt x="694055" y="155321"/>
                    <a:pt x="694055" y="347091"/>
                  </a:cubicBezTo>
                  <a:cubicBezTo>
                    <a:pt x="694055" y="538861"/>
                    <a:pt x="538734" y="694055"/>
                    <a:pt x="347091" y="694055"/>
                  </a:cubicBezTo>
                  <a:cubicBezTo>
                    <a:pt x="155448" y="694055"/>
                    <a:pt x="0" y="538734"/>
                    <a:pt x="0" y="347091"/>
                  </a:cubicBezTo>
                  <a:close/>
                </a:path>
              </a:pathLst>
            </a:custGeom>
            <a:solidFill>
              <a:srgbClr val="5277E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9203217" y="4826727"/>
            <a:ext cx="520560" cy="691896"/>
            <a:chOff x="0" y="0"/>
            <a:chExt cx="694080" cy="922528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694080" cy="922528"/>
            </a:xfrm>
            <a:custGeom>
              <a:avLst/>
              <a:gdLst/>
              <a:ahLst/>
              <a:cxnLst/>
              <a:rect r="r" b="b" t="t" l="l"/>
              <a:pathLst>
                <a:path h="922528" w="694080">
                  <a:moveTo>
                    <a:pt x="0" y="0"/>
                  </a:moveTo>
                  <a:lnTo>
                    <a:pt x="694080" y="0"/>
                  </a:lnTo>
                  <a:lnTo>
                    <a:pt x="694080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24763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0"/>
              <a:ext cx="694080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b="true" sz="1800" spc="-1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③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9944100" y="4814097"/>
            <a:ext cx="7309980" cy="760895"/>
            <a:chOff x="0" y="0"/>
            <a:chExt cx="9746640" cy="1014527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9746640" cy="1014531"/>
            </a:xfrm>
            <a:custGeom>
              <a:avLst/>
              <a:gdLst/>
              <a:ahLst/>
              <a:cxnLst/>
              <a:rect r="r" b="b" t="t" l="l"/>
              <a:pathLst>
                <a:path h="1014531" w="9746640">
                  <a:moveTo>
                    <a:pt x="0" y="0"/>
                  </a:moveTo>
                  <a:lnTo>
                    <a:pt x="9746640" y="0"/>
                  </a:lnTo>
                  <a:lnTo>
                    <a:pt x="9746640" y="1014531"/>
                  </a:lnTo>
                  <a:lnTo>
                    <a:pt x="0" y="10145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196" r="0" b="-137190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0"/>
              <a:ext cx="9746640" cy="10145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7"/>
                </a:lnSpc>
              </a:pPr>
              <a:r>
                <a:rPr lang="en-US" b="true" sz="157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문서 파싱</a:t>
              </a:r>
            </a:p>
            <a:p>
              <a:pPr algn="l">
                <a:lnSpc>
                  <a:spcPts val="1560"/>
                </a:lnSpc>
              </a:pPr>
              <a:r>
                <a:rPr lang="en-US" sz="12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PDF/DOCX/HWP → PII 마스킹 → 청킹 → BGE-M3 768d → document_chunks(HNSW)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8974455" y="5648592"/>
            <a:ext cx="8481393" cy="779907"/>
            <a:chOff x="0" y="0"/>
            <a:chExt cx="11308524" cy="1039876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11308588" cy="1039876"/>
            </a:xfrm>
            <a:custGeom>
              <a:avLst/>
              <a:gdLst/>
              <a:ahLst/>
              <a:cxnLst/>
              <a:rect r="r" b="b" t="t" l="l"/>
              <a:pathLst>
                <a:path h="1039876" w="11308588">
                  <a:moveTo>
                    <a:pt x="0" y="131191"/>
                  </a:moveTo>
                  <a:cubicBezTo>
                    <a:pt x="0" y="58674"/>
                    <a:pt x="58674" y="0"/>
                    <a:pt x="131191" y="0"/>
                  </a:cubicBezTo>
                  <a:lnTo>
                    <a:pt x="11177397" y="0"/>
                  </a:lnTo>
                  <a:cubicBezTo>
                    <a:pt x="11249787" y="0"/>
                    <a:pt x="11308588" y="58674"/>
                    <a:pt x="11308588" y="131191"/>
                  </a:cubicBezTo>
                  <a:lnTo>
                    <a:pt x="11308588" y="908685"/>
                  </a:lnTo>
                  <a:cubicBezTo>
                    <a:pt x="11308588" y="981075"/>
                    <a:pt x="11249914" y="1039876"/>
                    <a:pt x="11177397" y="1039876"/>
                  </a:cubicBezTo>
                  <a:lnTo>
                    <a:pt x="131191" y="1039876"/>
                  </a:lnTo>
                  <a:cubicBezTo>
                    <a:pt x="58674" y="1039876"/>
                    <a:pt x="0" y="981202"/>
                    <a:pt x="0" y="90868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CF2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9203217" y="5777998"/>
            <a:ext cx="520560" cy="520560"/>
            <a:chOff x="0" y="0"/>
            <a:chExt cx="694080" cy="694080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694055" cy="694055"/>
            </a:xfrm>
            <a:custGeom>
              <a:avLst/>
              <a:gdLst/>
              <a:ahLst/>
              <a:cxnLst/>
              <a:rect r="r" b="b" t="t" l="l"/>
              <a:pathLst>
                <a:path h="694055" w="694055">
                  <a:moveTo>
                    <a:pt x="0" y="347091"/>
                  </a:moveTo>
                  <a:cubicBezTo>
                    <a:pt x="0" y="155321"/>
                    <a:pt x="155321" y="0"/>
                    <a:pt x="347091" y="0"/>
                  </a:cubicBezTo>
                  <a:cubicBezTo>
                    <a:pt x="538861" y="0"/>
                    <a:pt x="694055" y="155321"/>
                    <a:pt x="694055" y="347091"/>
                  </a:cubicBezTo>
                  <a:cubicBezTo>
                    <a:pt x="694055" y="538861"/>
                    <a:pt x="538734" y="694055"/>
                    <a:pt x="347091" y="694055"/>
                  </a:cubicBezTo>
                  <a:cubicBezTo>
                    <a:pt x="155448" y="694055"/>
                    <a:pt x="0" y="538734"/>
                    <a:pt x="0" y="347091"/>
                  </a:cubicBezTo>
                  <a:close/>
                </a:path>
              </a:pathLst>
            </a:custGeom>
            <a:solidFill>
              <a:srgbClr val="10BDA1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203217" y="5692616"/>
            <a:ext cx="520560" cy="691896"/>
            <a:chOff x="0" y="0"/>
            <a:chExt cx="694080" cy="92252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694080" cy="922528"/>
            </a:xfrm>
            <a:custGeom>
              <a:avLst/>
              <a:gdLst/>
              <a:ahLst/>
              <a:cxnLst/>
              <a:rect r="r" b="b" t="t" l="l"/>
              <a:pathLst>
                <a:path h="922528" w="694080">
                  <a:moveTo>
                    <a:pt x="0" y="0"/>
                  </a:moveTo>
                  <a:lnTo>
                    <a:pt x="694080" y="0"/>
                  </a:lnTo>
                  <a:lnTo>
                    <a:pt x="694080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24763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0"/>
              <a:ext cx="694080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b="true" sz="1800" spc="-1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④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9944100" y="5658117"/>
            <a:ext cx="7309980" cy="760895"/>
            <a:chOff x="0" y="0"/>
            <a:chExt cx="9746640" cy="1014527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9746640" cy="1014531"/>
            </a:xfrm>
            <a:custGeom>
              <a:avLst/>
              <a:gdLst/>
              <a:ahLst/>
              <a:cxnLst/>
              <a:rect r="r" b="b" t="t" l="l"/>
              <a:pathLst>
                <a:path h="1014531" w="9746640">
                  <a:moveTo>
                    <a:pt x="0" y="0"/>
                  </a:moveTo>
                  <a:lnTo>
                    <a:pt x="9746640" y="0"/>
                  </a:lnTo>
                  <a:lnTo>
                    <a:pt x="9746640" y="1014531"/>
                  </a:lnTo>
                  <a:lnTo>
                    <a:pt x="0" y="10145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196" r="0" b="-13719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0"/>
              <a:ext cx="9746640" cy="10145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7"/>
                </a:lnSpc>
              </a:pPr>
              <a:r>
                <a:rPr lang="en-US" b="true" sz="157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스킬 마켓</a:t>
              </a:r>
            </a:p>
            <a:p>
              <a:pPr algn="l">
                <a:lnSpc>
                  <a:spcPts val="1560"/>
                </a:lnSpc>
              </a:pPr>
              <a:r>
                <a:rPr lang="en-US" sz="12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임베딩 → 3-scope 승격(개인→팀→회사) → skills(HNSW)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8974455" y="6492078"/>
            <a:ext cx="8481393" cy="779907"/>
            <a:chOff x="0" y="0"/>
            <a:chExt cx="11308524" cy="1039876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11308588" cy="1039876"/>
            </a:xfrm>
            <a:custGeom>
              <a:avLst/>
              <a:gdLst/>
              <a:ahLst/>
              <a:cxnLst/>
              <a:rect r="r" b="b" t="t" l="l"/>
              <a:pathLst>
                <a:path h="1039876" w="11308588">
                  <a:moveTo>
                    <a:pt x="0" y="131191"/>
                  </a:moveTo>
                  <a:cubicBezTo>
                    <a:pt x="0" y="58674"/>
                    <a:pt x="58674" y="0"/>
                    <a:pt x="131191" y="0"/>
                  </a:cubicBezTo>
                  <a:lnTo>
                    <a:pt x="11177397" y="0"/>
                  </a:lnTo>
                  <a:cubicBezTo>
                    <a:pt x="11249787" y="0"/>
                    <a:pt x="11308588" y="58674"/>
                    <a:pt x="11308588" y="131191"/>
                  </a:cubicBezTo>
                  <a:lnTo>
                    <a:pt x="11308588" y="908685"/>
                  </a:lnTo>
                  <a:cubicBezTo>
                    <a:pt x="11308588" y="981075"/>
                    <a:pt x="11249914" y="1039876"/>
                    <a:pt x="11177397" y="1039876"/>
                  </a:cubicBezTo>
                  <a:lnTo>
                    <a:pt x="131191" y="1039876"/>
                  </a:lnTo>
                  <a:cubicBezTo>
                    <a:pt x="58674" y="1039876"/>
                    <a:pt x="0" y="981202"/>
                    <a:pt x="0" y="90868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CF2"/>
              </a:solidFill>
              <a:prstDash val="solid"/>
              <a:miter/>
            </a:ln>
          </p:spPr>
        </p:sp>
      </p:grpSp>
      <p:grpSp>
        <p:nvGrpSpPr>
          <p:cNvPr name="Group 108" id="108"/>
          <p:cNvGrpSpPr/>
          <p:nvPr/>
        </p:nvGrpSpPr>
        <p:grpSpPr>
          <a:xfrm rot="0">
            <a:off x="9203217" y="6621485"/>
            <a:ext cx="520560" cy="520560"/>
            <a:chOff x="0" y="0"/>
            <a:chExt cx="694080" cy="69408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694055" cy="694055"/>
            </a:xfrm>
            <a:custGeom>
              <a:avLst/>
              <a:gdLst/>
              <a:ahLst/>
              <a:cxnLst/>
              <a:rect r="r" b="b" t="t" l="l"/>
              <a:pathLst>
                <a:path h="694055" w="694055">
                  <a:moveTo>
                    <a:pt x="0" y="347091"/>
                  </a:moveTo>
                  <a:cubicBezTo>
                    <a:pt x="0" y="155321"/>
                    <a:pt x="155321" y="0"/>
                    <a:pt x="347091" y="0"/>
                  </a:cubicBezTo>
                  <a:cubicBezTo>
                    <a:pt x="538861" y="0"/>
                    <a:pt x="694055" y="155321"/>
                    <a:pt x="694055" y="347091"/>
                  </a:cubicBezTo>
                  <a:cubicBezTo>
                    <a:pt x="694055" y="538861"/>
                    <a:pt x="538734" y="694055"/>
                    <a:pt x="347091" y="694055"/>
                  </a:cubicBezTo>
                  <a:cubicBezTo>
                    <a:pt x="155448" y="694055"/>
                    <a:pt x="0" y="538734"/>
                    <a:pt x="0" y="347091"/>
                  </a:cubicBezTo>
                  <a:close/>
                </a:path>
              </a:pathLst>
            </a:custGeom>
            <a:solidFill>
              <a:srgbClr val="2E9E4F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9203217" y="6533274"/>
            <a:ext cx="520560" cy="691896"/>
            <a:chOff x="0" y="0"/>
            <a:chExt cx="694080" cy="922528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694080" cy="922528"/>
            </a:xfrm>
            <a:custGeom>
              <a:avLst/>
              <a:gdLst/>
              <a:ahLst/>
              <a:cxnLst/>
              <a:rect r="r" b="b" t="t" l="l"/>
              <a:pathLst>
                <a:path h="922528" w="694080">
                  <a:moveTo>
                    <a:pt x="0" y="0"/>
                  </a:moveTo>
                  <a:lnTo>
                    <a:pt x="694080" y="0"/>
                  </a:lnTo>
                  <a:lnTo>
                    <a:pt x="694080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24763"/>
              </a:stretch>
            </a:blipFill>
          </p:spPr>
        </p:sp>
        <p:sp>
          <p:nvSpPr>
            <p:cNvPr name="TextBox 112" id="112"/>
            <p:cNvSpPr txBox="true"/>
            <p:nvPr/>
          </p:nvSpPr>
          <p:spPr>
            <a:xfrm>
              <a:off x="0" y="0"/>
              <a:ext cx="694080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b="true" sz="1800" spc="-1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⑤</a:t>
              </a:r>
            </a:p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9944100" y="6501603"/>
            <a:ext cx="7309980" cy="760895"/>
            <a:chOff x="0" y="0"/>
            <a:chExt cx="9746640" cy="1014527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9746640" cy="1014531"/>
            </a:xfrm>
            <a:custGeom>
              <a:avLst/>
              <a:gdLst/>
              <a:ahLst/>
              <a:cxnLst/>
              <a:rect r="r" b="b" t="t" l="l"/>
              <a:pathLst>
                <a:path h="1014531" w="9746640">
                  <a:moveTo>
                    <a:pt x="0" y="0"/>
                  </a:moveTo>
                  <a:lnTo>
                    <a:pt x="9746640" y="0"/>
                  </a:lnTo>
                  <a:lnTo>
                    <a:pt x="9746640" y="1014531"/>
                  </a:lnTo>
                  <a:lnTo>
                    <a:pt x="0" y="10145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7196" r="0" b="-137190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0"/>
              <a:ext cx="9746640" cy="10145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7"/>
                </a:lnSpc>
              </a:pPr>
              <a:r>
                <a:rPr lang="en-US" b="true" sz="157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실시간 이벤트</a:t>
              </a:r>
            </a:p>
            <a:p>
              <a:pPr algn="l">
                <a:lnSpc>
                  <a:spcPts val="1560"/>
                </a:lnSpc>
              </a:pPr>
              <a:r>
                <a:rPr lang="en-US" sz="12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상태변경 → Redis Pub/Sub → SSE → 프론트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8974455" y="7335555"/>
            <a:ext cx="8481393" cy="779907"/>
            <a:chOff x="0" y="0"/>
            <a:chExt cx="11308524" cy="1039876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11308588" cy="1039876"/>
            </a:xfrm>
            <a:custGeom>
              <a:avLst/>
              <a:gdLst/>
              <a:ahLst/>
              <a:cxnLst/>
              <a:rect r="r" b="b" t="t" l="l"/>
              <a:pathLst>
                <a:path h="1039876" w="11308588">
                  <a:moveTo>
                    <a:pt x="0" y="131191"/>
                  </a:moveTo>
                  <a:cubicBezTo>
                    <a:pt x="0" y="58674"/>
                    <a:pt x="58674" y="0"/>
                    <a:pt x="131191" y="0"/>
                  </a:cubicBezTo>
                  <a:lnTo>
                    <a:pt x="11177397" y="0"/>
                  </a:lnTo>
                  <a:cubicBezTo>
                    <a:pt x="11249787" y="0"/>
                    <a:pt x="11308588" y="58674"/>
                    <a:pt x="11308588" y="131191"/>
                  </a:cubicBezTo>
                  <a:lnTo>
                    <a:pt x="11308588" y="908685"/>
                  </a:lnTo>
                  <a:cubicBezTo>
                    <a:pt x="11308588" y="981075"/>
                    <a:pt x="11249914" y="1039876"/>
                    <a:pt x="11177397" y="1039876"/>
                  </a:cubicBezTo>
                  <a:lnTo>
                    <a:pt x="131191" y="1039876"/>
                  </a:lnTo>
                  <a:cubicBezTo>
                    <a:pt x="58674" y="1039876"/>
                    <a:pt x="0" y="981202"/>
                    <a:pt x="0" y="90868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CF2"/>
              </a:solidFill>
              <a:prstDash val="solid"/>
              <a:miter/>
            </a:ln>
          </p:spPr>
        </p:sp>
      </p:grpSp>
      <p:grpSp>
        <p:nvGrpSpPr>
          <p:cNvPr name="Group 118" id="118"/>
          <p:cNvGrpSpPr/>
          <p:nvPr/>
        </p:nvGrpSpPr>
        <p:grpSpPr>
          <a:xfrm rot="0">
            <a:off x="9203217" y="7464962"/>
            <a:ext cx="520560" cy="520560"/>
            <a:chOff x="0" y="0"/>
            <a:chExt cx="694080" cy="69408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694055" cy="694055"/>
            </a:xfrm>
            <a:custGeom>
              <a:avLst/>
              <a:gdLst/>
              <a:ahLst/>
              <a:cxnLst/>
              <a:rect r="r" b="b" t="t" l="l"/>
              <a:pathLst>
                <a:path h="694055" w="694055">
                  <a:moveTo>
                    <a:pt x="0" y="347091"/>
                  </a:moveTo>
                  <a:cubicBezTo>
                    <a:pt x="0" y="155321"/>
                    <a:pt x="155321" y="0"/>
                    <a:pt x="347091" y="0"/>
                  </a:cubicBezTo>
                  <a:cubicBezTo>
                    <a:pt x="538861" y="0"/>
                    <a:pt x="694055" y="155321"/>
                    <a:pt x="694055" y="347091"/>
                  </a:cubicBezTo>
                  <a:cubicBezTo>
                    <a:pt x="694055" y="538861"/>
                    <a:pt x="538734" y="694055"/>
                    <a:pt x="347091" y="694055"/>
                  </a:cubicBezTo>
                  <a:cubicBezTo>
                    <a:pt x="155448" y="694055"/>
                    <a:pt x="0" y="538734"/>
                    <a:pt x="0" y="347091"/>
                  </a:cubicBezTo>
                  <a:close/>
                </a:path>
              </a:pathLst>
            </a:custGeom>
            <a:solidFill>
              <a:srgbClr val="7C46CE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9203217" y="7374165"/>
            <a:ext cx="520560" cy="691896"/>
            <a:chOff x="0" y="0"/>
            <a:chExt cx="694080" cy="92252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694080" cy="922528"/>
            </a:xfrm>
            <a:custGeom>
              <a:avLst/>
              <a:gdLst/>
              <a:ahLst/>
              <a:cxnLst/>
              <a:rect r="r" b="b" t="t" l="l"/>
              <a:pathLst>
                <a:path h="922528" w="694080">
                  <a:moveTo>
                    <a:pt x="0" y="0"/>
                  </a:moveTo>
                  <a:lnTo>
                    <a:pt x="694080" y="0"/>
                  </a:lnTo>
                  <a:lnTo>
                    <a:pt x="694080" y="922528"/>
                  </a:lnTo>
                  <a:lnTo>
                    <a:pt x="0" y="9225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247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0"/>
              <a:ext cx="694080" cy="9225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b="true" sz="1800" spc="-1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⑥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9942852" y="7262498"/>
            <a:ext cx="7309980" cy="914857"/>
            <a:chOff x="0" y="0"/>
            <a:chExt cx="9746640" cy="1219810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9746640" cy="1219814"/>
            </a:xfrm>
            <a:custGeom>
              <a:avLst/>
              <a:gdLst/>
              <a:ahLst/>
              <a:cxnLst/>
              <a:rect r="r" b="b" t="t" l="l"/>
              <a:pathLst>
                <a:path h="1219814" w="9746640">
                  <a:moveTo>
                    <a:pt x="0" y="0"/>
                  </a:moveTo>
                  <a:lnTo>
                    <a:pt x="9746640" y="0"/>
                  </a:lnTo>
                  <a:lnTo>
                    <a:pt x="9746640" y="1219814"/>
                  </a:lnTo>
                  <a:lnTo>
                    <a:pt x="0" y="121981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4107" r="0" b="-97273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0"/>
              <a:ext cx="9746640" cy="12198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7"/>
                </a:lnSpc>
              </a:pPr>
              <a:r>
                <a:rPr lang="en-US" b="true" sz="157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온톨로지 투영</a:t>
              </a:r>
            </a:p>
            <a:p>
              <a:pPr algn="l">
                <a:lnSpc>
                  <a:spcPts val="1560"/>
                </a:lnSpc>
              </a:pPr>
              <a:r>
                <a:rPr lang="en-US" sz="12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노드 카탈로그(Postgres) → Neo4j 재투영 → CAN_FOLLOW 관계 계산</a:t>
              </a:r>
            </a:p>
            <a:p>
              <a:pPr algn="l">
                <a:lnSpc>
                  <a:spcPts val="1377"/>
                </a:lnSpc>
              </a:pPr>
              <a:r>
                <a:rPr lang="en-US" sz="1125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+ 스켈레톤 HAS_SLOT·FILLED_BY · 스킬 BINDS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850497" y="8298180"/>
            <a:ext cx="16595817" cy="822417"/>
            <a:chOff x="0" y="0"/>
            <a:chExt cx="22127756" cy="1096556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2127718" cy="1096518"/>
            </a:xfrm>
            <a:custGeom>
              <a:avLst/>
              <a:gdLst/>
              <a:ahLst/>
              <a:cxnLst/>
              <a:rect r="r" b="b" t="t" l="l"/>
              <a:pathLst>
                <a:path h="1096518" w="22127718">
                  <a:moveTo>
                    <a:pt x="0" y="164465"/>
                  </a:moveTo>
                  <a:cubicBezTo>
                    <a:pt x="0" y="73660"/>
                    <a:pt x="73660" y="0"/>
                    <a:pt x="164465" y="0"/>
                  </a:cubicBezTo>
                  <a:lnTo>
                    <a:pt x="21963253" y="0"/>
                  </a:lnTo>
                  <a:cubicBezTo>
                    <a:pt x="22054058" y="0"/>
                    <a:pt x="22127718" y="73660"/>
                    <a:pt x="22127718" y="164465"/>
                  </a:cubicBezTo>
                  <a:lnTo>
                    <a:pt x="22127718" y="932053"/>
                  </a:lnTo>
                  <a:cubicBezTo>
                    <a:pt x="22127718" y="1022858"/>
                    <a:pt x="22054058" y="1096518"/>
                    <a:pt x="21963253" y="1096518"/>
                  </a:cubicBezTo>
                  <a:lnTo>
                    <a:pt x="164465" y="1096518"/>
                  </a:lnTo>
                  <a:cubicBezTo>
                    <a:pt x="73660" y="1096518"/>
                    <a:pt x="0" y="1022858"/>
                    <a:pt x="0" y="932053"/>
                  </a:cubicBezTo>
                  <a:close/>
                </a:path>
              </a:pathLst>
            </a:custGeom>
            <a:solidFill>
              <a:srgbClr val="FCEDE6"/>
            </a:solid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1206903" y="8559003"/>
            <a:ext cx="301323" cy="301323"/>
            <a:chOff x="0" y="0"/>
            <a:chExt cx="401764" cy="401764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401701" cy="401701"/>
            </a:xfrm>
            <a:custGeom>
              <a:avLst/>
              <a:gdLst/>
              <a:ahLst/>
              <a:cxnLst/>
              <a:rect r="r" b="b" t="t" l="l"/>
              <a:pathLst>
                <a:path h="401701" w="401701">
                  <a:moveTo>
                    <a:pt x="0" y="200914"/>
                  </a:moveTo>
                  <a:cubicBezTo>
                    <a:pt x="0" y="89916"/>
                    <a:pt x="89916" y="0"/>
                    <a:pt x="200914" y="0"/>
                  </a:cubicBezTo>
                  <a:cubicBezTo>
                    <a:pt x="311912" y="0"/>
                    <a:pt x="401701" y="89916"/>
                    <a:pt x="401701" y="200914"/>
                  </a:cubicBezTo>
                  <a:cubicBezTo>
                    <a:pt x="401701" y="311912"/>
                    <a:pt x="311785" y="401701"/>
                    <a:pt x="200914" y="401701"/>
                  </a:cubicBezTo>
                  <a:cubicBezTo>
                    <a:pt x="90043" y="401701"/>
                    <a:pt x="0" y="311785"/>
                    <a:pt x="0" y="200914"/>
                  </a:cubicBezTo>
                  <a:close/>
                </a:path>
              </a:pathLst>
            </a:custGeom>
            <a:solidFill>
              <a:srgbClr val="F0664E"/>
            </a:solidFill>
          </p:spPr>
        </p:sp>
      </p:grpSp>
      <p:grpSp>
        <p:nvGrpSpPr>
          <p:cNvPr name="Group 130" id="130"/>
          <p:cNvGrpSpPr/>
          <p:nvPr/>
        </p:nvGrpSpPr>
        <p:grpSpPr>
          <a:xfrm rot="0">
            <a:off x="1755543" y="8298180"/>
            <a:ext cx="15429957" cy="822420"/>
            <a:chOff x="0" y="0"/>
            <a:chExt cx="20573276" cy="1096560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20573281" cy="1096564"/>
            </a:xfrm>
            <a:custGeom>
              <a:avLst/>
              <a:gdLst/>
              <a:ahLst/>
              <a:cxnLst/>
              <a:rect r="r" b="b" t="t" l="l"/>
              <a:pathLst>
                <a:path h="1096564" w="20573281">
                  <a:moveTo>
                    <a:pt x="0" y="0"/>
                  </a:moveTo>
                  <a:lnTo>
                    <a:pt x="20573281" y="0"/>
                  </a:lnTo>
                  <a:lnTo>
                    <a:pt x="20573281" y="1096564"/>
                  </a:lnTo>
                  <a:lnTo>
                    <a:pt x="0" y="10965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5570" r="0" b="-315569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0"/>
              <a:ext cx="20573276" cy="1096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-1">
                  <a:solidFill>
                    <a:srgbClr val="EF6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벡터 검색   </a:t>
              </a:r>
              <a:r>
                <a:rPr lang="en-US" sz="1725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pgvector HNSW (cosine) — 전 테이블(skills · document_chunks · node_definitions) </a:t>
              </a:r>
              <a:r>
                <a:rPr lang="en-US" b="true" sz="1725" spc="-1">
                  <a:solidFill>
                    <a:srgbClr val="EF6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vector(768) 통일</a:t>
              </a:r>
              <a:r>
                <a:rPr lang="en-US" sz="1725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· FTS 하이브리드 아님</a:t>
              </a:r>
            </a:p>
          </p:txBody>
        </p:sp>
      </p:grpSp>
      <p:grpSp>
        <p:nvGrpSpPr>
          <p:cNvPr name="Group 133" id="133"/>
          <p:cNvGrpSpPr/>
          <p:nvPr/>
        </p:nvGrpSpPr>
        <p:grpSpPr>
          <a:xfrm rot="0">
            <a:off x="2098172" y="9434925"/>
            <a:ext cx="9600657" cy="582930"/>
            <a:chOff x="0" y="0"/>
            <a:chExt cx="12800876" cy="7772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12800880" cy="777244"/>
            </a:xfrm>
            <a:custGeom>
              <a:avLst/>
              <a:gdLst/>
              <a:ahLst/>
              <a:cxnLst/>
              <a:rect r="r" b="b" t="t" l="l"/>
              <a:pathLst>
                <a:path h="777244" w="12800880">
                  <a:moveTo>
                    <a:pt x="0" y="0"/>
                  </a:moveTo>
                  <a:lnTo>
                    <a:pt x="12800880" y="0"/>
                  </a:lnTo>
                  <a:lnTo>
                    <a:pt x="12800880" y="777244"/>
                  </a:lnTo>
                  <a:lnTo>
                    <a:pt x="0" y="7772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5662" r="0" b="-256157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0"/>
              <a:ext cx="12800876" cy="777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|  </a:t>
              </a:r>
              <a:r>
                <a:rPr lang="en-US" sz="150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데이터 파이프라인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960457" y="9408957"/>
            <a:ext cx="5485857" cy="582930"/>
            <a:chOff x="0" y="0"/>
            <a:chExt cx="7314476" cy="777240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7314480" cy="777244"/>
            </a:xfrm>
            <a:custGeom>
              <a:avLst/>
              <a:gdLst/>
              <a:ahLst/>
              <a:cxnLst/>
              <a:rect r="r" b="b" t="t" l="l"/>
              <a:pathLst>
                <a:path h="777244" w="7314480">
                  <a:moveTo>
                    <a:pt x="0" y="0"/>
                  </a:moveTo>
                  <a:lnTo>
                    <a:pt x="7314480" y="0"/>
                  </a:lnTo>
                  <a:lnTo>
                    <a:pt x="7314480" y="777244"/>
                  </a:lnTo>
                  <a:lnTo>
                    <a:pt x="0" y="7772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8122" r="0" b="-118616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0"/>
              <a:ext cx="7314476" cy="777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Part 3 — Data Pipeline</a:t>
              </a:r>
            </a:p>
          </p:txBody>
        </p:sp>
      </p:grpSp>
      <p:sp>
        <p:nvSpPr>
          <p:cNvPr name="TextBox 139" id="139"/>
          <p:cNvSpPr txBox="true"/>
          <p:nvPr/>
        </p:nvSpPr>
        <p:spPr>
          <a:xfrm rot="0">
            <a:off x="1028700" y="9583515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17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50497" y="630717"/>
            <a:ext cx="10972257" cy="637413"/>
            <a:chOff x="0" y="0"/>
            <a:chExt cx="14629676" cy="84988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849888"/>
            </a:xfrm>
            <a:custGeom>
              <a:avLst/>
              <a:gdLst/>
              <a:ahLst/>
              <a:cxnLst/>
              <a:rect r="r" b="b" t="t" l="l"/>
              <a:pathLst>
                <a:path h="849888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849888"/>
                  </a:lnTo>
                  <a:lnTo>
                    <a:pt x="0" y="8498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3174" r="0" b="-26764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14629676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-1">
                  <a:solidFill>
                    <a:srgbClr val="EF6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PART 03</a:t>
              </a:r>
              <a:r>
                <a:rPr lang="en-US" sz="165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 인프라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0" y="630717"/>
            <a:ext cx="7845123" cy="637413"/>
            <a:chOff x="0" y="0"/>
            <a:chExt cx="10460164" cy="84988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460160" cy="849888"/>
            </a:xfrm>
            <a:custGeom>
              <a:avLst/>
              <a:gdLst/>
              <a:ahLst/>
              <a:cxnLst/>
              <a:rect r="r" b="b" t="t" l="l"/>
              <a:pathLst>
                <a:path h="849888" w="10460160">
                  <a:moveTo>
                    <a:pt x="0" y="0"/>
                  </a:moveTo>
                  <a:lnTo>
                    <a:pt x="10460160" y="0"/>
                  </a:lnTo>
                  <a:lnTo>
                    <a:pt x="10460160" y="849888"/>
                  </a:lnTo>
                  <a:lnTo>
                    <a:pt x="0" y="8498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7581" r="0" b="-17205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0460164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시스템 아키텍처 명세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50497" y="1078611"/>
            <a:ext cx="15772857" cy="1338834"/>
            <a:chOff x="0" y="0"/>
            <a:chExt cx="21030476" cy="178511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030481" cy="1785111"/>
            </a:xfrm>
            <a:custGeom>
              <a:avLst/>
              <a:gdLst/>
              <a:ahLst/>
              <a:cxnLst/>
              <a:rect r="r" b="b" t="t" l="l"/>
              <a:pathLst>
                <a:path h="1785111" w="21030481">
                  <a:moveTo>
                    <a:pt x="0" y="0"/>
                  </a:moveTo>
                  <a:lnTo>
                    <a:pt x="21030481" y="0"/>
                  </a:lnTo>
                  <a:lnTo>
                    <a:pt x="21030481" y="1785111"/>
                  </a:lnTo>
                  <a:lnTo>
                    <a:pt x="0" y="178511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9868" r="0" b="-159239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1030476" cy="17851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140"/>
                </a:lnSpc>
              </a:pPr>
              <a:r>
                <a:rPr lang="en-US" b="true" sz="3450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인프라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50497" y="1975323"/>
            <a:ext cx="16184337" cy="637413"/>
            <a:chOff x="0" y="0"/>
            <a:chExt cx="21579116" cy="8498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579120" cy="849877"/>
            </a:xfrm>
            <a:custGeom>
              <a:avLst/>
              <a:gdLst/>
              <a:ahLst/>
              <a:cxnLst/>
              <a:rect r="r" b="b" t="t" l="l"/>
              <a:pathLst>
                <a:path h="849877" w="21579120">
                  <a:moveTo>
                    <a:pt x="0" y="0"/>
                  </a:moveTo>
                  <a:lnTo>
                    <a:pt x="21579120" y="0"/>
                  </a:lnTo>
                  <a:lnTo>
                    <a:pt x="21579120" y="849877"/>
                  </a:lnTo>
                  <a:lnTo>
                    <a:pt x="0" y="8498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60345" r="0" b="-429137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21579116" cy="8498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GCP · Modal · Terraform · IaC — 콘솔 클릭이 아니라 코드 리뷰로 관리되는 기반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40972" y="2665095"/>
            <a:ext cx="8933907" cy="567147"/>
            <a:chOff x="0" y="0"/>
            <a:chExt cx="11911876" cy="75619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911838" cy="756158"/>
            </a:xfrm>
            <a:custGeom>
              <a:avLst/>
              <a:gdLst/>
              <a:ahLst/>
              <a:cxnLst/>
              <a:rect r="r" b="b" t="t" l="l"/>
              <a:pathLst>
                <a:path h="756158" w="11911838">
                  <a:moveTo>
                    <a:pt x="0" y="151257"/>
                  </a:moveTo>
                  <a:cubicBezTo>
                    <a:pt x="0" y="67691"/>
                    <a:pt x="67691" y="0"/>
                    <a:pt x="151257" y="0"/>
                  </a:cubicBezTo>
                  <a:lnTo>
                    <a:pt x="11760581" y="0"/>
                  </a:lnTo>
                  <a:cubicBezTo>
                    <a:pt x="11844148" y="0"/>
                    <a:pt x="11911838" y="67691"/>
                    <a:pt x="11911838" y="151257"/>
                  </a:cubicBezTo>
                  <a:lnTo>
                    <a:pt x="11911838" y="604901"/>
                  </a:lnTo>
                  <a:cubicBezTo>
                    <a:pt x="11911838" y="688467"/>
                    <a:pt x="11844148" y="756158"/>
                    <a:pt x="11760581" y="756158"/>
                  </a:cubicBezTo>
                  <a:lnTo>
                    <a:pt x="151257" y="756158"/>
                  </a:lnTo>
                  <a:cubicBezTo>
                    <a:pt x="67691" y="756158"/>
                    <a:pt x="0" y="688467"/>
                    <a:pt x="0" y="604901"/>
                  </a:cubicBezTo>
                  <a:close/>
                </a:path>
              </a:pathLst>
            </a:custGeom>
            <a:solidFill>
              <a:srgbClr val="FAFAFE"/>
            </a:solidFill>
            <a:ln w="19050" cap="sq">
              <a:solidFill>
                <a:srgbClr val="DEDEEA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097280" y="2674620"/>
            <a:ext cx="8448304" cy="610172"/>
            <a:chOff x="0" y="0"/>
            <a:chExt cx="11264405" cy="81356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264400" cy="813566"/>
            </a:xfrm>
            <a:custGeom>
              <a:avLst/>
              <a:gdLst/>
              <a:ahLst/>
              <a:cxnLst/>
              <a:rect r="r" b="b" t="t" l="l"/>
              <a:pathLst>
                <a:path h="813566" w="11264400">
                  <a:moveTo>
                    <a:pt x="0" y="0"/>
                  </a:moveTo>
                  <a:lnTo>
                    <a:pt x="11264400" y="0"/>
                  </a:lnTo>
                  <a:lnTo>
                    <a:pt x="11264400" y="813566"/>
                  </a:lnTo>
                  <a:lnTo>
                    <a:pt x="0" y="81356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4871" r="0" b="-21469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11264405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개발자</a:t>
              </a:r>
              <a:r>
                <a:rPr lang="en-US" sz="15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─ git push →  </a:t>
              </a:r>
              <a:r>
                <a:rPr lang="en-US" b="true" sz="1575" spc="-1">
                  <a:solidFill>
                    <a:srgbClr val="8C5BE0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terraform apply</a:t>
              </a:r>
              <a:r>
                <a:rPr lang="en-US" sz="1575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 (콘솔 클릭 ✗ · Git 이력 · 리뷰 추적)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90249" y="3150575"/>
            <a:ext cx="8914857" cy="546163"/>
            <a:chOff x="0" y="0"/>
            <a:chExt cx="11886476" cy="72821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886480" cy="728222"/>
            </a:xfrm>
            <a:custGeom>
              <a:avLst/>
              <a:gdLst/>
              <a:ahLst/>
              <a:cxnLst/>
              <a:rect r="r" b="b" t="t" l="l"/>
              <a:pathLst>
                <a:path h="728222" w="11886480">
                  <a:moveTo>
                    <a:pt x="0" y="0"/>
                  </a:moveTo>
                  <a:lnTo>
                    <a:pt x="11886480" y="0"/>
                  </a:lnTo>
                  <a:lnTo>
                    <a:pt x="11886480" y="728222"/>
                  </a:lnTo>
                  <a:lnTo>
                    <a:pt x="0" y="72822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92983" r="0" b="-24311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11886476" cy="728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컴퓨트 3티어 </a:t>
              </a:r>
              <a:r>
                <a:rPr lang="en-US" sz="1425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— ① GCP Cloud Run · ② Modal ★ · ③ Neo4j ★ (한 시스템이 세 곳에 분산)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866437" y="3594754"/>
            <a:ext cx="8938670" cy="3150413"/>
            <a:chOff x="0" y="0"/>
            <a:chExt cx="11918226" cy="420055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1918315" cy="4200652"/>
            </a:xfrm>
            <a:custGeom>
              <a:avLst/>
              <a:gdLst/>
              <a:ahLst/>
              <a:cxnLst/>
              <a:rect r="r" b="b" t="t" l="l"/>
              <a:pathLst>
                <a:path h="4200652" w="11918315">
                  <a:moveTo>
                    <a:pt x="0" y="184277"/>
                  </a:moveTo>
                  <a:cubicBezTo>
                    <a:pt x="0" y="82423"/>
                    <a:pt x="82423" y="0"/>
                    <a:pt x="184277" y="0"/>
                  </a:cubicBezTo>
                  <a:lnTo>
                    <a:pt x="11734038" y="0"/>
                  </a:lnTo>
                  <a:cubicBezTo>
                    <a:pt x="11835765" y="0"/>
                    <a:pt x="11918315" y="82423"/>
                    <a:pt x="11918315" y="184277"/>
                  </a:cubicBezTo>
                  <a:lnTo>
                    <a:pt x="11918315" y="4016375"/>
                  </a:lnTo>
                  <a:cubicBezTo>
                    <a:pt x="11918315" y="4118102"/>
                    <a:pt x="11835892" y="4200652"/>
                    <a:pt x="11734038" y="4200652"/>
                  </a:cubicBezTo>
                  <a:lnTo>
                    <a:pt x="184277" y="4200652"/>
                  </a:lnTo>
                  <a:cubicBezTo>
                    <a:pt x="82423" y="4200525"/>
                    <a:pt x="0" y="4118102"/>
                    <a:pt x="0" y="4016375"/>
                  </a:cubicBezTo>
                  <a:close/>
                </a:path>
              </a:pathLst>
            </a:custGeom>
            <a:solidFill>
              <a:srgbClr val="FAFAFE"/>
            </a:solidFill>
            <a:ln w="23812" cap="sq">
              <a:solidFill>
                <a:srgbClr val="DEDEEA"/>
              </a:solidFill>
              <a:prstDash val="dash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24817" y="3689823"/>
            <a:ext cx="8366217" cy="464439"/>
            <a:chOff x="0" y="0"/>
            <a:chExt cx="11154956" cy="61925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1154960" cy="619245"/>
            </a:xfrm>
            <a:custGeom>
              <a:avLst/>
              <a:gdLst/>
              <a:ahLst/>
              <a:cxnLst/>
              <a:rect r="r" b="b" t="t" l="l"/>
              <a:pathLst>
                <a:path h="619245" w="11154960">
                  <a:moveTo>
                    <a:pt x="0" y="0"/>
                  </a:moveTo>
                  <a:lnTo>
                    <a:pt x="11154960" y="0"/>
                  </a:lnTo>
                  <a:lnTo>
                    <a:pt x="11154960" y="619245"/>
                  </a:lnTo>
                  <a:lnTo>
                    <a:pt x="0" y="61924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8559" r="0" b="-28343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11154956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b="true" sz="1200" spc="-1">
                  <a:solidFill>
                    <a:srgbClr val="8C5BE0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① GCP PROJECT</a:t>
              </a:r>
              <a:r>
                <a:rPr lang="en-US" sz="120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 · Cloud Run (Terraform 관리)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515592" y="4077738"/>
            <a:ext cx="3584667" cy="485070"/>
            <a:chOff x="0" y="0"/>
            <a:chExt cx="4779556" cy="6467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779518" cy="646684"/>
            </a:xfrm>
            <a:custGeom>
              <a:avLst/>
              <a:gdLst/>
              <a:ahLst/>
              <a:cxnLst/>
              <a:rect r="r" b="b" t="t" l="l"/>
              <a:pathLst>
                <a:path h="646684" w="4779518">
                  <a:moveTo>
                    <a:pt x="0" y="133096"/>
                  </a:moveTo>
                  <a:cubicBezTo>
                    <a:pt x="0" y="59563"/>
                    <a:pt x="59563" y="0"/>
                    <a:pt x="133096" y="0"/>
                  </a:cubicBezTo>
                  <a:lnTo>
                    <a:pt x="4646422" y="0"/>
                  </a:lnTo>
                  <a:cubicBezTo>
                    <a:pt x="4719955" y="0"/>
                    <a:pt x="4779518" y="59563"/>
                    <a:pt x="4779518" y="133096"/>
                  </a:cubicBezTo>
                  <a:lnTo>
                    <a:pt x="4779518" y="513588"/>
                  </a:lnTo>
                  <a:cubicBezTo>
                    <a:pt x="4779518" y="587121"/>
                    <a:pt x="4719955" y="646684"/>
                    <a:pt x="4646422" y="646684"/>
                  </a:cubicBezTo>
                  <a:lnTo>
                    <a:pt x="133096" y="646684"/>
                  </a:lnTo>
                  <a:cubicBezTo>
                    <a:pt x="59563" y="646811"/>
                    <a:pt x="0" y="587121"/>
                    <a:pt x="0" y="513588"/>
                  </a:cubicBezTo>
                  <a:close/>
                </a:path>
              </a:pathLst>
            </a:custGeom>
            <a:solidFill>
              <a:srgbClr val="F1ECFD"/>
            </a:solidFill>
            <a:ln w="19050" cap="sq">
              <a:solidFill>
                <a:srgbClr val="D9CCF7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3607203" y="3972963"/>
            <a:ext cx="3428457" cy="669550"/>
            <a:chOff x="0" y="0"/>
            <a:chExt cx="4571276" cy="89273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571280" cy="892733"/>
            </a:xfrm>
            <a:custGeom>
              <a:avLst/>
              <a:gdLst/>
              <a:ahLst/>
              <a:cxnLst/>
              <a:rect r="r" b="b" t="t" l="l"/>
              <a:pathLst>
                <a:path h="892733" w="4571280">
                  <a:moveTo>
                    <a:pt x="0" y="0"/>
                  </a:moveTo>
                  <a:lnTo>
                    <a:pt x="4571280" y="0"/>
                  </a:lnTo>
                  <a:lnTo>
                    <a:pt x="4571280" y="892733"/>
                  </a:lnTo>
                  <a:lnTo>
                    <a:pt x="0" y="89273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4972" r="0" b="-34574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0"/>
              <a:ext cx="4571276" cy="89273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44"/>
                </a:lnSpc>
              </a:pPr>
              <a:r>
                <a:rPr lang="en-US" b="true" sz="1425" spc="-1">
                  <a:solidFill>
                    <a:srgbClr val="8C5BE0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Artifact Registry</a:t>
              </a:r>
            </a:p>
            <a:p>
              <a:pPr algn="ctr">
                <a:lnSpc>
                  <a:spcPts val="1285"/>
                </a:lnSpc>
              </a:pPr>
              <a:r>
                <a:rPr lang="en-US" sz="1050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컨테이너 이미지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291461" y="4581363"/>
            <a:ext cx="32404" cy="123120"/>
            <a:chOff x="0" y="0"/>
            <a:chExt cx="43205" cy="16416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3180" cy="164211"/>
            </a:xfrm>
            <a:custGeom>
              <a:avLst/>
              <a:gdLst/>
              <a:ahLst/>
              <a:cxnLst/>
              <a:rect r="r" b="b" t="t" l="l"/>
              <a:pathLst>
                <a:path h="164211" w="43180">
                  <a:moveTo>
                    <a:pt x="0" y="0"/>
                  </a:moveTo>
                  <a:lnTo>
                    <a:pt x="43180" y="0"/>
                  </a:lnTo>
                  <a:lnTo>
                    <a:pt x="43180" y="164211"/>
                  </a:lnTo>
                  <a:lnTo>
                    <a:pt x="0" y="164211"/>
                  </a:ln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-10800000">
            <a:off x="5199116" y="4691520"/>
            <a:ext cx="218704" cy="150124"/>
            <a:chOff x="0" y="0"/>
            <a:chExt cx="291605" cy="200165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91592" cy="200152"/>
            </a:xfrm>
            <a:custGeom>
              <a:avLst/>
              <a:gdLst/>
              <a:ahLst/>
              <a:cxnLst/>
              <a:rect r="r" b="b" t="t" l="l"/>
              <a:pathLst>
                <a:path h="200152" w="291592">
                  <a:moveTo>
                    <a:pt x="0" y="200152"/>
                  </a:moveTo>
                  <a:lnTo>
                    <a:pt x="145796" y="0"/>
                  </a:lnTo>
                  <a:lnTo>
                    <a:pt x="291592" y="200152"/>
                  </a:ln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5499897" y="4553817"/>
            <a:ext cx="1645377" cy="400431"/>
            <a:chOff x="0" y="0"/>
            <a:chExt cx="2193836" cy="53390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193840" cy="533912"/>
            </a:xfrm>
            <a:custGeom>
              <a:avLst/>
              <a:gdLst/>
              <a:ahLst/>
              <a:cxnLst/>
              <a:rect r="r" b="b" t="t" l="l"/>
              <a:pathLst>
                <a:path h="533912" w="2193840">
                  <a:moveTo>
                    <a:pt x="0" y="0"/>
                  </a:moveTo>
                  <a:lnTo>
                    <a:pt x="2193840" y="0"/>
                  </a:lnTo>
                  <a:lnTo>
                    <a:pt x="2193840" y="533912"/>
                  </a:lnTo>
                  <a:lnTo>
                    <a:pt x="0" y="53391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5878" r="0" b="-14248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9525"/>
              <a:ext cx="2193836" cy="52438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260"/>
                </a:lnSpc>
              </a:pPr>
              <a:r>
                <a:rPr lang="en-US" sz="1050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이미지 배포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169832" y="4846158"/>
            <a:ext cx="8275653" cy="759390"/>
            <a:chOff x="0" y="0"/>
            <a:chExt cx="11034204" cy="101252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1034141" cy="1012444"/>
            </a:xfrm>
            <a:custGeom>
              <a:avLst/>
              <a:gdLst/>
              <a:ahLst/>
              <a:cxnLst/>
              <a:rect r="r" b="b" t="t" l="l"/>
              <a:pathLst>
                <a:path h="1012444" w="11034141">
                  <a:moveTo>
                    <a:pt x="0" y="131191"/>
                  </a:moveTo>
                  <a:cubicBezTo>
                    <a:pt x="0" y="58801"/>
                    <a:pt x="58801" y="0"/>
                    <a:pt x="131191" y="0"/>
                  </a:cubicBezTo>
                  <a:lnTo>
                    <a:pt x="10902950" y="0"/>
                  </a:lnTo>
                  <a:cubicBezTo>
                    <a:pt x="10975467" y="0"/>
                    <a:pt x="11034141" y="58801"/>
                    <a:pt x="11034141" y="131191"/>
                  </a:cubicBezTo>
                  <a:lnTo>
                    <a:pt x="11034141" y="881253"/>
                  </a:lnTo>
                  <a:cubicBezTo>
                    <a:pt x="11034141" y="953770"/>
                    <a:pt x="10975340" y="1012444"/>
                    <a:pt x="10902950" y="1012444"/>
                  </a:cubicBezTo>
                  <a:lnTo>
                    <a:pt x="131191" y="1012444"/>
                  </a:lnTo>
                  <a:cubicBezTo>
                    <a:pt x="58801" y="1012571"/>
                    <a:pt x="0" y="953770"/>
                    <a:pt x="0" y="881253"/>
                  </a:cubicBezTo>
                  <a:close/>
                </a:path>
              </a:pathLst>
            </a:custGeom>
            <a:solidFill>
              <a:srgbClr val="F2F6FE"/>
            </a:solidFill>
            <a:ln w="19050" cap="sq">
              <a:solidFill>
                <a:srgbClr val="D3E0F8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344063" y="4766581"/>
            <a:ext cx="7872660" cy="464439"/>
            <a:chOff x="0" y="0"/>
            <a:chExt cx="10496880" cy="61925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496880" cy="619243"/>
            </a:xfrm>
            <a:custGeom>
              <a:avLst/>
              <a:gdLst/>
              <a:ahLst/>
              <a:cxnLst/>
              <a:rect r="r" b="b" t="t" l="l"/>
              <a:pathLst>
                <a:path h="619243" w="10496880">
                  <a:moveTo>
                    <a:pt x="0" y="0"/>
                  </a:moveTo>
                  <a:lnTo>
                    <a:pt x="10496880" y="0"/>
                  </a:lnTo>
                  <a:lnTo>
                    <a:pt x="10496880" y="619243"/>
                  </a:lnTo>
                  <a:lnTo>
                    <a:pt x="0" y="61924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5236" r="0" b="-25535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0"/>
              <a:ext cx="10496880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b="true" sz="1200" spc="-1">
                  <a:solidFill>
                    <a:srgbClr val="5277E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CLOUD RUN · 서비스 컨테이너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364856" y="5113130"/>
            <a:ext cx="2533288" cy="427225"/>
            <a:chOff x="0" y="0"/>
            <a:chExt cx="3377717" cy="56963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377692" cy="569684"/>
            </a:xfrm>
            <a:custGeom>
              <a:avLst/>
              <a:gdLst/>
              <a:ahLst/>
              <a:cxnLst/>
              <a:rect r="r" b="b" t="t" l="l"/>
              <a:pathLst>
                <a:path h="569684" w="3377692">
                  <a:moveTo>
                    <a:pt x="0" y="118680"/>
                  </a:moveTo>
                  <a:cubicBezTo>
                    <a:pt x="0" y="53180"/>
                    <a:pt x="43307" y="0"/>
                    <a:pt x="96647" y="0"/>
                  </a:cubicBezTo>
                  <a:lnTo>
                    <a:pt x="3281045" y="0"/>
                  </a:lnTo>
                  <a:cubicBezTo>
                    <a:pt x="3334385" y="0"/>
                    <a:pt x="3377692" y="53180"/>
                    <a:pt x="3377692" y="118680"/>
                  </a:cubicBezTo>
                  <a:lnTo>
                    <a:pt x="3377692" y="451015"/>
                  </a:lnTo>
                  <a:cubicBezTo>
                    <a:pt x="3377692" y="516516"/>
                    <a:pt x="3334385" y="569684"/>
                    <a:pt x="3281045" y="569684"/>
                  </a:cubicBezTo>
                  <a:lnTo>
                    <a:pt x="96647" y="569684"/>
                  </a:lnTo>
                  <a:cubicBezTo>
                    <a:pt x="43307" y="569684"/>
                    <a:pt x="0" y="516516"/>
                    <a:pt x="0" y="45101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3E0F8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1344063" y="4994939"/>
            <a:ext cx="2459164" cy="599122"/>
            <a:chOff x="0" y="0"/>
            <a:chExt cx="3278886" cy="79883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278880" cy="798830"/>
            </a:xfrm>
            <a:custGeom>
              <a:avLst/>
              <a:gdLst/>
              <a:ahLst/>
              <a:cxnLst/>
              <a:rect r="r" b="b" t="t" l="l"/>
              <a:pathLst>
                <a:path h="798830" w="3278880">
                  <a:moveTo>
                    <a:pt x="0" y="0"/>
                  </a:moveTo>
                  <a:lnTo>
                    <a:pt x="3278880" y="0"/>
                  </a:lnTo>
                  <a:lnTo>
                    <a:pt x="3278880" y="798830"/>
                  </a:lnTo>
                  <a:lnTo>
                    <a:pt x="0" y="79883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533" r="0" b="-7423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9525"/>
              <a:ext cx="3278886" cy="8083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b="true" sz="127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Frontend</a:t>
              </a:r>
            </a:p>
            <a:p>
              <a:pPr algn="ctr">
                <a:lnSpc>
                  <a:spcPts val="1170"/>
                </a:lnSpc>
              </a:pPr>
              <a:r>
                <a:rPr lang="en-US" sz="9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Next.js·공개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4041019" y="5110386"/>
            <a:ext cx="2533288" cy="427225"/>
            <a:chOff x="0" y="0"/>
            <a:chExt cx="3377717" cy="569633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377692" cy="569684"/>
            </a:xfrm>
            <a:custGeom>
              <a:avLst/>
              <a:gdLst/>
              <a:ahLst/>
              <a:cxnLst/>
              <a:rect r="r" b="b" t="t" l="l"/>
              <a:pathLst>
                <a:path h="569684" w="3377692">
                  <a:moveTo>
                    <a:pt x="0" y="118680"/>
                  </a:moveTo>
                  <a:cubicBezTo>
                    <a:pt x="0" y="53180"/>
                    <a:pt x="43307" y="0"/>
                    <a:pt x="96647" y="0"/>
                  </a:cubicBezTo>
                  <a:lnTo>
                    <a:pt x="3281045" y="0"/>
                  </a:lnTo>
                  <a:cubicBezTo>
                    <a:pt x="3334385" y="0"/>
                    <a:pt x="3377692" y="53180"/>
                    <a:pt x="3377692" y="118680"/>
                  </a:cubicBezTo>
                  <a:lnTo>
                    <a:pt x="3377692" y="451015"/>
                  </a:lnTo>
                  <a:cubicBezTo>
                    <a:pt x="3377692" y="516516"/>
                    <a:pt x="3334385" y="569684"/>
                    <a:pt x="3281045" y="569684"/>
                  </a:cubicBezTo>
                  <a:lnTo>
                    <a:pt x="96647" y="569684"/>
                  </a:lnTo>
                  <a:cubicBezTo>
                    <a:pt x="43307" y="569684"/>
                    <a:pt x="0" y="516516"/>
                    <a:pt x="0" y="45101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3E0F8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4115143" y="4996901"/>
            <a:ext cx="2459164" cy="599122"/>
            <a:chOff x="0" y="0"/>
            <a:chExt cx="3278886" cy="79883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3278880" cy="798830"/>
            </a:xfrm>
            <a:custGeom>
              <a:avLst/>
              <a:gdLst/>
              <a:ahLst/>
              <a:cxnLst/>
              <a:rect r="r" b="b" t="t" l="l"/>
              <a:pathLst>
                <a:path h="798830" w="3278880">
                  <a:moveTo>
                    <a:pt x="0" y="0"/>
                  </a:moveTo>
                  <a:lnTo>
                    <a:pt x="3278880" y="0"/>
                  </a:lnTo>
                  <a:lnTo>
                    <a:pt x="3278880" y="798830"/>
                  </a:lnTo>
                  <a:lnTo>
                    <a:pt x="0" y="79883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533" r="0" b="-7423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9525"/>
              <a:ext cx="3278886" cy="8083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b="true" sz="127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API Server</a:t>
              </a:r>
            </a:p>
            <a:p>
              <a:pPr algn="ctr">
                <a:lnSpc>
                  <a:spcPts val="1170"/>
                </a:lnSpc>
              </a:pPr>
              <a:r>
                <a:rPr lang="en-US" sz="9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FastAPI·공개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6717182" y="5113130"/>
            <a:ext cx="2533288" cy="424482"/>
            <a:chOff x="0" y="0"/>
            <a:chExt cx="3377717" cy="56597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377692" cy="566026"/>
            </a:xfrm>
            <a:custGeom>
              <a:avLst/>
              <a:gdLst/>
              <a:ahLst/>
              <a:cxnLst/>
              <a:rect r="r" b="b" t="t" l="l"/>
              <a:pathLst>
                <a:path h="566026" w="3377692">
                  <a:moveTo>
                    <a:pt x="0" y="117918"/>
                  </a:moveTo>
                  <a:cubicBezTo>
                    <a:pt x="0" y="52838"/>
                    <a:pt x="43307" y="0"/>
                    <a:pt x="96647" y="0"/>
                  </a:cubicBezTo>
                  <a:lnTo>
                    <a:pt x="3281045" y="0"/>
                  </a:lnTo>
                  <a:cubicBezTo>
                    <a:pt x="3334385" y="0"/>
                    <a:pt x="3377692" y="52838"/>
                    <a:pt x="3377692" y="117918"/>
                  </a:cubicBezTo>
                  <a:lnTo>
                    <a:pt x="3377692" y="448119"/>
                  </a:lnTo>
                  <a:cubicBezTo>
                    <a:pt x="3377692" y="513199"/>
                    <a:pt x="3334385" y="566026"/>
                    <a:pt x="3281045" y="566026"/>
                  </a:cubicBezTo>
                  <a:lnTo>
                    <a:pt x="96647" y="566026"/>
                  </a:lnTo>
                  <a:cubicBezTo>
                    <a:pt x="43307" y="566026"/>
                    <a:pt x="0" y="513199"/>
                    <a:pt x="0" y="44811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3E0F8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6869582" y="5001873"/>
            <a:ext cx="2347141" cy="599122"/>
            <a:chOff x="0" y="0"/>
            <a:chExt cx="3129521" cy="7988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129516" cy="798830"/>
            </a:xfrm>
            <a:custGeom>
              <a:avLst/>
              <a:gdLst/>
              <a:ahLst/>
              <a:cxnLst/>
              <a:rect r="r" b="b" t="t" l="l"/>
              <a:pathLst>
                <a:path h="798830" w="3129516">
                  <a:moveTo>
                    <a:pt x="0" y="0"/>
                  </a:moveTo>
                  <a:lnTo>
                    <a:pt x="3129516" y="0"/>
                  </a:lnTo>
                  <a:lnTo>
                    <a:pt x="3129516" y="798830"/>
                  </a:lnTo>
                  <a:lnTo>
                    <a:pt x="0" y="79883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533" r="-4772" b="-7423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9525"/>
              <a:ext cx="3129521" cy="8083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b="true" sz="127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Worker</a:t>
              </a:r>
            </a:p>
            <a:p>
              <a:pPr algn="ctr">
                <a:lnSpc>
                  <a:spcPts val="1170"/>
                </a:lnSpc>
              </a:pPr>
              <a:r>
                <a:rPr lang="en-US" sz="9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Celery·내부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2843098" y="5623560"/>
            <a:ext cx="32404" cy="116100"/>
            <a:chOff x="0" y="0"/>
            <a:chExt cx="43205" cy="1548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3180" cy="154813"/>
            </a:xfrm>
            <a:custGeom>
              <a:avLst/>
              <a:gdLst/>
              <a:ahLst/>
              <a:cxnLst/>
              <a:rect r="r" b="b" t="t" l="l"/>
              <a:pathLst>
                <a:path h="154813" w="43180">
                  <a:moveTo>
                    <a:pt x="0" y="0"/>
                  </a:moveTo>
                  <a:lnTo>
                    <a:pt x="43180" y="0"/>
                  </a:lnTo>
                  <a:lnTo>
                    <a:pt x="43180" y="154813"/>
                  </a:lnTo>
                  <a:lnTo>
                    <a:pt x="0" y="154813"/>
                  </a:ln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61" id="61"/>
          <p:cNvGrpSpPr/>
          <p:nvPr/>
        </p:nvGrpSpPr>
        <p:grpSpPr>
          <a:xfrm rot="-10800000">
            <a:off x="2750215" y="5703670"/>
            <a:ext cx="218704" cy="150124"/>
            <a:chOff x="0" y="0"/>
            <a:chExt cx="291605" cy="200165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91592" cy="200152"/>
            </a:xfrm>
            <a:custGeom>
              <a:avLst/>
              <a:gdLst/>
              <a:ahLst/>
              <a:cxnLst/>
              <a:rect r="r" b="b" t="t" l="l"/>
              <a:pathLst>
                <a:path h="200152" w="291592">
                  <a:moveTo>
                    <a:pt x="0" y="200152"/>
                  </a:moveTo>
                  <a:lnTo>
                    <a:pt x="145796" y="0"/>
                  </a:lnTo>
                  <a:lnTo>
                    <a:pt x="291592" y="200152"/>
                  </a:ln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7109098" y="5623560"/>
            <a:ext cx="32404" cy="116100"/>
            <a:chOff x="0" y="0"/>
            <a:chExt cx="43205" cy="1548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3180" cy="154813"/>
            </a:xfrm>
            <a:custGeom>
              <a:avLst/>
              <a:gdLst/>
              <a:ahLst/>
              <a:cxnLst/>
              <a:rect r="r" b="b" t="t" l="l"/>
              <a:pathLst>
                <a:path h="154813" w="43180">
                  <a:moveTo>
                    <a:pt x="0" y="0"/>
                  </a:moveTo>
                  <a:lnTo>
                    <a:pt x="43180" y="0"/>
                  </a:lnTo>
                  <a:lnTo>
                    <a:pt x="43180" y="154813"/>
                  </a:lnTo>
                  <a:lnTo>
                    <a:pt x="0" y="154813"/>
                  </a:ln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65" id="65"/>
          <p:cNvGrpSpPr/>
          <p:nvPr/>
        </p:nvGrpSpPr>
        <p:grpSpPr>
          <a:xfrm rot="-10800000">
            <a:off x="7015948" y="5688582"/>
            <a:ext cx="218704" cy="150124"/>
            <a:chOff x="0" y="0"/>
            <a:chExt cx="291605" cy="20016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91592" cy="200152"/>
            </a:xfrm>
            <a:custGeom>
              <a:avLst/>
              <a:gdLst/>
              <a:ahLst/>
              <a:cxnLst/>
              <a:rect r="r" b="b" t="t" l="l"/>
              <a:pathLst>
                <a:path h="200152" w="291592">
                  <a:moveTo>
                    <a:pt x="0" y="200152"/>
                  </a:moveTo>
                  <a:lnTo>
                    <a:pt x="145796" y="0"/>
                  </a:lnTo>
                  <a:lnTo>
                    <a:pt x="291592" y="200152"/>
                  </a:ln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3031298" y="5553065"/>
            <a:ext cx="1508217" cy="373189"/>
            <a:chOff x="0" y="0"/>
            <a:chExt cx="2010956" cy="49758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010960" cy="497585"/>
            </a:xfrm>
            <a:custGeom>
              <a:avLst/>
              <a:gdLst/>
              <a:ahLst/>
              <a:cxnLst/>
              <a:rect r="r" b="b" t="t" l="l"/>
              <a:pathLst>
                <a:path h="497585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497585"/>
                  </a:lnTo>
                  <a:lnTo>
                    <a:pt x="0" y="49758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5756" r="0" b="-11738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0"/>
              <a:ext cx="2010956" cy="4975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secret 주입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7297288" y="5540354"/>
            <a:ext cx="1645377" cy="373189"/>
            <a:chOff x="0" y="0"/>
            <a:chExt cx="2193836" cy="497586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3840" cy="497585"/>
            </a:xfrm>
            <a:custGeom>
              <a:avLst/>
              <a:gdLst/>
              <a:ahLst/>
              <a:cxnLst/>
              <a:rect r="r" b="b" t="t" l="l"/>
              <a:pathLst>
                <a:path h="497585" w="2193840">
                  <a:moveTo>
                    <a:pt x="0" y="0"/>
                  </a:moveTo>
                  <a:lnTo>
                    <a:pt x="2193840" y="0"/>
                  </a:lnTo>
                  <a:lnTo>
                    <a:pt x="2193840" y="497585"/>
                  </a:lnTo>
                  <a:lnTo>
                    <a:pt x="0" y="49758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17" r="0" b="-1890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0"/>
              <a:ext cx="2193836" cy="4975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170"/>
                </a:lnSpc>
              </a:pPr>
              <a:r>
                <a:rPr lang="en-US" sz="9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Private IP·VPC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69832" y="5860818"/>
            <a:ext cx="3378927" cy="704307"/>
            <a:chOff x="0" y="0"/>
            <a:chExt cx="4505236" cy="939076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4505198" cy="939038"/>
            </a:xfrm>
            <a:custGeom>
              <a:avLst/>
              <a:gdLst/>
              <a:ahLst/>
              <a:cxnLst/>
              <a:rect r="r" b="b" t="t" l="l"/>
              <a:pathLst>
                <a:path h="939038" w="4505198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4392549" y="0"/>
                  </a:lnTo>
                  <a:cubicBezTo>
                    <a:pt x="4454779" y="0"/>
                    <a:pt x="4505198" y="50419"/>
                    <a:pt x="4505198" y="112649"/>
                  </a:cubicBezTo>
                  <a:lnTo>
                    <a:pt x="4505198" y="826389"/>
                  </a:lnTo>
                  <a:cubicBezTo>
                    <a:pt x="4505198" y="888619"/>
                    <a:pt x="4454779" y="939038"/>
                    <a:pt x="4392549" y="939038"/>
                  </a:cubicBezTo>
                  <a:lnTo>
                    <a:pt x="112649" y="939038"/>
                  </a:lnTo>
                  <a:cubicBezTo>
                    <a:pt x="50419" y="939038"/>
                    <a:pt x="0" y="888619"/>
                    <a:pt x="0" y="826389"/>
                  </a:cubicBezTo>
                  <a:close/>
                </a:path>
              </a:pathLst>
            </a:custGeom>
            <a:solidFill>
              <a:srgbClr val="FCEEDC"/>
            </a:solidFill>
            <a:ln w="19050" cap="sq">
              <a:solidFill>
                <a:srgbClr val="F2CF9B"/>
              </a:solidFill>
              <a:prstDash val="solid"/>
              <a:miter/>
            </a:ln>
          </p:spPr>
        </p:sp>
      </p:grpSp>
      <p:grpSp>
        <p:nvGrpSpPr>
          <p:cNvPr name="Group 75" id="75"/>
          <p:cNvGrpSpPr/>
          <p:nvPr/>
        </p:nvGrpSpPr>
        <p:grpSpPr>
          <a:xfrm rot="0">
            <a:off x="1261977" y="5870343"/>
            <a:ext cx="3195180" cy="685260"/>
            <a:chOff x="0" y="0"/>
            <a:chExt cx="4260240" cy="91368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260240" cy="913684"/>
            </a:xfrm>
            <a:custGeom>
              <a:avLst/>
              <a:gdLst/>
              <a:ahLst/>
              <a:cxnLst/>
              <a:rect r="r" b="b" t="t" l="l"/>
              <a:pathLst>
                <a:path h="913684" w="4260240">
                  <a:moveTo>
                    <a:pt x="0" y="0"/>
                  </a:moveTo>
                  <a:lnTo>
                    <a:pt x="4260240" y="0"/>
                  </a:lnTo>
                  <a:lnTo>
                    <a:pt x="4260240" y="913684"/>
                  </a:lnTo>
                  <a:lnTo>
                    <a:pt x="0" y="9136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0853" r="0" b="-40852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9525"/>
              <a:ext cx="4260240" cy="923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2"/>
                </a:lnSpc>
              </a:pPr>
              <a:r>
                <a:rPr lang="en-US" b="true" sz="1350" spc="-1">
                  <a:solidFill>
                    <a:srgbClr val="E08A33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Secret Manager ×17</a:t>
              </a:r>
            </a:p>
            <a:p>
              <a:pPr algn="ctr">
                <a:lnSpc>
                  <a:spcPts val="1285"/>
                </a:lnSpc>
              </a:pPr>
              <a:r>
                <a:rPr lang="en-US" sz="1050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neo4j 3 · db · oauth · *-url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4804572" y="5860818"/>
            <a:ext cx="4640913" cy="704307"/>
            <a:chOff x="0" y="0"/>
            <a:chExt cx="6187884" cy="939076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187821" cy="939038"/>
            </a:xfrm>
            <a:custGeom>
              <a:avLst/>
              <a:gdLst/>
              <a:ahLst/>
              <a:cxnLst/>
              <a:rect r="r" b="b" t="t" l="l"/>
              <a:pathLst>
                <a:path h="939038" w="6187821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6075172" y="0"/>
                  </a:lnTo>
                  <a:cubicBezTo>
                    <a:pt x="6137402" y="0"/>
                    <a:pt x="6187821" y="50419"/>
                    <a:pt x="6187821" y="112649"/>
                  </a:cubicBezTo>
                  <a:lnTo>
                    <a:pt x="6187821" y="826389"/>
                  </a:lnTo>
                  <a:cubicBezTo>
                    <a:pt x="6187821" y="888619"/>
                    <a:pt x="6137402" y="939038"/>
                    <a:pt x="6075172" y="939038"/>
                  </a:cubicBezTo>
                  <a:lnTo>
                    <a:pt x="112649" y="939038"/>
                  </a:lnTo>
                  <a:cubicBezTo>
                    <a:pt x="50419" y="939038"/>
                    <a:pt x="0" y="888619"/>
                    <a:pt x="0" y="826389"/>
                  </a:cubicBezTo>
                  <a:close/>
                </a:path>
              </a:pathLst>
            </a:custGeom>
            <a:solidFill>
              <a:srgbClr val="EEF7F1"/>
            </a:solidFill>
            <a:ln w="19050" cap="sq">
              <a:solidFill>
                <a:srgbClr val="CBE6D5"/>
              </a:solidFill>
              <a:prstDash val="solid"/>
              <a:miter/>
            </a:ln>
          </p:spPr>
        </p:sp>
      </p:grpSp>
      <p:grpSp>
        <p:nvGrpSpPr>
          <p:cNvPr name="Group 80" id="80"/>
          <p:cNvGrpSpPr/>
          <p:nvPr/>
        </p:nvGrpSpPr>
        <p:grpSpPr>
          <a:xfrm rot="0">
            <a:off x="4896717" y="5870343"/>
            <a:ext cx="4457157" cy="685260"/>
            <a:chOff x="0" y="0"/>
            <a:chExt cx="5942876" cy="91368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5942880" cy="913684"/>
            </a:xfrm>
            <a:custGeom>
              <a:avLst/>
              <a:gdLst/>
              <a:ahLst/>
              <a:cxnLst/>
              <a:rect r="r" b="b" t="t" l="l"/>
              <a:pathLst>
                <a:path h="913684" w="5942880">
                  <a:moveTo>
                    <a:pt x="0" y="0"/>
                  </a:moveTo>
                  <a:lnTo>
                    <a:pt x="5942880" y="0"/>
                  </a:lnTo>
                  <a:lnTo>
                    <a:pt x="5942880" y="913684"/>
                  </a:lnTo>
                  <a:lnTo>
                    <a:pt x="0" y="91368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6737" r="0" b="-76736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9525"/>
              <a:ext cx="5942876" cy="923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60"/>
                </a:lnSpc>
              </a:pPr>
              <a:r>
                <a:rPr lang="en-US" b="true" sz="1275" spc="-1">
                  <a:solidFill>
                    <a:srgbClr val="2E9E4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DATA LAYER · Private IP</a:t>
              </a:r>
            </a:p>
            <a:p>
              <a:pPr algn="ctr">
                <a:lnSpc>
                  <a:spcPts val="1285"/>
                </a:lnSpc>
              </a:pPr>
              <a:r>
                <a:rPr lang="en-US" sz="1050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Cloud SQL(PG16) · Memorystore(Redis) · GCS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3659581" y="6775923"/>
            <a:ext cx="32404" cy="34023"/>
            <a:chOff x="0" y="0"/>
            <a:chExt cx="43205" cy="45364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3180" cy="45339"/>
            </a:xfrm>
            <a:custGeom>
              <a:avLst/>
              <a:gdLst/>
              <a:ahLst/>
              <a:cxnLst/>
              <a:rect r="r" b="b" t="t" l="l"/>
              <a:pathLst>
                <a:path h="45339" w="43180">
                  <a:moveTo>
                    <a:pt x="0" y="0"/>
                  </a:moveTo>
                  <a:lnTo>
                    <a:pt x="43180" y="0"/>
                  </a:lnTo>
                  <a:lnTo>
                    <a:pt x="43180" y="45339"/>
                  </a:lnTo>
                  <a:lnTo>
                    <a:pt x="0" y="45339"/>
                  </a:ln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85" id="85"/>
          <p:cNvGrpSpPr/>
          <p:nvPr/>
        </p:nvGrpSpPr>
        <p:grpSpPr>
          <a:xfrm rot="-10800000">
            <a:off x="3566703" y="6796983"/>
            <a:ext cx="218704" cy="150124"/>
            <a:chOff x="0" y="0"/>
            <a:chExt cx="291605" cy="200165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291592" cy="200152"/>
            </a:xfrm>
            <a:custGeom>
              <a:avLst/>
              <a:gdLst/>
              <a:ahLst/>
              <a:cxnLst/>
              <a:rect r="r" b="b" t="t" l="l"/>
              <a:pathLst>
                <a:path h="200152" w="291592">
                  <a:moveTo>
                    <a:pt x="0" y="200152"/>
                  </a:moveTo>
                  <a:lnTo>
                    <a:pt x="145796" y="0"/>
                  </a:lnTo>
                  <a:lnTo>
                    <a:pt x="291592" y="200152"/>
                  </a:ln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87" id="87"/>
          <p:cNvGrpSpPr/>
          <p:nvPr/>
        </p:nvGrpSpPr>
        <p:grpSpPr>
          <a:xfrm rot="0">
            <a:off x="8226904" y="6775923"/>
            <a:ext cx="32404" cy="34023"/>
            <a:chOff x="0" y="0"/>
            <a:chExt cx="43205" cy="45364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43180" cy="45339"/>
            </a:xfrm>
            <a:custGeom>
              <a:avLst/>
              <a:gdLst/>
              <a:ahLst/>
              <a:cxnLst/>
              <a:rect r="r" b="b" t="t" l="l"/>
              <a:pathLst>
                <a:path h="45339" w="43180">
                  <a:moveTo>
                    <a:pt x="0" y="0"/>
                  </a:moveTo>
                  <a:lnTo>
                    <a:pt x="43180" y="0"/>
                  </a:lnTo>
                  <a:lnTo>
                    <a:pt x="43180" y="45339"/>
                  </a:lnTo>
                  <a:lnTo>
                    <a:pt x="0" y="45339"/>
                  </a:ln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89" id="89"/>
          <p:cNvGrpSpPr/>
          <p:nvPr/>
        </p:nvGrpSpPr>
        <p:grpSpPr>
          <a:xfrm rot="-10800000">
            <a:off x="8134560" y="6796983"/>
            <a:ext cx="218704" cy="150124"/>
            <a:chOff x="0" y="0"/>
            <a:chExt cx="291605" cy="200165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291592" cy="200152"/>
            </a:xfrm>
            <a:custGeom>
              <a:avLst/>
              <a:gdLst/>
              <a:ahLst/>
              <a:cxnLst/>
              <a:rect r="r" b="b" t="t" l="l"/>
              <a:pathLst>
                <a:path h="200152" w="291592">
                  <a:moveTo>
                    <a:pt x="0" y="200152"/>
                  </a:moveTo>
                  <a:lnTo>
                    <a:pt x="145796" y="0"/>
                  </a:lnTo>
                  <a:lnTo>
                    <a:pt x="291592" y="200152"/>
                  </a:ln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91" id="91"/>
          <p:cNvGrpSpPr/>
          <p:nvPr/>
        </p:nvGrpSpPr>
        <p:grpSpPr>
          <a:xfrm rot="0">
            <a:off x="838591" y="6928171"/>
            <a:ext cx="5674376" cy="1202636"/>
            <a:chOff x="0" y="0"/>
            <a:chExt cx="7565834" cy="1603515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7565771" cy="1603502"/>
            </a:xfrm>
            <a:custGeom>
              <a:avLst/>
              <a:gdLst/>
              <a:ahLst/>
              <a:cxnLst/>
              <a:rect r="r" b="b" t="t" l="l"/>
              <a:pathLst>
                <a:path h="1603502" w="7565771">
                  <a:moveTo>
                    <a:pt x="0" y="149098"/>
                  </a:moveTo>
                  <a:cubicBezTo>
                    <a:pt x="0" y="66802"/>
                    <a:pt x="66802" y="0"/>
                    <a:pt x="149098" y="0"/>
                  </a:cubicBezTo>
                  <a:lnTo>
                    <a:pt x="7416673" y="0"/>
                  </a:lnTo>
                  <a:cubicBezTo>
                    <a:pt x="7499096" y="0"/>
                    <a:pt x="7565771" y="66802"/>
                    <a:pt x="7565771" y="149098"/>
                  </a:cubicBezTo>
                  <a:lnTo>
                    <a:pt x="7565771" y="1454404"/>
                  </a:lnTo>
                  <a:cubicBezTo>
                    <a:pt x="7565771" y="1536827"/>
                    <a:pt x="7498969" y="1603502"/>
                    <a:pt x="7416673" y="1603502"/>
                  </a:cubicBezTo>
                  <a:lnTo>
                    <a:pt x="149098" y="1603502"/>
                  </a:lnTo>
                  <a:cubicBezTo>
                    <a:pt x="66802" y="1603502"/>
                    <a:pt x="0" y="1536700"/>
                    <a:pt x="0" y="1454404"/>
                  </a:cubicBezTo>
                  <a:close/>
                </a:path>
              </a:pathLst>
            </a:custGeom>
            <a:solidFill>
              <a:srgbClr val="F1ECFD"/>
            </a:solidFill>
            <a:ln w="23812" cap="sq">
              <a:solidFill>
                <a:srgbClr val="7C46CE"/>
              </a:solidFill>
              <a:prstDash val="solid"/>
              <a:miter/>
            </a:ln>
          </p:spPr>
        </p:sp>
      </p:grpSp>
      <p:grpSp>
        <p:nvGrpSpPr>
          <p:cNvPr name="Group 93" id="93"/>
          <p:cNvGrpSpPr/>
          <p:nvPr/>
        </p:nvGrpSpPr>
        <p:grpSpPr>
          <a:xfrm rot="0">
            <a:off x="1042197" y="6940077"/>
            <a:ext cx="5293624" cy="1178820"/>
            <a:chOff x="0" y="0"/>
            <a:chExt cx="7058165" cy="157176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7058160" cy="1571755"/>
            </a:xfrm>
            <a:custGeom>
              <a:avLst/>
              <a:gdLst/>
              <a:ahLst/>
              <a:cxnLst/>
              <a:rect r="r" b="b" t="t" l="l"/>
              <a:pathLst>
                <a:path h="1571755" w="7058160">
                  <a:moveTo>
                    <a:pt x="0" y="0"/>
                  </a:moveTo>
                  <a:lnTo>
                    <a:pt x="7058160" y="0"/>
                  </a:lnTo>
                  <a:lnTo>
                    <a:pt x="7058160" y="1571755"/>
                  </a:lnTo>
                  <a:lnTo>
                    <a:pt x="0" y="157175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499" r="0" b="-37500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9525"/>
              <a:ext cx="7058165" cy="1581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-1">
                  <a:solidFill>
                    <a:srgbClr val="7C46C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★ ② Modal — AI 에이전트 서빙 </a:t>
              </a:r>
              <a:r>
                <a:rPr lang="en-US" sz="1350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(GPU 서버리스 · 별도 배포)</a:t>
              </a:r>
            </a:p>
            <a:p>
              <a:pPr algn="l">
                <a:lnSpc>
                  <a:spcPts val="1431"/>
                </a:lnSpc>
              </a:pPr>
            </a:p>
            <a:p>
              <a:pPr algn="l">
                <a:lnSpc>
                  <a:spcPts val="1431"/>
                </a:lnSpc>
              </a:pPr>
              <a:r>
                <a:rPr lang="en-US" sz="1125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orchestrator · composer · skills-builder · personalization · llm-base</a:t>
              </a:r>
            </a:p>
            <a:p>
              <a:pPr algn="l">
                <a:lnSpc>
                  <a:spcPts val="1335"/>
                </a:lnSpc>
              </a:pPr>
              <a:r>
                <a:rPr lang="en-US" sz="105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Gemma4 · BGE-M3   ◀ api_server [orchestrator-url 시크릿]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6708934" y="6928171"/>
            <a:ext cx="3068336" cy="1202636"/>
            <a:chOff x="0" y="0"/>
            <a:chExt cx="4091114" cy="1603515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4091051" cy="1603502"/>
            </a:xfrm>
            <a:custGeom>
              <a:avLst/>
              <a:gdLst/>
              <a:ahLst/>
              <a:cxnLst/>
              <a:rect r="r" b="b" t="t" l="l"/>
              <a:pathLst>
                <a:path h="1603502" w="4091051">
                  <a:moveTo>
                    <a:pt x="0" y="149098"/>
                  </a:moveTo>
                  <a:cubicBezTo>
                    <a:pt x="0" y="66802"/>
                    <a:pt x="66802" y="0"/>
                    <a:pt x="149098" y="0"/>
                  </a:cubicBezTo>
                  <a:lnTo>
                    <a:pt x="3941953" y="0"/>
                  </a:lnTo>
                  <a:cubicBezTo>
                    <a:pt x="4024376" y="0"/>
                    <a:pt x="4091051" y="66802"/>
                    <a:pt x="4091051" y="149098"/>
                  </a:cubicBezTo>
                  <a:lnTo>
                    <a:pt x="4091051" y="1454404"/>
                  </a:lnTo>
                  <a:cubicBezTo>
                    <a:pt x="4091051" y="1536827"/>
                    <a:pt x="4024249" y="1603502"/>
                    <a:pt x="3941953" y="1603502"/>
                  </a:cubicBezTo>
                  <a:lnTo>
                    <a:pt x="149098" y="1603502"/>
                  </a:lnTo>
                  <a:cubicBezTo>
                    <a:pt x="66802" y="1603502"/>
                    <a:pt x="0" y="1536700"/>
                    <a:pt x="0" y="1454404"/>
                  </a:cubicBezTo>
                  <a:close/>
                </a:path>
              </a:pathLst>
            </a:custGeom>
            <a:solidFill>
              <a:srgbClr val="EAF0FE"/>
            </a:solidFill>
            <a:ln w="23812" cap="sq">
              <a:solidFill>
                <a:srgbClr val="5277E8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297560" y="6886146"/>
            <a:ext cx="2742657" cy="1178820"/>
            <a:chOff x="0" y="0"/>
            <a:chExt cx="3656876" cy="1571760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3656880" cy="1571755"/>
            </a:xfrm>
            <a:custGeom>
              <a:avLst/>
              <a:gdLst/>
              <a:ahLst/>
              <a:cxnLst/>
              <a:rect r="r" b="b" t="t" l="l"/>
              <a:pathLst>
                <a:path h="1571755" w="3656880">
                  <a:moveTo>
                    <a:pt x="0" y="0"/>
                  </a:moveTo>
                  <a:lnTo>
                    <a:pt x="3656880" y="0"/>
                  </a:lnTo>
                  <a:lnTo>
                    <a:pt x="3656880" y="1571755"/>
                  </a:lnTo>
                  <a:lnTo>
                    <a:pt x="0" y="157175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146" t="0" r="-5146" b="0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19050"/>
              <a:ext cx="3656876" cy="15908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82"/>
                </a:lnSpc>
              </a:pPr>
              <a:r>
                <a:rPr lang="en-US" b="true" sz="1350" spc="-1">
                  <a:solidFill>
                    <a:srgbClr val="5277E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★ ③ Neo4j AuraDB</a:t>
              </a:r>
            </a:p>
            <a:p>
              <a:pPr algn="l">
                <a:lnSpc>
                  <a:spcPts val="1485"/>
                </a:lnSpc>
              </a:pPr>
              <a:r>
                <a:rPr lang="en-US" sz="112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온톨로지 그래프 · 외부 SaaS</a:t>
              </a:r>
            </a:p>
            <a:p>
              <a:pPr algn="l">
                <a:lnSpc>
                  <a:spcPts val="1386"/>
                </a:lnSpc>
              </a:pPr>
              <a:r>
                <a:rPr lang="en-US" sz="105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◀ neo4j-* 시크릿 연결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10040217" y="2566864"/>
            <a:ext cx="7406097" cy="664654"/>
            <a:chOff x="0" y="0"/>
            <a:chExt cx="9874796" cy="886206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9874800" cy="886205"/>
            </a:xfrm>
            <a:custGeom>
              <a:avLst/>
              <a:gdLst/>
              <a:ahLst/>
              <a:cxnLst/>
              <a:rect r="r" b="b" t="t" l="l"/>
              <a:pathLst>
                <a:path h="886205" w="9874800">
                  <a:moveTo>
                    <a:pt x="0" y="0"/>
                  </a:moveTo>
                  <a:lnTo>
                    <a:pt x="9874800" y="0"/>
                  </a:lnTo>
                  <a:lnTo>
                    <a:pt x="9874800" y="886205"/>
                  </a:lnTo>
                  <a:lnTo>
                    <a:pt x="0" y="88620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8275" r="0" b="-145959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0"/>
              <a:ext cx="9874796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SA 최소 권한 격리 (서비스별 전용 · 3계정)</a:t>
              </a:r>
            </a:p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10030692" y="3117618"/>
            <a:ext cx="7425147" cy="649234"/>
            <a:chOff x="0" y="0"/>
            <a:chExt cx="9900196" cy="865645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9900158" cy="865632"/>
            </a:xfrm>
            <a:custGeom>
              <a:avLst/>
              <a:gdLst/>
              <a:ahLst/>
              <a:cxnLst/>
              <a:rect r="r" b="b" t="t" l="l"/>
              <a:pathLst>
                <a:path h="865632" w="9900158">
                  <a:moveTo>
                    <a:pt x="0" y="112903"/>
                  </a:moveTo>
                  <a:cubicBezTo>
                    <a:pt x="0" y="50546"/>
                    <a:pt x="50546" y="0"/>
                    <a:pt x="112903" y="0"/>
                  </a:cubicBezTo>
                  <a:lnTo>
                    <a:pt x="9787255" y="0"/>
                  </a:lnTo>
                  <a:cubicBezTo>
                    <a:pt x="9849612" y="0"/>
                    <a:pt x="9900158" y="50546"/>
                    <a:pt x="9900158" y="112903"/>
                  </a:cubicBezTo>
                  <a:lnTo>
                    <a:pt x="9900158" y="752729"/>
                  </a:lnTo>
                  <a:cubicBezTo>
                    <a:pt x="9900158" y="815086"/>
                    <a:pt x="9849612" y="865632"/>
                    <a:pt x="9787255" y="865632"/>
                  </a:cubicBezTo>
                  <a:lnTo>
                    <a:pt x="112903" y="865632"/>
                  </a:lnTo>
                  <a:cubicBezTo>
                    <a:pt x="50546" y="865632"/>
                    <a:pt x="0" y="815086"/>
                    <a:pt x="0" y="75272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CF2"/>
              </a:solidFill>
              <a:prstDash val="solid"/>
              <a:miter/>
            </a:ln>
          </p:spPr>
        </p:sp>
      </p:grpSp>
      <p:grpSp>
        <p:nvGrpSpPr>
          <p:cNvPr name="Group 106" id="106"/>
          <p:cNvGrpSpPr/>
          <p:nvPr/>
        </p:nvGrpSpPr>
        <p:grpSpPr>
          <a:xfrm rot="0">
            <a:off x="10040217" y="3127143"/>
            <a:ext cx="95583" cy="630184"/>
            <a:chOff x="0" y="0"/>
            <a:chExt cx="127444" cy="840245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127508" cy="840232"/>
            </a:xfrm>
            <a:custGeom>
              <a:avLst/>
              <a:gdLst/>
              <a:ahLst/>
              <a:cxnLst/>
              <a:rect r="r" b="b" t="t" l="l"/>
              <a:pathLst>
                <a:path h="840232" w="127508">
                  <a:moveTo>
                    <a:pt x="0" y="36449"/>
                  </a:moveTo>
                  <a:cubicBezTo>
                    <a:pt x="0" y="16256"/>
                    <a:pt x="16256" y="0"/>
                    <a:pt x="36449" y="0"/>
                  </a:cubicBezTo>
                  <a:lnTo>
                    <a:pt x="91059" y="0"/>
                  </a:lnTo>
                  <a:cubicBezTo>
                    <a:pt x="111125" y="0"/>
                    <a:pt x="127508" y="16256"/>
                    <a:pt x="127508" y="36449"/>
                  </a:cubicBezTo>
                  <a:lnTo>
                    <a:pt x="127508" y="803783"/>
                  </a:lnTo>
                  <a:cubicBezTo>
                    <a:pt x="127508" y="823849"/>
                    <a:pt x="111252" y="840232"/>
                    <a:pt x="91059" y="840232"/>
                  </a:cubicBezTo>
                  <a:lnTo>
                    <a:pt x="36449" y="840232"/>
                  </a:lnTo>
                  <a:cubicBezTo>
                    <a:pt x="16256" y="840232"/>
                    <a:pt x="0" y="823976"/>
                    <a:pt x="0" y="803783"/>
                  </a:cubicBezTo>
                  <a:close/>
                </a:path>
              </a:pathLst>
            </a:custGeom>
            <a:solidFill>
              <a:srgbClr val="F0664E"/>
            </a:solidFill>
          </p:spPr>
        </p:sp>
      </p:grpSp>
      <p:grpSp>
        <p:nvGrpSpPr>
          <p:cNvPr name="Group 108" id="108"/>
          <p:cNvGrpSpPr/>
          <p:nvPr/>
        </p:nvGrpSpPr>
        <p:grpSpPr>
          <a:xfrm rot="0">
            <a:off x="10314537" y="3086429"/>
            <a:ext cx="6994617" cy="711613"/>
            <a:chOff x="0" y="0"/>
            <a:chExt cx="9326156" cy="948817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9326160" cy="948812"/>
            </a:xfrm>
            <a:custGeom>
              <a:avLst/>
              <a:gdLst/>
              <a:ahLst/>
              <a:cxnLst/>
              <a:rect r="r" b="b" t="t" l="l"/>
              <a:pathLst>
                <a:path h="948812" w="9326160">
                  <a:moveTo>
                    <a:pt x="0" y="0"/>
                  </a:moveTo>
                  <a:lnTo>
                    <a:pt x="9326160" y="0"/>
                  </a:lnTo>
                  <a:lnTo>
                    <a:pt x="9326160" y="948812"/>
                  </a:lnTo>
                  <a:lnTo>
                    <a:pt x="0" y="94881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7245" r="0" b="-135803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9525"/>
              <a:ext cx="9326156" cy="9583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4"/>
                </a:lnSpc>
              </a:pPr>
              <a:r>
                <a:rPr lang="en-US" b="true" sz="1350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API · workflow-api-{env}-sa</a:t>
              </a:r>
            </a:p>
            <a:p>
              <a:pPr algn="l">
                <a:lnSpc>
                  <a:spcPts val="1591"/>
                </a:lnSpc>
              </a:pPr>
              <a:r>
                <a:rPr lang="en-US" sz="12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DB ✓ · Secret ~15 · GCS ✓ · Worker ✗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0030692" y="3823935"/>
            <a:ext cx="7425147" cy="649234"/>
            <a:chOff x="0" y="0"/>
            <a:chExt cx="9900196" cy="865645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9900158" cy="865632"/>
            </a:xfrm>
            <a:custGeom>
              <a:avLst/>
              <a:gdLst/>
              <a:ahLst/>
              <a:cxnLst/>
              <a:rect r="r" b="b" t="t" l="l"/>
              <a:pathLst>
                <a:path h="865632" w="9900158">
                  <a:moveTo>
                    <a:pt x="0" y="112903"/>
                  </a:moveTo>
                  <a:cubicBezTo>
                    <a:pt x="0" y="50546"/>
                    <a:pt x="50546" y="0"/>
                    <a:pt x="112903" y="0"/>
                  </a:cubicBezTo>
                  <a:lnTo>
                    <a:pt x="9787255" y="0"/>
                  </a:lnTo>
                  <a:cubicBezTo>
                    <a:pt x="9849612" y="0"/>
                    <a:pt x="9900158" y="50546"/>
                    <a:pt x="9900158" y="112903"/>
                  </a:cubicBezTo>
                  <a:lnTo>
                    <a:pt x="9900158" y="752729"/>
                  </a:lnTo>
                  <a:cubicBezTo>
                    <a:pt x="9900158" y="815086"/>
                    <a:pt x="9849612" y="865632"/>
                    <a:pt x="9787255" y="865632"/>
                  </a:cubicBezTo>
                  <a:lnTo>
                    <a:pt x="112903" y="865632"/>
                  </a:lnTo>
                  <a:cubicBezTo>
                    <a:pt x="50546" y="865632"/>
                    <a:pt x="0" y="815086"/>
                    <a:pt x="0" y="75272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CF2"/>
              </a:solidFill>
              <a:prstDash val="solid"/>
              <a:miter/>
            </a:ln>
          </p:spPr>
        </p:sp>
      </p:grpSp>
      <p:grpSp>
        <p:nvGrpSpPr>
          <p:cNvPr name="Group 113" id="113"/>
          <p:cNvGrpSpPr/>
          <p:nvPr/>
        </p:nvGrpSpPr>
        <p:grpSpPr>
          <a:xfrm rot="0">
            <a:off x="10040217" y="3833460"/>
            <a:ext cx="95583" cy="630184"/>
            <a:chOff x="0" y="0"/>
            <a:chExt cx="127444" cy="840245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127508" cy="840232"/>
            </a:xfrm>
            <a:custGeom>
              <a:avLst/>
              <a:gdLst/>
              <a:ahLst/>
              <a:cxnLst/>
              <a:rect r="r" b="b" t="t" l="l"/>
              <a:pathLst>
                <a:path h="840232" w="127508">
                  <a:moveTo>
                    <a:pt x="0" y="36449"/>
                  </a:moveTo>
                  <a:cubicBezTo>
                    <a:pt x="0" y="16256"/>
                    <a:pt x="16256" y="0"/>
                    <a:pt x="36449" y="0"/>
                  </a:cubicBezTo>
                  <a:lnTo>
                    <a:pt x="91059" y="0"/>
                  </a:lnTo>
                  <a:cubicBezTo>
                    <a:pt x="111125" y="0"/>
                    <a:pt x="127508" y="16256"/>
                    <a:pt x="127508" y="36449"/>
                  </a:cubicBezTo>
                  <a:lnTo>
                    <a:pt x="127508" y="803783"/>
                  </a:lnTo>
                  <a:cubicBezTo>
                    <a:pt x="127508" y="823849"/>
                    <a:pt x="111252" y="840232"/>
                    <a:pt x="91059" y="840232"/>
                  </a:cubicBezTo>
                  <a:lnTo>
                    <a:pt x="36449" y="840232"/>
                  </a:lnTo>
                  <a:cubicBezTo>
                    <a:pt x="16256" y="840232"/>
                    <a:pt x="0" y="823976"/>
                    <a:pt x="0" y="803783"/>
                  </a:cubicBezTo>
                  <a:close/>
                </a:path>
              </a:pathLst>
            </a:custGeom>
            <a:solidFill>
              <a:srgbClr val="5277E8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0314546" y="3798456"/>
            <a:ext cx="6994617" cy="711613"/>
            <a:chOff x="0" y="0"/>
            <a:chExt cx="9326156" cy="948817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9326160" cy="948812"/>
            </a:xfrm>
            <a:custGeom>
              <a:avLst/>
              <a:gdLst/>
              <a:ahLst/>
              <a:cxnLst/>
              <a:rect r="r" b="b" t="t" l="l"/>
              <a:pathLst>
                <a:path h="948812" w="9326160">
                  <a:moveTo>
                    <a:pt x="0" y="0"/>
                  </a:moveTo>
                  <a:lnTo>
                    <a:pt x="9326160" y="0"/>
                  </a:lnTo>
                  <a:lnTo>
                    <a:pt x="9326160" y="948812"/>
                  </a:lnTo>
                  <a:lnTo>
                    <a:pt x="0" y="94881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7245" r="0" b="-135803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9525"/>
              <a:ext cx="9326156" cy="9583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4"/>
                </a:lnSpc>
              </a:pPr>
              <a:r>
                <a:rPr lang="en-US" b="true" sz="1350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Worker · workflow-worker-{env}-sa</a:t>
              </a:r>
            </a:p>
            <a:p>
              <a:pPr algn="l">
                <a:lnSpc>
                  <a:spcPts val="1591"/>
                </a:lnSpc>
              </a:pPr>
              <a:r>
                <a:rPr lang="en-US" sz="12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DB ✓ · Secret 7 · GCS 암호화 키만 · Worker —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0030692" y="4530252"/>
            <a:ext cx="7425147" cy="649234"/>
            <a:chOff x="0" y="0"/>
            <a:chExt cx="9900196" cy="865645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9900158" cy="865632"/>
            </a:xfrm>
            <a:custGeom>
              <a:avLst/>
              <a:gdLst/>
              <a:ahLst/>
              <a:cxnLst/>
              <a:rect r="r" b="b" t="t" l="l"/>
              <a:pathLst>
                <a:path h="865632" w="9900158">
                  <a:moveTo>
                    <a:pt x="0" y="112903"/>
                  </a:moveTo>
                  <a:cubicBezTo>
                    <a:pt x="0" y="50546"/>
                    <a:pt x="50546" y="0"/>
                    <a:pt x="112903" y="0"/>
                  </a:cubicBezTo>
                  <a:lnTo>
                    <a:pt x="9787255" y="0"/>
                  </a:lnTo>
                  <a:cubicBezTo>
                    <a:pt x="9849612" y="0"/>
                    <a:pt x="9900158" y="50546"/>
                    <a:pt x="9900158" y="112903"/>
                  </a:cubicBezTo>
                  <a:lnTo>
                    <a:pt x="9900158" y="752729"/>
                  </a:lnTo>
                  <a:cubicBezTo>
                    <a:pt x="9900158" y="815086"/>
                    <a:pt x="9849612" y="865632"/>
                    <a:pt x="9787255" y="865632"/>
                  </a:cubicBezTo>
                  <a:lnTo>
                    <a:pt x="112903" y="865632"/>
                  </a:lnTo>
                  <a:cubicBezTo>
                    <a:pt x="50546" y="865632"/>
                    <a:pt x="0" y="815086"/>
                    <a:pt x="0" y="75272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CECF2"/>
              </a:solidFill>
              <a:prstDash val="solid"/>
              <a:miter/>
            </a:ln>
          </p:spPr>
        </p:sp>
      </p:grpSp>
      <p:grpSp>
        <p:nvGrpSpPr>
          <p:cNvPr name="Group 120" id="120"/>
          <p:cNvGrpSpPr/>
          <p:nvPr/>
        </p:nvGrpSpPr>
        <p:grpSpPr>
          <a:xfrm rot="0">
            <a:off x="10040217" y="4539777"/>
            <a:ext cx="95583" cy="630184"/>
            <a:chOff x="0" y="0"/>
            <a:chExt cx="127444" cy="840245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127508" cy="840232"/>
            </a:xfrm>
            <a:custGeom>
              <a:avLst/>
              <a:gdLst/>
              <a:ahLst/>
              <a:cxnLst/>
              <a:rect r="r" b="b" t="t" l="l"/>
              <a:pathLst>
                <a:path h="840232" w="127508">
                  <a:moveTo>
                    <a:pt x="0" y="36449"/>
                  </a:moveTo>
                  <a:cubicBezTo>
                    <a:pt x="0" y="16256"/>
                    <a:pt x="16256" y="0"/>
                    <a:pt x="36449" y="0"/>
                  </a:cubicBezTo>
                  <a:lnTo>
                    <a:pt x="91059" y="0"/>
                  </a:lnTo>
                  <a:cubicBezTo>
                    <a:pt x="111125" y="0"/>
                    <a:pt x="127508" y="16256"/>
                    <a:pt x="127508" y="36449"/>
                  </a:cubicBezTo>
                  <a:lnTo>
                    <a:pt x="127508" y="803783"/>
                  </a:lnTo>
                  <a:cubicBezTo>
                    <a:pt x="127508" y="823849"/>
                    <a:pt x="111252" y="840232"/>
                    <a:pt x="91059" y="840232"/>
                  </a:cubicBezTo>
                  <a:lnTo>
                    <a:pt x="36449" y="840232"/>
                  </a:lnTo>
                  <a:cubicBezTo>
                    <a:pt x="16256" y="840232"/>
                    <a:pt x="0" y="823976"/>
                    <a:pt x="0" y="803783"/>
                  </a:cubicBezTo>
                  <a:close/>
                </a:path>
              </a:pathLst>
            </a:custGeom>
            <a:solidFill>
              <a:srgbClr val="8B8F9D"/>
            </a:solid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10314546" y="4485837"/>
            <a:ext cx="6994617" cy="711613"/>
            <a:chOff x="0" y="0"/>
            <a:chExt cx="9326156" cy="948817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9326160" cy="948812"/>
            </a:xfrm>
            <a:custGeom>
              <a:avLst/>
              <a:gdLst/>
              <a:ahLst/>
              <a:cxnLst/>
              <a:rect r="r" b="b" t="t" l="l"/>
              <a:pathLst>
                <a:path h="948812" w="9326160">
                  <a:moveTo>
                    <a:pt x="0" y="0"/>
                  </a:moveTo>
                  <a:lnTo>
                    <a:pt x="9326160" y="0"/>
                  </a:lnTo>
                  <a:lnTo>
                    <a:pt x="9326160" y="948812"/>
                  </a:lnTo>
                  <a:lnTo>
                    <a:pt x="0" y="94881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7245" r="0" b="-135803"/>
              </a:stretch>
            </a:blipFill>
          </p:spPr>
        </p:sp>
        <p:sp>
          <p:nvSpPr>
            <p:cNvPr name="TextBox 124" id="124"/>
            <p:cNvSpPr txBox="true"/>
            <p:nvPr/>
          </p:nvSpPr>
          <p:spPr>
            <a:xfrm>
              <a:off x="0" y="-9525"/>
              <a:ext cx="9326156" cy="9583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4"/>
                </a:lnSpc>
              </a:pPr>
              <a:r>
                <a:rPr lang="en-US" b="true" sz="1350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Frontend · workflow-frontend-{env}</a:t>
              </a:r>
            </a:p>
            <a:p>
              <a:pPr algn="l">
                <a:lnSpc>
                  <a:spcPts val="1591"/>
                </a:lnSpc>
              </a:pPr>
              <a:r>
                <a:rPr lang="en-US" sz="127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DB ✗ · Secret 0 · GCS ✗ · Worker ✗</a:t>
              </a:r>
            </a:p>
          </p:txBody>
        </p:sp>
      </p:grpSp>
      <p:grpSp>
        <p:nvGrpSpPr>
          <p:cNvPr name="Group 125" id="125"/>
          <p:cNvGrpSpPr/>
          <p:nvPr/>
        </p:nvGrpSpPr>
        <p:grpSpPr>
          <a:xfrm rot="0">
            <a:off x="10119431" y="5088626"/>
            <a:ext cx="7406097" cy="464439"/>
            <a:chOff x="0" y="0"/>
            <a:chExt cx="9874796" cy="619252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9874800" cy="619256"/>
            </a:xfrm>
            <a:custGeom>
              <a:avLst/>
              <a:gdLst/>
              <a:ahLst/>
              <a:cxnLst/>
              <a:rect r="r" b="b" t="t" l="l"/>
              <a:pathLst>
                <a:path h="619256" w="9874800">
                  <a:moveTo>
                    <a:pt x="0" y="0"/>
                  </a:moveTo>
                  <a:lnTo>
                    <a:pt x="9874800" y="0"/>
                  </a:lnTo>
                  <a:lnTo>
                    <a:pt x="9874800" y="619256"/>
                  </a:lnTo>
                  <a:lnTo>
                    <a:pt x="0" y="6192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81239" r="0" b="-240186"/>
              </a:stretch>
            </a:blipFill>
          </p:spPr>
        </p:sp>
        <p:sp>
          <p:nvSpPr>
            <p:cNvPr name="TextBox 127" id="127"/>
            <p:cNvSpPr txBox="true"/>
            <p:nvPr/>
          </p:nvSpPr>
          <p:spPr>
            <a:xfrm>
              <a:off x="0" y="0"/>
              <a:ext cx="9874796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sz="120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SA 1개 유출돼도 다른 서비스 영향 없음 (권한 격리)</a:t>
              </a:r>
            </a:p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10119431" y="5248889"/>
            <a:ext cx="7406097" cy="664654"/>
            <a:chOff x="0" y="0"/>
            <a:chExt cx="9874796" cy="886206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9874800" cy="886205"/>
            </a:xfrm>
            <a:custGeom>
              <a:avLst/>
              <a:gdLst/>
              <a:ahLst/>
              <a:cxnLst/>
              <a:rect r="r" b="b" t="t" l="l"/>
              <a:pathLst>
                <a:path h="886205" w="9874800">
                  <a:moveTo>
                    <a:pt x="0" y="0"/>
                  </a:moveTo>
                  <a:lnTo>
                    <a:pt x="9874800" y="0"/>
                  </a:lnTo>
                  <a:lnTo>
                    <a:pt x="9874800" y="886205"/>
                  </a:lnTo>
                  <a:lnTo>
                    <a:pt x="0" y="88620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88275" r="0" b="-145959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0"/>
              <a:ext cx="9874796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-1">
                  <a:solidFill>
                    <a:srgbClr val="2B2F3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Terraform 7 모듈 (코드 검증)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0030692" y="5778732"/>
            <a:ext cx="7425147" cy="923554"/>
            <a:chOff x="0" y="0"/>
            <a:chExt cx="9900196" cy="1231405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9900158" cy="1231392"/>
            </a:xfrm>
            <a:custGeom>
              <a:avLst/>
              <a:gdLst/>
              <a:ahLst/>
              <a:cxnLst/>
              <a:rect r="r" b="b" t="t" l="l"/>
              <a:pathLst>
                <a:path h="1231392" w="9900158">
                  <a:moveTo>
                    <a:pt x="0" y="130556"/>
                  </a:moveTo>
                  <a:cubicBezTo>
                    <a:pt x="0" y="58420"/>
                    <a:pt x="58420" y="0"/>
                    <a:pt x="130556" y="0"/>
                  </a:cubicBezTo>
                  <a:lnTo>
                    <a:pt x="9769602" y="0"/>
                  </a:lnTo>
                  <a:cubicBezTo>
                    <a:pt x="9841738" y="0"/>
                    <a:pt x="9900158" y="58420"/>
                    <a:pt x="9900158" y="130556"/>
                  </a:cubicBezTo>
                  <a:lnTo>
                    <a:pt x="9900158" y="1100836"/>
                  </a:lnTo>
                  <a:cubicBezTo>
                    <a:pt x="9900158" y="1172972"/>
                    <a:pt x="9841738" y="1231392"/>
                    <a:pt x="9769602" y="1231392"/>
                  </a:cubicBezTo>
                  <a:lnTo>
                    <a:pt x="130556" y="1231392"/>
                  </a:lnTo>
                  <a:cubicBezTo>
                    <a:pt x="58420" y="1231392"/>
                    <a:pt x="0" y="1172972"/>
                    <a:pt x="0" y="1100836"/>
                  </a:cubicBezTo>
                  <a:close/>
                </a:path>
              </a:pathLst>
            </a:custGeom>
            <a:solidFill>
              <a:srgbClr val="F1ECFD"/>
            </a:solidFill>
            <a:ln w="19050" cap="sq">
              <a:solidFill>
                <a:srgbClr val="D9CCF7"/>
              </a:solidFill>
              <a:prstDash val="solid"/>
              <a:miter/>
            </a:ln>
          </p:spPr>
        </p:sp>
      </p:grpSp>
      <p:grpSp>
        <p:nvGrpSpPr>
          <p:cNvPr name="Group 133" id="133"/>
          <p:cNvGrpSpPr/>
          <p:nvPr/>
        </p:nvGrpSpPr>
        <p:grpSpPr>
          <a:xfrm rot="0">
            <a:off x="10259463" y="5788257"/>
            <a:ext cx="6967080" cy="904500"/>
            <a:chOff x="0" y="0"/>
            <a:chExt cx="9289440" cy="120600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9289440" cy="1205995"/>
            </a:xfrm>
            <a:custGeom>
              <a:avLst/>
              <a:gdLst/>
              <a:ahLst/>
              <a:cxnLst/>
              <a:rect r="r" b="b" t="t" l="l"/>
              <a:pathLst>
                <a:path h="1205995" w="9289440">
                  <a:moveTo>
                    <a:pt x="0" y="0"/>
                  </a:moveTo>
                  <a:lnTo>
                    <a:pt x="9289440" y="0"/>
                  </a:lnTo>
                  <a:lnTo>
                    <a:pt x="9289440" y="1205995"/>
                  </a:lnTo>
                  <a:lnTo>
                    <a:pt x="0" y="120599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0087" r="0" b="-100088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9289440" cy="123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13"/>
                </a:lnSpc>
              </a:pPr>
              <a:r>
                <a:rPr lang="en-US" sz="1275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artifact-registry · cloud-run · cloud-sql · gcs · memorystore · networking · secret-manager</a:t>
              </a:r>
            </a:p>
            <a:p>
              <a:pPr algn="l">
                <a:lnSpc>
                  <a:spcPts val="1612"/>
                </a:lnSpc>
              </a:pPr>
              <a:r>
                <a:rPr lang="en-US" b="true" sz="1200" spc="-1">
                  <a:solidFill>
                    <a:srgbClr val="8C5BE0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envs: staging / production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0030692" y="6876012"/>
            <a:ext cx="3612213" cy="759390"/>
            <a:chOff x="0" y="0"/>
            <a:chExt cx="4816284" cy="1012520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4816221" cy="1012444"/>
            </a:xfrm>
            <a:custGeom>
              <a:avLst/>
              <a:gdLst/>
              <a:ahLst/>
              <a:cxnLst/>
              <a:rect r="r" b="b" t="t" l="l"/>
              <a:pathLst>
                <a:path h="1012444" w="4816221">
                  <a:moveTo>
                    <a:pt x="0" y="131191"/>
                  </a:moveTo>
                  <a:cubicBezTo>
                    <a:pt x="0" y="58801"/>
                    <a:pt x="58801" y="0"/>
                    <a:pt x="131191" y="0"/>
                  </a:cubicBezTo>
                  <a:lnTo>
                    <a:pt x="4685030" y="0"/>
                  </a:lnTo>
                  <a:cubicBezTo>
                    <a:pt x="4757547" y="0"/>
                    <a:pt x="4816221" y="58801"/>
                    <a:pt x="4816221" y="131191"/>
                  </a:cubicBezTo>
                  <a:lnTo>
                    <a:pt x="4816221" y="881253"/>
                  </a:lnTo>
                  <a:cubicBezTo>
                    <a:pt x="4816221" y="953770"/>
                    <a:pt x="4757420" y="1012444"/>
                    <a:pt x="4685030" y="1012444"/>
                  </a:cubicBezTo>
                  <a:lnTo>
                    <a:pt x="131191" y="1012444"/>
                  </a:lnTo>
                  <a:cubicBezTo>
                    <a:pt x="58801" y="1012571"/>
                    <a:pt x="0" y="953770"/>
                    <a:pt x="0" y="881253"/>
                  </a:cubicBezTo>
                  <a:close/>
                </a:path>
              </a:pathLst>
            </a:custGeom>
            <a:solidFill>
              <a:srgbClr val="F6F1F1"/>
            </a:solidFill>
            <a:ln w="19050" cap="sq">
              <a:solidFill>
                <a:srgbClr val="E4D6D6"/>
              </a:solidFill>
              <a:prstDash val="solid"/>
              <a:miter/>
            </a:ln>
          </p:spPr>
        </p:sp>
      </p:grpSp>
      <p:grpSp>
        <p:nvGrpSpPr>
          <p:cNvPr name="Group 138" id="138"/>
          <p:cNvGrpSpPr/>
          <p:nvPr/>
        </p:nvGrpSpPr>
        <p:grpSpPr>
          <a:xfrm rot="0">
            <a:off x="10177377" y="6885537"/>
            <a:ext cx="3318843" cy="740340"/>
            <a:chOff x="0" y="0"/>
            <a:chExt cx="4425124" cy="987120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4425120" cy="987120"/>
            </a:xfrm>
            <a:custGeom>
              <a:avLst/>
              <a:gdLst/>
              <a:ahLst/>
              <a:cxnLst/>
              <a:rect r="r" b="b" t="t" l="l"/>
              <a:pathLst>
                <a:path h="987120" w="4425120">
                  <a:moveTo>
                    <a:pt x="0" y="0"/>
                  </a:moveTo>
                  <a:lnTo>
                    <a:pt x="4425120" y="0"/>
                  </a:lnTo>
                  <a:lnTo>
                    <a:pt x="4425120" y="987120"/>
                  </a:lnTo>
                  <a:lnTo>
                    <a:pt x="0" y="987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348" r="0" b="-37348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4425124" cy="10061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06"/>
                </a:lnSpc>
              </a:pPr>
              <a:r>
                <a:rPr lang="en-US" b="true" sz="1275" spc="-1">
                  <a:solidFill>
                    <a:srgbClr val="EF6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수동</a:t>
              </a:r>
            </a:p>
            <a:p>
              <a:pPr algn="l">
                <a:lnSpc>
                  <a:spcPts val="1417"/>
                </a:lnSpc>
              </a:pPr>
              <a:r>
                <a:rPr lang="en-US" sz="112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콘솔 클릭 → 재현·추적·일관성 어려움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3843635" y="6876012"/>
            <a:ext cx="3612213" cy="759390"/>
            <a:chOff x="0" y="0"/>
            <a:chExt cx="4816284" cy="1012520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4816221" cy="1012444"/>
            </a:xfrm>
            <a:custGeom>
              <a:avLst/>
              <a:gdLst/>
              <a:ahLst/>
              <a:cxnLst/>
              <a:rect r="r" b="b" t="t" l="l"/>
              <a:pathLst>
                <a:path h="1012444" w="4816221">
                  <a:moveTo>
                    <a:pt x="0" y="131191"/>
                  </a:moveTo>
                  <a:cubicBezTo>
                    <a:pt x="0" y="58801"/>
                    <a:pt x="58801" y="0"/>
                    <a:pt x="131191" y="0"/>
                  </a:cubicBezTo>
                  <a:lnTo>
                    <a:pt x="4685030" y="0"/>
                  </a:lnTo>
                  <a:cubicBezTo>
                    <a:pt x="4757547" y="0"/>
                    <a:pt x="4816221" y="58801"/>
                    <a:pt x="4816221" y="131191"/>
                  </a:cubicBezTo>
                  <a:lnTo>
                    <a:pt x="4816221" y="881253"/>
                  </a:lnTo>
                  <a:cubicBezTo>
                    <a:pt x="4816221" y="953770"/>
                    <a:pt x="4757420" y="1012444"/>
                    <a:pt x="4685030" y="1012444"/>
                  </a:cubicBezTo>
                  <a:lnTo>
                    <a:pt x="131191" y="1012444"/>
                  </a:lnTo>
                  <a:cubicBezTo>
                    <a:pt x="58801" y="1012571"/>
                    <a:pt x="0" y="953770"/>
                    <a:pt x="0" y="881253"/>
                  </a:cubicBezTo>
                  <a:close/>
                </a:path>
              </a:pathLst>
            </a:custGeom>
            <a:solidFill>
              <a:srgbClr val="E7F4EB"/>
            </a:solidFill>
            <a:ln w="19050" cap="sq">
              <a:solidFill>
                <a:srgbClr val="BFE3C9"/>
              </a:solidFill>
              <a:prstDash val="solid"/>
              <a:miter/>
            </a:ln>
          </p:spPr>
        </p:sp>
      </p:grpSp>
      <p:grpSp>
        <p:nvGrpSpPr>
          <p:cNvPr name="Group 143" id="143"/>
          <p:cNvGrpSpPr/>
          <p:nvPr/>
        </p:nvGrpSpPr>
        <p:grpSpPr>
          <a:xfrm rot="0">
            <a:off x="13990320" y="6885537"/>
            <a:ext cx="3318843" cy="740340"/>
            <a:chOff x="0" y="0"/>
            <a:chExt cx="4425124" cy="987120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4425120" cy="987120"/>
            </a:xfrm>
            <a:custGeom>
              <a:avLst/>
              <a:gdLst/>
              <a:ahLst/>
              <a:cxnLst/>
              <a:rect r="r" b="b" t="t" l="l"/>
              <a:pathLst>
                <a:path h="987120" w="4425120">
                  <a:moveTo>
                    <a:pt x="0" y="0"/>
                  </a:moveTo>
                  <a:lnTo>
                    <a:pt x="4425120" y="0"/>
                  </a:lnTo>
                  <a:lnTo>
                    <a:pt x="4425120" y="987120"/>
                  </a:lnTo>
                  <a:lnTo>
                    <a:pt x="0" y="9871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348" r="0" b="-37348"/>
              </a:stretch>
            </a:blip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-19050"/>
              <a:ext cx="4425124" cy="10061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06"/>
                </a:lnSpc>
              </a:pPr>
              <a:r>
                <a:rPr lang="en-US" b="true" sz="1275" spc="-1">
                  <a:solidFill>
                    <a:srgbClr val="2E9E4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IaC (Terraform)</a:t>
              </a:r>
            </a:p>
            <a:p>
              <a:pPr algn="l">
                <a:lnSpc>
                  <a:spcPts val="1417"/>
                </a:lnSpc>
              </a:pPr>
              <a:r>
                <a:rPr lang="en-US" sz="1125" spc="-1">
                  <a:solidFill>
                    <a:srgbClr val="8B8F9D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terraform apply 한 방 · Git 이력 · 동일 모듈+변수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0030692" y="7698972"/>
            <a:ext cx="7425147" cy="512074"/>
            <a:chOff x="0" y="0"/>
            <a:chExt cx="9900196" cy="682765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9900158" cy="682752"/>
            </a:xfrm>
            <a:custGeom>
              <a:avLst/>
              <a:gdLst/>
              <a:ahLst/>
              <a:cxnLst/>
              <a:rect r="r" b="b" t="t" l="l"/>
              <a:pathLst>
                <a:path h="682752" w="9900158">
                  <a:moveTo>
                    <a:pt x="0" y="132715"/>
                  </a:moveTo>
                  <a:cubicBezTo>
                    <a:pt x="0" y="59436"/>
                    <a:pt x="59436" y="0"/>
                    <a:pt x="132715" y="0"/>
                  </a:cubicBezTo>
                  <a:lnTo>
                    <a:pt x="9767443" y="0"/>
                  </a:lnTo>
                  <a:cubicBezTo>
                    <a:pt x="9840723" y="0"/>
                    <a:pt x="9900158" y="59436"/>
                    <a:pt x="9900158" y="132715"/>
                  </a:cubicBezTo>
                  <a:lnTo>
                    <a:pt x="9900158" y="550037"/>
                  </a:lnTo>
                  <a:cubicBezTo>
                    <a:pt x="9900158" y="623316"/>
                    <a:pt x="9840723" y="682752"/>
                    <a:pt x="9767443" y="682752"/>
                  </a:cubicBezTo>
                  <a:lnTo>
                    <a:pt x="132715" y="682752"/>
                  </a:lnTo>
                  <a:cubicBezTo>
                    <a:pt x="59436" y="682752"/>
                    <a:pt x="0" y="623316"/>
                    <a:pt x="0" y="550037"/>
                  </a:cubicBezTo>
                  <a:close/>
                </a:path>
              </a:pathLst>
            </a:custGeom>
            <a:solidFill>
              <a:srgbClr val="FFF6E0"/>
            </a:solidFill>
            <a:ln w="19050" cap="sq">
              <a:solidFill>
                <a:srgbClr val="F2CF9B"/>
              </a:solidFill>
              <a:prstDash val="solid"/>
              <a:miter/>
            </a:ln>
          </p:spPr>
        </p:sp>
      </p:grpSp>
      <p:grpSp>
        <p:nvGrpSpPr>
          <p:cNvPr name="Group 148" id="148"/>
          <p:cNvGrpSpPr/>
          <p:nvPr/>
        </p:nvGrpSpPr>
        <p:grpSpPr>
          <a:xfrm rot="0">
            <a:off x="10259463" y="7708497"/>
            <a:ext cx="6994617" cy="493020"/>
            <a:chOff x="0" y="0"/>
            <a:chExt cx="9326156" cy="65736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9326160" cy="657355"/>
            </a:xfrm>
            <a:custGeom>
              <a:avLst/>
              <a:gdLst/>
              <a:ahLst/>
              <a:cxnLst/>
              <a:rect r="r" b="b" t="t" l="l"/>
              <a:pathLst>
                <a:path h="657355" w="9326160">
                  <a:moveTo>
                    <a:pt x="0" y="0"/>
                  </a:moveTo>
                  <a:lnTo>
                    <a:pt x="9326160" y="0"/>
                  </a:lnTo>
                  <a:lnTo>
                    <a:pt x="9326160" y="657355"/>
                  </a:lnTo>
                  <a:lnTo>
                    <a:pt x="0" y="65735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6441" r="0" b="-226442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0"/>
              <a:ext cx="9326156" cy="65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b="true" sz="1200" spc="-1">
                  <a:solidFill>
                    <a:srgbClr val="E08A33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</a:t>
              </a:r>
              <a:r>
                <a:rPr lang="en-US" b="true" sz="1200" spc="-1">
                  <a:solidFill>
                    <a:srgbClr val="E08A33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*-url 시크릿</a:t>
              </a:r>
              <a:r>
                <a:rPr lang="en-US" sz="1200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= GCP ↔ Modal을 잇는 접착제 · 한 시스템이 세 곳에 분산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850497" y="8298180"/>
            <a:ext cx="16595817" cy="822417"/>
            <a:chOff x="0" y="0"/>
            <a:chExt cx="22127756" cy="1096556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22127718" cy="1096518"/>
            </a:xfrm>
            <a:custGeom>
              <a:avLst/>
              <a:gdLst/>
              <a:ahLst/>
              <a:cxnLst/>
              <a:rect r="r" b="b" t="t" l="l"/>
              <a:pathLst>
                <a:path h="1096518" w="22127718">
                  <a:moveTo>
                    <a:pt x="0" y="164465"/>
                  </a:moveTo>
                  <a:cubicBezTo>
                    <a:pt x="0" y="73660"/>
                    <a:pt x="73660" y="0"/>
                    <a:pt x="164465" y="0"/>
                  </a:cubicBezTo>
                  <a:lnTo>
                    <a:pt x="21963253" y="0"/>
                  </a:lnTo>
                  <a:cubicBezTo>
                    <a:pt x="22054058" y="0"/>
                    <a:pt x="22127718" y="73660"/>
                    <a:pt x="22127718" y="164465"/>
                  </a:cubicBezTo>
                  <a:lnTo>
                    <a:pt x="22127718" y="932053"/>
                  </a:lnTo>
                  <a:cubicBezTo>
                    <a:pt x="22127718" y="1022858"/>
                    <a:pt x="22054058" y="1096518"/>
                    <a:pt x="21963253" y="1096518"/>
                  </a:cubicBezTo>
                  <a:lnTo>
                    <a:pt x="164465" y="1096518"/>
                  </a:lnTo>
                  <a:cubicBezTo>
                    <a:pt x="73660" y="1096518"/>
                    <a:pt x="0" y="1022858"/>
                    <a:pt x="0" y="932053"/>
                  </a:cubicBezTo>
                  <a:close/>
                </a:path>
              </a:pathLst>
            </a:custGeom>
            <a:solidFill>
              <a:srgbClr val="FCEDE6"/>
            </a:solidFill>
          </p:spPr>
        </p:sp>
      </p:grpSp>
      <p:grpSp>
        <p:nvGrpSpPr>
          <p:cNvPr name="Group 153" id="153"/>
          <p:cNvGrpSpPr/>
          <p:nvPr/>
        </p:nvGrpSpPr>
        <p:grpSpPr>
          <a:xfrm rot="0">
            <a:off x="1206903" y="8559003"/>
            <a:ext cx="301323" cy="301323"/>
            <a:chOff x="0" y="0"/>
            <a:chExt cx="401764" cy="401764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401701" cy="401701"/>
            </a:xfrm>
            <a:custGeom>
              <a:avLst/>
              <a:gdLst/>
              <a:ahLst/>
              <a:cxnLst/>
              <a:rect r="r" b="b" t="t" l="l"/>
              <a:pathLst>
                <a:path h="401701" w="401701">
                  <a:moveTo>
                    <a:pt x="0" y="200914"/>
                  </a:moveTo>
                  <a:cubicBezTo>
                    <a:pt x="0" y="89916"/>
                    <a:pt x="89916" y="0"/>
                    <a:pt x="200914" y="0"/>
                  </a:cubicBezTo>
                  <a:cubicBezTo>
                    <a:pt x="311912" y="0"/>
                    <a:pt x="401701" y="89916"/>
                    <a:pt x="401701" y="200914"/>
                  </a:cubicBezTo>
                  <a:cubicBezTo>
                    <a:pt x="401701" y="311912"/>
                    <a:pt x="311785" y="401701"/>
                    <a:pt x="200914" y="401701"/>
                  </a:cubicBezTo>
                  <a:cubicBezTo>
                    <a:pt x="90043" y="401701"/>
                    <a:pt x="0" y="311785"/>
                    <a:pt x="0" y="200914"/>
                  </a:cubicBezTo>
                  <a:close/>
                </a:path>
              </a:pathLst>
            </a:custGeom>
            <a:solidFill>
              <a:srgbClr val="F0664E"/>
            </a:solidFill>
          </p:spPr>
        </p:sp>
      </p:grpSp>
      <p:grpSp>
        <p:nvGrpSpPr>
          <p:cNvPr name="Group 155" id="155"/>
          <p:cNvGrpSpPr/>
          <p:nvPr/>
        </p:nvGrpSpPr>
        <p:grpSpPr>
          <a:xfrm rot="0">
            <a:off x="1755543" y="8298180"/>
            <a:ext cx="15429957" cy="822420"/>
            <a:chOff x="0" y="0"/>
            <a:chExt cx="20573276" cy="1096560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0573281" cy="1096564"/>
            </a:xfrm>
            <a:custGeom>
              <a:avLst/>
              <a:gdLst/>
              <a:ahLst/>
              <a:cxnLst/>
              <a:rect r="r" b="b" t="t" l="l"/>
              <a:pathLst>
                <a:path h="1096564" w="20573281">
                  <a:moveTo>
                    <a:pt x="0" y="0"/>
                  </a:moveTo>
                  <a:lnTo>
                    <a:pt x="20573281" y="0"/>
                  </a:lnTo>
                  <a:lnTo>
                    <a:pt x="20573281" y="1096564"/>
                  </a:lnTo>
                  <a:lnTo>
                    <a:pt x="0" y="10965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5570" r="0" b="-315569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0"/>
              <a:ext cx="20573276" cy="1096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-1">
                  <a:solidFill>
                    <a:srgbClr val="EF6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운영 · 보안   </a:t>
              </a:r>
              <a:r>
                <a:rPr lang="en-US" sz="1725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SA 최소 권한 3계정 격리 · 콘솔클릭 ✗ → </a:t>
              </a:r>
              <a:r>
                <a:rPr lang="en-US" b="true" sz="1725" spc="-1">
                  <a:solidFill>
                    <a:srgbClr val="EF6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terraform apply</a:t>
              </a:r>
              <a:r>
                <a:rPr lang="en-US" sz="1725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· AI 에이전트=</a:t>
              </a:r>
              <a:r>
                <a:rPr lang="en-US" b="true" sz="1725" spc="-1">
                  <a:solidFill>
                    <a:srgbClr val="EF6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Modal</a:t>
              </a:r>
              <a:r>
                <a:rPr lang="en-US" sz="1725" spc="-1">
                  <a:solidFill>
                    <a:srgbClr val="2B2F3E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데이터=</a:t>
              </a:r>
              <a:r>
                <a:rPr lang="en-US" b="true" sz="1725" spc="-1">
                  <a:solidFill>
                    <a:srgbClr val="EF6A52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GCP·Neo4j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916854" y="9371393"/>
            <a:ext cx="9600657" cy="546164"/>
            <a:chOff x="0" y="0"/>
            <a:chExt cx="12800876" cy="72821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12800880" cy="728222"/>
            </a:xfrm>
            <a:custGeom>
              <a:avLst/>
              <a:gdLst/>
              <a:ahLst/>
              <a:cxnLst/>
              <a:rect r="r" b="b" t="t" l="l"/>
              <a:pathLst>
                <a:path h="728222" w="12800880">
                  <a:moveTo>
                    <a:pt x="0" y="0"/>
                  </a:moveTo>
                  <a:lnTo>
                    <a:pt x="12800880" y="0"/>
                  </a:lnTo>
                  <a:lnTo>
                    <a:pt x="12800880" y="728222"/>
                  </a:lnTo>
                  <a:lnTo>
                    <a:pt x="0" y="72822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4893" r="0" b="-280133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0"/>
              <a:ext cx="12800876" cy="728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|  인프라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1960457" y="9408957"/>
            <a:ext cx="5485857" cy="582930"/>
            <a:chOff x="0" y="0"/>
            <a:chExt cx="7314476" cy="777240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7314480" cy="777244"/>
            </a:xfrm>
            <a:custGeom>
              <a:avLst/>
              <a:gdLst/>
              <a:ahLst/>
              <a:cxnLst/>
              <a:rect r="r" b="b" t="t" l="l"/>
              <a:pathLst>
                <a:path h="777244" w="7314480">
                  <a:moveTo>
                    <a:pt x="0" y="0"/>
                  </a:moveTo>
                  <a:lnTo>
                    <a:pt x="7314480" y="0"/>
                  </a:lnTo>
                  <a:lnTo>
                    <a:pt x="7314480" y="777244"/>
                  </a:lnTo>
                  <a:lnTo>
                    <a:pt x="0" y="7772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8122" r="0" b="-118616"/>
              </a:stretch>
            </a:blipFill>
          </p:spPr>
        </p:sp>
        <p:sp>
          <p:nvSpPr>
            <p:cNvPr name="TextBox 163" id="163"/>
            <p:cNvSpPr txBox="true"/>
            <p:nvPr/>
          </p:nvSpPr>
          <p:spPr>
            <a:xfrm>
              <a:off x="0" y="0"/>
              <a:ext cx="7314476" cy="777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A7AAB6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Part 3 — Infrastructure</a:t>
              </a:r>
            </a:p>
          </p:txBody>
        </p:sp>
      </p:grpSp>
      <p:sp>
        <p:nvSpPr>
          <p:cNvPr name="TextBox 164" id="164"/>
          <p:cNvSpPr txBox="true"/>
          <p:nvPr/>
        </p:nvSpPr>
        <p:spPr>
          <a:xfrm rot="0">
            <a:off x="866437" y="9530175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18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2203" y="6582304"/>
            <a:ext cx="1713763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spc="17">
                <a:solidFill>
                  <a:srgbClr val="7C8AA8"/>
                </a:solidFill>
                <a:latin typeface="Noto Sans Kr"/>
                <a:ea typeface="Noto Sans Kr"/>
                <a:cs typeface="Noto Sans Kr"/>
                <a:sym typeface="Noto Sans Kr"/>
              </a:rPr>
              <a:t>① 프레임 · ② Composer · ③ 노드 · ④ Skills Builder · ⑤ 마켓플레이스 · ⑥ Personalization </a:t>
            </a:r>
            <a:r>
              <a:rPr lang="en-US" b="true" sz="1725" spc="17">
                <a:solidFill>
                  <a:srgbClr val="7C8AA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+ ⭐</a:t>
            </a:r>
            <a:r>
              <a:rPr lang="en-US" b="true" sz="1725" spc="17">
                <a:solidFill>
                  <a:srgbClr val="A5B4F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온톨로지 GraphRAG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25503" y="9707880"/>
            <a:ext cx="65782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spc="6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19 / 44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2203" y="3933296"/>
            <a:ext cx="1646932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2100" spc="630">
                <a:solidFill>
                  <a:srgbClr val="EA580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2203" y="4423220"/>
            <a:ext cx="6311652" cy="1290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06"/>
              </a:lnSpc>
            </a:pPr>
            <a:r>
              <a:rPr lang="en-US" b="true" sz="8100" spc="-202">
                <a:solidFill>
                  <a:srgbClr val="F6F4EE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핵심 기술 소개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92203" y="5822971"/>
            <a:ext cx="15962836" cy="530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2700">
                <a:solidFill>
                  <a:srgbClr val="B5BFCC"/>
                </a:solidFill>
                <a:latin typeface="Noto Sans Kr"/>
                <a:ea typeface="Noto Sans Kr"/>
                <a:cs typeface="Noto Sans Kr"/>
                <a:sym typeface="Noto Sans Kr"/>
              </a:rPr>
              <a:t>자연어 요청이 자동화 자산이 되는 6단계 구조 — 이제 온톨로지 그래프로 더 똑똑하게.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58190" y="2668684"/>
            <a:ext cx="5500335" cy="2508822"/>
            <a:chOff x="0" y="0"/>
            <a:chExt cx="7333780" cy="3345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333742" cy="3345077"/>
            </a:xfrm>
            <a:custGeom>
              <a:avLst/>
              <a:gdLst/>
              <a:ahLst/>
              <a:cxnLst/>
              <a:rect r="r" b="b" t="t" l="l"/>
              <a:pathLst>
                <a:path h="3345077" w="7333742">
                  <a:moveTo>
                    <a:pt x="0" y="126389"/>
                  </a:moveTo>
                  <a:cubicBezTo>
                    <a:pt x="0" y="56550"/>
                    <a:pt x="74041" y="0"/>
                    <a:pt x="165481" y="0"/>
                  </a:cubicBezTo>
                  <a:lnTo>
                    <a:pt x="7168262" y="0"/>
                  </a:lnTo>
                  <a:cubicBezTo>
                    <a:pt x="7259701" y="0"/>
                    <a:pt x="7333742" y="56550"/>
                    <a:pt x="7333742" y="126389"/>
                  </a:cubicBezTo>
                  <a:lnTo>
                    <a:pt x="7333742" y="3218688"/>
                  </a:lnTo>
                  <a:cubicBezTo>
                    <a:pt x="7333742" y="3288527"/>
                    <a:pt x="7259701" y="3345077"/>
                    <a:pt x="7168262" y="3345077"/>
                  </a:cubicBezTo>
                  <a:lnTo>
                    <a:pt x="165481" y="3345077"/>
                  </a:lnTo>
                  <a:cubicBezTo>
                    <a:pt x="74041" y="3345077"/>
                    <a:pt x="0" y="3288527"/>
                    <a:pt x="0" y="3218688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769620" y="2677414"/>
            <a:ext cx="66675" cy="2491363"/>
            <a:chOff x="0" y="0"/>
            <a:chExt cx="88900" cy="33218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8900" cy="3321797"/>
            </a:xfrm>
            <a:custGeom>
              <a:avLst/>
              <a:gdLst/>
              <a:ahLst/>
              <a:cxnLst/>
              <a:rect r="r" b="b" t="t" l="l"/>
              <a:pathLst>
                <a:path h="3321797" w="88900">
                  <a:moveTo>
                    <a:pt x="0" y="0"/>
                  </a:moveTo>
                  <a:lnTo>
                    <a:pt x="88900" y="0"/>
                  </a:lnTo>
                  <a:lnTo>
                    <a:pt x="88900" y="3321797"/>
                  </a:lnTo>
                  <a:lnTo>
                    <a:pt x="0" y="3321797"/>
                  </a:lnTo>
                  <a:close/>
                </a:path>
              </a:pathLst>
            </a:custGeom>
            <a:solidFill>
              <a:srgbClr val="FF5A36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3623" y="2891255"/>
            <a:ext cx="31387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⚙️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23311" y="2876967"/>
            <a:ext cx="273053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56686" y="2876967"/>
            <a:ext cx="708936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프레임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750479" y="2934117"/>
            <a:ext cx="122245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REQ-004 · 신정혜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3623" y="3292257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Main + 3 Sub-Agent · </a:t>
            </a:r>
            <a:r>
              <a:rPr lang="en-US" sz="15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5 Modal 앱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3623" y="3631347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Supervisor · 9 intent 결정론적 라우팅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3623" y="3955197"/>
            <a:ext cx="5159321" cy="27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8"/>
              </a:lnSpc>
            </a:pPr>
            <a:r>
              <a:rPr lang="en-US" sz="135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AgentProtocol · VPC 내부 HTTP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98220" y="4439191"/>
            <a:ext cx="2311956" cy="316230"/>
            <a:chOff x="0" y="0"/>
            <a:chExt cx="3082608" cy="421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082671" cy="421640"/>
            </a:xfrm>
            <a:custGeom>
              <a:avLst/>
              <a:gdLst/>
              <a:ahLst/>
              <a:cxnLst/>
              <a:rect r="r" b="b" t="t" l="l"/>
              <a:pathLst>
                <a:path h="421640" w="3082671">
                  <a:moveTo>
                    <a:pt x="0" y="210820"/>
                  </a:moveTo>
                  <a:cubicBezTo>
                    <a:pt x="0" y="94361"/>
                    <a:pt x="94361" y="0"/>
                    <a:pt x="210820" y="0"/>
                  </a:cubicBezTo>
                  <a:lnTo>
                    <a:pt x="2871851" y="0"/>
                  </a:lnTo>
                  <a:cubicBezTo>
                    <a:pt x="2988310" y="0"/>
                    <a:pt x="3082671" y="94361"/>
                    <a:pt x="3082671" y="210820"/>
                  </a:cubicBezTo>
                  <a:cubicBezTo>
                    <a:pt x="3082671" y="327279"/>
                    <a:pt x="2988310" y="421640"/>
                    <a:pt x="2871851" y="421640"/>
                  </a:cubicBezTo>
                  <a:lnTo>
                    <a:pt x="210820" y="421640"/>
                  </a:lnTo>
                  <a:cubicBezTo>
                    <a:pt x="94361" y="421640"/>
                    <a:pt x="0" y="327279"/>
                    <a:pt x="0" y="210820"/>
                  </a:cubicBezTo>
                  <a:close/>
                </a:path>
              </a:pathLst>
            </a:custGeom>
            <a:solidFill>
              <a:srgbClr val="FFF1EC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074420" y="4365086"/>
            <a:ext cx="2159556" cy="464439"/>
            <a:chOff x="0" y="0"/>
            <a:chExt cx="2879408" cy="6192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879408" cy="619252"/>
            </a:xfrm>
            <a:custGeom>
              <a:avLst/>
              <a:gdLst/>
              <a:ahLst/>
              <a:cxnLst/>
              <a:rect r="r" b="b" t="t" l="l"/>
              <a:pathLst>
                <a:path h="619252" w="2879408">
                  <a:moveTo>
                    <a:pt x="0" y="0"/>
                  </a:moveTo>
                  <a:lnTo>
                    <a:pt x="2879408" y="0"/>
                  </a:lnTo>
                  <a:lnTo>
                    <a:pt x="2879408" y="619252"/>
                  </a:lnTo>
                  <a:lnTo>
                    <a:pt x="0" y="6192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710" r="0" b="-18493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879408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C2410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★ 장애 격리 · 독립 배포·스케일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6393780" y="2668684"/>
            <a:ext cx="5500335" cy="2508822"/>
            <a:chOff x="0" y="0"/>
            <a:chExt cx="7333780" cy="334509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333742" cy="3345077"/>
            </a:xfrm>
            <a:custGeom>
              <a:avLst/>
              <a:gdLst/>
              <a:ahLst/>
              <a:cxnLst/>
              <a:rect r="r" b="b" t="t" l="l"/>
              <a:pathLst>
                <a:path h="3345077" w="7333742">
                  <a:moveTo>
                    <a:pt x="0" y="126389"/>
                  </a:moveTo>
                  <a:cubicBezTo>
                    <a:pt x="0" y="56550"/>
                    <a:pt x="74041" y="0"/>
                    <a:pt x="165481" y="0"/>
                  </a:cubicBezTo>
                  <a:lnTo>
                    <a:pt x="7168262" y="0"/>
                  </a:lnTo>
                  <a:cubicBezTo>
                    <a:pt x="7259701" y="0"/>
                    <a:pt x="7333742" y="56550"/>
                    <a:pt x="7333742" y="126389"/>
                  </a:cubicBezTo>
                  <a:lnTo>
                    <a:pt x="7333742" y="3218688"/>
                  </a:lnTo>
                  <a:cubicBezTo>
                    <a:pt x="7333742" y="3288527"/>
                    <a:pt x="7259701" y="3345077"/>
                    <a:pt x="7168262" y="3345077"/>
                  </a:cubicBezTo>
                  <a:lnTo>
                    <a:pt x="165481" y="3345077"/>
                  </a:lnTo>
                  <a:cubicBezTo>
                    <a:pt x="74041" y="3345077"/>
                    <a:pt x="0" y="3288527"/>
                    <a:pt x="0" y="3218688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6405210" y="2677414"/>
            <a:ext cx="66675" cy="2491363"/>
            <a:chOff x="0" y="0"/>
            <a:chExt cx="88900" cy="332181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8900" cy="3321797"/>
            </a:xfrm>
            <a:custGeom>
              <a:avLst/>
              <a:gdLst/>
              <a:ahLst/>
              <a:cxnLst/>
              <a:rect r="r" b="b" t="t" l="l"/>
              <a:pathLst>
                <a:path h="3321797" w="88900">
                  <a:moveTo>
                    <a:pt x="0" y="0"/>
                  </a:moveTo>
                  <a:lnTo>
                    <a:pt x="88900" y="0"/>
                  </a:lnTo>
                  <a:lnTo>
                    <a:pt x="88900" y="3321797"/>
                  </a:lnTo>
                  <a:lnTo>
                    <a:pt x="0" y="3321797"/>
                  </a:lnTo>
                  <a:close/>
                </a:path>
              </a:pathLst>
            </a:custGeom>
            <a:solidFill>
              <a:srgbClr val="4F46E5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6659204" y="2891255"/>
            <a:ext cx="31387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🎨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058901" y="2876967"/>
            <a:ext cx="273053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392276" y="2876967"/>
            <a:ext cx="1282941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Composer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386070" y="2934117"/>
            <a:ext cx="122245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REQ-004 · 신정혜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659204" y="3292257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LangGraph + GraphRAG · </a:t>
            </a:r>
            <a:r>
              <a:rPr lang="en-US" sz="15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22노드 fixed DAG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59204" y="3631347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vector seed → 그래프 확장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659204" y="3955197"/>
            <a:ext cx="5159321" cy="27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8"/>
              </a:lnSpc>
            </a:pPr>
            <a:r>
              <a:rPr lang="en-US" sz="135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2중 검증 — LLM + 코드 (QA≥8)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6633810" y="4439191"/>
            <a:ext cx="2213610" cy="316230"/>
            <a:chOff x="0" y="0"/>
            <a:chExt cx="2951480" cy="4216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951480" cy="421640"/>
            </a:xfrm>
            <a:custGeom>
              <a:avLst/>
              <a:gdLst/>
              <a:ahLst/>
              <a:cxnLst/>
              <a:rect r="r" b="b" t="t" l="l"/>
              <a:pathLst>
                <a:path h="421640" w="2951480">
                  <a:moveTo>
                    <a:pt x="0" y="210820"/>
                  </a:moveTo>
                  <a:cubicBezTo>
                    <a:pt x="0" y="94361"/>
                    <a:pt x="94361" y="0"/>
                    <a:pt x="210820" y="0"/>
                  </a:cubicBezTo>
                  <a:lnTo>
                    <a:pt x="2740660" y="0"/>
                  </a:lnTo>
                  <a:cubicBezTo>
                    <a:pt x="2857119" y="0"/>
                    <a:pt x="2951480" y="94361"/>
                    <a:pt x="2951480" y="210820"/>
                  </a:cubicBezTo>
                  <a:cubicBezTo>
                    <a:pt x="2951480" y="327279"/>
                    <a:pt x="2857119" y="421640"/>
                    <a:pt x="2740660" y="421640"/>
                  </a:cubicBezTo>
                  <a:lnTo>
                    <a:pt x="210820" y="421640"/>
                  </a:lnTo>
                  <a:cubicBezTo>
                    <a:pt x="94361" y="421640"/>
                    <a:pt x="0" y="327279"/>
                    <a:pt x="0" y="210820"/>
                  </a:cubicBezTo>
                  <a:close/>
                </a:path>
              </a:pathLst>
            </a:custGeom>
            <a:solidFill>
              <a:srgbClr val="EEF2FF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6710010" y="4365086"/>
            <a:ext cx="2061210" cy="464439"/>
            <a:chOff x="0" y="0"/>
            <a:chExt cx="2748280" cy="61925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748280" cy="619252"/>
            </a:xfrm>
            <a:custGeom>
              <a:avLst/>
              <a:gdLst/>
              <a:ahLst/>
              <a:cxnLst/>
              <a:rect r="r" b="b" t="t" l="l"/>
              <a:pathLst>
                <a:path h="619252" w="2748280">
                  <a:moveTo>
                    <a:pt x="0" y="0"/>
                  </a:moveTo>
                  <a:lnTo>
                    <a:pt x="2748280" y="0"/>
                  </a:lnTo>
                  <a:lnTo>
                    <a:pt x="2748280" y="619252"/>
                  </a:lnTo>
                  <a:lnTo>
                    <a:pt x="0" y="6192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584" r="0" b="-1436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2748280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4338C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★ 끊긴 워크플로우 23%→0%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2029361" y="2668684"/>
            <a:ext cx="5500335" cy="2508822"/>
            <a:chOff x="0" y="0"/>
            <a:chExt cx="7333780" cy="334509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333742" cy="3345077"/>
            </a:xfrm>
            <a:custGeom>
              <a:avLst/>
              <a:gdLst/>
              <a:ahLst/>
              <a:cxnLst/>
              <a:rect r="r" b="b" t="t" l="l"/>
              <a:pathLst>
                <a:path h="3345077" w="7333742">
                  <a:moveTo>
                    <a:pt x="0" y="126389"/>
                  </a:moveTo>
                  <a:cubicBezTo>
                    <a:pt x="0" y="56550"/>
                    <a:pt x="74041" y="0"/>
                    <a:pt x="165481" y="0"/>
                  </a:cubicBezTo>
                  <a:lnTo>
                    <a:pt x="7168262" y="0"/>
                  </a:lnTo>
                  <a:cubicBezTo>
                    <a:pt x="7259701" y="0"/>
                    <a:pt x="7333742" y="56550"/>
                    <a:pt x="7333742" y="126389"/>
                  </a:cubicBezTo>
                  <a:lnTo>
                    <a:pt x="7333742" y="3218688"/>
                  </a:lnTo>
                  <a:cubicBezTo>
                    <a:pt x="7333742" y="3288527"/>
                    <a:pt x="7259701" y="3345077"/>
                    <a:pt x="7168262" y="3345077"/>
                  </a:cubicBezTo>
                  <a:lnTo>
                    <a:pt x="165481" y="3345077"/>
                  </a:lnTo>
                  <a:cubicBezTo>
                    <a:pt x="74041" y="3345077"/>
                    <a:pt x="0" y="3288527"/>
                    <a:pt x="0" y="3218688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2040791" y="2677414"/>
            <a:ext cx="66675" cy="2491363"/>
            <a:chOff x="0" y="0"/>
            <a:chExt cx="88900" cy="3321817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8900" cy="3321797"/>
            </a:xfrm>
            <a:custGeom>
              <a:avLst/>
              <a:gdLst/>
              <a:ahLst/>
              <a:cxnLst/>
              <a:rect r="r" b="b" t="t" l="l"/>
              <a:pathLst>
                <a:path h="3321797" w="88900">
                  <a:moveTo>
                    <a:pt x="0" y="0"/>
                  </a:moveTo>
                  <a:lnTo>
                    <a:pt x="88900" y="0"/>
                  </a:lnTo>
                  <a:lnTo>
                    <a:pt x="88900" y="3321797"/>
                  </a:lnTo>
                  <a:lnTo>
                    <a:pt x="0" y="3321797"/>
                  </a:lnTo>
                  <a:close/>
                </a:path>
              </a:pathLst>
            </a:custGeom>
            <a:solidFill>
              <a:srgbClr val="10B981"/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12294794" y="2891255"/>
            <a:ext cx="31387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🧩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694482" y="2876967"/>
            <a:ext cx="273053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0B98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③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3027857" y="2876967"/>
            <a:ext cx="481174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노드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6021650" y="2934117"/>
            <a:ext cx="122245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REQ-003 · 박아름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294794" y="3292257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62종 · 8 카테고리 </a:t>
            </a: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· 53→62 대칭화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294794" y="3631347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GraphValidator 7종 (유한순환 포함)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2294794" y="3955197"/>
            <a:ext cx="5159321" cy="27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8"/>
              </a:lnSpc>
            </a:pPr>
            <a:r>
              <a:rPr lang="en-US" sz="135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BGE-M3 768d · pgvector HNSW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2269391" y="4439191"/>
            <a:ext cx="2047989" cy="316230"/>
            <a:chOff x="0" y="0"/>
            <a:chExt cx="2730652" cy="4216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730627" cy="421640"/>
            </a:xfrm>
            <a:custGeom>
              <a:avLst/>
              <a:gdLst/>
              <a:ahLst/>
              <a:cxnLst/>
              <a:rect r="r" b="b" t="t" l="l"/>
              <a:pathLst>
                <a:path h="421640" w="2730627">
                  <a:moveTo>
                    <a:pt x="0" y="210820"/>
                  </a:moveTo>
                  <a:cubicBezTo>
                    <a:pt x="0" y="94361"/>
                    <a:pt x="94361" y="0"/>
                    <a:pt x="210820" y="0"/>
                  </a:cubicBezTo>
                  <a:lnTo>
                    <a:pt x="2519807" y="0"/>
                  </a:lnTo>
                  <a:cubicBezTo>
                    <a:pt x="2636266" y="0"/>
                    <a:pt x="2730627" y="94361"/>
                    <a:pt x="2730627" y="210820"/>
                  </a:cubicBezTo>
                  <a:cubicBezTo>
                    <a:pt x="2730627" y="327279"/>
                    <a:pt x="2636266" y="421640"/>
                    <a:pt x="2519807" y="421640"/>
                  </a:cubicBezTo>
                  <a:lnTo>
                    <a:pt x="210820" y="421640"/>
                  </a:lnTo>
                  <a:cubicBezTo>
                    <a:pt x="94361" y="421640"/>
                    <a:pt x="0" y="327279"/>
                    <a:pt x="0" y="210820"/>
                  </a:cubicBezTo>
                  <a:close/>
                </a:path>
              </a:pathLst>
            </a:custGeom>
            <a:solidFill>
              <a:srgbClr val="ECFDF5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2345591" y="4365086"/>
            <a:ext cx="1895589" cy="464439"/>
            <a:chOff x="0" y="0"/>
            <a:chExt cx="2527452" cy="61925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527459" cy="619252"/>
            </a:xfrm>
            <a:custGeom>
              <a:avLst/>
              <a:gdLst/>
              <a:ahLst/>
              <a:cxnLst/>
              <a:rect r="r" b="b" t="t" l="l"/>
              <a:pathLst>
                <a:path h="619252" w="2527459">
                  <a:moveTo>
                    <a:pt x="0" y="0"/>
                  </a:moveTo>
                  <a:lnTo>
                    <a:pt x="2527459" y="0"/>
                  </a:lnTo>
                  <a:lnTo>
                    <a:pt x="2527459" y="619252"/>
                  </a:lnTo>
                  <a:lnTo>
                    <a:pt x="0" y="6192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635" r="0" b="-7419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2527452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★ 실행엔진과 검증 1:1 미러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758190" y="5368006"/>
            <a:ext cx="5500335" cy="2508885"/>
            <a:chOff x="0" y="0"/>
            <a:chExt cx="7333780" cy="334518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333742" cy="3345161"/>
            </a:xfrm>
            <a:custGeom>
              <a:avLst/>
              <a:gdLst/>
              <a:ahLst/>
              <a:cxnLst/>
              <a:rect r="r" b="b" t="t" l="l"/>
              <a:pathLst>
                <a:path h="3345161" w="7333742">
                  <a:moveTo>
                    <a:pt x="0" y="126392"/>
                  </a:moveTo>
                  <a:cubicBezTo>
                    <a:pt x="0" y="56551"/>
                    <a:pt x="74041" y="0"/>
                    <a:pt x="165481" y="0"/>
                  </a:cubicBezTo>
                  <a:lnTo>
                    <a:pt x="7168262" y="0"/>
                  </a:lnTo>
                  <a:cubicBezTo>
                    <a:pt x="7259701" y="0"/>
                    <a:pt x="7333742" y="56551"/>
                    <a:pt x="7333742" y="126392"/>
                  </a:cubicBezTo>
                  <a:lnTo>
                    <a:pt x="7333742" y="3218769"/>
                  </a:lnTo>
                  <a:cubicBezTo>
                    <a:pt x="7333742" y="3288609"/>
                    <a:pt x="7259701" y="3345161"/>
                    <a:pt x="7168262" y="3345161"/>
                  </a:cubicBezTo>
                  <a:lnTo>
                    <a:pt x="165481" y="3345161"/>
                  </a:lnTo>
                  <a:cubicBezTo>
                    <a:pt x="74041" y="3345161"/>
                    <a:pt x="0" y="3288609"/>
                    <a:pt x="0" y="3218769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769620" y="5379436"/>
            <a:ext cx="66675" cy="2508885"/>
            <a:chOff x="0" y="0"/>
            <a:chExt cx="88900" cy="334518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8900" cy="3345161"/>
            </a:xfrm>
            <a:custGeom>
              <a:avLst/>
              <a:gdLst/>
              <a:ahLst/>
              <a:cxnLst/>
              <a:rect r="r" b="b" t="t" l="l"/>
              <a:pathLst>
                <a:path h="3345161" w="88900">
                  <a:moveTo>
                    <a:pt x="0" y="0"/>
                  </a:moveTo>
                  <a:lnTo>
                    <a:pt x="88900" y="0"/>
                  </a:lnTo>
                  <a:lnTo>
                    <a:pt x="88900" y="3345161"/>
                  </a:lnTo>
                  <a:lnTo>
                    <a:pt x="0" y="3345161"/>
                  </a:lnTo>
                  <a:close/>
                </a:path>
              </a:pathLst>
            </a:custGeom>
            <a:solidFill>
              <a:srgbClr val="DB4778"/>
            </a:solidFill>
          </p:spPr>
        </p:sp>
      </p:grpSp>
      <p:sp>
        <p:nvSpPr>
          <p:cNvPr name="TextBox 54" id="54"/>
          <p:cNvSpPr txBox="true"/>
          <p:nvPr/>
        </p:nvSpPr>
        <p:spPr>
          <a:xfrm rot="0">
            <a:off x="1023623" y="5590567"/>
            <a:ext cx="31387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🛠️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423311" y="5576280"/>
            <a:ext cx="273053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DB477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④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756686" y="5576280"/>
            <a:ext cx="1672276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Skills Builder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4750479" y="5633430"/>
            <a:ext cx="122245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REQ-013 · 박아름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023623" y="5991570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문서 → 스킬 · </a:t>
            </a:r>
            <a:r>
              <a:rPr lang="en-US" sz="15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tool 5종 + 결정적 스켈레톤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023623" y="6330660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2단계 추출 (메타→상세)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023623" y="6654510"/>
            <a:ext cx="5159321" cy="27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8"/>
              </a:lnSpc>
            </a:pPr>
            <a:r>
              <a:rPr lang="en-US" sz="135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HITL 게이트</a:t>
            </a:r>
          </a:p>
        </p:txBody>
      </p:sp>
      <p:grpSp>
        <p:nvGrpSpPr>
          <p:cNvPr name="Group 61" id="61"/>
          <p:cNvGrpSpPr/>
          <p:nvPr/>
        </p:nvGrpSpPr>
        <p:grpSpPr>
          <a:xfrm rot="0">
            <a:off x="998220" y="7138513"/>
            <a:ext cx="2607593" cy="316230"/>
            <a:chOff x="0" y="0"/>
            <a:chExt cx="3476790" cy="421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476752" cy="421640"/>
            </a:xfrm>
            <a:custGeom>
              <a:avLst/>
              <a:gdLst/>
              <a:ahLst/>
              <a:cxnLst/>
              <a:rect r="r" b="b" t="t" l="l"/>
              <a:pathLst>
                <a:path h="421640" w="3476752">
                  <a:moveTo>
                    <a:pt x="0" y="210820"/>
                  </a:moveTo>
                  <a:cubicBezTo>
                    <a:pt x="0" y="94361"/>
                    <a:pt x="94361" y="0"/>
                    <a:pt x="210820" y="0"/>
                  </a:cubicBezTo>
                  <a:lnTo>
                    <a:pt x="3265932" y="0"/>
                  </a:lnTo>
                  <a:cubicBezTo>
                    <a:pt x="3382391" y="0"/>
                    <a:pt x="3476752" y="94361"/>
                    <a:pt x="3476752" y="210820"/>
                  </a:cubicBezTo>
                  <a:cubicBezTo>
                    <a:pt x="3476752" y="327279"/>
                    <a:pt x="3382391" y="421640"/>
                    <a:pt x="3265932" y="421640"/>
                  </a:cubicBezTo>
                  <a:lnTo>
                    <a:pt x="210820" y="421640"/>
                  </a:lnTo>
                  <a:cubicBezTo>
                    <a:pt x="94361" y="421640"/>
                    <a:pt x="0" y="327279"/>
                    <a:pt x="0" y="210820"/>
                  </a:cubicBezTo>
                  <a:close/>
                </a:path>
              </a:pathLst>
            </a:custGeom>
            <a:solidFill>
              <a:srgbClr val="FCE7F0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73410" y="7064409"/>
            <a:ext cx="2457212" cy="464439"/>
            <a:chOff x="0" y="0"/>
            <a:chExt cx="3276283" cy="619252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276288" cy="619252"/>
            </a:xfrm>
            <a:custGeom>
              <a:avLst/>
              <a:gdLst/>
              <a:ahLst/>
              <a:cxnLst/>
              <a:rect r="r" b="b" t="t" l="l"/>
              <a:pathLst>
                <a:path h="619252" w="3276288">
                  <a:moveTo>
                    <a:pt x="0" y="0"/>
                  </a:moveTo>
                  <a:lnTo>
                    <a:pt x="3276288" y="0"/>
                  </a:lnTo>
                  <a:lnTo>
                    <a:pt x="3276288" y="619252"/>
                  </a:lnTo>
                  <a:lnTo>
                    <a:pt x="0" y="6192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5197" r="0" b="-3098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3276283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BE185D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★ intent=build_skill · 9섹션 런북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6393780" y="5368006"/>
            <a:ext cx="5500335" cy="2508885"/>
            <a:chOff x="0" y="0"/>
            <a:chExt cx="7333780" cy="33451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7333742" cy="3345161"/>
            </a:xfrm>
            <a:custGeom>
              <a:avLst/>
              <a:gdLst/>
              <a:ahLst/>
              <a:cxnLst/>
              <a:rect r="r" b="b" t="t" l="l"/>
              <a:pathLst>
                <a:path h="3345161" w="7333742">
                  <a:moveTo>
                    <a:pt x="0" y="126392"/>
                  </a:moveTo>
                  <a:cubicBezTo>
                    <a:pt x="0" y="56551"/>
                    <a:pt x="74041" y="0"/>
                    <a:pt x="165481" y="0"/>
                  </a:cubicBezTo>
                  <a:lnTo>
                    <a:pt x="7168262" y="0"/>
                  </a:lnTo>
                  <a:cubicBezTo>
                    <a:pt x="7259701" y="0"/>
                    <a:pt x="7333742" y="56551"/>
                    <a:pt x="7333742" y="126392"/>
                  </a:cubicBezTo>
                  <a:lnTo>
                    <a:pt x="7333742" y="3218769"/>
                  </a:lnTo>
                  <a:cubicBezTo>
                    <a:pt x="7333742" y="3288609"/>
                    <a:pt x="7259701" y="3345161"/>
                    <a:pt x="7168262" y="3345161"/>
                  </a:cubicBezTo>
                  <a:lnTo>
                    <a:pt x="165481" y="3345161"/>
                  </a:lnTo>
                  <a:cubicBezTo>
                    <a:pt x="74041" y="3345161"/>
                    <a:pt x="0" y="3288609"/>
                    <a:pt x="0" y="3218769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6405210" y="5379436"/>
            <a:ext cx="66675" cy="2508885"/>
            <a:chOff x="0" y="0"/>
            <a:chExt cx="88900" cy="334518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8900" cy="3345161"/>
            </a:xfrm>
            <a:custGeom>
              <a:avLst/>
              <a:gdLst/>
              <a:ahLst/>
              <a:cxnLst/>
              <a:rect r="r" b="b" t="t" l="l"/>
              <a:pathLst>
                <a:path h="3345161" w="88900">
                  <a:moveTo>
                    <a:pt x="0" y="0"/>
                  </a:moveTo>
                  <a:lnTo>
                    <a:pt x="88900" y="0"/>
                  </a:lnTo>
                  <a:lnTo>
                    <a:pt x="88900" y="3345161"/>
                  </a:lnTo>
                  <a:lnTo>
                    <a:pt x="0" y="3345161"/>
                  </a:lnTo>
                  <a:close/>
                </a:path>
              </a:pathLst>
            </a:custGeom>
            <a:solidFill>
              <a:srgbClr val="FBBF24"/>
            </a:solidFill>
          </p:spPr>
        </p:sp>
      </p:grpSp>
      <p:sp>
        <p:nvSpPr>
          <p:cNvPr name="TextBox 70" id="70"/>
          <p:cNvSpPr txBox="true"/>
          <p:nvPr/>
        </p:nvSpPr>
        <p:spPr>
          <a:xfrm rot="0">
            <a:off x="6659204" y="5590567"/>
            <a:ext cx="31387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🏪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7058901" y="5576280"/>
            <a:ext cx="273053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D9930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⑤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392276" y="5576280"/>
            <a:ext cx="1392479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마켓플레이스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0386070" y="5633430"/>
            <a:ext cx="122245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REQ-013 · 박아름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6659204" y="5991570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산업 6(활성 1)·직무 5 · </a:t>
            </a:r>
            <a:r>
              <a:rPr lang="en-US" sz="15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 scope · 5 state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6659204" y="6330660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RBAC · fail-closed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6659204" y="6654510"/>
            <a:ext cx="5159321" cy="27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8"/>
              </a:lnSpc>
            </a:pPr>
            <a:r>
              <a:rPr lang="en-US" sz="135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2-md (SKILL.md + COMPOSER.md)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633810" y="7138513"/>
            <a:ext cx="2809046" cy="316230"/>
            <a:chOff x="0" y="0"/>
            <a:chExt cx="3745395" cy="4216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745357" cy="421640"/>
            </a:xfrm>
            <a:custGeom>
              <a:avLst/>
              <a:gdLst/>
              <a:ahLst/>
              <a:cxnLst/>
              <a:rect r="r" b="b" t="t" l="l"/>
              <a:pathLst>
                <a:path h="421640" w="3745357">
                  <a:moveTo>
                    <a:pt x="0" y="210820"/>
                  </a:moveTo>
                  <a:cubicBezTo>
                    <a:pt x="0" y="94361"/>
                    <a:pt x="94361" y="0"/>
                    <a:pt x="210820" y="0"/>
                  </a:cubicBezTo>
                  <a:lnTo>
                    <a:pt x="3534537" y="0"/>
                  </a:lnTo>
                  <a:cubicBezTo>
                    <a:pt x="3650996" y="0"/>
                    <a:pt x="3745357" y="94361"/>
                    <a:pt x="3745357" y="210820"/>
                  </a:cubicBezTo>
                  <a:cubicBezTo>
                    <a:pt x="3745357" y="327279"/>
                    <a:pt x="3650996" y="421640"/>
                    <a:pt x="3534537" y="421640"/>
                  </a:cubicBezTo>
                  <a:lnTo>
                    <a:pt x="210820" y="421640"/>
                  </a:lnTo>
                  <a:cubicBezTo>
                    <a:pt x="94361" y="421640"/>
                    <a:pt x="0" y="327279"/>
                    <a:pt x="0" y="210820"/>
                  </a:cubicBezTo>
                  <a:close/>
                </a:path>
              </a:pathLst>
            </a:custGeom>
            <a:solidFill>
              <a:srgbClr val="FEF3C7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705976" y="7064409"/>
            <a:ext cx="2664714" cy="464439"/>
            <a:chOff x="0" y="0"/>
            <a:chExt cx="3552952" cy="61925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552951" cy="619252"/>
            </a:xfrm>
            <a:custGeom>
              <a:avLst/>
              <a:gdLst/>
              <a:ahLst/>
              <a:cxnLst/>
              <a:rect r="r" b="b" t="t" l="l"/>
              <a:pathLst>
                <a:path h="619252" w="3552951">
                  <a:moveTo>
                    <a:pt x="0" y="0"/>
                  </a:moveTo>
                  <a:lnTo>
                    <a:pt x="3552951" y="0"/>
                  </a:lnTo>
                  <a:lnTo>
                    <a:pt x="3552951" y="619252"/>
                  </a:lnTo>
                  <a:lnTo>
                    <a:pt x="0" y="6192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903" r="0" b="-39686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0"/>
              <a:ext cx="3552952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A1620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★ 승격=복제 · publish 시 BINDS 투영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2029361" y="5368006"/>
            <a:ext cx="5500335" cy="2508885"/>
            <a:chOff x="0" y="0"/>
            <a:chExt cx="7333780" cy="334518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7333742" cy="3345161"/>
            </a:xfrm>
            <a:custGeom>
              <a:avLst/>
              <a:gdLst/>
              <a:ahLst/>
              <a:cxnLst/>
              <a:rect r="r" b="b" t="t" l="l"/>
              <a:pathLst>
                <a:path h="3345161" w="7333742">
                  <a:moveTo>
                    <a:pt x="0" y="126392"/>
                  </a:moveTo>
                  <a:cubicBezTo>
                    <a:pt x="0" y="56551"/>
                    <a:pt x="74041" y="0"/>
                    <a:pt x="165481" y="0"/>
                  </a:cubicBezTo>
                  <a:lnTo>
                    <a:pt x="7168262" y="0"/>
                  </a:lnTo>
                  <a:cubicBezTo>
                    <a:pt x="7259701" y="0"/>
                    <a:pt x="7333742" y="56551"/>
                    <a:pt x="7333742" y="126392"/>
                  </a:cubicBezTo>
                  <a:lnTo>
                    <a:pt x="7333742" y="3218769"/>
                  </a:lnTo>
                  <a:cubicBezTo>
                    <a:pt x="7333742" y="3288609"/>
                    <a:pt x="7259701" y="3345161"/>
                    <a:pt x="7168262" y="3345161"/>
                  </a:cubicBezTo>
                  <a:lnTo>
                    <a:pt x="165481" y="3345161"/>
                  </a:lnTo>
                  <a:cubicBezTo>
                    <a:pt x="74041" y="3345161"/>
                    <a:pt x="0" y="3288609"/>
                    <a:pt x="0" y="3218769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grpSp>
        <p:nvGrpSpPr>
          <p:cNvPr name="Group 84" id="84"/>
          <p:cNvGrpSpPr/>
          <p:nvPr/>
        </p:nvGrpSpPr>
        <p:grpSpPr>
          <a:xfrm rot="0">
            <a:off x="12040791" y="5379436"/>
            <a:ext cx="66675" cy="2508885"/>
            <a:chOff x="0" y="0"/>
            <a:chExt cx="88900" cy="334518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88900" cy="3345161"/>
            </a:xfrm>
            <a:custGeom>
              <a:avLst/>
              <a:gdLst/>
              <a:ahLst/>
              <a:cxnLst/>
              <a:rect r="r" b="b" t="t" l="l"/>
              <a:pathLst>
                <a:path h="3345161" w="88900">
                  <a:moveTo>
                    <a:pt x="0" y="0"/>
                  </a:moveTo>
                  <a:lnTo>
                    <a:pt x="88900" y="0"/>
                  </a:lnTo>
                  <a:lnTo>
                    <a:pt x="88900" y="3345161"/>
                  </a:lnTo>
                  <a:lnTo>
                    <a:pt x="0" y="3345161"/>
                  </a:lnTo>
                  <a:close/>
                </a:path>
              </a:pathLst>
            </a:custGeom>
            <a:solidFill>
              <a:srgbClr val="7619C0"/>
            </a:solidFill>
          </p:spPr>
        </p:sp>
      </p:grpSp>
      <p:sp>
        <p:nvSpPr>
          <p:cNvPr name="TextBox 86" id="86"/>
          <p:cNvSpPr txBox="true"/>
          <p:nvPr/>
        </p:nvSpPr>
        <p:spPr>
          <a:xfrm rot="0">
            <a:off x="12294794" y="5590567"/>
            <a:ext cx="31387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💾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12694482" y="5576280"/>
            <a:ext cx="273053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7619C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⑥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13027857" y="5576280"/>
            <a:ext cx="1951949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Personalization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16021650" y="5633430"/>
            <a:ext cx="122245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REQ-005 · 이가원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2294794" y="5991570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GCS + CAS · MEMORY.md + 토픽 + 임베딩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12294794" y="6315420"/>
            <a:ext cx="515932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if_generation_match 원자적 선점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12294794" y="6654510"/>
            <a:ext cx="5159321" cy="27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8"/>
              </a:lnSpc>
            </a:pPr>
            <a:r>
              <a:rPr lang="en-US" sz="135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debounce 5분</a:t>
            </a:r>
          </a:p>
        </p:txBody>
      </p:sp>
      <p:grpSp>
        <p:nvGrpSpPr>
          <p:cNvPr name="Group 93" id="93"/>
          <p:cNvGrpSpPr/>
          <p:nvPr/>
        </p:nvGrpSpPr>
        <p:grpSpPr>
          <a:xfrm rot="0">
            <a:off x="12269391" y="7138513"/>
            <a:ext cx="2784281" cy="316230"/>
            <a:chOff x="0" y="0"/>
            <a:chExt cx="3712375" cy="42164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712337" cy="421640"/>
            </a:xfrm>
            <a:custGeom>
              <a:avLst/>
              <a:gdLst/>
              <a:ahLst/>
              <a:cxnLst/>
              <a:rect r="r" b="b" t="t" l="l"/>
              <a:pathLst>
                <a:path h="421640" w="3712337">
                  <a:moveTo>
                    <a:pt x="0" y="210820"/>
                  </a:moveTo>
                  <a:cubicBezTo>
                    <a:pt x="0" y="94361"/>
                    <a:pt x="94361" y="0"/>
                    <a:pt x="210820" y="0"/>
                  </a:cubicBezTo>
                  <a:lnTo>
                    <a:pt x="3501517" y="0"/>
                  </a:lnTo>
                  <a:cubicBezTo>
                    <a:pt x="3617976" y="0"/>
                    <a:pt x="3712337" y="94361"/>
                    <a:pt x="3712337" y="210820"/>
                  </a:cubicBezTo>
                  <a:cubicBezTo>
                    <a:pt x="3712337" y="327279"/>
                    <a:pt x="3617976" y="421640"/>
                    <a:pt x="3501517" y="421640"/>
                  </a:cubicBezTo>
                  <a:lnTo>
                    <a:pt x="210820" y="421640"/>
                  </a:lnTo>
                  <a:cubicBezTo>
                    <a:pt x="94361" y="421640"/>
                    <a:pt x="0" y="327279"/>
                    <a:pt x="0" y="210820"/>
                  </a:cubicBezTo>
                  <a:close/>
                </a:path>
              </a:pathLst>
            </a:custGeom>
            <a:solidFill>
              <a:srgbClr val="F3E8FB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12341928" y="7064409"/>
            <a:ext cx="2639206" cy="464439"/>
            <a:chOff x="0" y="0"/>
            <a:chExt cx="3518941" cy="619252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518940" cy="619252"/>
            </a:xfrm>
            <a:custGeom>
              <a:avLst/>
              <a:gdLst/>
              <a:ahLst/>
              <a:cxnLst/>
              <a:rect r="r" b="b" t="t" l="l"/>
              <a:pathLst>
                <a:path h="619252" w="3518940">
                  <a:moveTo>
                    <a:pt x="0" y="0"/>
                  </a:moveTo>
                  <a:lnTo>
                    <a:pt x="3518940" y="0"/>
                  </a:lnTo>
                  <a:lnTo>
                    <a:pt x="3518940" y="619252"/>
                  </a:lnTo>
                  <a:lnTo>
                    <a:pt x="0" y="6192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833" r="0" b="-38616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0"/>
              <a:ext cx="3518941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7619C0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★ 노이즈 5.8배 절감 · min_score 0.5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762000" y="8281846"/>
            <a:ext cx="16764000" cy="640080"/>
            <a:chOff x="0" y="0"/>
            <a:chExt cx="22352000" cy="853440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22352000" cy="853440"/>
            </a:xfrm>
            <a:custGeom>
              <a:avLst/>
              <a:gdLst/>
              <a:ahLst/>
              <a:cxnLst/>
              <a:rect r="r" b="b" t="t" l="l"/>
              <a:pathLst>
                <a:path h="853440" w="22352000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22186900" y="0"/>
                  </a:lnTo>
                  <a:cubicBezTo>
                    <a:pt x="22278087" y="0"/>
                    <a:pt x="22352000" y="73914"/>
                    <a:pt x="22352000" y="165100"/>
                  </a:cubicBezTo>
                  <a:lnTo>
                    <a:pt x="22352000" y="688340"/>
                  </a:lnTo>
                  <a:cubicBezTo>
                    <a:pt x="22352000" y="779526"/>
                    <a:pt x="22278087" y="853440"/>
                    <a:pt x="22186900" y="853440"/>
                  </a:cubicBezTo>
                  <a:lnTo>
                    <a:pt x="165100" y="853440"/>
                  </a:lnTo>
                  <a:cubicBezTo>
                    <a:pt x="73914" y="853440"/>
                    <a:pt x="0" y="779526"/>
                    <a:pt x="0" y="68834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100" id="100"/>
          <p:cNvSpPr txBox="true"/>
          <p:nvPr/>
        </p:nvSpPr>
        <p:spPr>
          <a:xfrm rot="0">
            <a:off x="1016003" y="8492348"/>
            <a:ext cx="100159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자연어 요청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2102998" y="8492348"/>
            <a:ext cx="22542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2413829" y="8428531"/>
            <a:ext cx="1017746" cy="346710"/>
            <a:chOff x="0" y="0"/>
            <a:chExt cx="1356995" cy="462280"/>
          </a:xfrm>
        </p:grpSpPr>
        <p:grpSp>
          <p:nvGrpSpPr>
            <p:cNvPr name="Group 103" id="103"/>
            <p:cNvGrpSpPr/>
            <p:nvPr/>
          </p:nvGrpSpPr>
          <p:grpSpPr>
            <a:xfrm rot="0">
              <a:off x="0" y="0"/>
              <a:ext cx="1356995" cy="462280"/>
              <a:chOff x="0" y="0"/>
              <a:chExt cx="1356995" cy="462280"/>
            </a:xfrm>
          </p:grpSpPr>
          <p:sp>
            <p:nvSpPr>
              <p:cNvPr name="Freeform 104" id="104"/>
              <p:cNvSpPr/>
              <p:nvPr/>
            </p:nvSpPr>
            <p:spPr>
              <a:xfrm flipH="false" flipV="false" rot="0">
                <a:off x="0" y="0"/>
                <a:ext cx="1356995" cy="462280"/>
              </a:xfrm>
              <a:custGeom>
                <a:avLst/>
                <a:gdLst/>
                <a:ahLst/>
                <a:cxnLst/>
                <a:rect r="r" b="b" t="t" l="l"/>
                <a:pathLst>
                  <a:path h="462280" w="1356995">
                    <a:moveTo>
                      <a:pt x="0" y="88900"/>
                    </a:moveTo>
                    <a:cubicBezTo>
                      <a:pt x="0" y="39751"/>
                      <a:pt x="39751" y="0"/>
                      <a:pt x="88900" y="0"/>
                    </a:cubicBezTo>
                    <a:lnTo>
                      <a:pt x="1268095" y="0"/>
                    </a:lnTo>
                    <a:cubicBezTo>
                      <a:pt x="1317244" y="0"/>
                      <a:pt x="1356995" y="39751"/>
                      <a:pt x="1356995" y="88900"/>
                    </a:cubicBezTo>
                    <a:lnTo>
                      <a:pt x="1356995" y="373380"/>
                    </a:lnTo>
                    <a:cubicBezTo>
                      <a:pt x="1356995" y="422529"/>
                      <a:pt x="1317244" y="462280"/>
                      <a:pt x="1268095" y="462280"/>
                    </a:cubicBezTo>
                    <a:lnTo>
                      <a:pt x="88900" y="462280"/>
                    </a:lnTo>
                    <a:cubicBezTo>
                      <a:pt x="39751" y="462280"/>
                      <a:pt x="0" y="422529"/>
                      <a:pt x="0" y="373380"/>
                    </a:cubicBezTo>
                    <a:close/>
                  </a:path>
                </a:pathLst>
              </a:custGeom>
              <a:solidFill>
                <a:srgbClr val="1E293B"/>
              </a:solidFill>
            </p:spPr>
          </p:sp>
        </p:grpSp>
        <p:sp>
          <p:nvSpPr>
            <p:cNvPr name="TextBox 105" id="105"/>
            <p:cNvSpPr txBox="true"/>
            <p:nvPr/>
          </p:nvSpPr>
          <p:spPr>
            <a:xfrm rot="0">
              <a:off x="122765" y="81915"/>
              <a:ext cx="1111466" cy="3079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1F5F9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① 프레임</a:t>
              </a:r>
            </a:p>
          </p:txBody>
        </p:sp>
      </p:grpSp>
      <p:sp>
        <p:nvSpPr>
          <p:cNvPr name="TextBox 106" id="106"/>
          <p:cNvSpPr txBox="true"/>
          <p:nvPr/>
        </p:nvSpPr>
        <p:spPr>
          <a:xfrm rot="0">
            <a:off x="3516978" y="8492348"/>
            <a:ext cx="22542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107" id="107"/>
          <p:cNvGrpSpPr/>
          <p:nvPr/>
        </p:nvGrpSpPr>
        <p:grpSpPr>
          <a:xfrm rot="0">
            <a:off x="3827809" y="8428531"/>
            <a:ext cx="1893570" cy="346710"/>
            <a:chOff x="0" y="0"/>
            <a:chExt cx="2524760" cy="462280"/>
          </a:xfrm>
        </p:grpSpPr>
        <p:grpSp>
          <p:nvGrpSpPr>
            <p:cNvPr name="Group 108" id="108"/>
            <p:cNvGrpSpPr/>
            <p:nvPr/>
          </p:nvGrpSpPr>
          <p:grpSpPr>
            <a:xfrm rot="0">
              <a:off x="0" y="0"/>
              <a:ext cx="2524760" cy="462280"/>
              <a:chOff x="0" y="0"/>
              <a:chExt cx="2524760" cy="462280"/>
            </a:xfrm>
          </p:grpSpPr>
          <p:sp>
            <p:nvSpPr>
              <p:cNvPr name="Freeform 109" id="109"/>
              <p:cNvSpPr/>
              <p:nvPr/>
            </p:nvSpPr>
            <p:spPr>
              <a:xfrm flipH="false" flipV="false" rot="0">
                <a:off x="0" y="0"/>
                <a:ext cx="2524760" cy="462280"/>
              </a:xfrm>
              <a:custGeom>
                <a:avLst/>
                <a:gdLst/>
                <a:ahLst/>
                <a:cxnLst/>
                <a:rect r="r" b="b" t="t" l="l"/>
                <a:pathLst>
                  <a:path h="462280" w="2524760">
                    <a:moveTo>
                      <a:pt x="0" y="88900"/>
                    </a:moveTo>
                    <a:cubicBezTo>
                      <a:pt x="0" y="39751"/>
                      <a:pt x="39751" y="0"/>
                      <a:pt x="88900" y="0"/>
                    </a:cubicBezTo>
                    <a:lnTo>
                      <a:pt x="2435860" y="0"/>
                    </a:lnTo>
                    <a:cubicBezTo>
                      <a:pt x="2485009" y="0"/>
                      <a:pt x="2524760" y="39751"/>
                      <a:pt x="2524760" y="88900"/>
                    </a:cubicBezTo>
                    <a:lnTo>
                      <a:pt x="2524760" y="373380"/>
                    </a:lnTo>
                    <a:cubicBezTo>
                      <a:pt x="2524760" y="422529"/>
                      <a:pt x="2485009" y="462280"/>
                      <a:pt x="2435860" y="462280"/>
                    </a:cubicBezTo>
                    <a:lnTo>
                      <a:pt x="88900" y="462280"/>
                    </a:lnTo>
                    <a:cubicBezTo>
                      <a:pt x="39751" y="462280"/>
                      <a:pt x="0" y="422529"/>
                      <a:pt x="0" y="373380"/>
                    </a:cubicBezTo>
                    <a:close/>
                  </a:path>
                </a:pathLst>
              </a:custGeom>
              <a:solidFill>
                <a:srgbClr val="1E293B"/>
              </a:solidFill>
            </p:spPr>
          </p:sp>
        </p:grpSp>
        <p:sp>
          <p:nvSpPr>
            <p:cNvPr name="TextBox 110" id="110"/>
            <p:cNvSpPr txBox="true"/>
            <p:nvPr/>
          </p:nvSpPr>
          <p:spPr>
            <a:xfrm rot="0">
              <a:off x="122765" y="81915"/>
              <a:ext cx="2279231" cy="3079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1F5F9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② Composer 조립</a:t>
              </a:r>
            </a:p>
          </p:txBody>
        </p:sp>
      </p:grpSp>
      <p:sp>
        <p:nvSpPr>
          <p:cNvPr name="TextBox 111" id="111"/>
          <p:cNvSpPr txBox="true"/>
          <p:nvPr/>
        </p:nvSpPr>
        <p:spPr>
          <a:xfrm rot="0">
            <a:off x="5806781" y="8492348"/>
            <a:ext cx="356973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 ← ③ 노드 · ⑤ 기존 스킬 · </a:t>
            </a:r>
            <a:r>
              <a:rPr lang="en-US" sz="1350" b="true">
                <a:solidFill>
                  <a:srgbClr val="A5B4F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⭐ 온톨로지 확장 </a:t>
            </a:r>
            <a:r>
              <a:rPr lang="en-US" sz="135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)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9461916" y="8492348"/>
            <a:ext cx="22542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9772747" y="8428531"/>
            <a:ext cx="1772964" cy="346710"/>
            <a:chOff x="0" y="0"/>
            <a:chExt cx="2363953" cy="462280"/>
          </a:xfrm>
        </p:grpSpPr>
        <p:grpSp>
          <p:nvGrpSpPr>
            <p:cNvPr name="Group 114" id="114"/>
            <p:cNvGrpSpPr/>
            <p:nvPr/>
          </p:nvGrpSpPr>
          <p:grpSpPr>
            <a:xfrm rot="0">
              <a:off x="0" y="0"/>
              <a:ext cx="2363953" cy="462280"/>
              <a:chOff x="0" y="0"/>
              <a:chExt cx="2363953" cy="462280"/>
            </a:xfrm>
          </p:grpSpPr>
          <p:sp>
            <p:nvSpPr>
              <p:cNvPr name="Freeform 115" id="115"/>
              <p:cNvSpPr/>
              <p:nvPr/>
            </p:nvSpPr>
            <p:spPr>
              <a:xfrm flipH="false" flipV="false" rot="0">
                <a:off x="0" y="0"/>
                <a:ext cx="2363978" cy="462280"/>
              </a:xfrm>
              <a:custGeom>
                <a:avLst/>
                <a:gdLst/>
                <a:ahLst/>
                <a:cxnLst/>
                <a:rect r="r" b="b" t="t" l="l"/>
                <a:pathLst>
                  <a:path h="462280" w="2363978">
                    <a:moveTo>
                      <a:pt x="0" y="88900"/>
                    </a:moveTo>
                    <a:cubicBezTo>
                      <a:pt x="0" y="39751"/>
                      <a:pt x="39751" y="0"/>
                      <a:pt x="88900" y="0"/>
                    </a:cubicBezTo>
                    <a:lnTo>
                      <a:pt x="2275078" y="0"/>
                    </a:lnTo>
                    <a:cubicBezTo>
                      <a:pt x="2324227" y="0"/>
                      <a:pt x="2363978" y="39751"/>
                      <a:pt x="2363978" y="88900"/>
                    </a:cubicBezTo>
                    <a:lnTo>
                      <a:pt x="2363978" y="373380"/>
                    </a:lnTo>
                    <a:cubicBezTo>
                      <a:pt x="2363978" y="422529"/>
                      <a:pt x="2324227" y="462280"/>
                      <a:pt x="2275078" y="462280"/>
                    </a:cubicBezTo>
                    <a:lnTo>
                      <a:pt x="88900" y="462280"/>
                    </a:lnTo>
                    <a:cubicBezTo>
                      <a:pt x="39751" y="462280"/>
                      <a:pt x="0" y="422529"/>
                      <a:pt x="0" y="373380"/>
                    </a:cubicBezTo>
                    <a:close/>
                  </a:path>
                </a:pathLst>
              </a:custGeom>
              <a:solidFill>
                <a:srgbClr val="1E293B"/>
              </a:solidFill>
            </p:spPr>
          </p:sp>
        </p:grpSp>
        <p:sp>
          <p:nvSpPr>
            <p:cNvPr name="TextBox 116" id="116"/>
            <p:cNvSpPr txBox="true"/>
            <p:nvPr/>
          </p:nvSpPr>
          <p:spPr>
            <a:xfrm rot="0">
              <a:off x="173571" y="81915"/>
              <a:ext cx="2118411" cy="3079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1F5F9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④ Skills Builder</a:t>
              </a:r>
            </a:p>
          </p:txBody>
        </p:sp>
      </p:grpSp>
      <p:sp>
        <p:nvSpPr>
          <p:cNvPr name="TextBox 117" id="117"/>
          <p:cNvSpPr txBox="true"/>
          <p:nvPr/>
        </p:nvSpPr>
        <p:spPr>
          <a:xfrm rot="0">
            <a:off x="11631114" y="8492348"/>
            <a:ext cx="22542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118" id="118"/>
          <p:cNvGrpSpPr/>
          <p:nvPr/>
        </p:nvGrpSpPr>
        <p:grpSpPr>
          <a:xfrm rot="0">
            <a:off x="11941945" y="8428531"/>
            <a:ext cx="1257776" cy="346710"/>
            <a:chOff x="0" y="0"/>
            <a:chExt cx="1677035" cy="462280"/>
          </a:xfrm>
        </p:grpSpPr>
        <p:grpSp>
          <p:nvGrpSpPr>
            <p:cNvPr name="Group 119" id="119"/>
            <p:cNvGrpSpPr/>
            <p:nvPr/>
          </p:nvGrpSpPr>
          <p:grpSpPr>
            <a:xfrm rot="0">
              <a:off x="0" y="0"/>
              <a:ext cx="1677035" cy="462280"/>
              <a:chOff x="0" y="0"/>
              <a:chExt cx="1677035" cy="462280"/>
            </a:xfrm>
          </p:grpSpPr>
          <p:sp>
            <p:nvSpPr>
              <p:cNvPr name="Freeform 120" id="120"/>
              <p:cNvSpPr/>
              <p:nvPr/>
            </p:nvSpPr>
            <p:spPr>
              <a:xfrm flipH="false" flipV="false" rot="0">
                <a:off x="0" y="0"/>
                <a:ext cx="1677035" cy="462280"/>
              </a:xfrm>
              <a:custGeom>
                <a:avLst/>
                <a:gdLst/>
                <a:ahLst/>
                <a:cxnLst/>
                <a:rect r="r" b="b" t="t" l="l"/>
                <a:pathLst>
                  <a:path h="462280" w="1677035">
                    <a:moveTo>
                      <a:pt x="0" y="88900"/>
                    </a:moveTo>
                    <a:cubicBezTo>
                      <a:pt x="0" y="39751"/>
                      <a:pt x="39751" y="0"/>
                      <a:pt x="88900" y="0"/>
                    </a:cubicBezTo>
                    <a:lnTo>
                      <a:pt x="1588135" y="0"/>
                    </a:lnTo>
                    <a:cubicBezTo>
                      <a:pt x="1637284" y="0"/>
                      <a:pt x="1677035" y="39751"/>
                      <a:pt x="1677035" y="88900"/>
                    </a:cubicBezTo>
                    <a:lnTo>
                      <a:pt x="1677035" y="373380"/>
                    </a:lnTo>
                    <a:cubicBezTo>
                      <a:pt x="1677035" y="422529"/>
                      <a:pt x="1637284" y="462280"/>
                      <a:pt x="1588135" y="462280"/>
                    </a:cubicBezTo>
                    <a:lnTo>
                      <a:pt x="88900" y="462280"/>
                    </a:lnTo>
                    <a:cubicBezTo>
                      <a:pt x="39751" y="462280"/>
                      <a:pt x="0" y="422529"/>
                      <a:pt x="0" y="373380"/>
                    </a:cubicBezTo>
                    <a:close/>
                  </a:path>
                </a:pathLst>
              </a:custGeom>
              <a:solidFill>
                <a:srgbClr val="1E293B"/>
              </a:solidFill>
            </p:spPr>
          </p:sp>
        </p:grpSp>
        <p:sp>
          <p:nvSpPr>
            <p:cNvPr name="TextBox 121" id="121"/>
            <p:cNvSpPr txBox="true"/>
            <p:nvPr/>
          </p:nvSpPr>
          <p:spPr>
            <a:xfrm rot="0">
              <a:off x="122765" y="81915"/>
              <a:ext cx="1431506" cy="3079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1F5F9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⑤ 마켓 저장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3285124" y="8296800"/>
            <a:ext cx="978094" cy="610172"/>
            <a:chOff x="0" y="0"/>
            <a:chExt cx="1304125" cy="813562"/>
          </a:xfrm>
        </p:grpSpPr>
        <p:grpSp>
          <p:nvGrpSpPr>
            <p:cNvPr name="Group 123" id="123"/>
            <p:cNvGrpSpPr/>
            <p:nvPr/>
          </p:nvGrpSpPr>
          <p:grpSpPr>
            <a:xfrm rot="0">
              <a:off x="0" y="170561"/>
              <a:ext cx="1304125" cy="472440"/>
              <a:chOff x="0" y="0"/>
              <a:chExt cx="1304125" cy="472440"/>
            </a:xfrm>
          </p:grpSpPr>
          <p:sp>
            <p:nvSpPr>
              <p:cNvPr name="Freeform 124" id="124"/>
              <p:cNvSpPr/>
              <p:nvPr/>
            </p:nvSpPr>
            <p:spPr>
              <a:xfrm flipH="false" flipV="false" rot="0">
                <a:off x="0" y="0"/>
                <a:ext cx="1304163" cy="472440"/>
              </a:xfrm>
              <a:custGeom>
                <a:avLst/>
                <a:gdLst/>
                <a:ahLst/>
                <a:cxnLst/>
                <a:rect r="r" b="b" t="t" l="l"/>
                <a:pathLst>
                  <a:path h="472440" w="1304163">
                    <a:moveTo>
                      <a:pt x="0" y="236220"/>
                    </a:moveTo>
                    <a:cubicBezTo>
                      <a:pt x="0" y="105791"/>
                      <a:pt x="105791" y="0"/>
                      <a:pt x="236220" y="0"/>
                    </a:cubicBezTo>
                    <a:lnTo>
                      <a:pt x="1067943" y="0"/>
                    </a:lnTo>
                    <a:cubicBezTo>
                      <a:pt x="1198372" y="0"/>
                      <a:pt x="1304163" y="105791"/>
                      <a:pt x="1304163" y="236220"/>
                    </a:cubicBezTo>
                    <a:cubicBezTo>
                      <a:pt x="1304163" y="366649"/>
                      <a:pt x="1198372" y="472440"/>
                      <a:pt x="1067943" y="472440"/>
                    </a:cubicBezTo>
                    <a:lnTo>
                      <a:pt x="236220" y="472440"/>
                    </a:lnTo>
                    <a:cubicBezTo>
                      <a:pt x="105791" y="472440"/>
                      <a:pt x="0" y="366649"/>
                      <a:pt x="0" y="236220"/>
                    </a:cubicBezTo>
                    <a:close/>
                  </a:path>
                </a:pathLst>
              </a:custGeom>
              <a:solidFill>
                <a:srgbClr val="FF5A36">
                  <a:alpha val="3137"/>
                </a:srgbClr>
              </a:solidFill>
            </p:spPr>
          </p:sp>
        </p:grpSp>
        <p:grpSp>
          <p:nvGrpSpPr>
            <p:cNvPr name="Group 125" id="125"/>
            <p:cNvGrpSpPr/>
            <p:nvPr/>
          </p:nvGrpSpPr>
          <p:grpSpPr>
            <a:xfrm rot="0">
              <a:off x="88900" y="0"/>
              <a:ext cx="1126325" cy="813562"/>
              <a:chOff x="0" y="0"/>
              <a:chExt cx="1126325" cy="813562"/>
            </a:xfrm>
          </p:grpSpPr>
          <p:sp>
            <p:nvSpPr>
              <p:cNvPr name="Freeform 126" id="126"/>
              <p:cNvSpPr/>
              <p:nvPr/>
            </p:nvSpPr>
            <p:spPr>
              <a:xfrm flipH="false" flipV="false" rot="0">
                <a:off x="0" y="0"/>
                <a:ext cx="1126331" cy="813562"/>
              </a:xfrm>
              <a:custGeom>
                <a:avLst/>
                <a:gdLst/>
                <a:ahLst/>
                <a:cxnLst/>
                <a:rect r="r" b="b" t="t" l="l"/>
                <a:pathLst>
                  <a:path h="813562" w="1126331">
                    <a:moveTo>
                      <a:pt x="0" y="0"/>
                    </a:moveTo>
                    <a:lnTo>
                      <a:pt x="1126331" y="0"/>
                    </a:lnTo>
                    <a:lnTo>
                      <a:pt x="1126331" y="813562"/>
                    </a:lnTo>
                    <a:lnTo>
                      <a:pt x="0" y="81356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923" t="0" r="-923" b="45051"/>
                </a:stretch>
              </a:blipFill>
            </p:spPr>
          </p:sp>
          <p:sp>
            <p:nvSpPr>
              <p:cNvPr name="TextBox 127" id="127"/>
              <p:cNvSpPr txBox="true"/>
              <p:nvPr/>
            </p:nvSpPr>
            <p:spPr>
              <a:xfrm>
                <a:off x="0" y="9525"/>
                <a:ext cx="1126325" cy="80403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sz="1575" b="true">
                    <a:solidFill>
                      <a:srgbClr val="FF8A6B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↻ 재사용</a:t>
                </a:r>
              </a:p>
            </p:txBody>
          </p:sp>
        </p:grpSp>
      </p:grpSp>
      <p:sp>
        <p:nvSpPr>
          <p:cNvPr name="TextBox 128" id="128"/>
          <p:cNvSpPr txBox="true"/>
          <p:nvPr/>
        </p:nvSpPr>
        <p:spPr>
          <a:xfrm rot="0">
            <a:off x="14348620" y="8492348"/>
            <a:ext cx="22542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129" id="129"/>
          <p:cNvGrpSpPr/>
          <p:nvPr/>
        </p:nvGrpSpPr>
        <p:grpSpPr>
          <a:xfrm rot="0">
            <a:off x="14659451" y="8428531"/>
            <a:ext cx="833676" cy="346710"/>
            <a:chOff x="0" y="0"/>
            <a:chExt cx="1111568" cy="462280"/>
          </a:xfrm>
        </p:grpSpPr>
        <p:grpSp>
          <p:nvGrpSpPr>
            <p:cNvPr name="Group 130" id="130"/>
            <p:cNvGrpSpPr/>
            <p:nvPr/>
          </p:nvGrpSpPr>
          <p:grpSpPr>
            <a:xfrm rot="0">
              <a:off x="0" y="0"/>
              <a:ext cx="1111568" cy="462280"/>
              <a:chOff x="0" y="0"/>
              <a:chExt cx="1111568" cy="462280"/>
            </a:xfrm>
          </p:grpSpPr>
          <p:sp>
            <p:nvSpPr>
              <p:cNvPr name="Freeform 131" id="131"/>
              <p:cNvSpPr/>
              <p:nvPr/>
            </p:nvSpPr>
            <p:spPr>
              <a:xfrm flipH="false" flipV="false" rot="0">
                <a:off x="0" y="0"/>
                <a:ext cx="1111504" cy="462280"/>
              </a:xfrm>
              <a:custGeom>
                <a:avLst/>
                <a:gdLst/>
                <a:ahLst/>
                <a:cxnLst/>
                <a:rect r="r" b="b" t="t" l="l"/>
                <a:pathLst>
                  <a:path h="462280" w="1111504">
                    <a:moveTo>
                      <a:pt x="0" y="88900"/>
                    </a:moveTo>
                    <a:cubicBezTo>
                      <a:pt x="0" y="39751"/>
                      <a:pt x="39751" y="0"/>
                      <a:pt x="88900" y="0"/>
                    </a:cubicBezTo>
                    <a:lnTo>
                      <a:pt x="1022604" y="0"/>
                    </a:lnTo>
                    <a:cubicBezTo>
                      <a:pt x="1071753" y="0"/>
                      <a:pt x="1111504" y="39751"/>
                      <a:pt x="1111504" y="88900"/>
                    </a:cubicBezTo>
                    <a:lnTo>
                      <a:pt x="1111504" y="373380"/>
                    </a:lnTo>
                    <a:cubicBezTo>
                      <a:pt x="1111504" y="422529"/>
                      <a:pt x="1071753" y="462280"/>
                      <a:pt x="1022604" y="462280"/>
                    </a:cubicBezTo>
                    <a:lnTo>
                      <a:pt x="88900" y="462280"/>
                    </a:lnTo>
                    <a:cubicBezTo>
                      <a:pt x="39751" y="462280"/>
                      <a:pt x="0" y="422529"/>
                      <a:pt x="0" y="373380"/>
                    </a:cubicBezTo>
                    <a:close/>
                  </a:path>
                </a:pathLst>
              </a:custGeom>
              <a:solidFill>
                <a:srgbClr val="1E293B"/>
              </a:solidFill>
            </p:spPr>
          </p:sp>
        </p:grpSp>
        <p:sp>
          <p:nvSpPr>
            <p:cNvPr name="TextBox 132" id="132"/>
            <p:cNvSpPr txBox="true"/>
            <p:nvPr/>
          </p:nvSpPr>
          <p:spPr>
            <a:xfrm rot="0">
              <a:off x="122765" y="81915"/>
              <a:ext cx="866038" cy="3079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1F5F9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⑥ 학습</a:t>
              </a:r>
            </a:p>
          </p:txBody>
        </p:sp>
      </p:grpSp>
      <p:sp>
        <p:nvSpPr>
          <p:cNvPr name="TextBox 133" id="133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134" id="134"/>
          <p:cNvSpPr txBox="true"/>
          <p:nvPr/>
        </p:nvSpPr>
        <p:spPr>
          <a:xfrm rot="0">
            <a:off x="2180911" y="511178"/>
            <a:ext cx="288634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전체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기술지도</a:t>
            </a:r>
          </a:p>
        </p:txBody>
      </p:sp>
      <p:sp>
        <p:nvSpPr>
          <p:cNvPr name="TextBox 135" id="135"/>
          <p:cNvSpPr txBox="true"/>
          <p:nvPr/>
        </p:nvSpPr>
        <p:spPr>
          <a:xfrm rot="0">
            <a:off x="13725687" y="511178"/>
            <a:ext cx="380031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시스템 아키텍처 명세</a:t>
            </a:r>
          </a:p>
        </p:txBody>
      </p:sp>
      <p:sp>
        <p:nvSpPr>
          <p:cNvPr name="TextBox 136" id="136"/>
          <p:cNvSpPr txBox="true"/>
          <p:nvPr/>
        </p:nvSpPr>
        <p:spPr>
          <a:xfrm rot="0">
            <a:off x="787403" y="1111253"/>
            <a:ext cx="8559701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전체 기술지도 — 요청 처리부터 재사용 학습까지</a:t>
            </a:r>
          </a:p>
        </p:txBody>
      </p:sp>
      <p:sp>
        <p:nvSpPr>
          <p:cNvPr name="TextBox 137" id="137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자연어 요청 → AI 조립 → 자산화 → 학습. 그 중심에 온톨로지 그래프.</a:t>
            </a:r>
          </a:p>
        </p:txBody>
      </p:sp>
      <p:grpSp>
        <p:nvGrpSpPr>
          <p:cNvPr name="Group 138" id="138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140" id="140"/>
          <p:cNvSpPr txBox="true"/>
          <p:nvPr/>
        </p:nvSpPr>
        <p:spPr>
          <a:xfrm rot="0">
            <a:off x="779145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20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141" id="141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142" id="142"/>
          <p:cNvSpPr txBox="true"/>
          <p:nvPr/>
        </p:nvSpPr>
        <p:spPr>
          <a:xfrm rot="0">
            <a:off x="2127418" y="9608820"/>
            <a:ext cx="176276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전체 기술지도</a:t>
            </a:r>
          </a:p>
        </p:txBody>
      </p:sp>
      <p:sp>
        <p:nvSpPr>
          <p:cNvPr name="TextBox 143" id="143"/>
          <p:cNvSpPr txBox="true"/>
          <p:nvPr/>
        </p:nvSpPr>
        <p:spPr>
          <a:xfrm rot="0">
            <a:off x="14727565" y="9608820"/>
            <a:ext cx="280352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Tech Map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12589" y="3159290"/>
            <a:ext cx="9437370" cy="5264458"/>
            <a:chOff x="0" y="0"/>
            <a:chExt cx="12583160" cy="701927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583161" cy="7019341"/>
            </a:xfrm>
            <a:custGeom>
              <a:avLst/>
              <a:gdLst/>
              <a:ahLst/>
              <a:cxnLst/>
              <a:rect r="r" b="b" t="t" l="l"/>
              <a:pathLst>
                <a:path h="7019341" w="12583161">
                  <a:moveTo>
                    <a:pt x="0" y="121746"/>
                  </a:moveTo>
                  <a:cubicBezTo>
                    <a:pt x="0" y="54534"/>
                    <a:pt x="79756" y="0"/>
                    <a:pt x="178054" y="0"/>
                  </a:cubicBezTo>
                  <a:lnTo>
                    <a:pt x="12405106" y="0"/>
                  </a:lnTo>
                  <a:cubicBezTo>
                    <a:pt x="12503404" y="0"/>
                    <a:pt x="12583161" y="54534"/>
                    <a:pt x="12583161" y="121746"/>
                  </a:cubicBezTo>
                  <a:lnTo>
                    <a:pt x="12583161" y="6897575"/>
                  </a:lnTo>
                  <a:cubicBezTo>
                    <a:pt x="12583161" y="6964787"/>
                    <a:pt x="12503404" y="7019341"/>
                    <a:pt x="12405106" y="7019341"/>
                  </a:cubicBezTo>
                  <a:lnTo>
                    <a:pt x="178054" y="7019341"/>
                  </a:lnTo>
                  <a:cubicBezTo>
                    <a:pt x="79756" y="7019341"/>
                    <a:pt x="0" y="6964787"/>
                    <a:pt x="0" y="6897575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42673" y="3393795"/>
            <a:ext cx="131119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120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라우팅 루프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2421465" y="3275876"/>
            <a:ext cx="1769859" cy="464439"/>
            <a:chOff x="0" y="0"/>
            <a:chExt cx="2359812" cy="619252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108966"/>
              <a:ext cx="2359812" cy="401320"/>
              <a:chOff x="0" y="0"/>
              <a:chExt cx="2359812" cy="40132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2359787" cy="401320"/>
              </a:xfrm>
              <a:custGeom>
                <a:avLst/>
                <a:gdLst/>
                <a:ahLst/>
                <a:cxnLst/>
                <a:rect r="r" b="b" t="t" l="l"/>
                <a:pathLst>
                  <a:path h="401320" w="2359787">
                    <a:moveTo>
                      <a:pt x="0" y="200660"/>
                    </a:moveTo>
                    <a:cubicBezTo>
                      <a:pt x="0" y="89789"/>
                      <a:pt x="89789" y="0"/>
                      <a:pt x="200660" y="0"/>
                    </a:cubicBezTo>
                    <a:lnTo>
                      <a:pt x="2159127" y="0"/>
                    </a:lnTo>
                    <a:cubicBezTo>
                      <a:pt x="2269998" y="0"/>
                      <a:pt x="2359787" y="89789"/>
                      <a:pt x="2359787" y="200660"/>
                    </a:cubicBezTo>
                    <a:cubicBezTo>
                      <a:pt x="2359787" y="311531"/>
                      <a:pt x="2269998" y="401320"/>
                      <a:pt x="2159127" y="401320"/>
                    </a:cubicBezTo>
                    <a:lnTo>
                      <a:pt x="200660" y="401320"/>
                    </a:lnTo>
                    <a:cubicBezTo>
                      <a:pt x="89789" y="401320"/>
                      <a:pt x="0" y="311531"/>
                      <a:pt x="0" y="200660"/>
                    </a:cubicBezTo>
                    <a:close/>
                  </a:path>
                </a:pathLst>
              </a:custGeom>
              <a:solidFill>
                <a:srgbClr val="FFF1EC"/>
              </a:solidFill>
              <a:ln w="7620" cap="sq">
                <a:solidFill>
                  <a:srgbClr val="FFE2D6"/>
                </a:solidFill>
                <a:prstDash val="solid"/>
                <a:miter/>
              </a:ln>
            </p:spPr>
          </p:sp>
        </p:grpSp>
        <p:grpSp>
          <p:nvGrpSpPr>
            <p:cNvPr name="Group 8" id="8"/>
            <p:cNvGrpSpPr/>
            <p:nvPr/>
          </p:nvGrpSpPr>
          <p:grpSpPr>
            <a:xfrm rot="0">
              <a:off x="91440" y="0"/>
              <a:ext cx="2176932" cy="619252"/>
              <a:chOff x="0" y="0"/>
              <a:chExt cx="2176932" cy="619252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76939" cy="619252"/>
              </a:xfrm>
              <a:custGeom>
                <a:avLst/>
                <a:gdLst/>
                <a:ahLst/>
                <a:cxnLst/>
                <a:rect r="r" b="b" t="t" l="l"/>
                <a:pathLst>
                  <a:path h="619252" w="2176939">
                    <a:moveTo>
                      <a:pt x="0" y="0"/>
                    </a:moveTo>
                    <a:lnTo>
                      <a:pt x="2176939" y="0"/>
                    </a:lnTo>
                    <a:lnTo>
                      <a:pt x="2176939" y="619252"/>
                    </a:lnTo>
                    <a:lnTo>
                      <a:pt x="0" y="6192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40606" r="0" b="3610"/>
                </a:stretch>
              </a:blip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0"/>
                <a:ext cx="2176932" cy="6192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439"/>
                  </a:lnSpc>
                </a:pPr>
                <a:r>
                  <a:rPr lang="en-US" sz="1200" b="true">
                    <a:solidFill>
                      <a:srgbClr val="C2410C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🔁 결과 반환 → 다음 턴</a:t>
                </a:r>
              </a:p>
            </p:txBody>
          </p:sp>
        </p:grpSp>
      </p:grpSp>
      <p:sp>
        <p:nvSpPr>
          <p:cNvPr name="AutoShape 11" id="11"/>
          <p:cNvSpPr/>
          <p:nvPr/>
        </p:nvSpPr>
        <p:spPr>
          <a:xfrm>
            <a:off x="1090379" y="4090937"/>
            <a:ext cx="283054" cy="0"/>
          </a:xfrm>
          <a:prstGeom prst="line">
            <a:avLst/>
          </a:prstGeom>
          <a:ln cap="flat" w="38100">
            <a:solidFill>
              <a:srgbClr val="FF5A36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417320" y="3864073"/>
            <a:ext cx="1174023" cy="453729"/>
            <a:chOff x="0" y="0"/>
            <a:chExt cx="1248728" cy="4826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248791" cy="482600"/>
            </a:xfrm>
            <a:custGeom>
              <a:avLst/>
              <a:gdLst/>
              <a:ahLst/>
              <a:cxnLst/>
              <a:rect r="r" b="b" t="t" l="l"/>
              <a:pathLst>
                <a:path h="482600" w="1248791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lnTo>
                    <a:pt x="1134491" y="0"/>
                  </a:lnTo>
                  <a:cubicBezTo>
                    <a:pt x="1197610" y="0"/>
                    <a:pt x="1248791" y="51181"/>
                    <a:pt x="1248791" y="114300"/>
                  </a:cubicBezTo>
                  <a:lnTo>
                    <a:pt x="1248791" y="368300"/>
                  </a:lnTo>
                  <a:cubicBezTo>
                    <a:pt x="1248791" y="431419"/>
                    <a:pt x="1197610" y="482600"/>
                    <a:pt x="1134491" y="482600"/>
                  </a:cubicBezTo>
                  <a:lnTo>
                    <a:pt x="114300" y="482600"/>
                  </a:lnTo>
                  <a:cubicBezTo>
                    <a:pt x="51181" y="482600"/>
                    <a:pt x="0" y="431419"/>
                    <a:pt x="0" y="36830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80501" y="3995687"/>
            <a:ext cx="847661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사용자 발화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720870" y="3957587"/>
            <a:ext cx="25870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true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3099997" y="3849745"/>
            <a:ext cx="6836483" cy="482385"/>
            <a:chOff x="0" y="0"/>
            <a:chExt cx="7271496" cy="5130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271448" cy="513080"/>
            </a:xfrm>
            <a:custGeom>
              <a:avLst/>
              <a:gdLst/>
              <a:ahLst/>
              <a:cxnLst/>
              <a:rect r="r" b="b" t="t" l="l"/>
              <a:pathLst>
                <a:path h="513080" w="7271448">
                  <a:moveTo>
                    <a:pt x="0" y="116586"/>
                  </a:moveTo>
                  <a:cubicBezTo>
                    <a:pt x="0" y="52197"/>
                    <a:pt x="39643" y="0"/>
                    <a:pt x="88546" y="0"/>
                  </a:cubicBezTo>
                  <a:lnTo>
                    <a:pt x="7182902" y="0"/>
                  </a:lnTo>
                  <a:cubicBezTo>
                    <a:pt x="7231804" y="0"/>
                    <a:pt x="7271448" y="52197"/>
                    <a:pt x="7271448" y="116586"/>
                  </a:cubicBezTo>
                  <a:lnTo>
                    <a:pt x="7271448" y="396494"/>
                  </a:lnTo>
                  <a:cubicBezTo>
                    <a:pt x="7271448" y="460883"/>
                    <a:pt x="7231804" y="513080"/>
                    <a:pt x="7182902" y="513080"/>
                  </a:cubicBezTo>
                  <a:lnTo>
                    <a:pt x="88546" y="513080"/>
                  </a:lnTo>
                  <a:cubicBezTo>
                    <a:pt x="39643" y="513080"/>
                    <a:pt x="0" y="460883"/>
                    <a:pt x="0" y="396494"/>
                  </a:cubicBezTo>
                  <a:close/>
                </a:path>
              </a:pathLst>
            </a:custGeom>
            <a:solidFill>
              <a:srgbClr val="FFF1EC"/>
            </a:solidFill>
            <a:ln w="7620" cap="sq">
              <a:solidFill>
                <a:srgbClr val="FFCDB8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3266231" y="3995687"/>
            <a:ext cx="612923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C2410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Supervisor · intent 분류 (9종)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894929" y="4422876"/>
            <a:ext cx="19104" cy="1719393"/>
            <a:chOff x="0" y="0"/>
            <a:chExt cx="20320" cy="1828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032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0320">
                  <a:moveTo>
                    <a:pt x="0" y="0"/>
                  </a:moveTo>
                  <a:lnTo>
                    <a:pt x="20320" y="0"/>
                  </a:lnTo>
                  <a:lnTo>
                    <a:pt x="20320" y="1828800"/>
                  </a:lnTo>
                  <a:lnTo>
                    <a:pt x="0" y="1828800"/>
                  </a:lnTo>
                  <a:close/>
                </a:path>
              </a:pathLst>
            </a:custGeom>
            <a:solidFill>
              <a:srgbClr val="FFCDB8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2160802" y="4464272"/>
            <a:ext cx="4139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FF8A6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├→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650352" y="4464272"/>
            <a:ext cx="5187555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즉시 응답 </a:t>
            </a:r>
            <a:r>
              <a:rPr lang="en-US" sz="1299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(chitchat · info · control · workflow_execute)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160802" y="4824867"/>
            <a:ext cx="4139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FF8A6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├→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650352" y="4824867"/>
            <a:ext cx="4681047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C2410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Composer relay </a:t>
            </a:r>
            <a:r>
              <a:rPr lang="en-US" sz="1299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(draft · refine · clarify)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160802" y="5195015"/>
            <a:ext cx="4139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FF8A6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├→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650352" y="5195015"/>
            <a:ext cx="3870307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finalize </a:t>
            </a:r>
            <a:r>
              <a:rPr lang="en-US" sz="1299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(propose)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160802" y="5546057"/>
            <a:ext cx="4139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FF8A6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├→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650352" y="5546057"/>
            <a:ext cx="4250026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C2410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Skills Builder relay </a:t>
            </a:r>
            <a:r>
              <a:rPr lang="en-US" sz="1299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(build_skill)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160802" y="5906652"/>
            <a:ext cx="4139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FF8A6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└→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50352" y="5906652"/>
            <a:ext cx="4499873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Monitoring </a:t>
            </a:r>
            <a:r>
              <a:rPr lang="en-US" sz="1299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(AgentState 6상태)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417320" y="6250029"/>
            <a:ext cx="8519160" cy="571500"/>
            <a:chOff x="0" y="0"/>
            <a:chExt cx="11358880" cy="7620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358880" cy="762000"/>
            </a:xfrm>
            <a:custGeom>
              <a:avLst/>
              <a:gdLst/>
              <a:ahLst/>
              <a:cxnLst/>
              <a:rect r="r" b="b" t="t" l="l"/>
              <a:pathLst>
                <a:path h="762000" w="11358880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11231880" y="0"/>
                  </a:lnTo>
                  <a:cubicBezTo>
                    <a:pt x="11301985" y="0"/>
                    <a:pt x="11358880" y="56896"/>
                    <a:pt x="11358880" y="127000"/>
                  </a:cubicBezTo>
                  <a:lnTo>
                    <a:pt x="11358880" y="635000"/>
                  </a:lnTo>
                  <a:cubicBezTo>
                    <a:pt x="11358880" y="705104"/>
                    <a:pt x="11301985" y="762000"/>
                    <a:pt x="11231880" y="762000"/>
                  </a:cubicBezTo>
                  <a:lnTo>
                    <a:pt x="127000" y="762000"/>
                  </a:lnTo>
                  <a:cubicBezTo>
                    <a:pt x="56896" y="762000"/>
                    <a:pt x="0" y="705104"/>
                    <a:pt x="0" y="63500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557023" y="6262697"/>
            <a:ext cx="400050" cy="546164"/>
            <a:chOff x="0" y="0"/>
            <a:chExt cx="533400" cy="728218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50800" y="148209"/>
              <a:ext cx="431800" cy="431800"/>
              <a:chOff x="0" y="0"/>
              <a:chExt cx="431800" cy="4318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31800" cy="431800"/>
              </a:xfrm>
              <a:custGeom>
                <a:avLst/>
                <a:gdLst/>
                <a:ahLst/>
                <a:cxnLst/>
                <a:rect r="r" b="b" t="t" l="l"/>
                <a:pathLst>
                  <a:path h="431800" w="431800">
                    <a:moveTo>
                      <a:pt x="0" y="215900"/>
                    </a:moveTo>
                    <a:cubicBezTo>
                      <a:pt x="0" y="96647"/>
                      <a:pt x="96647" y="0"/>
                      <a:pt x="215900" y="0"/>
                    </a:cubicBezTo>
                    <a:cubicBezTo>
                      <a:pt x="335153" y="0"/>
                      <a:pt x="431800" y="96647"/>
                      <a:pt x="431800" y="215900"/>
                    </a:cubicBezTo>
                    <a:cubicBezTo>
                      <a:pt x="431800" y="335153"/>
                      <a:pt x="335153" y="431800"/>
                      <a:pt x="215900" y="431800"/>
                    </a:cubicBezTo>
                    <a:cubicBezTo>
                      <a:pt x="96647" y="431800"/>
                      <a:pt x="0" y="335153"/>
                      <a:pt x="0" y="215900"/>
                    </a:cubicBezTo>
                    <a:close/>
                  </a:path>
                </a:pathLst>
              </a:custGeom>
              <a:solidFill>
                <a:srgbClr val="FF5A36"/>
              </a:solidFill>
            </p:spPr>
          </p:sp>
        </p:grpSp>
        <p:grpSp>
          <p:nvGrpSpPr>
            <p:cNvPr name="Group 36" id="36"/>
            <p:cNvGrpSpPr/>
            <p:nvPr/>
          </p:nvGrpSpPr>
          <p:grpSpPr>
            <a:xfrm rot="0">
              <a:off x="0" y="0"/>
              <a:ext cx="533400" cy="728218"/>
              <a:chOff x="0" y="0"/>
              <a:chExt cx="533400" cy="728218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533400" cy="728218"/>
              </a:xfrm>
              <a:custGeom>
                <a:avLst/>
                <a:gdLst/>
                <a:ahLst/>
                <a:cxnLst/>
                <a:rect r="r" b="b" t="t" l="l"/>
                <a:pathLst>
                  <a:path h="728218" w="533400">
                    <a:moveTo>
                      <a:pt x="0" y="0"/>
                    </a:moveTo>
                    <a:lnTo>
                      <a:pt x="533400" y="0"/>
                    </a:lnTo>
                    <a:lnTo>
                      <a:pt x="533400" y="728218"/>
                    </a:lnTo>
                    <a:lnTo>
                      <a:pt x="0" y="72821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66084" t="0" r="-66084" b="33728"/>
                </a:stretch>
              </a:blip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0"/>
                <a:ext cx="533400" cy="728218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709"/>
                  </a:lnSpc>
                </a:pPr>
                <a:r>
                  <a:rPr lang="en-US" sz="1425" b="true">
                    <a:solidFill>
                      <a:srgbClr val="FFFFFF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↺</a:t>
                </a:r>
              </a:p>
            </p:txBody>
          </p:sp>
        </p:grpSp>
      </p:grpSp>
      <p:sp>
        <p:nvSpPr>
          <p:cNvPr name="TextBox 39" id="39"/>
          <p:cNvSpPr txBox="true"/>
          <p:nvPr/>
        </p:nvSpPr>
        <p:spPr>
          <a:xfrm rot="0">
            <a:off x="2061848" y="6370806"/>
            <a:ext cx="7635927" cy="263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1"/>
              </a:lnSpc>
            </a:pPr>
            <a:r>
              <a:rPr lang="en-US" sz="1299">
                <a:solidFill>
                  <a:srgbClr val="E2E8F0"/>
                </a:solidFill>
                <a:latin typeface="Noto Sans Kr"/>
                <a:ea typeface="Noto Sans Kr"/>
                <a:cs typeface="Noto Sans Kr"/>
                <a:sym typeface="Noto Sans Kr"/>
              </a:rPr>
              <a:t>sub-agent SSE 스트리밍으로 </a:t>
            </a:r>
            <a:r>
              <a:rPr lang="en-US" sz="1299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결과 반환 </a:t>
            </a:r>
            <a:r>
              <a:rPr lang="en-US" sz="1299" b="true">
                <a:solidFill>
                  <a:srgbClr val="FF8A6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 다시 Supervisor로 복귀 </a:t>
            </a:r>
            <a:r>
              <a:rPr lang="en-US" sz="1299">
                <a:solidFill>
                  <a:srgbClr val="E2E8F0"/>
                </a:solidFill>
                <a:latin typeface="Noto Sans Kr"/>
                <a:ea typeface="Noto Sans Kr"/>
                <a:cs typeface="Noto Sans Kr"/>
                <a:sym typeface="Noto Sans Kr"/>
              </a:rPr>
              <a:t>→ 다음 턴 라우팅 — </a:t>
            </a:r>
            <a:r>
              <a:rPr lang="en-US" sz="1299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대화가 루프로 누적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698269" y="6928847"/>
            <a:ext cx="16514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FF8A6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⤴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888769" y="6928847"/>
            <a:ext cx="7366020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C2410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단방향이 아니다 — 매 분기 결과가 supervisor로 되돌아오는 닫힌 루프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013460" y="7595359"/>
            <a:ext cx="8923020" cy="495776"/>
            <a:chOff x="0" y="0"/>
            <a:chExt cx="11897360" cy="66103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1897360" cy="661035"/>
            </a:xfrm>
            <a:custGeom>
              <a:avLst/>
              <a:gdLst/>
              <a:ahLst/>
              <a:cxnLst/>
              <a:rect r="r" b="b" t="t" l="l"/>
              <a:pathLst>
                <a:path h="661035" w="11897360">
                  <a:moveTo>
                    <a:pt x="0" y="152766"/>
                  </a:moveTo>
                  <a:cubicBezTo>
                    <a:pt x="0" y="68430"/>
                    <a:pt x="57887" y="0"/>
                    <a:pt x="129231" y="0"/>
                  </a:cubicBezTo>
                  <a:lnTo>
                    <a:pt x="11768130" y="0"/>
                  </a:lnTo>
                  <a:cubicBezTo>
                    <a:pt x="11839473" y="0"/>
                    <a:pt x="11897360" y="68430"/>
                    <a:pt x="11897360" y="152766"/>
                  </a:cubicBezTo>
                  <a:lnTo>
                    <a:pt x="11897360" y="508269"/>
                  </a:lnTo>
                  <a:cubicBezTo>
                    <a:pt x="11897360" y="592605"/>
                    <a:pt x="11839473" y="661035"/>
                    <a:pt x="11768130" y="661035"/>
                  </a:cubicBezTo>
                  <a:lnTo>
                    <a:pt x="129231" y="661035"/>
                  </a:lnTo>
                  <a:cubicBezTo>
                    <a:pt x="57887" y="661035"/>
                    <a:pt x="0" y="592606"/>
                    <a:pt x="0" y="508269"/>
                  </a:cubicBezTo>
                  <a:close/>
                </a:path>
              </a:pathLst>
            </a:custGeom>
            <a:solidFill>
              <a:srgbClr val="FFF7F4"/>
            </a:solidFill>
            <a:ln w="7620" cap="sq">
              <a:solidFill>
                <a:srgbClr val="FFE2D6"/>
              </a:solidFill>
              <a:prstDash val="solid"/>
              <a:miter/>
            </a:ln>
          </p:spPr>
        </p:sp>
      </p:grpSp>
      <p:sp>
        <p:nvSpPr>
          <p:cNvPr name="TextBox 44" id="44"/>
          <p:cNvSpPr txBox="true"/>
          <p:nvPr/>
        </p:nvSpPr>
        <p:spPr>
          <a:xfrm rot="0">
            <a:off x="1193168" y="7678274"/>
            <a:ext cx="8296181" cy="263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1"/>
              </a:lnSpc>
            </a:pPr>
            <a:r>
              <a:rPr lang="en-US" sz="1299">
                <a:solidFill>
                  <a:srgbClr val="9A3412"/>
                </a:solidFill>
                <a:latin typeface="Noto Sans Kr"/>
                <a:ea typeface="Noto Sans Kr"/>
                <a:cs typeface="Noto Sans Kr"/>
                <a:sym typeface="Noto Sans Kr"/>
              </a:rPr>
              <a:t>복합 발화 </a:t>
            </a:r>
            <a:r>
              <a:rPr lang="en-US" sz="1299">
                <a:solidFill>
                  <a:srgbClr val="C2410C"/>
                </a:solidFill>
                <a:latin typeface="Noto Sans Kr"/>
                <a:ea typeface="Noto Sans Kr"/>
                <a:cs typeface="Noto Sans Kr"/>
                <a:sym typeface="Noto Sans Kr"/>
              </a:rPr>
              <a:t>skill_then_compose </a:t>
            </a:r>
            <a:r>
              <a:rPr lang="en-US" sz="1299">
                <a:solidFill>
                  <a:srgbClr val="9A3412"/>
                </a:solidFill>
                <a:latin typeface="Noto Sans Kr"/>
                <a:ea typeface="Noto Sans Kr"/>
                <a:cs typeface="Noto Sans Kr"/>
                <a:sym typeface="Noto Sans Kr"/>
              </a:rPr>
              <a:t>→ build_skill 완료 후 compose로 </a:t>
            </a:r>
            <a:r>
              <a:rPr lang="en-US" sz="1299" b="true">
                <a:solidFill>
                  <a:srgbClr val="9A3412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체이닝 </a:t>
            </a:r>
            <a:r>
              <a:rPr lang="en-US" sz="1299">
                <a:solidFill>
                  <a:srgbClr val="9A3412"/>
                </a:solidFill>
                <a:latin typeface="Noto Sans Kr"/>
                <a:ea typeface="Noto Sans Kr"/>
                <a:cs typeface="Noto Sans Kr"/>
                <a:sym typeface="Noto Sans Kr"/>
              </a:rPr>
              <a:t>(루프의 실제 예)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0378440" y="3159290"/>
            <a:ext cx="7151256" cy="1760827"/>
            <a:chOff x="0" y="0"/>
            <a:chExt cx="9535008" cy="234777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535033" cy="2347770"/>
            </a:xfrm>
            <a:custGeom>
              <a:avLst/>
              <a:gdLst/>
              <a:ahLst/>
              <a:cxnLst/>
              <a:rect r="r" b="b" t="t" l="l"/>
              <a:pathLst>
                <a:path h="2347770" w="9535033">
                  <a:moveTo>
                    <a:pt x="0" y="230440"/>
                  </a:moveTo>
                  <a:cubicBezTo>
                    <a:pt x="0" y="103109"/>
                    <a:pt x="80010" y="0"/>
                    <a:pt x="178816" y="0"/>
                  </a:cubicBezTo>
                  <a:lnTo>
                    <a:pt x="9356217" y="0"/>
                  </a:lnTo>
                  <a:cubicBezTo>
                    <a:pt x="9455024" y="0"/>
                    <a:pt x="9535033" y="103109"/>
                    <a:pt x="9535033" y="230440"/>
                  </a:cubicBezTo>
                  <a:lnTo>
                    <a:pt x="9535033" y="2117330"/>
                  </a:lnTo>
                  <a:cubicBezTo>
                    <a:pt x="9535033" y="2244661"/>
                    <a:pt x="9455024" y="2347770"/>
                    <a:pt x="9356217" y="2347770"/>
                  </a:cubicBezTo>
                  <a:lnTo>
                    <a:pt x="178816" y="2347770"/>
                  </a:lnTo>
                  <a:cubicBezTo>
                    <a:pt x="80010" y="2347770"/>
                    <a:pt x="0" y="2244661"/>
                    <a:pt x="0" y="2117330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sp>
        <p:nvSpPr>
          <p:cNvPr name="TextBox 47" id="47"/>
          <p:cNvSpPr txBox="true"/>
          <p:nvPr/>
        </p:nvSpPr>
        <p:spPr>
          <a:xfrm rot="0">
            <a:off x="10624823" y="3293783"/>
            <a:ext cx="213568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 b="true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9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0940577" y="3398558"/>
            <a:ext cx="402332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49"/>
              </a:lnSpc>
            </a:pPr>
            <a:r>
              <a:rPr lang="en-US" b="true" sz="1374" spc="83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INTENT · IntentType enum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10595610" y="3859911"/>
            <a:ext cx="671674" cy="252814"/>
            <a:chOff x="0" y="0"/>
            <a:chExt cx="895565" cy="337085"/>
          </a:xfrm>
        </p:grpSpPr>
        <p:grpSp>
          <p:nvGrpSpPr>
            <p:cNvPr name="Group 50" id="50"/>
            <p:cNvGrpSpPr/>
            <p:nvPr/>
          </p:nvGrpSpPr>
          <p:grpSpPr>
            <a:xfrm rot="0">
              <a:off x="0" y="0"/>
              <a:ext cx="895565" cy="337085"/>
              <a:chOff x="0" y="0"/>
              <a:chExt cx="809790" cy="304800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809879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809879">
                    <a:moveTo>
                      <a:pt x="0" y="78867"/>
                    </a:moveTo>
                    <a:cubicBezTo>
                      <a:pt x="0" y="35306"/>
                      <a:pt x="35306" y="0"/>
                      <a:pt x="78867" y="0"/>
                    </a:cubicBezTo>
                    <a:lnTo>
                      <a:pt x="731012" y="0"/>
                    </a:lnTo>
                    <a:cubicBezTo>
                      <a:pt x="774573" y="0"/>
                      <a:pt x="809879" y="35306"/>
                      <a:pt x="809879" y="78867"/>
                    </a:cubicBezTo>
                    <a:lnTo>
                      <a:pt x="809879" y="225933"/>
                    </a:lnTo>
                    <a:cubicBezTo>
                      <a:pt x="809879" y="269494"/>
                      <a:pt x="774573" y="304800"/>
                      <a:pt x="731012" y="304800"/>
                    </a:cubicBezTo>
                    <a:lnTo>
                      <a:pt x="78867" y="304800"/>
                    </a:lnTo>
                    <a:cubicBezTo>
                      <a:pt x="35306" y="304800"/>
                      <a:pt x="0" y="269494"/>
                      <a:pt x="0" y="225933"/>
                    </a:cubicBezTo>
                    <a:close/>
                  </a:path>
                </a:pathLst>
              </a:custGeom>
              <a:solidFill>
                <a:srgbClr val="F1F5F9"/>
              </a:solidFill>
              <a:ln w="7620" cap="sq">
                <a:solidFill>
                  <a:srgbClr val="E2E8F0"/>
                </a:solidFill>
                <a:prstDash val="solid"/>
                <a:miter/>
              </a:ln>
            </p:spPr>
          </p:sp>
        </p:grpSp>
        <p:sp>
          <p:nvSpPr>
            <p:cNvPr name="TextBox 52" id="52"/>
            <p:cNvSpPr txBox="true"/>
            <p:nvPr/>
          </p:nvSpPr>
          <p:spPr>
            <a:xfrm rot="0">
              <a:off x="125321" y="70226"/>
              <a:ext cx="644922" cy="190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4"/>
                </a:lnSpc>
              </a:pPr>
              <a:r>
                <a:rPr lang="en-US" sz="995">
                  <a:solidFill>
                    <a:srgbClr val="475569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chitchat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1322060" y="3859911"/>
            <a:ext cx="904359" cy="252814"/>
            <a:chOff x="0" y="0"/>
            <a:chExt cx="1205813" cy="337085"/>
          </a:xfrm>
        </p:grpSpPr>
        <p:grpSp>
          <p:nvGrpSpPr>
            <p:cNvPr name="Group 54" id="54"/>
            <p:cNvGrpSpPr/>
            <p:nvPr/>
          </p:nvGrpSpPr>
          <p:grpSpPr>
            <a:xfrm rot="0">
              <a:off x="0" y="0"/>
              <a:ext cx="1205813" cy="337085"/>
              <a:chOff x="0" y="0"/>
              <a:chExt cx="1090323" cy="304800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1090323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1090323">
                    <a:moveTo>
                      <a:pt x="0" y="78867"/>
                    </a:moveTo>
                    <a:cubicBezTo>
                      <a:pt x="0" y="35306"/>
                      <a:pt x="32314" y="0"/>
                      <a:pt x="72185" y="0"/>
                    </a:cubicBezTo>
                    <a:lnTo>
                      <a:pt x="1018139" y="0"/>
                    </a:lnTo>
                    <a:cubicBezTo>
                      <a:pt x="1058009" y="0"/>
                      <a:pt x="1090323" y="35306"/>
                      <a:pt x="1090323" y="78867"/>
                    </a:cubicBezTo>
                    <a:lnTo>
                      <a:pt x="1090323" y="225933"/>
                    </a:lnTo>
                    <a:cubicBezTo>
                      <a:pt x="1090323" y="269494"/>
                      <a:pt x="1058009" y="304800"/>
                      <a:pt x="1018139" y="304800"/>
                    </a:cubicBezTo>
                    <a:lnTo>
                      <a:pt x="72185" y="304800"/>
                    </a:lnTo>
                    <a:cubicBezTo>
                      <a:pt x="32314" y="304800"/>
                      <a:pt x="0" y="269494"/>
                      <a:pt x="0" y="225933"/>
                    </a:cubicBezTo>
                    <a:close/>
                  </a:path>
                </a:pathLst>
              </a:custGeom>
              <a:solidFill>
                <a:srgbClr val="F1F5F9"/>
              </a:solidFill>
              <a:ln w="7620" cap="sq">
                <a:solidFill>
                  <a:srgbClr val="E2E8F0"/>
                </a:solidFill>
                <a:prstDash val="solid"/>
                <a:miter/>
              </a:ln>
            </p:spPr>
          </p:sp>
        </p:grpSp>
        <p:sp>
          <p:nvSpPr>
            <p:cNvPr name="TextBox 56" id="56"/>
            <p:cNvSpPr txBox="true"/>
            <p:nvPr/>
          </p:nvSpPr>
          <p:spPr>
            <a:xfrm rot="0">
              <a:off x="55814" y="70226"/>
              <a:ext cx="1094184" cy="190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4"/>
                </a:lnSpc>
              </a:pPr>
              <a:r>
                <a:rPr lang="en-US" sz="995">
                  <a:solidFill>
                    <a:srgbClr val="475569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info_question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286343" y="3859911"/>
            <a:ext cx="539244" cy="252814"/>
            <a:chOff x="0" y="0"/>
            <a:chExt cx="718991" cy="337085"/>
          </a:xfrm>
        </p:grpSpPr>
        <p:grpSp>
          <p:nvGrpSpPr>
            <p:cNvPr name="Group 58" id="58"/>
            <p:cNvGrpSpPr/>
            <p:nvPr/>
          </p:nvGrpSpPr>
          <p:grpSpPr>
            <a:xfrm rot="0">
              <a:off x="0" y="0"/>
              <a:ext cx="718991" cy="337085"/>
              <a:chOff x="0" y="0"/>
              <a:chExt cx="650128" cy="304800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650192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650192">
                    <a:moveTo>
                      <a:pt x="0" y="78867"/>
                    </a:moveTo>
                    <a:cubicBezTo>
                      <a:pt x="0" y="35306"/>
                      <a:pt x="30935" y="0"/>
                      <a:pt x="69102" y="0"/>
                    </a:cubicBezTo>
                    <a:lnTo>
                      <a:pt x="581082" y="0"/>
                    </a:lnTo>
                    <a:cubicBezTo>
                      <a:pt x="619249" y="0"/>
                      <a:pt x="650192" y="35306"/>
                      <a:pt x="650192" y="78867"/>
                    </a:cubicBezTo>
                    <a:lnTo>
                      <a:pt x="650192" y="225933"/>
                    </a:lnTo>
                    <a:cubicBezTo>
                      <a:pt x="650192" y="269494"/>
                      <a:pt x="619249" y="304800"/>
                      <a:pt x="581082" y="304800"/>
                    </a:cubicBezTo>
                    <a:lnTo>
                      <a:pt x="69102" y="304800"/>
                    </a:lnTo>
                    <a:cubicBezTo>
                      <a:pt x="30935" y="304800"/>
                      <a:pt x="0" y="269494"/>
                      <a:pt x="0" y="225933"/>
                    </a:cubicBezTo>
                    <a:close/>
                  </a:path>
                </a:pathLst>
              </a:custGeom>
              <a:solidFill>
                <a:srgbClr val="F1F5F9"/>
              </a:solidFill>
              <a:ln w="7620" cap="sq">
                <a:solidFill>
                  <a:srgbClr val="E2E8F0"/>
                </a:solidFill>
                <a:prstDash val="solid"/>
                <a:miter/>
              </a:ln>
            </p:spPr>
          </p:sp>
        </p:grpSp>
        <p:sp>
          <p:nvSpPr>
            <p:cNvPr name="TextBox 60" id="60"/>
            <p:cNvSpPr txBox="true"/>
            <p:nvPr/>
          </p:nvSpPr>
          <p:spPr>
            <a:xfrm rot="0">
              <a:off x="74539" y="70226"/>
              <a:ext cx="569912" cy="190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4"/>
                </a:lnSpc>
              </a:pPr>
              <a:r>
                <a:rPr lang="en-US" sz="995">
                  <a:solidFill>
                    <a:srgbClr val="475569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control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882736" y="3859911"/>
            <a:ext cx="1190759" cy="252814"/>
            <a:chOff x="0" y="0"/>
            <a:chExt cx="1587678" cy="337085"/>
          </a:xfrm>
        </p:grpSpPr>
        <p:grpSp>
          <p:nvGrpSpPr>
            <p:cNvPr name="Group 62" id="62"/>
            <p:cNvGrpSpPr/>
            <p:nvPr/>
          </p:nvGrpSpPr>
          <p:grpSpPr>
            <a:xfrm rot="0">
              <a:off x="0" y="0"/>
              <a:ext cx="1587678" cy="337085"/>
              <a:chOff x="0" y="0"/>
              <a:chExt cx="1435615" cy="304800"/>
            </a:xfrm>
          </p:grpSpPr>
          <p:sp>
            <p:nvSpPr>
              <p:cNvPr name="Freeform 63" id="63"/>
              <p:cNvSpPr/>
              <p:nvPr/>
            </p:nvSpPr>
            <p:spPr>
              <a:xfrm flipH="false" flipV="false" rot="0">
                <a:off x="0" y="0"/>
                <a:ext cx="1435640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1435640">
                    <a:moveTo>
                      <a:pt x="0" y="78867"/>
                    </a:moveTo>
                    <a:cubicBezTo>
                      <a:pt x="0" y="35306"/>
                      <a:pt x="33883" y="0"/>
                      <a:pt x="75688" y="0"/>
                    </a:cubicBezTo>
                    <a:lnTo>
                      <a:pt x="1359951" y="0"/>
                    </a:lnTo>
                    <a:cubicBezTo>
                      <a:pt x="1401756" y="0"/>
                      <a:pt x="1435640" y="35306"/>
                      <a:pt x="1435640" y="78867"/>
                    </a:cubicBezTo>
                    <a:lnTo>
                      <a:pt x="1435640" y="225933"/>
                    </a:lnTo>
                    <a:cubicBezTo>
                      <a:pt x="1435640" y="269494"/>
                      <a:pt x="1401756" y="304800"/>
                      <a:pt x="1359951" y="304800"/>
                    </a:cubicBezTo>
                    <a:lnTo>
                      <a:pt x="75688" y="304800"/>
                    </a:lnTo>
                    <a:cubicBezTo>
                      <a:pt x="33883" y="304800"/>
                      <a:pt x="0" y="269494"/>
                      <a:pt x="0" y="225933"/>
                    </a:cubicBezTo>
                    <a:close/>
                  </a:path>
                </a:pathLst>
              </a:custGeom>
              <a:solidFill>
                <a:srgbClr val="F1F5F9"/>
              </a:solidFill>
              <a:ln w="7620" cap="sq">
                <a:solidFill>
                  <a:srgbClr val="E2E8F0"/>
                </a:solidFill>
                <a:prstDash val="solid"/>
                <a:miter/>
              </a:ln>
            </p:spPr>
          </p:sp>
        </p:grpSp>
        <p:sp>
          <p:nvSpPr>
            <p:cNvPr name="TextBox 64" id="64"/>
            <p:cNvSpPr txBox="true"/>
            <p:nvPr/>
          </p:nvSpPr>
          <p:spPr>
            <a:xfrm rot="0">
              <a:off x="49805" y="70226"/>
              <a:ext cx="1488068" cy="190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4"/>
                </a:lnSpc>
              </a:pPr>
              <a:r>
                <a:rPr lang="en-US" sz="995">
                  <a:solidFill>
                    <a:srgbClr val="475569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workflow_execute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4128282" y="3859911"/>
            <a:ext cx="488900" cy="252814"/>
            <a:chOff x="0" y="0"/>
            <a:chExt cx="651866" cy="337085"/>
          </a:xfrm>
        </p:grpSpPr>
        <p:grpSp>
          <p:nvGrpSpPr>
            <p:cNvPr name="Group 66" id="66"/>
            <p:cNvGrpSpPr/>
            <p:nvPr/>
          </p:nvGrpSpPr>
          <p:grpSpPr>
            <a:xfrm rot="0">
              <a:off x="0" y="0"/>
              <a:ext cx="651866" cy="337085"/>
              <a:chOff x="0" y="0"/>
              <a:chExt cx="589432" cy="304800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589534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589534">
                    <a:moveTo>
                      <a:pt x="0" y="78867"/>
                    </a:moveTo>
                    <a:cubicBezTo>
                      <a:pt x="0" y="35306"/>
                      <a:pt x="35306" y="0"/>
                      <a:pt x="78867" y="0"/>
                    </a:cubicBezTo>
                    <a:lnTo>
                      <a:pt x="510667" y="0"/>
                    </a:lnTo>
                    <a:cubicBezTo>
                      <a:pt x="554228" y="0"/>
                      <a:pt x="589534" y="35306"/>
                      <a:pt x="589534" y="78867"/>
                    </a:cubicBezTo>
                    <a:lnTo>
                      <a:pt x="589534" y="225933"/>
                    </a:lnTo>
                    <a:cubicBezTo>
                      <a:pt x="589534" y="269494"/>
                      <a:pt x="554228" y="304800"/>
                      <a:pt x="510667" y="304800"/>
                    </a:cubicBezTo>
                    <a:lnTo>
                      <a:pt x="78867" y="304800"/>
                    </a:lnTo>
                    <a:cubicBezTo>
                      <a:pt x="35306" y="304800"/>
                      <a:pt x="0" y="269494"/>
                      <a:pt x="0" y="225933"/>
                    </a:cubicBezTo>
                    <a:close/>
                  </a:path>
                </a:pathLst>
              </a:custGeom>
              <a:solidFill>
                <a:srgbClr val="FFF1EC"/>
              </a:solidFill>
              <a:ln w="7620" cap="sq">
                <a:solidFill>
                  <a:srgbClr val="FFE2D6"/>
                </a:solidFill>
                <a:prstDash val="solid"/>
                <a:miter/>
              </a:ln>
            </p:spPr>
          </p:sp>
        </p:grpSp>
        <p:sp>
          <p:nvSpPr>
            <p:cNvPr name="TextBox 68" id="68"/>
            <p:cNvSpPr txBox="true"/>
            <p:nvPr/>
          </p:nvSpPr>
          <p:spPr>
            <a:xfrm rot="0">
              <a:off x="134342" y="70226"/>
              <a:ext cx="383183" cy="190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4"/>
                </a:lnSpc>
              </a:pPr>
              <a:r>
                <a:rPr lang="en-US" sz="995">
                  <a:solidFill>
                    <a:srgbClr val="C2410C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draft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4674332" y="3859911"/>
            <a:ext cx="495090" cy="252814"/>
            <a:chOff x="0" y="0"/>
            <a:chExt cx="660120" cy="337085"/>
          </a:xfrm>
        </p:grpSpPr>
        <p:grpSp>
          <p:nvGrpSpPr>
            <p:cNvPr name="Group 70" id="70"/>
            <p:cNvGrpSpPr/>
            <p:nvPr/>
          </p:nvGrpSpPr>
          <p:grpSpPr>
            <a:xfrm rot="0">
              <a:off x="0" y="0"/>
              <a:ext cx="660120" cy="337085"/>
              <a:chOff x="0" y="0"/>
              <a:chExt cx="596896" cy="304800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0" y="0"/>
                <a:ext cx="596959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596959">
                    <a:moveTo>
                      <a:pt x="0" y="78867"/>
                    </a:moveTo>
                    <a:cubicBezTo>
                      <a:pt x="0" y="35306"/>
                      <a:pt x="31652" y="0"/>
                      <a:pt x="70705" y="0"/>
                    </a:cubicBezTo>
                    <a:lnTo>
                      <a:pt x="526247" y="0"/>
                    </a:lnTo>
                    <a:cubicBezTo>
                      <a:pt x="565300" y="0"/>
                      <a:pt x="596959" y="35306"/>
                      <a:pt x="596959" y="78867"/>
                    </a:cubicBezTo>
                    <a:lnTo>
                      <a:pt x="596959" y="225933"/>
                    </a:lnTo>
                    <a:cubicBezTo>
                      <a:pt x="596959" y="269494"/>
                      <a:pt x="565300" y="304800"/>
                      <a:pt x="526247" y="304800"/>
                    </a:cubicBezTo>
                    <a:lnTo>
                      <a:pt x="70705" y="304800"/>
                    </a:lnTo>
                    <a:cubicBezTo>
                      <a:pt x="31652" y="304800"/>
                      <a:pt x="0" y="269494"/>
                      <a:pt x="0" y="225933"/>
                    </a:cubicBezTo>
                    <a:close/>
                  </a:path>
                </a:pathLst>
              </a:custGeom>
              <a:solidFill>
                <a:srgbClr val="FFF1EC"/>
              </a:solidFill>
              <a:ln w="7620" cap="sq">
                <a:solidFill>
                  <a:srgbClr val="FFE2D6"/>
                </a:solidFill>
                <a:prstDash val="solid"/>
                <a:miter/>
              </a:ln>
            </p:spPr>
          </p:sp>
        </p:grpSp>
        <p:sp>
          <p:nvSpPr>
            <p:cNvPr name="TextBox 72" id="72"/>
            <p:cNvSpPr txBox="true"/>
            <p:nvPr/>
          </p:nvSpPr>
          <p:spPr>
            <a:xfrm rot="0">
              <a:off x="101956" y="70226"/>
              <a:ext cx="456208" cy="190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4"/>
                </a:lnSpc>
              </a:pPr>
              <a:r>
                <a:rPr lang="en-US" sz="995">
                  <a:solidFill>
                    <a:srgbClr val="C2410C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refine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226572" y="3859911"/>
            <a:ext cx="566071" cy="252814"/>
            <a:chOff x="0" y="0"/>
            <a:chExt cx="754761" cy="337085"/>
          </a:xfrm>
        </p:grpSpPr>
        <p:grpSp>
          <p:nvGrpSpPr>
            <p:cNvPr name="Group 74" id="74"/>
            <p:cNvGrpSpPr/>
            <p:nvPr/>
          </p:nvGrpSpPr>
          <p:grpSpPr>
            <a:xfrm rot="0">
              <a:off x="0" y="0"/>
              <a:ext cx="754761" cy="337085"/>
              <a:chOff x="0" y="0"/>
              <a:chExt cx="682473" cy="304800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682498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682498">
                    <a:moveTo>
                      <a:pt x="0" y="78867"/>
                    </a:moveTo>
                    <a:cubicBezTo>
                      <a:pt x="0" y="35306"/>
                      <a:pt x="35306" y="0"/>
                      <a:pt x="78867" y="0"/>
                    </a:cubicBezTo>
                    <a:lnTo>
                      <a:pt x="603631" y="0"/>
                    </a:lnTo>
                    <a:cubicBezTo>
                      <a:pt x="647192" y="0"/>
                      <a:pt x="682498" y="35306"/>
                      <a:pt x="682498" y="78867"/>
                    </a:cubicBezTo>
                    <a:lnTo>
                      <a:pt x="682498" y="225933"/>
                    </a:lnTo>
                    <a:cubicBezTo>
                      <a:pt x="682498" y="269494"/>
                      <a:pt x="647192" y="304800"/>
                      <a:pt x="603631" y="304800"/>
                    </a:cubicBezTo>
                    <a:lnTo>
                      <a:pt x="78867" y="304800"/>
                    </a:lnTo>
                    <a:cubicBezTo>
                      <a:pt x="35306" y="304800"/>
                      <a:pt x="0" y="269494"/>
                      <a:pt x="0" y="225933"/>
                    </a:cubicBezTo>
                    <a:close/>
                  </a:path>
                </a:pathLst>
              </a:custGeom>
              <a:solidFill>
                <a:srgbClr val="FFF1EC"/>
              </a:solidFill>
              <a:ln w="7620" cap="sq">
                <a:solidFill>
                  <a:srgbClr val="FFE2D6"/>
                </a:solidFill>
                <a:prstDash val="solid"/>
                <a:miter/>
              </a:ln>
            </p:spPr>
          </p:sp>
        </p:grpSp>
        <p:sp>
          <p:nvSpPr>
            <p:cNvPr name="TextBox 76" id="76"/>
            <p:cNvSpPr txBox="true"/>
            <p:nvPr/>
          </p:nvSpPr>
          <p:spPr>
            <a:xfrm rot="0">
              <a:off x="135783" y="70226"/>
              <a:ext cx="483195" cy="190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4"/>
                </a:lnSpc>
              </a:pPr>
              <a:r>
                <a:rPr lang="en-US" sz="995">
                  <a:solidFill>
                    <a:srgbClr val="C2410C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clarify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5849793" y="3859911"/>
            <a:ext cx="692868" cy="252814"/>
            <a:chOff x="0" y="0"/>
            <a:chExt cx="923824" cy="337085"/>
          </a:xfrm>
        </p:grpSpPr>
        <p:grpSp>
          <p:nvGrpSpPr>
            <p:cNvPr name="Group 78" id="78"/>
            <p:cNvGrpSpPr/>
            <p:nvPr/>
          </p:nvGrpSpPr>
          <p:grpSpPr>
            <a:xfrm rot="0">
              <a:off x="0" y="0"/>
              <a:ext cx="923824" cy="337085"/>
              <a:chOff x="0" y="0"/>
              <a:chExt cx="835343" cy="304800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835406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835406">
                    <a:moveTo>
                      <a:pt x="0" y="78867"/>
                    </a:moveTo>
                    <a:cubicBezTo>
                      <a:pt x="0" y="35306"/>
                      <a:pt x="35306" y="0"/>
                      <a:pt x="78867" y="0"/>
                    </a:cubicBezTo>
                    <a:lnTo>
                      <a:pt x="756539" y="0"/>
                    </a:lnTo>
                    <a:cubicBezTo>
                      <a:pt x="800100" y="0"/>
                      <a:pt x="835406" y="35306"/>
                      <a:pt x="835406" y="78867"/>
                    </a:cubicBezTo>
                    <a:lnTo>
                      <a:pt x="835406" y="225933"/>
                    </a:lnTo>
                    <a:cubicBezTo>
                      <a:pt x="835406" y="269494"/>
                      <a:pt x="800100" y="304800"/>
                      <a:pt x="756539" y="304800"/>
                    </a:cubicBezTo>
                    <a:lnTo>
                      <a:pt x="78867" y="304800"/>
                    </a:lnTo>
                    <a:cubicBezTo>
                      <a:pt x="35306" y="304800"/>
                      <a:pt x="0" y="269494"/>
                      <a:pt x="0" y="225933"/>
                    </a:cubicBezTo>
                    <a:close/>
                  </a:path>
                </a:pathLst>
              </a:custGeom>
              <a:solidFill>
                <a:srgbClr val="F1F5F9"/>
              </a:solidFill>
              <a:ln w="7620" cap="sq">
                <a:solidFill>
                  <a:srgbClr val="E2E8F0"/>
                </a:solidFill>
                <a:prstDash val="solid"/>
                <a:miter/>
              </a:ln>
            </p:spPr>
          </p:sp>
        </p:grpSp>
        <p:sp>
          <p:nvSpPr>
            <p:cNvPr name="TextBox 80" id="80"/>
            <p:cNvSpPr txBox="true"/>
            <p:nvPr/>
          </p:nvSpPr>
          <p:spPr>
            <a:xfrm rot="0">
              <a:off x="136474" y="70226"/>
              <a:ext cx="650875" cy="190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4"/>
                </a:lnSpc>
              </a:pPr>
              <a:r>
                <a:rPr lang="en-US" sz="995">
                  <a:solidFill>
                    <a:srgbClr val="475569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propose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6599811" y="3859911"/>
            <a:ext cx="784112" cy="252814"/>
            <a:chOff x="0" y="0"/>
            <a:chExt cx="1045483" cy="337085"/>
          </a:xfrm>
        </p:grpSpPr>
        <p:grpSp>
          <p:nvGrpSpPr>
            <p:cNvPr name="Group 82" id="82"/>
            <p:cNvGrpSpPr/>
            <p:nvPr/>
          </p:nvGrpSpPr>
          <p:grpSpPr>
            <a:xfrm rot="0">
              <a:off x="0" y="0"/>
              <a:ext cx="1045483" cy="337085"/>
              <a:chOff x="0" y="0"/>
              <a:chExt cx="945350" cy="304800"/>
            </a:xfrm>
          </p:grpSpPr>
          <p:sp>
            <p:nvSpPr>
              <p:cNvPr name="Freeform 83" id="83"/>
              <p:cNvSpPr/>
              <p:nvPr/>
            </p:nvSpPr>
            <p:spPr>
              <a:xfrm flipH="false" flipV="false" rot="0">
                <a:off x="0" y="0"/>
                <a:ext cx="945388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945388">
                    <a:moveTo>
                      <a:pt x="0" y="78867"/>
                    </a:moveTo>
                    <a:cubicBezTo>
                      <a:pt x="0" y="35306"/>
                      <a:pt x="35306" y="0"/>
                      <a:pt x="78867" y="0"/>
                    </a:cubicBezTo>
                    <a:lnTo>
                      <a:pt x="866521" y="0"/>
                    </a:lnTo>
                    <a:cubicBezTo>
                      <a:pt x="910082" y="0"/>
                      <a:pt x="945388" y="35306"/>
                      <a:pt x="945388" y="78867"/>
                    </a:cubicBezTo>
                    <a:lnTo>
                      <a:pt x="945388" y="225933"/>
                    </a:lnTo>
                    <a:cubicBezTo>
                      <a:pt x="945388" y="269494"/>
                      <a:pt x="910082" y="304800"/>
                      <a:pt x="866521" y="304800"/>
                    </a:cubicBezTo>
                    <a:lnTo>
                      <a:pt x="78867" y="304800"/>
                    </a:lnTo>
                    <a:cubicBezTo>
                      <a:pt x="35306" y="304800"/>
                      <a:pt x="0" y="269494"/>
                      <a:pt x="0" y="225933"/>
                    </a:cubicBezTo>
                    <a:close/>
                  </a:path>
                </a:pathLst>
              </a:custGeom>
              <a:solidFill>
                <a:srgbClr val="FFF1EC"/>
              </a:solidFill>
              <a:ln w="7620" cap="sq">
                <a:solidFill>
                  <a:srgbClr val="FFE2D6"/>
                </a:solidFill>
                <a:prstDash val="solid"/>
                <a:miter/>
              </a:ln>
            </p:spPr>
          </p:sp>
        </p:grpSp>
        <p:sp>
          <p:nvSpPr>
            <p:cNvPr name="TextBox 84" id="84"/>
            <p:cNvSpPr txBox="true"/>
            <p:nvPr/>
          </p:nvSpPr>
          <p:spPr>
            <a:xfrm rot="0">
              <a:off x="116044" y="70226"/>
              <a:ext cx="813395" cy="190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4"/>
                </a:lnSpc>
              </a:pPr>
              <a:r>
                <a:rPr lang="en-US" sz="995">
                  <a:solidFill>
                    <a:srgbClr val="C2410C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build_skill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0595610" y="4240911"/>
            <a:ext cx="6859772" cy="489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8"/>
              </a:lnSpc>
            </a:pP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LLM 없이 intent로 분기 = </a:t>
            </a:r>
            <a:r>
              <a:rPr lang="en-US" sz="12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fast-path </a:t>
            </a: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(즉시 응답군은 sub-agent 미호출). </a:t>
            </a:r>
          </a:p>
          <a:p>
            <a:pPr algn="l">
              <a:lnSpc>
                <a:spcPts val="2088"/>
              </a:lnSpc>
            </a:pP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AgentState 6상태 = Monitoring 루프.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10382250" y="5072517"/>
            <a:ext cx="7143636" cy="3304129"/>
            <a:chOff x="0" y="0"/>
            <a:chExt cx="9524848" cy="4405506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9524873" cy="4405472"/>
            </a:xfrm>
            <a:custGeom>
              <a:avLst/>
              <a:gdLst/>
              <a:ahLst/>
              <a:cxnLst/>
              <a:rect r="r" b="b" t="t" l="l"/>
              <a:pathLst>
                <a:path h="4405472" w="9524873">
                  <a:moveTo>
                    <a:pt x="0" y="94760"/>
                  </a:moveTo>
                  <a:cubicBezTo>
                    <a:pt x="0" y="42439"/>
                    <a:pt x="79629" y="0"/>
                    <a:pt x="177800" y="0"/>
                  </a:cubicBezTo>
                  <a:lnTo>
                    <a:pt x="9347073" y="0"/>
                  </a:lnTo>
                  <a:cubicBezTo>
                    <a:pt x="9445244" y="0"/>
                    <a:pt x="9524873" y="42439"/>
                    <a:pt x="9524873" y="94760"/>
                  </a:cubicBezTo>
                  <a:lnTo>
                    <a:pt x="9524873" y="4310712"/>
                  </a:lnTo>
                  <a:cubicBezTo>
                    <a:pt x="9524873" y="4363033"/>
                    <a:pt x="9445244" y="4405472"/>
                    <a:pt x="9347073" y="4405472"/>
                  </a:cubicBezTo>
                  <a:lnTo>
                    <a:pt x="177800" y="4405472"/>
                  </a:lnTo>
                  <a:cubicBezTo>
                    <a:pt x="79629" y="4405472"/>
                    <a:pt x="0" y="4363033"/>
                    <a:pt x="0" y="4310712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88" id="88"/>
          <p:cNvSpPr txBox="true"/>
          <p:nvPr/>
        </p:nvSpPr>
        <p:spPr>
          <a:xfrm rot="0">
            <a:off x="10617203" y="5309018"/>
            <a:ext cx="108200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5 Modal 앱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11789703" y="5309018"/>
            <a:ext cx="2265006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64748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독립 배포 · 장애 격리</a:t>
            </a:r>
          </a:p>
        </p:txBody>
      </p:sp>
      <p:grpSp>
        <p:nvGrpSpPr>
          <p:cNvPr name="Group 90" id="90"/>
          <p:cNvGrpSpPr/>
          <p:nvPr/>
        </p:nvGrpSpPr>
        <p:grpSpPr>
          <a:xfrm rot="0">
            <a:off x="10620318" y="5683248"/>
            <a:ext cx="6667500" cy="358093"/>
            <a:chOff x="0" y="0"/>
            <a:chExt cx="7566956" cy="40640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7566982" cy="406400"/>
            </a:xfrm>
            <a:custGeom>
              <a:avLst/>
              <a:gdLst/>
              <a:ahLst/>
              <a:cxnLst/>
              <a:rect r="r" b="b" t="t" l="l"/>
              <a:pathLst>
                <a:path h="406400" w="7566982">
                  <a:moveTo>
                    <a:pt x="0" y="88900"/>
                  </a:moveTo>
                  <a:cubicBezTo>
                    <a:pt x="0" y="39751"/>
                    <a:pt x="33548" y="0"/>
                    <a:pt x="75028" y="0"/>
                  </a:cubicBezTo>
                  <a:lnTo>
                    <a:pt x="7491950" y="0"/>
                  </a:lnTo>
                  <a:cubicBezTo>
                    <a:pt x="7533429" y="0"/>
                    <a:pt x="7566982" y="39751"/>
                    <a:pt x="7566982" y="88900"/>
                  </a:cubicBezTo>
                  <a:lnTo>
                    <a:pt x="7566982" y="317500"/>
                  </a:lnTo>
                  <a:cubicBezTo>
                    <a:pt x="7566982" y="366649"/>
                    <a:pt x="7533429" y="406400"/>
                    <a:pt x="7491950" y="406400"/>
                  </a:cubicBezTo>
                  <a:lnTo>
                    <a:pt x="75028" y="406400"/>
                  </a:lnTo>
                  <a:cubicBezTo>
                    <a:pt x="33548" y="406400"/>
                    <a:pt x="0" y="366649"/>
                    <a:pt x="0" y="31750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92" id="92"/>
          <p:cNvSpPr txBox="true"/>
          <p:nvPr/>
        </p:nvSpPr>
        <p:spPr>
          <a:xfrm rot="0">
            <a:off x="10744739" y="5767045"/>
            <a:ext cx="62436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orchestrator </a:t>
            </a: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· Supervisor · intent 분류·라우팅</a:t>
            </a:r>
          </a:p>
        </p:txBody>
      </p:sp>
      <p:grpSp>
        <p:nvGrpSpPr>
          <p:cNvPr name="Group 93" id="93"/>
          <p:cNvGrpSpPr/>
          <p:nvPr/>
        </p:nvGrpSpPr>
        <p:grpSpPr>
          <a:xfrm rot="0">
            <a:off x="10620318" y="6108484"/>
            <a:ext cx="6667500" cy="358093"/>
            <a:chOff x="0" y="0"/>
            <a:chExt cx="7566956" cy="40640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7566982" cy="406400"/>
            </a:xfrm>
            <a:custGeom>
              <a:avLst/>
              <a:gdLst/>
              <a:ahLst/>
              <a:cxnLst/>
              <a:rect r="r" b="b" t="t" l="l"/>
              <a:pathLst>
                <a:path h="406400" w="7566982">
                  <a:moveTo>
                    <a:pt x="0" y="88900"/>
                  </a:moveTo>
                  <a:cubicBezTo>
                    <a:pt x="0" y="39751"/>
                    <a:pt x="33548" y="0"/>
                    <a:pt x="75028" y="0"/>
                  </a:cubicBezTo>
                  <a:lnTo>
                    <a:pt x="7491950" y="0"/>
                  </a:lnTo>
                  <a:cubicBezTo>
                    <a:pt x="7533429" y="0"/>
                    <a:pt x="7566982" y="39751"/>
                    <a:pt x="7566982" y="88900"/>
                  </a:cubicBezTo>
                  <a:lnTo>
                    <a:pt x="7566982" y="317500"/>
                  </a:lnTo>
                  <a:cubicBezTo>
                    <a:pt x="7566982" y="366649"/>
                    <a:pt x="7533429" y="406400"/>
                    <a:pt x="7491950" y="406400"/>
                  </a:cubicBezTo>
                  <a:lnTo>
                    <a:pt x="75028" y="406400"/>
                  </a:lnTo>
                  <a:cubicBezTo>
                    <a:pt x="33548" y="406400"/>
                    <a:pt x="0" y="366649"/>
                    <a:pt x="0" y="31750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95" id="95"/>
          <p:cNvSpPr txBox="true"/>
          <p:nvPr/>
        </p:nvSpPr>
        <p:spPr>
          <a:xfrm rot="0">
            <a:off x="10744739" y="6192280"/>
            <a:ext cx="62436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agent-composer </a:t>
            </a: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· 워크플로우 생성 (LangGraph+온톨로지)</a:t>
            </a:r>
          </a:p>
        </p:txBody>
      </p:sp>
      <p:grpSp>
        <p:nvGrpSpPr>
          <p:cNvPr name="Group 96" id="96"/>
          <p:cNvGrpSpPr/>
          <p:nvPr/>
        </p:nvGrpSpPr>
        <p:grpSpPr>
          <a:xfrm rot="0">
            <a:off x="10620318" y="6533719"/>
            <a:ext cx="6667500" cy="358093"/>
            <a:chOff x="0" y="0"/>
            <a:chExt cx="7566956" cy="40640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7566982" cy="406400"/>
            </a:xfrm>
            <a:custGeom>
              <a:avLst/>
              <a:gdLst/>
              <a:ahLst/>
              <a:cxnLst/>
              <a:rect r="r" b="b" t="t" l="l"/>
              <a:pathLst>
                <a:path h="406400" w="7566982">
                  <a:moveTo>
                    <a:pt x="0" y="88900"/>
                  </a:moveTo>
                  <a:cubicBezTo>
                    <a:pt x="0" y="39751"/>
                    <a:pt x="33548" y="0"/>
                    <a:pt x="75028" y="0"/>
                  </a:cubicBezTo>
                  <a:lnTo>
                    <a:pt x="7491950" y="0"/>
                  </a:lnTo>
                  <a:cubicBezTo>
                    <a:pt x="7533429" y="0"/>
                    <a:pt x="7566982" y="39751"/>
                    <a:pt x="7566982" y="88900"/>
                  </a:cubicBezTo>
                  <a:lnTo>
                    <a:pt x="7566982" y="317500"/>
                  </a:lnTo>
                  <a:cubicBezTo>
                    <a:pt x="7566982" y="366649"/>
                    <a:pt x="7533429" y="406400"/>
                    <a:pt x="7491950" y="406400"/>
                  </a:cubicBezTo>
                  <a:lnTo>
                    <a:pt x="75028" y="406400"/>
                  </a:lnTo>
                  <a:cubicBezTo>
                    <a:pt x="33548" y="406400"/>
                    <a:pt x="0" y="366649"/>
                    <a:pt x="0" y="31750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98" id="98"/>
          <p:cNvSpPr txBox="true"/>
          <p:nvPr/>
        </p:nvSpPr>
        <p:spPr>
          <a:xfrm rot="0">
            <a:off x="10744739" y="6617515"/>
            <a:ext cx="62436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agent-skills-builder </a:t>
            </a: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· 문서 → 스킬 (HITL)</a:t>
            </a:r>
          </a:p>
        </p:txBody>
      </p:sp>
      <p:grpSp>
        <p:nvGrpSpPr>
          <p:cNvPr name="Group 99" id="99"/>
          <p:cNvGrpSpPr/>
          <p:nvPr/>
        </p:nvGrpSpPr>
        <p:grpSpPr>
          <a:xfrm rot="0">
            <a:off x="10620318" y="6958954"/>
            <a:ext cx="6667500" cy="358093"/>
            <a:chOff x="0" y="0"/>
            <a:chExt cx="7566956" cy="40640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7566982" cy="406400"/>
            </a:xfrm>
            <a:custGeom>
              <a:avLst/>
              <a:gdLst/>
              <a:ahLst/>
              <a:cxnLst/>
              <a:rect r="r" b="b" t="t" l="l"/>
              <a:pathLst>
                <a:path h="406400" w="7566982">
                  <a:moveTo>
                    <a:pt x="0" y="88900"/>
                  </a:moveTo>
                  <a:cubicBezTo>
                    <a:pt x="0" y="39751"/>
                    <a:pt x="33548" y="0"/>
                    <a:pt x="75028" y="0"/>
                  </a:cubicBezTo>
                  <a:lnTo>
                    <a:pt x="7491950" y="0"/>
                  </a:lnTo>
                  <a:cubicBezTo>
                    <a:pt x="7533429" y="0"/>
                    <a:pt x="7566982" y="39751"/>
                    <a:pt x="7566982" y="88900"/>
                  </a:cubicBezTo>
                  <a:lnTo>
                    <a:pt x="7566982" y="317500"/>
                  </a:lnTo>
                  <a:cubicBezTo>
                    <a:pt x="7566982" y="366649"/>
                    <a:pt x="7533429" y="406400"/>
                    <a:pt x="7491950" y="406400"/>
                  </a:cubicBezTo>
                  <a:lnTo>
                    <a:pt x="75028" y="406400"/>
                  </a:lnTo>
                  <a:cubicBezTo>
                    <a:pt x="33548" y="406400"/>
                    <a:pt x="0" y="366649"/>
                    <a:pt x="0" y="31750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101" id="101"/>
          <p:cNvSpPr txBox="true"/>
          <p:nvPr/>
        </p:nvSpPr>
        <p:spPr>
          <a:xfrm rot="0">
            <a:off x="10744739" y="7042750"/>
            <a:ext cx="62436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agent-personalization </a:t>
            </a: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· 메모리 (GCS+CAS)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10620318" y="7384189"/>
            <a:ext cx="6667500" cy="358093"/>
            <a:chOff x="0" y="0"/>
            <a:chExt cx="7566956" cy="406400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7566982" cy="406400"/>
            </a:xfrm>
            <a:custGeom>
              <a:avLst/>
              <a:gdLst/>
              <a:ahLst/>
              <a:cxnLst/>
              <a:rect r="r" b="b" t="t" l="l"/>
              <a:pathLst>
                <a:path h="406400" w="7566982">
                  <a:moveTo>
                    <a:pt x="0" y="88900"/>
                  </a:moveTo>
                  <a:cubicBezTo>
                    <a:pt x="0" y="39751"/>
                    <a:pt x="33548" y="0"/>
                    <a:pt x="75028" y="0"/>
                  </a:cubicBezTo>
                  <a:lnTo>
                    <a:pt x="7491950" y="0"/>
                  </a:lnTo>
                  <a:cubicBezTo>
                    <a:pt x="7533429" y="0"/>
                    <a:pt x="7566982" y="39751"/>
                    <a:pt x="7566982" y="88900"/>
                  </a:cubicBezTo>
                  <a:lnTo>
                    <a:pt x="7566982" y="317500"/>
                  </a:lnTo>
                  <a:cubicBezTo>
                    <a:pt x="7566982" y="366649"/>
                    <a:pt x="7533429" y="406400"/>
                    <a:pt x="7491950" y="406400"/>
                  </a:cubicBezTo>
                  <a:lnTo>
                    <a:pt x="75028" y="406400"/>
                  </a:lnTo>
                  <a:cubicBezTo>
                    <a:pt x="33548" y="406400"/>
                    <a:pt x="0" y="366649"/>
                    <a:pt x="0" y="31750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104" id="104"/>
          <p:cNvSpPr txBox="true"/>
          <p:nvPr/>
        </p:nvSpPr>
        <p:spPr>
          <a:xfrm rot="0">
            <a:off x="10744739" y="7467985"/>
            <a:ext cx="62436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llm-base </a:t>
            </a: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· Gemma 4 + BGE-M3 공통 추론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10620318" y="7818482"/>
            <a:ext cx="6334144" cy="272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9"/>
              </a:lnSpc>
            </a:pP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VPC 내부 HTTP · AgentProtocol Pydantic v2 SSOT · scaledown 300s</a:t>
            </a:r>
          </a:p>
        </p:txBody>
      </p:sp>
      <p:sp>
        <p:nvSpPr>
          <p:cNvPr name="AutoShape 106" id="106"/>
          <p:cNvSpPr/>
          <p:nvPr/>
        </p:nvSpPr>
        <p:spPr>
          <a:xfrm flipH="true">
            <a:off x="1090379" y="4079595"/>
            <a:ext cx="0" cy="2456183"/>
          </a:xfrm>
          <a:prstGeom prst="line">
            <a:avLst/>
          </a:prstGeom>
          <a:ln cap="flat" w="38100">
            <a:solidFill>
              <a:srgbClr val="FF5A3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7" id="107"/>
          <p:cNvGrpSpPr/>
          <p:nvPr/>
        </p:nvGrpSpPr>
        <p:grpSpPr>
          <a:xfrm rot="0">
            <a:off x="826280" y="4824867"/>
            <a:ext cx="547153" cy="714582"/>
            <a:chOff x="0" y="0"/>
            <a:chExt cx="729538" cy="952776"/>
          </a:xfrm>
        </p:grpSpPr>
        <p:grpSp>
          <p:nvGrpSpPr>
            <p:cNvPr name="Group 108" id="108"/>
            <p:cNvGrpSpPr/>
            <p:nvPr/>
          </p:nvGrpSpPr>
          <p:grpSpPr>
            <a:xfrm rot="0">
              <a:off x="97272" y="208891"/>
              <a:ext cx="534994" cy="534994"/>
              <a:chOff x="0" y="0"/>
              <a:chExt cx="279400" cy="279400"/>
            </a:xfrm>
          </p:grpSpPr>
          <p:sp>
            <p:nvSpPr>
              <p:cNvPr name="Freeform 109" id="109"/>
              <p:cNvSpPr/>
              <p:nvPr/>
            </p:nvSpPr>
            <p:spPr>
              <a:xfrm flipH="false" flipV="false" rot="0">
                <a:off x="0" y="0"/>
                <a:ext cx="279400" cy="279400"/>
              </a:xfrm>
              <a:custGeom>
                <a:avLst/>
                <a:gdLst/>
                <a:ahLst/>
                <a:cxnLst/>
                <a:rect r="r" b="b" t="t" l="l"/>
                <a:pathLst>
                  <a:path h="279400" w="279400">
                    <a:moveTo>
                      <a:pt x="0" y="139700"/>
                    </a:moveTo>
                    <a:cubicBezTo>
                      <a:pt x="0" y="62484"/>
                      <a:pt x="62484" y="0"/>
                      <a:pt x="139700" y="0"/>
                    </a:cubicBezTo>
                    <a:cubicBezTo>
                      <a:pt x="216916" y="0"/>
                      <a:pt x="279400" y="62484"/>
                      <a:pt x="279400" y="139700"/>
                    </a:cubicBezTo>
                    <a:cubicBezTo>
                      <a:pt x="279400" y="216916"/>
                      <a:pt x="216916" y="279400"/>
                      <a:pt x="139700" y="279400"/>
                    </a:cubicBezTo>
                    <a:cubicBezTo>
                      <a:pt x="62484" y="279400"/>
                      <a:pt x="0" y="216916"/>
                      <a:pt x="0" y="139700"/>
                    </a:cubicBezTo>
                    <a:close/>
                  </a:path>
                </a:pathLst>
              </a:custGeom>
              <a:solidFill>
                <a:srgbClr val="FF5A36"/>
              </a:solidFill>
            </p:spPr>
          </p:sp>
        </p:grpSp>
        <p:grpSp>
          <p:nvGrpSpPr>
            <p:cNvPr name="Group 110" id="110"/>
            <p:cNvGrpSpPr/>
            <p:nvPr/>
          </p:nvGrpSpPr>
          <p:grpSpPr>
            <a:xfrm rot="0">
              <a:off x="0" y="0"/>
              <a:ext cx="729538" cy="952776"/>
              <a:chOff x="0" y="0"/>
              <a:chExt cx="381000" cy="497586"/>
            </a:xfrm>
          </p:grpSpPr>
          <p:sp>
            <p:nvSpPr>
              <p:cNvPr name="Freeform 111" id="111"/>
              <p:cNvSpPr/>
              <p:nvPr/>
            </p:nvSpPr>
            <p:spPr>
              <a:xfrm flipH="false" flipV="false" rot="0">
                <a:off x="0" y="0"/>
                <a:ext cx="381000" cy="497586"/>
              </a:xfrm>
              <a:custGeom>
                <a:avLst/>
                <a:gdLst/>
                <a:ahLst/>
                <a:cxnLst/>
                <a:rect r="r" b="b" t="t" l="l"/>
                <a:pathLst>
                  <a:path h="497586" w="381000">
                    <a:moveTo>
                      <a:pt x="0" y="0"/>
                    </a:moveTo>
                    <a:lnTo>
                      <a:pt x="381000" y="0"/>
                    </a:lnTo>
                    <a:lnTo>
                      <a:pt x="381000" y="497586"/>
                    </a:lnTo>
                    <a:lnTo>
                      <a:pt x="0" y="49758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61196" t="0" r="-61196" b="33639"/>
                </a:stretch>
              </a:blipFill>
            </p:spPr>
          </p:sp>
          <p:sp>
            <p:nvSpPr>
              <p:cNvPr name="TextBox 112" id="112"/>
              <p:cNvSpPr txBox="true"/>
              <p:nvPr/>
            </p:nvSpPr>
            <p:spPr>
              <a:xfrm>
                <a:off x="0" y="0"/>
                <a:ext cx="381000" cy="4975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00"/>
                  </a:lnSpc>
                </a:pPr>
                <a:r>
                  <a:rPr lang="en-US" sz="1500" b="true">
                    <a:solidFill>
                      <a:srgbClr val="FFFFFF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↺</a:t>
                </a:r>
              </a:p>
            </p:txBody>
          </p:sp>
        </p:grpSp>
      </p:grpSp>
      <p:sp>
        <p:nvSpPr>
          <p:cNvPr name="AutoShape 113" id="113"/>
          <p:cNvSpPr/>
          <p:nvPr/>
        </p:nvSpPr>
        <p:spPr>
          <a:xfrm flipH="true">
            <a:off x="1090379" y="6535779"/>
            <a:ext cx="283054" cy="0"/>
          </a:xfrm>
          <a:prstGeom prst="line">
            <a:avLst/>
          </a:prstGeom>
          <a:ln cap="flat" w="38100">
            <a:solidFill>
              <a:srgbClr val="FF5A3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4" id="114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2180911" y="511178"/>
            <a:ext cx="288634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프레임 · Supervisor</a:t>
            </a:r>
          </a:p>
        </p:txBody>
      </p:sp>
      <p:sp>
        <p:nvSpPr>
          <p:cNvPr name="TextBox 116" id="116"/>
          <p:cNvSpPr txBox="true"/>
          <p:nvPr/>
        </p:nvSpPr>
        <p:spPr>
          <a:xfrm rot="0">
            <a:off x="13725687" y="511178"/>
            <a:ext cx="380031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REQ-004 · 신정혜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787403" y="1111253"/>
            <a:ext cx="10861328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Supervisor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— 단방향이 아니라 루프로 도는 오케스트레이션</a:t>
            </a:r>
          </a:p>
        </p:txBody>
      </p:sp>
      <p:sp>
        <p:nvSpPr>
          <p:cNvPr name="TextBox 118" id="118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LLM은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intent 분석에만 · 라우팅은 결정론적 — 그리고 끝나면 다시 supervisor로 돌아온다.</a:t>
            </a:r>
          </a:p>
        </p:txBody>
      </p:sp>
      <p:grpSp>
        <p:nvGrpSpPr>
          <p:cNvPr name="Group 119" id="119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121" id="121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21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122" id="122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123" id="123"/>
          <p:cNvSpPr txBox="true"/>
          <p:nvPr/>
        </p:nvSpPr>
        <p:spPr>
          <a:xfrm rot="0">
            <a:off x="2127418" y="9608820"/>
            <a:ext cx="375239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①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Supervisor 라우팅 루프</a:t>
            </a:r>
          </a:p>
        </p:txBody>
      </p:sp>
      <p:sp>
        <p:nvSpPr>
          <p:cNvPr name="TextBox 124" id="124"/>
          <p:cNvSpPr txBox="true"/>
          <p:nvPr/>
        </p:nvSpPr>
        <p:spPr>
          <a:xfrm rot="0">
            <a:off x="14727565" y="9608820"/>
            <a:ext cx="280352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Supervisor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65860" y="2427333"/>
            <a:ext cx="6414135" cy="1124207"/>
            <a:chOff x="0" y="0"/>
            <a:chExt cx="8552180" cy="14989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552180" cy="1499006"/>
            </a:xfrm>
            <a:custGeom>
              <a:avLst/>
              <a:gdLst/>
              <a:ahLst/>
              <a:cxnLst/>
              <a:rect r="r" b="b" t="t" l="l"/>
              <a:pathLst>
                <a:path h="1499006" w="8552180">
                  <a:moveTo>
                    <a:pt x="0" y="86135"/>
                  </a:moveTo>
                  <a:cubicBezTo>
                    <a:pt x="0" y="38526"/>
                    <a:pt x="62484" y="0"/>
                    <a:pt x="139700" y="0"/>
                  </a:cubicBezTo>
                  <a:lnTo>
                    <a:pt x="8412480" y="0"/>
                  </a:lnTo>
                  <a:cubicBezTo>
                    <a:pt x="8489569" y="0"/>
                    <a:pt x="8552180" y="38526"/>
                    <a:pt x="8552180" y="86135"/>
                  </a:cubicBezTo>
                  <a:lnTo>
                    <a:pt x="8552180" y="1412847"/>
                  </a:lnTo>
                  <a:cubicBezTo>
                    <a:pt x="8552180" y="1460378"/>
                    <a:pt x="8489697" y="1499006"/>
                    <a:pt x="8412480" y="1499006"/>
                  </a:cubicBezTo>
                  <a:lnTo>
                    <a:pt x="139700" y="1499006"/>
                  </a:lnTo>
                  <a:cubicBezTo>
                    <a:pt x="62611" y="1499006"/>
                    <a:pt x="0" y="1460456"/>
                    <a:pt x="0" y="141284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65860" y="2427462"/>
            <a:ext cx="38100" cy="1123950"/>
            <a:chOff x="0" y="0"/>
            <a:chExt cx="50800" cy="1498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0800" cy="1498561"/>
            </a:xfrm>
            <a:custGeom>
              <a:avLst/>
              <a:gdLst/>
              <a:ahLst/>
              <a:cxnLst/>
              <a:rect r="r" b="b" t="t" l="l"/>
              <a:pathLst>
                <a:path h="1498561" w="50800">
                  <a:moveTo>
                    <a:pt x="0" y="0"/>
                  </a:moveTo>
                  <a:lnTo>
                    <a:pt x="50800" y="0"/>
                  </a:lnTo>
                  <a:lnTo>
                    <a:pt x="50800" y="1498561"/>
                  </a:lnTo>
                  <a:lnTo>
                    <a:pt x="0" y="1498561"/>
                  </a:lnTo>
                  <a:close/>
                </a:path>
              </a:pathLst>
            </a:custGeom>
            <a:solidFill>
              <a:srgbClr val="4F46E5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19863" y="2775053"/>
            <a:ext cx="163804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b="true" sz="1299" spc="103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 PLANNING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64132" y="3013321"/>
            <a:ext cx="163804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계획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283944" y="2775053"/>
            <a:ext cx="2376488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intent → consultant → slot_fill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283944" y="3013321"/>
            <a:ext cx="358303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요청 해석 + 슬롯 계획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65860" y="3730932"/>
            <a:ext cx="6414135" cy="1124207"/>
            <a:chOff x="0" y="0"/>
            <a:chExt cx="8552180" cy="149894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552180" cy="1499006"/>
            </a:xfrm>
            <a:custGeom>
              <a:avLst/>
              <a:gdLst/>
              <a:ahLst/>
              <a:cxnLst/>
              <a:rect r="r" b="b" t="t" l="l"/>
              <a:pathLst>
                <a:path h="1499006" w="8552180">
                  <a:moveTo>
                    <a:pt x="0" y="86135"/>
                  </a:moveTo>
                  <a:cubicBezTo>
                    <a:pt x="0" y="38526"/>
                    <a:pt x="62484" y="0"/>
                    <a:pt x="139700" y="0"/>
                  </a:cubicBezTo>
                  <a:lnTo>
                    <a:pt x="8412480" y="0"/>
                  </a:lnTo>
                  <a:cubicBezTo>
                    <a:pt x="8489569" y="0"/>
                    <a:pt x="8552180" y="38526"/>
                    <a:pt x="8552180" y="86135"/>
                  </a:cubicBezTo>
                  <a:lnTo>
                    <a:pt x="8552180" y="1412847"/>
                  </a:lnTo>
                  <a:cubicBezTo>
                    <a:pt x="8552180" y="1460378"/>
                    <a:pt x="8489697" y="1499006"/>
                    <a:pt x="8412480" y="1499006"/>
                  </a:cubicBezTo>
                  <a:lnTo>
                    <a:pt x="139700" y="1499006"/>
                  </a:lnTo>
                  <a:cubicBezTo>
                    <a:pt x="62611" y="1499006"/>
                    <a:pt x="0" y="1460456"/>
                    <a:pt x="0" y="141284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5860" y="3731060"/>
            <a:ext cx="38100" cy="1123950"/>
            <a:chOff x="0" y="0"/>
            <a:chExt cx="50800" cy="14986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800" cy="1498561"/>
            </a:xfrm>
            <a:custGeom>
              <a:avLst/>
              <a:gdLst/>
              <a:ahLst/>
              <a:cxnLst/>
              <a:rect r="r" b="b" t="t" l="l"/>
              <a:pathLst>
                <a:path h="1498561" w="50800">
                  <a:moveTo>
                    <a:pt x="0" y="0"/>
                  </a:moveTo>
                  <a:lnTo>
                    <a:pt x="50800" y="0"/>
                  </a:lnTo>
                  <a:lnTo>
                    <a:pt x="50800" y="1498561"/>
                  </a:lnTo>
                  <a:lnTo>
                    <a:pt x="0" y="1498561"/>
                  </a:lnTo>
                  <a:close/>
                </a:path>
              </a:pathLst>
            </a:custGeom>
            <a:solidFill>
              <a:srgbClr val="4F46E5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419863" y="4078651"/>
            <a:ext cx="182854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b="true" sz="1299" spc="103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</a:t>
            </a:r>
            <a:r>
              <a:rPr lang="en-US" b="true" sz="1299" spc="103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TOOL-CALLING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64132" y="4316919"/>
            <a:ext cx="163804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도구 호출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283944" y="4078651"/>
            <a:ext cx="3671888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s</a:t>
            </a:r>
            <a:r>
              <a:rPr lang="en-US" sz="1299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earch_nodes · suggest_skill_select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283944" y="4316919"/>
            <a:ext cx="400213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재료를</a:t>
            </a: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그래프에서 — </a:t>
            </a:r>
            <a:r>
              <a:rPr lang="en-US" sz="1299" b="true">
                <a:solidFill>
                  <a:srgbClr val="10B98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③ 62종</a:t>
            </a: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+ </a:t>
            </a:r>
            <a:r>
              <a:rPr lang="en-US" sz="1299" b="true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⭐ 온톨로지</a:t>
            </a: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· </a:t>
            </a:r>
            <a:r>
              <a:rPr lang="en-US" sz="1299" b="true">
                <a:solidFill>
                  <a:srgbClr val="EF444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⑤ 마켓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65860" y="5034530"/>
            <a:ext cx="6414135" cy="1124207"/>
            <a:chOff x="0" y="0"/>
            <a:chExt cx="8552180" cy="149894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552180" cy="1499006"/>
            </a:xfrm>
            <a:custGeom>
              <a:avLst/>
              <a:gdLst/>
              <a:ahLst/>
              <a:cxnLst/>
              <a:rect r="r" b="b" t="t" l="l"/>
              <a:pathLst>
                <a:path h="1499006" w="8552180">
                  <a:moveTo>
                    <a:pt x="0" y="86135"/>
                  </a:moveTo>
                  <a:cubicBezTo>
                    <a:pt x="0" y="38526"/>
                    <a:pt x="62484" y="0"/>
                    <a:pt x="139700" y="0"/>
                  </a:cubicBezTo>
                  <a:lnTo>
                    <a:pt x="8412480" y="0"/>
                  </a:lnTo>
                  <a:cubicBezTo>
                    <a:pt x="8489569" y="0"/>
                    <a:pt x="8552180" y="38526"/>
                    <a:pt x="8552180" y="86135"/>
                  </a:cubicBezTo>
                  <a:lnTo>
                    <a:pt x="8552180" y="1412847"/>
                  </a:lnTo>
                  <a:cubicBezTo>
                    <a:pt x="8552180" y="1460378"/>
                    <a:pt x="8489697" y="1499006"/>
                    <a:pt x="8412480" y="1499006"/>
                  </a:cubicBezTo>
                  <a:lnTo>
                    <a:pt x="139700" y="1499006"/>
                  </a:lnTo>
                  <a:cubicBezTo>
                    <a:pt x="62611" y="1499006"/>
                    <a:pt x="0" y="1460456"/>
                    <a:pt x="0" y="141284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165860" y="5034659"/>
            <a:ext cx="38100" cy="1123950"/>
            <a:chOff x="0" y="0"/>
            <a:chExt cx="50800" cy="1498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0800" cy="1498561"/>
            </a:xfrm>
            <a:custGeom>
              <a:avLst/>
              <a:gdLst/>
              <a:ahLst/>
              <a:cxnLst/>
              <a:rect r="r" b="b" t="t" l="l"/>
              <a:pathLst>
                <a:path h="1498561" w="50800">
                  <a:moveTo>
                    <a:pt x="0" y="0"/>
                  </a:moveTo>
                  <a:lnTo>
                    <a:pt x="50800" y="0"/>
                  </a:lnTo>
                  <a:lnTo>
                    <a:pt x="50800" y="1498561"/>
                  </a:lnTo>
                  <a:lnTo>
                    <a:pt x="0" y="1498561"/>
                  </a:lnTo>
                  <a:close/>
                </a:path>
              </a:pathLst>
            </a:custGeom>
            <a:solidFill>
              <a:srgbClr val="4F46E5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419863" y="5382250"/>
            <a:ext cx="163804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b="true" sz="1299" spc="103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 PLANNING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664132" y="5620518"/>
            <a:ext cx="163804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계획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283944" y="5382250"/>
            <a:ext cx="2376488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b</a:t>
            </a:r>
            <a:r>
              <a:rPr lang="en-US" sz="1299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ind_skill → draft_workflow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283944" y="5620518"/>
            <a:ext cx="358303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요청 해석 + 슬롯 계획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165860" y="6338129"/>
            <a:ext cx="6414135" cy="1124207"/>
            <a:chOff x="0" y="0"/>
            <a:chExt cx="8552180" cy="149894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552180" cy="1499006"/>
            </a:xfrm>
            <a:custGeom>
              <a:avLst/>
              <a:gdLst/>
              <a:ahLst/>
              <a:cxnLst/>
              <a:rect r="r" b="b" t="t" l="l"/>
              <a:pathLst>
                <a:path h="1499006" w="8552180">
                  <a:moveTo>
                    <a:pt x="0" y="86135"/>
                  </a:moveTo>
                  <a:cubicBezTo>
                    <a:pt x="0" y="38526"/>
                    <a:pt x="62484" y="0"/>
                    <a:pt x="139700" y="0"/>
                  </a:cubicBezTo>
                  <a:lnTo>
                    <a:pt x="8412480" y="0"/>
                  </a:lnTo>
                  <a:cubicBezTo>
                    <a:pt x="8489569" y="0"/>
                    <a:pt x="8552180" y="38526"/>
                    <a:pt x="8552180" y="86135"/>
                  </a:cubicBezTo>
                  <a:lnTo>
                    <a:pt x="8552180" y="1412847"/>
                  </a:lnTo>
                  <a:cubicBezTo>
                    <a:pt x="8552180" y="1460378"/>
                    <a:pt x="8489697" y="1499006"/>
                    <a:pt x="8412480" y="1499006"/>
                  </a:cubicBezTo>
                  <a:lnTo>
                    <a:pt x="139700" y="1499006"/>
                  </a:lnTo>
                  <a:cubicBezTo>
                    <a:pt x="62611" y="1499006"/>
                    <a:pt x="0" y="1460456"/>
                    <a:pt x="0" y="141284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65860" y="6338257"/>
            <a:ext cx="38100" cy="1123950"/>
            <a:chOff x="0" y="0"/>
            <a:chExt cx="50800" cy="14986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0800" cy="1498561"/>
            </a:xfrm>
            <a:custGeom>
              <a:avLst/>
              <a:gdLst/>
              <a:ahLst/>
              <a:cxnLst/>
              <a:rect r="r" b="b" t="t" l="l"/>
              <a:pathLst>
                <a:path h="1498561" w="50800">
                  <a:moveTo>
                    <a:pt x="0" y="0"/>
                  </a:moveTo>
                  <a:lnTo>
                    <a:pt x="50800" y="0"/>
                  </a:lnTo>
                  <a:lnTo>
                    <a:pt x="50800" y="1498561"/>
                  </a:lnTo>
                  <a:lnTo>
                    <a:pt x="0" y="1498561"/>
                  </a:lnTo>
                  <a:close/>
                </a:path>
              </a:pathLst>
            </a:custGeom>
            <a:solidFill>
              <a:srgbClr val="4F46E5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419863" y="6685848"/>
            <a:ext cx="163804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b="true" sz="1299" spc="103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③</a:t>
            </a:r>
            <a:r>
              <a:rPr lang="en-US" b="true" sz="1299" spc="103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ACTION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64132" y="6924116"/>
            <a:ext cx="163804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실행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283944" y="6685848"/>
            <a:ext cx="2376488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intent → consultant → slot_fill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283944" y="6924116"/>
            <a:ext cx="358303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연결</a:t>
            </a: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가능한 노드만으로 조립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165860" y="7641728"/>
            <a:ext cx="6414135" cy="1124207"/>
            <a:chOff x="0" y="0"/>
            <a:chExt cx="8552180" cy="1498943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552180" cy="1499006"/>
            </a:xfrm>
            <a:custGeom>
              <a:avLst/>
              <a:gdLst/>
              <a:ahLst/>
              <a:cxnLst/>
              <a:rect r="r" b="b" t="t" l="l"/>
              <a:pathLst>
                <a:path h="1499006" w="8552180">
                  <a:moveTo>
                    <a:pt x="0" y="86135"/>
                  </a:moveTo>
                  <a:cubicBezTo>
                    <a:pt x="0" y="38526"/>
                    <a:pt x="62484" y="0"/>
                    <a:pt x="139700" y="0"/>
                  </a:cubicBezTo>
                  <a:lnTo>
                    <a:pt x="8412480" y="0"/>
                  </a:lnTo>
                  <a:cubicBezTo>
                    <a:pt x="8489569" y="0"/>
                    <a:pt x="8552180" y="38526"/>
                    <a:pt x="8552180" y="86135"/>
                  </a:cubicBezTo>
                  <a:lnTo>
                    <a:pt x="8552180" y="1412847"/>
                  </a:lnTo>
                  <a:cubicBezTo>
                    <a:pt x="8552180" y="1460378"/>
                    <a:pt x="8489697" y="1499006"/>
                    <a:pt x="8412480" y="1499006"/>
                  </a:cubicBezTo>
                  <a:lnTo>
                    <a:pt x="139700" y="1499006"/>
                  </a:lnTo>
                  <a:cubicBezTo>
                    <a:pt x="62611" y="1499006"/>
                    <a:pt x="0" y="1460456"/>
                    <a:pt x="0" y="141284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165860" y="7641856"/>
            <a:ext cx="38100" cy="1123950"/>
            <a:chOff x="0" y="0"/>
            <a:chExt cx="50800" cy="14986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0800" cy="1498561"/>
            </a:xfrm>
            <a:custGeom>
              <a:avLst/>
              <a:gdLst/>
              <a:ahLst/>
              <a:cxnLst/>
              <a:rect r="r" b="b" t="t" l="l"/>
              <a:pathLst>
                <a:path h="1498561" w="50800">
                  <a:moveTo>
                    <a:pt x="0" y="0"/>
                  </a:moveTo>
                  <a:lnTo>
                    <a:pt x="50800" y="0"/>
                  </a:lnTo>
                  <a:lnTo>
                    <a:pt x="50800" y="1498561"/>
                  </a:lnTo>
                  <a:lnTo>
                    <a:pt x="0" y="1498561"/>
                  </a:lnTo>
                  <a:close/>
                </a:path>
              </a:pathLst>
            </a:custGeom>
            <a:solidFill>
              <a:srgbClr val="4F46E5"/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1419863" y="7989447"/>
            <a:ext cx="163804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b="true" sz="1299" spc="103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④</a:t>
            </a:r>
            <a:r>
              <a:rPr lang="en-US" b="true" sz="1299" spc="103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EVALUATION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64132" y="8227715"/>
            <a:ext cx="163804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평가 🔁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3283944" y="7989447"/>
            <a:ext cx="4060507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val</a:t>
            </a:r>
            <a:r>
              <a:rPr lang="en-US" sz="1299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idate_workflow + qa_evaluator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3283944" y="8227715"/>
            <a:ext cx="358303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2중 검증 · QA &lt;</a:t>
            </a: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8 → retry_draft (최대 3회)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4274544" y="7552772"/>
            <a:ext cx="3069908" cy="274320"/>
            <a:chOff x="0" y="0"/>
            <a:chExt cx="4093210" cy="36576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093167" cy="365760"/>
            </a:xfrm>
            <a:custGeom>
              <a:avLst/>
              <a:gdLst/>
              <a:ahLst/>
              <a:cxnLst/>
              <a:rect r="r" b="b" t="t" l="l"/>
              <a:pathLst>
                <a:path h="365760" w="4093167">
                  <a:moveTo>
                    <a:pt x="0" y="78359"/>
                  </a:moveTo>
                  <a:cubicBezTo>
                    <a:pt x="0" y="35052"/>
                    <a:pt x="40010" y="0"/>
                    <a:pt x="89442" y="0"/>
                  </a:cubicBezTo>
                  <a:lnTo>
                    <a:pt x="4003725" y="0"/>
                  </a:lnTo>
                  <a:cubicBezTo>
                    <a:pt x="4053157" y="0"/>
                    <a:pt x="4093167" y="35052"/>
                    <a:pt x="4093167" y="78359"/>
                  </a:cubicBezTo>
                  <a:lnTo>
                    <a:pt x="4093167" y="287401"/>
                  </a:lnTo>
                  <a:cubicBezTo>
                    <a:pt x="4093167" y="330708"/>
                    <a:pt x="4053157" y="365760"/>
                    <a:pt x="4003725" y="365760"/>
                  </a:cubicBezTo>
                  <a:lnTo>
                    <a:pt x="89442" y="365760"/>
                  </a:lnTo>
                  <a:cubicBezTo>
                    <a:pt x="40010" y="365760"/>
                    <a:pt x="0" y="330708"/>
                    <a:pt x="0" y="287401"/>
                  </a:cubicBezTo>
                  <a:close/>
                </a:path>
              </a:pathLst>
            </a:custGeom>
            <a:solidFill>
              <a:srgbClr val="EEF2FF"/>
            </a:solidFill>
            <a:ln w="7620" cap="sq">
              <a:solidFill>
                <a:srgbClr val="C7D2FE"/>
              </a:solidFill>
              <a:prstDash val="solid"/>
              <a:miter/>
            </a:ln>
          </p:spPr>
        </p:sp>
      </p:grpSp>
      <p:sp>
        <p:nvSpPr>
          <p:cNvPr name="TextBox 44" id="44"/>
          <p:cNvSpPr txBox="true"/>
          <p:nvPr/>
        </p:nvSpPr>
        <p:spPr>
          <a:xfrm rot="0">
            <a:off x="4313269" y="7608646"/>
            <a:ext cx="2992457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b="true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↺ Evaluation → Planning 재시도 루프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7751465" y="8880704"/>
            <a:ext cx="9774535" cy="388620"/>
            <a:chOff x="0" y="0"/>
            <a:chExt cx="13032713" cy="5181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3032715" cy="518160"/>
            </a:xfrm>
            <a:custGeom>
              <a:avLst/>
              <a:gdLst/>
              <a:ahLst/>
              <a:cxnLst/>
              <a:rect r="r" b="b" t="t" l="l"/>
              <a:pathLst>
                <a:path h="518160" w="13032715">
                  <a:moveTo>
                    <a:pt x="0" y="129540"/>
                  </a:moveTo>
                  <a:cubicBezTo>
                    <a:pt x="0" y="58039"/>
                    <a:pt x="57971" y="0"/>
                    <a:pt x="129388" y="0"/>
                  </a:cubicBezTo>
                  <a:lnTo>
                    <a:pt x="12903326" y="0"/>
                  </a:lnTo>
                  <a:cubicBezTo>
                    <a:pt x="12974743" y="0"/>
                    <a:pt x="13032715" y="58039"/>
                    <a:pt x="13032715" y="129540"/>
                  </a:cubicBezTo>
                  <a:lnTo>
                    <a:pt x="13032715" y="388620"/>
                  </a:lnTo>
                  <a:cubicBezTo>
                    <a:pt x="13032715" y="460121"/>
                    <a:pt x="12974743" y="518160"/>
                    <a:pt x="12903326" y="518160"/>
                  </a:cubicBezTo>
                  <a:lnTo>
                    <a:pt x="129388" y="518160"/>
                  </a:lnTo>
                  <a:cubicBezTo>
                    <a:pt x="57971" y="518160"/>
                    <a:pt x="0" y="460121"/>
                    <a:pt x="0" y="388620"/>
                  </a:cubicBezTo>
                  <a:close/>
                </a:path>
              </a:pathLst>
            </a:custGeom>
            <a:solidFill>
              <a:srgbClr val="EEF2FF"/>
            </a:solidFill>
            <a:ln w="7620" cap="sq">
              <a:solidFill>
                <a:srgbClr val="C7D2FE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9368774" y="8965163"/>
            <a:ext cx="6539917" cy="193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64"/>
              </a:lnSpc>
            </a:pPr>
            <a:r>
              <a:rPr lang="en-US" sz="1050">
                <a:solidFill>
                  <a:srgbClr val="3730A3"/>
                </a:solidFill>
                <a:latin typeface="Noto Sans Kr"/>
                <a:ea typeface="Noto Sans Kr"/>
                <a:cs typeface="Noto Sans Kr"/>
                <a:sym typeface="Noto Sans Kr"/>
              </a:rPr>
              <a:t>이후 캡처의 </a:t>
            </a:r>
            <a:r>
              <a:rPr lang="en-US" sz="105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의도분석 · 노드선출 · 워크플로우작성 · 품질평가 </a:t>
            </a:r>
            <a:r>
              <a:rPr lang="en-US" sz="1050">
                <a:solidFill>
                  <a:srgbClr val="3730A3"/>
                </a:solidFill>
                <a:latin typeface="Noto Sans Kr"/>
                <a:ea typeface="Noto Sans Kr"/>
                <a:cs typeface="Noto Sans Kr"/>
                <a:sym typeface="Noto Sans Kr"/>
              </a:rPr>
              <a:t>가 곧 </a:t>
            </a:r>
            <a:r>
              <a:rPr lang="en-US" sz="105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Planning · Tool · Action · Evaluation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7751465" y="2087631"/>
            <a:ext cx="5830492" cy="6678304"/>
            <a:chOff x="0" y="0"/>
            <a:chExt cx="7773990" cy="8904405"/>
          </a:xfrm>
        </p:grpSpPr>
        <p:grpSp>
          <p:nvGrpSpPr>
            <p:cNvPr name="Group 51" id="51"/>
            <p:cNvGrpSpPr/>
            <p:nvPr/>
          </p:nvGrpSpPr>
          <p:grpSpPr>
            <a:xfrm rot="0">
              <a:off x="0" y="0"/>
              <a:ext cx="7773990" cy="492760"/>
              <a:chOff x="0" y="0"/>
              <a:chExt cx="7773990" cy="49276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7773990" cy="492760"/>
              </a:xfrm>
              <a:custGeom>
                <a:avLst/>
                <a:gdLst/>
                <a:ahLst/>
                <a:cxnLst/>
                <a:rect r="r" b="b" t="t" l="l"/>
                <a:pathLst>
                  <a:path h="492760" w="7773990">
                    <a:moveTo>
                      <a:pt x="52512" y="0"/>
                    </a:moveTo>
                    <a:lnTo>
                      <a:pt x="7721478" y="0"/>
                    </a:lnTo>
                    <a:cubicBezTo>
                      <a:pt x="7735405" y="0"/>
                      <a:pt x="7748762" y="5532"/>
                      <a:pt x="7758609" y="15380"/>
                    </a:cubicBezTo>
                    <a:cubicBezTo>
                      <a:pt x="7768458" y="25228"/>
                      <a:pt x="7773990" y="38585"/>
                      <a:pt x="7773990" y="52512"/>
                    </a:cubicBezTo>
                    <a:lnTo>
                      <a:pt x="7773990" y="440248"/>
                    </a:lnTo>
                    <a:cubicBezTo>
                      <a:pt x="7773990" y="469250"/>
                      <a:pt x="7750480" y="492760"/>
                      <a:pt x="7721478" y="492760"/>
                    </a:cubicBezTo>
                    <a:lnTo>
                      <a:pt x="52512" y="492760"/>
                    </a:lnTo>
                    <a:cubicBezTo>
                      <a:pt x="23510" y="492760"/>
                      <a:pt x="0" y="469250"/>
                      <a:pt x="0" y="440248"/>
                    </a:cubicBezTo>
                    <a:lnTo>
                      <a:pt x="0" y="52512"/>
                    </a:lnTo>
                    <a:cubicBezTo>
                      <a:pt x="0" y="23510"/>
                      <a:pt x="23510" y="0"/>
                      <a:pt x="52512" y="0"/>
                    </a:cubicBezTo>
                    <a:close/>
                  </a:path>
                </a:pathLst>
              </a:custGeom>
              <a:solidFill>
                <a:srgbClr val="F1F5F9"/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53" id="53"/>
            <p:cNvGrpSpPr/>
            <p:nvPr/>
          </p:nvGrpSpPr>
          <p:grpSpPr>
            <a:xfrm rot="0">
              <a:off x="20974" y="482600"/>
              <a:ext cx="6428740" cy="12700"/>
              <a:chOff x="0" y="0"/>
              <a:chExt cx="6428740" cy="12700"/>
            </a:xfrm>
          </p:grpSpPr>
          <p:sp>
            <p:nvSpPr>
              <p:cNvPr name="Freeform 54" id="54"/>
              <p:cNvSpPr/>
              <p:nvPr/>
            </p:nvSpPr>
            <p:spPr>
              <a:xfrm flipH="false" flipV="false" rot="0">
                <a:off x="0" y="0"/>
                <a:ext cx="6428740" cy="12700"/>
              </a:xfrm>
              <a:custGeom>
                <a:avLst/>
                <a:gdLst/>
                <a:ahLst/>
                <a:cxnLst/>
                <a:rect r="r" b="b" t="t" l="l"/>
                <a:pathLst>
                  <a:path h="12700" w="6428740">
                    <a:moveTo>
                      <a:pt x="6350" y="0"/>
                    </a:moveTo>
                    <a:lnTo>
                      <a:pt x="6422390" y="0"/>
                    </a:lnTo>
                    <a:cubicBezTo>
                      <a:pt x="6424074" y="0"/>
                      <a:pt x="6425690" y="669"/>
                      <a:pt x="6426880" y="1860"/>
                    </a:cubicBezTo>
                    <a:cubicBezTo>
                      <a:pt x="6428071" y="3051"/>
                      <a:pt x="6428740" y="4666"/>
                      <a:pt x="6428740" y="6350"/>
                    </a:cubicBezTo>
                    <a:lnTo>
                      <a:pt x="6428740" y="6350"/>
                    </a:lnTo>
                    <a:cubicBezTo>
                      <a:pt x="6428740" y="9857"/>
                      <a:pt x="6425897" y="12700"/>
                      <a:pt x="6422390" y="12700"/>
                    </a:cubicBezTo>
                    <a:lnTo>
                      <a:pt x="6350" y="12700"/>
                    </a:lnTo>
                    <a:cubicBezTo>
                      <a:pt x="2843" y="12700"/>
                      <a:pt x="0" y="9857"/>
                      <a:pt x="0" y="6350"/>
                    </a:cubicBezTo>
                    <a:lnTo>
                      <a:pt x="0" y="6350"/>
                    </a:lnTo>
                    <a:cubicBezTo>
                      <a:pt x="0" y="2843"/>
                      <a:pt x="2843" y="0"/>
                      <a:pt x="6350" y="0"/>
                    </a:cubicBez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name="Group 55" id="55"/>
            <p:cNvGrpSpPr/>
            <p:nvPr/>
          </p:nvGrpSpPr>
          <p:grpSpPr>
            <a:xfrm rot="0">
              <a:off x="185369" y="93135"/>
              <a:ext cx="732204" cy="304800"/>
              <a:chOff x="0" y="0"/>
              <a:chExt cx="732204" cy="304800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732151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732151">
                    <a:moveTo>
                      <a:pt x="0" y="63500"/>
                    </a:moveTo>
                    <a:cubicBezTo>
                      <a:pt x="0" y="28448"/>
                      <a:pt x="39272" y="0"/>
                      <a:pt x="87662" y="0"/>
                    </a:cubicBezTo>
                    <a:lnTo>
                      <a:pt x="644490" y="0"/>
                    </a:lnTo>
                    <a:cubicBezTo>
                      <a:pt x="692879" y="0"/>
                      <a:pt x="732151" y="28448"/>
                      <a:pt x="732151" y="63500"/>
                    </a:cubicBezTo>
                    <a:lnTo>
                      <a:pt x="732151" y="241300"/>
                    </a:lnTo>
                    <a:cubicBezTo>
                      <a:pt x="732151" y="276352"/>
                      <a:pt x="692879" y="304800"/>
                      <a:pt x="644490" y="304800"/>
                    </a:cubicBezTo>
                    <a:lnTo>
                      <a:pt x="87662" y="304800"/>
                    </a:lnTo>
                    <a:cubicBezTo>
                      <a:pt x="39272" y="304800"/>
                      <a:pt x="0" y="276352"/>
                      <a:pt x="0" y="241300"/>
                    </a:cubicBezTo>
                    <a:lnTo>
                      <a:pt x="0" y="63500"/>
                    </a:lnTo>
                    <a:close/>
                  </a:path>
                </a:pathLst>
              </a:custGeom>
              <a:solidFill>
                <a:srgbClr val="64748B"/>
              </a:solidFill>
            </p:spPr>
          </p:sp>
        </p:grpSp>
        <p:sp>
          <p:nvSpPr>
            <p:cNvPr name="Freeform 57" id="57"/>
            <p:cNvSpPr/>
            <p:nvPr/>
          </p:nvSpPr>
          <p:spPr>
            <a:xfrm flipH="false" flipV="false" rot="0">
              <a:off x="0" y="495300"/>
              <a:ext cx="7773990" cy="8409105"/>
            </a:xfrm>
            <a:custGeom>
              <a:avLst/>
              <a:gdLst/>
              <a:ahLst/>
              <a:cxnLst/>
              <a:rect r="r" b="b" t="t" l="l"/>
              <a:pathLst>
                <a:path h="8409105" w="7773990">
                  <a:moveTo>
                    <a:pt x="0" y="0"/>
                  </a:moveTo>
                  <a:lnTo>
                    <a:pt x="7773990" y="0"/>
                  </a:lnTo>
                  <a:lnTo>
                    <a:pt x="7773990" y="8409105"/>
                  </a:lnTo>
                  <a:lnTo>
                    <a:pt x="0" y="840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6172" b="0"/>
              </a:stretch>
            </a:blipFill>
            <a:ln w="9525" cap="sq">
              <a:solidFill>
                <a:srgbClr val="DDD6FE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 rot="0">
              <a:off x="245199" y="118535"/>
              <a:ext cx="612544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59"/>
                </a:lnSpc>
              </a:pPr>
              <a:r>
                <a:rPr lang="en-US" b="true" sz="1299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이전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0">
              <a:off x="1108766" y="118535"/>
              <a:ext cx="1422690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475569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줄글 덤프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3890587" y="2087631"/>
            <a:ext cx="3635413" cy="6679624"/>
            <a:chOff x="0" y="0"/>
            <a:chExt cx="4847217" cy="8906165"/>
          </a:xfrm>
        </p:grpSpPr>
        <p:grpSp>
          <p:nvGrpSpPr>
            <p:cNvPr name="Group 61" id="61"/>
            <p:cNvGrpSpPr/>
            <p:nvPr/>
          </p:nvGrpSpPr>
          <p:grpSpPr>
            <a:xfrm rot="0">
              <a:off x="0" y="0"/>
              <a:ext cx="4847217" cy="492760"/>
              <a:chOff x="0" y="0"/>
              <a:chExt cx="4847217" cy="492760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4847217" cy="492760"/>
              </a:xfrm>
              <a:custGeom>
                <a:avLst/>
                <a:gdLst/>
                <a:ahLst/>
                <a:cxnLst/>
                <a:rect r="r" b="b" t="t" l="l"/>
                <a:pathLst>
                  <a:path h="492760" w="4847217">
                    <a:moveTo>
                      <a:pt x="84218" y="0"/>
                    </a:moveTo>
                    <a:lnTo>
                      <a:pt x="4762999" y="0"/>
                    </a:lnTo>
                    <a:cubicBezTo>
                      <a:pt x="4785335" y="0"/>
                      <a:pt x="4806756" y="8873"/>
                      <a:pt x="4822550" y="24667"/>
                    </a:cubicBezTo>
                    <a:cubicBezTo>
                      <a:pt x="4838344" y="40461"/>
                      <a:pt x="4847217" y="61882"/>
                      <a:pt x="4847217" y="84218"/>
                    </a:cubicBezTo>
                    <a:lnTo>
                      <a:pt x="4847217" y="408542"/>
                    </a:lnTo>
                    <a:cubicBezTo>
                      <a:pt x="4847217" y="430878"/>
                      <a:pt x="4838344" y="452299"/>
                      <a:pt x="4822550" y="468093"/>
                    </a:cubicBezTo>
                    <a:cubicBezTo>
                      <a:pt x="4806756" y="483887"/>
                      <a:pt x="4785335" y="492760"/>
                      <a:pt x="4762999" y="492760"/>
                    </a:cubicBezTo>
                    <a:lnTo>
                      <a:pt x="84218" y="492760"/>
                    </a:lnTo>
                    <a:cubicBezTo>
                      <a:pt x="37706" y="492760"/>
                      <a:pt x="0" y="455054"/>
                      <a:pt x="0" y="408542"/>
                    </a:cubicBezTo>
                    <a:lnTo>
                      <a:pt x="0" y="84218"/>
                    </a:lnTo>
                    <a:cubicBezTo>
                      <a:pt x="0" y="61882"/>
                      <a:pt x="8873" y="40461"/>
                      <a:pt x="24667" y="24667"/>
                    </a:cubicBezTo>
                    <a:cubicBezTo>
                      <a:pt x="40461" y="8873"/>
                      <a:pt x="61882" y="0"/>
                      <a:pt x="84218" y="0"/>
                    </a:cubicBezTo>
                    <a:close/>
                  </a:path>
                </a:pathLst>
              </a:custGeom>
              <a:solidFill>
                <a:srgbClr val="EEF2FF"/>
              </a:solidFill>
            </p:spPr>
          </p:sp>
        </p:grpSp>
        <p:grpSp>
          <p:nvGrpSpPr>
            <p:cNvPr name="Group 63" id="63"/>
            <p:cNvGrpSpPr/>
            <p:nvPr/>
          </p:nvGrpSpPr>
          <p:grpSpPr>
            <a:xfrm rot="0">
              <a:off x="353029" y="88900"/>
              <a:ext cx="719978" cy="304800"/>
              <a:chOff x="0" y="0"/>
              <a:chExt cx="719978" cy="304800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0" y="0"/>
                <a:ext cx="719927" cy="304800"/>
              </a:xfrm>
              <a:custGeom>
                <a:avLst/>
                <a:gdLst/>
                <a:ahLst/>
                <a:cxnLst/>
                <a:rect r="r" b="b" t="t" l="l"/>
                <a:pathLst>
                  <a:path h="304800" w="719927">
                    <a:moveTo>
                      <a:pt x="0" y="63500"/>
                    </a:moveTo>
                    <a:cubicBezTo>
                      <a:pt x="0" y="28448"/>
                      <a:pt x="38617" y="0"/>
                      <a:pt x="86198" y="0"/>
                    </a:cubicBezTo>
                    <a:lnTo>
                      <a:pt x="633728" y="0"/>
                    </a:lnTo>
                    <a:cubicBezTo>
                      <a:pt x="681310" y="0"/>
                      <a:pt x="719927" y="28448"/>
                      <a:pt x="719927" y="63500"/>
                    </a:cubicBezTo>
                    <a:lnTo>
                      <a:pt x="719927" y="241300"/>
                    </a:lnTo>
                    <a:cubicBezTo>
                      <a:pt x="719927" y="276352"/>
                      <a:pt x="681310" y="304800"/>
                      <a:pt x="633728" y="304800"/>
                    </a:cubicBezTo>
                    <a:lnTo>
                      <a:pt x="86198" y="304800"/>
                    </a:lnTo>
                    <a:cubicBezTo>
                      <a:pt x="38617" y="304800"/>
                      <a:pt x="0" y="276352"/>
                      <a:pt x="0" y="241300"/>
                    </a:cubicBezTo>
                    <a:lnTo>
                      <a:pt x="0" y="63500"/>
                    </a:lnTo>
                    <a:close/>
                  </a:path>
                </a:pathLst>
              </a:custGeom>
              <a:solidFill>
                <a:srgbClr val="4F46E5"/>
              </a:solidFill>
            </p:spPr>
          </p:sp>
        </p:grpSp>
        <p:sp>
          <p:nvSpPr>
            <p:cNvPr name="Freeform 65" id="65"/>
            <p:cNvSpPr/>
            <p:nvPr/>
          </p:nvSpPr>
          <p:spPr>
            <a:xfrm flipH="false" flipV="false" rot="0">
              <a:off x="0" y="497060"/>
              <a:ext cx="4847217" cy="8409105"/>
            </a:xfrm>
            <a:custGeom>
              <a:avLst/>
              <a:gdLst/>
              <a:ahLst/>
              <a:cxnLst/>
              <a:rect r="r" b="b" t="t" l="l"/>
              <a:pathLst>
                <a:path h="8409105" w="4847217">
                  <a:moveTo>
                    <a:pt x="0" y="0"/>
                  </a:moveTo>
                  <a:lnTo>
                    <a:pt x="4847217" y="0"/>
                  </a:lnTo>
                  <a:lnTo>
                    <a:pt x="4847217" y="8409105"/>
                  </a:lnTo>
                  <a:lnTo>
                    <a:pt x="0" y="840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  <a:ln w="9525" cap="sq">
              <a:solidFill>
                <a:srgbClr val="C4B5FD"/>
              </a:solidFill>
              <a:prstDash val="solid"/>
              <a:miter/>
            </a:ln>
          </p:spPr>
        </p:sp>
        <p:sp>
          <p:nvSpPr>
            <p:cNvPr name="TextBox 66" id="66"/>
            <p:cNvSpPr txBox="true"/>
            <p:nvPr/>
          </p:nvSpPr>
          <p:spPr>
            <a:xfrm rot="0">
              <a:off x="467966" y="114300"/>
              <a:ext cx="490105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559"/>
                </a:lnSpc>
              </a:pPr>
              <a:r>
                <a:rPr lang="en-US" sz="1299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이후</a:t>
              </a:r>
            </a:p>
          </p:txBody>
        </p:sp>
        <p:sp>
          <p:nvSpPr>
            <p:cNvPr name="TextBox 67" id="67"/>
            <p:cNvSpPr txBox="true"/>
            <p:nvPr/>
          </p:nvSpPr>
          <p:spPr>
            <a:xfrm rot="0">
              <a:off x="1327007" y="114300"/>
              <a:ext cx="1794938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4338C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단계별 = 4요소</a:t>
              </a: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2180911" y="511178"/>
            <a:ext cx="288634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5C54E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Composer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3725687" y="511178"/>
            <a:ext cx="380031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REQ-004 · 신정혜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787403" y="1111253"/>
            <a:ext cx="16576104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자연어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요청을 22노드 fixed DAG로 조립하는 에이전트 — 계획·도구·실행·평가의 한 사이클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87403" y="1726568"/>
            <a:ext cx="17216123" cy="247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5단계 전처리 → 분석 → 검색·생성 → 검증·재시도 → 확정·저장 = 멀티에이전트 4요소로 동작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22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2127418" y="9608820"/>
            <a:ext cx="5341505" cy="228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② Workflow Composer · 멀티에이전트 4요소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2236287" y="9608820"/>
            <a:ext cx="5289713" cy="228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Supervisor</a:t>
            </a:r>
          </a:p>
        </p:txBody>
      </p:sp>
      <p:sp>
        <p:nvSpPr>
          <p:cNvPr name="AutoShape 77" id="77"/>
          <p:cNvSpPr/>
          <p:nvPr/>
        </p:nvSpPr>
        <p:spPr>
          <a:xfrm>
            <a:off x="752522" y="3044147"/>
            <a:ext cx="283054" cy="0"/>
          </a:xfrm>
          <a:prstGeom prst="line">
            <a:avLst/>
          </a:prstGeom>
          <a:ln cap="flat" w="38100">
            <a:solidFill>
              <a:srgbClr val="5C54E7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78" id="78"/>
          <p:cNvSpPr/>
          <p:nvPr/>
        </p:nvSpPr>
        <p:spPr>
          <a:xfrm flipH="true">
            <a:off x="752522" y="3025794"/>
            <a:ext cx="0" cy="5177107"/>
          </a:xfrm>
          <a:prstGeom prst="line">
            <a:avLst/>
          </a:prstGeom>
          <a:ln cap="flat" w="38100">
            <a:solidFill>
              <a:srgbClr val="4F46E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478946" y="5289405"/>
            <a:ext cx="547153" cy="714582"/>
            <a:chOff x="0" y="0"/>
            <a:chExt cx="729538" cy="952776"/>
          </a:xfrm>
        </p:grpSpPr>
        <p:grpSp>
          <p:nvGrpSpPr>
            <p:cNvPr name="Group 80" id="80"/>
            <p:cNvGrpSpPr/>
            <p:nvPr/>
          </p:nvGrpSpPr>
          <p:grpSpPr>
            <a:xfrm rot="0">
              <a:off x="97272" y="208891"/>
              <a:ext cx="534994" cy="534994"/>
              <a:chOff x="0" y="0"/>
              <a:chExt cx="279400" cy="279400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279400" cy="279400"/>
              </a:xfrm>
              <a:custGeom>
                <a:avLst/>
                <a:gdLst/>
                <a:ahLst/>
                <a:cxnLst/>
                <a:rect r="r" b="b" t="t" l="l"/>
                <a:pathLst>
                  <a:path h="279400" w="279400">
                    <a:moveTo>
                      <a:pt x="0" y="139700"/>
                    </a:moveTo>
                    <a:cubicBezTo>
                      <a:pt x="0" y="62484"/>
                      <a:pt x="62484" y="0"/>
                      <a:pt x="139700" y="0"/>
                    </a:cubicBezTo>
                    <a:cubicBezTo>
                      <a:pt x="216916" y="0"/>
                      <a:pt x="279400" y="62484"/>
                      <a:pt x="279400" y="139700"/>
                    </a:cubicBezTo>
                    <a:cubicBezTo>
                      <a:pt x="279400" y="216916"/>
                      <a:pt x="216916" y="279400"/>
                      <a:pt x="139700" y="279400"/>
                    </a:cubicBezTo>
                    <a:cubicBezTo>
                      <a:pt x="62484" y="279400"/>
                      <a:pt x="0" y="216916"/>
                      <a:pt x="0" y="139700"/>
                    </a:cubicBezTo>
                    <a:close/>
                  </a:path>
                </a:pathLst>
              </a:custGeom>
              <a:solidFill>
                <a:srgbClr val="5C54E7"/>
              </a:solidFill>
            </p:spPr>
          </p:sp>
        </p:grpSp>
        <p:grpSp>
          <p:nvGrpSpPr>
            <p:cNvPr name="Group 82" id="82"/>
            <p:cNvGrpSpPr/>
            <p:nvPr/>
          </p:nvGrpSpPr>
          <p:grpSpPr>
            <a:xfrm rot="0">
              <a:off x="0" y="0"/>
              <a:ext cx="729538" cy="952776"/>
              <a:chOff x="0" y="0"/>
              <a:chExt cx="381000" cy="497586"/>
            </a:xfrm>
          </p:grpSpPr>
          <p:sp>
            <p:nvSpPr>
              <p:cNvPr name="Freeform 83" id="83"/>
              <p:cNvSpPr/>
              <p:nvPr/>
            </p:nvSpPr>
            <p:spPr>
              <a:xfrm flipH="false" flipV="false" rot="0">
                <a:off x="0" y="0"/>
                <a:ext cx="381000" cy="497586"/>
              </a:xfrm>
              <a:custGeom>
                <a:avLst/>
                <a:gdLst/>
                <a:ahLst/>
                <a:cxnLst/>
                <a:rect r="r" b="b" t="t" l="l"/>
                <a:pathLst>
                  <a:path h="497586" w="381000">
                    <a:moveTo>
                      <a:pt x="0" y="0"/>
                    </a:moveTo>
                    <a:lnTo>
                      <a:pt x="381000" y="0"/>
                    </a:lnTo>
                    <a:lnTo>
                      <a:pt x="381000" y="497586"/>
                    </a:lnTo>
                    <a:lnTo>
                      <a:pt x="0" y="497586"/>
                    </a:lnTo>
                    <a:close/>
                  </a:path>
                </a:pathLst>
              </a:custGeom>
              <a:solidFill>
                <a:srgbClr val="5C54E7">
                  <a:alpha val="0"/>
                </a:srgbClr>
              </a:solidFill>
            </p:spPr>
          </p:sp>
          <p:sp>
            <p:nvSpPr>
              <p:cNvPr name="TextBox 84" id="84"/>
              <p:cNvSpPr txBox="true"/>
              <p:nvPr/>
            </p:nvSpPr>
            <p:spPr>
              <a:xfrm>
                <a:off x="0" y="0"/>
                <a:ext cx="381000" cy="4975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00"/>
                  </a:lnSpc>
                </a:pPr>
                <a:r>
                  <a:rPr lang="en-US" sz="1500" b="true">
                    <a:solidFill>
                      <a:srgbClr val="FFFFFF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↺</a:t>
                </a:r>
              </a:p>
            </p:txBody>
          </p:sp>
        </p:grpSp>
      </p:grpSp>
      <p:sp>
        <p:nvSpPr>
          <p:cNvPr name="AutoShape 85" id="85"/>
          <p:cNvSpPr/>
          <p:nvPr/>
        </p:nvSpPr>
        <p:spPr>
          <a:xfrm flipH="true">
            <a:off x="752522" y="8202901"/>
            <a:ext cx="283054" cy="0"/>
          </a:xfrm>
          <a:prstGeom prst="line">
            <a:avLst/>
          </a:prstGeom>
          <a:ln cap="flat" w="38100">
            <a:solidFill>
              <a:srgbClr val="4F46E5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87403" y="2112077"/>
            <a:ext cx="11128813" cy="6451402"/>
            <a:chOff x="0" y="0"/>
            <a:chExt cx="14838417" cy="86018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838417" cy="8601933"/>
            </a:xfrm>
            <a:custGeom>
              <a:avLst/>
              <a:gdLst/>
              <a:ahLst/>
              <a:cxnLst/>
              <a:rect r="r" b="b" t="t" l="l"/>
              <a:pathLst>
                <a:path h="8601933" w="14838417">
                  <a:moveTo>
                    <a:pt x="0" y="494296"/>
                  </a:moveTo>
                  <a:cubicBezTo>
                    <a:pt x="0" y="221085"/>
                    <a:pt x="108413" y="0"/>
                    <a:pt x="242386" y="0"/>
                  </a:cubicBezTo>
                  <a:lnTo>
                    <a:pt x="14596032" y="0"/>
                  </a:lnTo>
                  <a:cubicBezTo>
                    <a:pt x="14729785" y="0"/>
                    <a:pt x="14838417" y="221085"/>
                    <a:pt x="14838417" y="494296"/>
                  </a:cubicBezTo>
                  <a:lnTo>
                    <a:pt x="14838417" y="8107798"/>
                  </a:lnTo>
                  <a:cubicBezTo>
                    <a:pt x="14838417" y="8380561"/>
                    <a:pt x="14730005" y="8601933"/>
                    <a:pt x="14596032" y="8601933"/>
                  </a:cubicBezTo>
                  <a:lnTo>
                    <a:pt x="242386" y="8601933"/>
                  </a:lnTo>
                  <a:cubicBezTo>
                    <a:pt x="108633" y="8601933"/>
                    <a:pt x="0" y="8381009"/>
                    <a:pt x="0" y="810779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87403" y="2112077"/>
            <a:ext cx="11128813" cy="496975"/>
            <a:chOff x="0" y="0"/>
            <a:chExt cx="13650845" cy="609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650846" cy="609600"/>
            </a:xfrm>
            <a:custGeom>
              <a:avLst/>
              <a:gdLst/>
              <a:ahLst/>
              <a:cxnLst/>
              <a:rect r="r" b="b" t="t" l="l"/>
              <a:pathLst>
                <a:path h="609600" w="13650846">
                  <a:moveTo>
                    <a:pt x="47251" y="0"/>
                  </a:moveTo>
                  <a:lnTo>
                    <a:pt x="13603594" y="0"/>
                  </a:lnTo>
                  <a:cubicBezTo>
                    <a:pt x="13629691" y="0"/>
                    <a:pt x="13650846" y="21155"/>
                    <a:pt x="13650846" y="47251"/>
                  </a:cubicBezTo>
                  <a:lnTo>
                    <a:pt x="13650846" y="562349"/>
                  </a:lnTo>
                  <a:cubicBezTo>
                    <a:pt x="13650846" y="588445"/>
                    <a:pt x="13629691" y="609600"/>
                    <a:pt x="13603594" y="609600"/>
                  </a:cubicBezTo>
                  <a:lnTo>
                    <a:pt x="47251" y="609600"/>
                  </a:lnTo>
                  <a:cubicBezTo>
                    <a:pt x="21155" y="609600"/>
                    <a:pt x="0" y="588445"/>
                    <a:pt x="0" y="562349"/>
                  </a:cubicBezTo>
                  <a:lnTo>
                    <a:pt x="0" y="47251"/>
                  </a:lnTo>
                  <a:cubicBezTo>
                    <a:pt x="0" y="21155"/>
                    <a:pt x="21155" y="0"/>
                    <a:pt x="47251" y="0"/>
                  </a:cubicBezTo>
                  <a:close/>
                </a:path>
              </a:pathLst>
            </a:custGeom>
            <a:solidFill>
              <a:srgbClr val="FEF2F2"/>
            </a:solidFill>
            <a:ln w="9525" cap="sq">
              <a:solidFill>
                <a:srgbClr val="DB4778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973769" y="2205260"/>
            <a:ext cx="1366680" cy="302326"/>
            <a:chOff x="0" y="0"/>
            <a:chExt cx="1676400" cy="370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76400" cy="370840"/>
            </a:xfrm>
            <a:custGeom>
              <a:avLst/>
              <a:gdLst/>
              <a:ahLst/>
              <a:cxnLst/>
              <a:rect r="r" b="b" t="t" l="l"/>
              <a:pathLst>
                <a:path h="370840" w="1676400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lnTo>
                    <a:pt x="1600200" y="0"/>
                  </a:lnTo>
                  <a:cubicBezTo>
                    <a:pt x="1642237" y="0"/>
                    <a:pt x="1676400" y="34163"/>
                    <a:pt x="1676400" y="76200"/>
                  </a:cubicBezTo>
                  <a:lnTo>
                    <a:pt x="1676400" y="294640"/>
                  </a:lnTo>
                  <a:cubicBezTo>
                    <a:pt x="1676400" y="336677"/>
                    <a:pt x="1642237" y="370840"/>
                    <a:pt x="1600200" y="370840"/>
                  </a:cubicBezTo>
                  <a:lnTo>
                    <a:pt x="76200" y="370840"/>
                  </a:lnTo>
                  <a:cubicBezTo>
                    <a:pt x="34163" y="370840"/>
                    <a:pt x="0" y="336677"/>
                    <a:pt x="0" y="294640"/>
                  </a:cubicBezTo>
                  <a:close/>
                </a:path>
              </a:pathLst>
            </a:custGeom>
            <a:solidFill>
              <a:srgbClr val="DC262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87403" y="7503888"/>
            <a:ext cx="11128813" cy="1059592"/>
            <a:chOff x="0" y="0"/>
            <a:chExt cx="13752214" cy="130937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752213" cy="1309370"/>
            </a:xfrm>
            <a:custGeom>
              <a:avLst/>
              <a:gdLst/>
              <a:ahLst/>
              <a:cxnLst/>
              <a:rect r="r" b="b" t="t" l="l"/>
              <a:pathLst>
                <a:path h="1309370" w="13752213">
                  <a:moveTo>
                    <a:pt x="47251" y="0"/>
                  </a:moveTo>
                  <a:lnTo>
                    <a:pt x="13704962" y="0"/>
                  </a:lnTo>
                  <a:cubicBezTo>
                    <a:pt x="13731058" y="0"/>
                    <a:pt x="13752213" y="21155"/>
                    <a:pt x="13752213" y="47251"/>
                  </a:cubicBezTo>
                  <a:lnTo>
                    <a:pt x="13752213" y="1262119"/>
                  </a:lnTo>
                  <a:cubicBezTo>
                    <a:pt x="13752213" y="1288215"/>
                    <a:pt x="13731058" y="1309370"/>
                    <a:pt x="13704962" y="1309370"/>
                  </a:cubicBezTo>
                  <a:lnTo>
                    <a:pt x="47251" y="1309370"/>
                  </a:lnTo>
                  <a:cubicBezTo>
                    <a:pt x="21155" y="1309370"/>
                    <a:pt x="0" y="1288215"/>
                    <a:pt x="0" y="1262119"/>
                  </a:cubicBezTo>
                  <a:lnTo>
                    <a:pt x="0" y="47251"/>
                  </a:lnTo>
                  <a:cubicBezTo>
                    <a:pt x="0" y="21155"/>
                    <a:pt x="21155" y="0"/>
                    <a:pt x="47251" y="0"/>
                  </a:cubicBezTo>
                  <a:close/>
                </a:path>
              </a:pathLst>
            </a:custGeom>
            <a:solidFill>
              <a:srgbClr val="FEF2F2"/>
            </a:solidFill>
            <a:ln w="9525" cap="sq">
              <a:solidFill>
                <a:srgbClr val="DB477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236287" y="2121615"/>
            <a:ext cx="5181859" cy="6451402"/>
            <a:chOff x="0" y="0"/>
            <a:chExt cx="6909146" cy="860187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909146" cy="8601933"/>
            </a:xfrm>
            <a:custGeom>
              <a:avLst/>
              <a:gdLst/>
              <a:ahLst/>
              <a:cxnLst/>
              <a:rect r="r" b="b" t="t" l="l"/>
              <a:pathLst>
                <a:path h="8601933" w="6909146">
                  <a:moveTo>
                    <a:pt x="0" y="494296"/>
                  </a:moveTo>
                  <a:cubicBezTo>
                    <a:pt x="0" y="221085"/>
                    <a:pt x="50480" y="0"/>
                    <a:pt x="112861" y="0"/>
                  </a:cubicBezTo>
                  <a:lnTo>
                    <a:pt x="6796285" y="0"/>
                  </a:lnTo>
                  <a:cubicBezTo>
                    <a:pt x="6858564" y="0"/>
                    <a:pt x="6909146" y="221085"/>
                    <a:pt x="6909146" y="494296"/>
                  </a:cubicBezTo>
                  <a:lnTo>
                    <a:pt x="6909146" y="8107798"/>
                  </a:lnTo>
                  <a:cubicBezTo>
                    <a:pt x="6909146" y="8380561"/>
                    <a:pt x="6858667" y="8601933"/>
                    <a:pt x="6796285" y="8601933"/>
                  </a:cubicBezTo>
                  <a:lnTo>
                    <a:pt x="112861" y="8601933"/>
                  </a:lnTo>
                  <a:cubicBezTo>
                    <a:pt x="50582" y="8601933"/>
                    <a:pt x="0" y="8381009"/>
                    <a:pt x="0" y="810779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235822" y="7907435"/>
            <a:ext cx="5201395" cy="656044"/>
            <a:chOff x="0" y="0"/>
            <a:chExt cx="6935194" cy="87472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935195" cy="874726"/>
            </a:xfrm>
            <a:custGeom>
              <a:avLst/>
              <a:gdLst/>
              <a:ahLst/>
              <a:cxnLst/>
              <a:rect r="r" b="b" t="t" l="l"/>
              <a:pathLst>
                <a:path h="874726" w="6935195">
                  <a:moveTo>
                    <a:pt x="101097" y="0"/>
                  </a:moveTo>
                  <a:lnTo>
                    <a:pt x="6834098" y="0"/>
                  </a:lnTo>
                  <a:cubicBezTo>
                    <a:pt x="6860910" y="0"/>
                    <a:pt x="6886625" y="10651"/>
                    <a:pt x="6905584" y="29611"/>
                  </a:cubicBezTo>
                  <a:cubicBezTo>
                    <a:pt x="6924543" y="48570"/>
                    <a:pt x="6935195" y="74284"/>
                    <a:pt x="6935195" y="101097"/>
                  </a:cubicBezTo>
                  <a:lnTo>
                    <a:pt x="6935195" y="773629"/>
                  </a:lnTo>
                  <a:cubicBezTo>
                    <a:pt x="6935195" y="829463"/>
                    <a:pt x="6889932" y="874726"/>
                    <a:pt x="6834098" y="874726"/>
                  </a:cubicBezTo>
                  <a:lnTo>
                    <a:pt x="101097" y="874726"/>
                  </a:lnTo>
                  <a:cubicBezTo>
                    <a:pt x="45263" y="874726"/>
                    <a:pt x="0" y="829463"/>
                    <a:pt x="0" y="773629"/>
                  </a:cubicBezTo>
                  <a:lnTo>
                    <a:pt x="0" y="101097"/>
                  </a:lnTo>
                  <a:cubicBezTo>
                    <a:pt x="0" y="45263"/>
                    <a:pt x="45263" y="0"/>
                    <a:pt x="101097" y="0"/>
                  </a:cubicBezTo>
                  <a:close/>
                </a:path>
              </a:pathLst>
            </a:custGeom>
            <a:solidFill>
              <a:srgbClr val="EEF2FF"/>
            </a:solidFill>
            <a:ln w="9525" cap="sq">
              <a:solidFill>
                <a:srgbClr val="C4B5FD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2766227" y="7933705"/>
            <a:ext cx="4401475" cy="53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3"/>
              </a:lnSpc>
            </a:pPr>
            <a:r>
              <a:rPr lang="en-US" sz="1299" b="true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google_sheets_read </a:t>
            </a:r>
            <a:r>
              <a:rPr lang="en-US" sz="1299">
                <a:solidFill>
                  <a:srgbClr val="3730A3"/>
                </a:solidFill>
                <a:latin typeface="Noto Sans Kr"/>
                <a:ea typeface="Noto Sans Kr"/>
                <a:cs typeface="Noto Sans Kr"/>
                <a:sym typeface="Noto Sans Kr"/>
              </a:rPr>
              <a:t>정확히 선정 </a:t>
            </a:r>
            <a:r>
              <a:rPr lang="en-US" sz="1299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(+ http_request 보강) </a:t>
            </a:r>
          </a:p>
          <a:p>
            <a:pPr algn="l">
              <a:lnSpc>
                <a:spcPts val="2183"/>
              </a:lnSpc>
            </a:pPr>
            <a:r>
              <a:rPr lang="en-US" sz="1299">
                <a:solidFill>
                  <a:srgbClr val="3730A3"/>
                </a:solidFill>
                <a:latin typeface="Noto Sans Kr"/>
                <a:ea typeface="Noto Sans Kr"/>
                <a:cs typeface="Noto Sans Kr"/>
                <a:sym typeface="Noto Sans Kr"/>
              </a:rPr>
              <a:t>— </a:t>
            </a:r>
            <a:r>
              <a:rPr lang="en-US" sz="1299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실제 실행 가능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762000" y="8720452"/>
            <a:ext cx="16764000" cy="521970"/>
            <a:chOff x="0" y="0"/>
            <a:chExt cx="22352000" cy="6959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352000" cy="695960"/>
            </a:xfrm>
            <a:custGeom>
              <a:avLst/>
              <a:gdLst/>
              <a:ahLst/>
              <a:cxnLst/>
              <a:rect r="r" b="b" t="t" l="l"/>
              <a:pathLst>
                <a:path h="695960" w="22352000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22199600" y="0"/>
                  </a:lnTo>
                  <a:cubicBezTo>
                    <a:pt x="22283801" y="0"/>
                    <a:pt x="22352000" y="68199"/>
                    <a:pt x="22352000" y="152400"/>
                  </a:cubicBezTo>
                  <a:lnTo>
                    <a:pt x="22352000" y="543560"/>
                  </a:lnTo>
                  <a:cubicBezTo>
                    <a:pt x="22352000" y="627761"/>
                    <a:pt x="22283801" y="695960"/>
                    <a:pt x="22199600" y="695960"/>
                  </a:cubicBezTo>
                  <a:lnTo>
                    <a:pt x="152400" y="695960"/>
                  </a:lnTo>
                  <a:cubicBezTo>
                    <a:pt x="68199" y="695960"/>
                    <a:pt x="0" y="627761"/>
                    <a:pt x="0" y="54356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Freeform 17" id="17"/>
          <p:cNvSpPr/>
          <p:nvPr/>
        </p:nvSpPr>
        <p:spPr>
          <a:xfrm flipH="false" flipV="false" rot="0">
            <a:off x="12322708" y="2703565"/>
            <a:ext cx="5015030" cy="5109357"/>
          </a:xfrm>
          <a:custGeom>
            <a:avLst/>
            <a:gdLst/>
            <a:ahLst/>
            <a:cxnLst/>
            <a:rect r="r" b="b" t="t" l="l"/>
            <a:pathLst>
              <a:path h="5109357" w="5015030">
                <a:moveTo>
                  <a:pt x="0" y="0"/>
                </a:moveTo>
                <a:lnTo>
                  <a:pt x="5015030" y="0"/>
                </a:lnTo>
                <a:lnTo>
                  <a:pt x="5015030" y="5109357"/>
                </a:lnTo>
                <a:lnTo>
                  <a:pt x="0" y="51093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w="9525" cap="sq">
            <a:solidFill>
              <a:srgbClr val="818CF8"/>
            </a:solidFill>
            <a:prstDash val="solid"/>
            <a:miter/>
          </a:ln>
        </p:spPr>
      </p:sp>
      <p:grpSp>
        <p:nvGrpSpPr>
          <p:cNvPr name="Group 18" id="18"/>
          <p:cNvGrpSpPr/>
          <p:nvPr/>
        </p:nvGrpSpPr>
        <p:grpSpPr>
          <a:xfrm rot="0">
            <a:off x="874334" y="3056727"/>
            <a:ext cx="10954950" cy="3980626"/>
            <a:chOff x="0" y="0"/>
            <a:chExt cx="14606601" cy="530750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800973" cy="5307501"/>
            </a:xfrm>
            <a:custGeom>
              <a:avLst/>
              <a:gdLst/>
              <a:ahLst/>
              <a:cxnLst/>
              <a:rect r="r" b="b" t="t" l="l"/>
              <a:pathLst>
                <a:path h="5307501" w="6800973">
                  <a:moveTo>
                    <a:pt x="0" y="0"/>
                  </a:moveTo>
                  <a:lnTo>
                    <a:pt x="6800973" y="0"/>
                  </a:lnTo>
                  <a:lnTo>
                    <a:pt x="6800973" y="5307501"/>
                  </a:lnTo>
                  <a:lnTo>
                    <a:pt x="0" y="53075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87215"/>
              </a:stretch>
            </a:blipFill>
            <a:ln w="9525" cap="sq">
              <a:solidFill>
                <a:srgbClr val="FBCFE0"/>
              </a:solidFill>
              <a:prstDash val="solid"/>
              <a:miter/>
            </a:ln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6800973" y="0"/>
              <a:ext cx="7805628" cy="5307501"/>
            </a:xfrm>
            <a:custGeom>
              <a:avLst/>
              <a:gdLst/>
              <a:ahLst/>
              <a:cxnLst/>
              <a:rect r="r" b="b" t="t" l="l"/>
              <a:pathLst>
                <a:path h="5307501" w="7805628">
                  <a:moveTo>
                    <a:pt x="0" y="0"/>
                  </a:moveTo>
                  <a:lnTo>
                    <a:pt x="7805628" y="0"/>
                  </a:lnTo>
                  <a:lnTo>
                    <a:pt x="7805628" y="5307501"/>
                  </a:lnTo>
                  <a:lnTo>
                    <a:pt x="0" y="53075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14871" r="0" b="0"/>
              </a:stretch>
            </a:blipFill>
            <a:ln w="9525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063498" y="2258063"/>
            <a:ext cx="1187221" cy="196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5"/>
              </a:lnSpc>
            </a:pPr>
            <a:r>
              <a:rPr lang="en-US" sz="1304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온톨로지 도입 전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461245" y="2257235"/>
            <a:ext cx="1160819" cy="2079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sz="1467" b="true">
                <a:solidFill>
                  <a:srgbClr val="B91C1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평탄 벡터 검색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79250" y="7652570"/>
            <a:ext cx="8809607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b="true" sz="1299" spc="51">
                <a:solidFill>
                  <a:srgbClr val="B91C1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🔴 실패 원인 (PAINPOINT)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9250" y="7881170"/>
            <a:ext cx="8809607" cy="254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5"/>
              </a:lnSpc>
            </a:pPr>
            <a:r>
              <a:rPr lang="en-US" sz="1299" b="true">
                <a:solidFill>
                  <a:srgbClr val="7F1D1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 </a:t>
            </a:r>
            <a:r>
              <a:rPr lang="en-US" sz="1299">
                <a:solidFill>
                  <a:srgbClr val="7F1D1D"/>
                </a:solidFill>
                <a:latin typeface="Noto Sans Kr"/>
                <a:ea typeface="Noto Sans Kr"/>
                <a:cs typeface="Noto Sans Kr"/>
                <a:sym typeface="Noto Sans Kr"/>
              </a:rPr>
              <a:t>호환성·연결 구조를 몰라 google_sheets_read를 못 찾고 </a:t>
            </a:r>
            <a:r>
              <a:rPr lang="en-US" sz="1299" b="true">
                <a:solidFill>
                  <a:srgbClr val="7F1D1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“알 수 없음” ×2</a:t>
            </a:r>
            <a:r>
              <a:rPr lang="en-US" sz="1299">
                <a:solidFill>
                  <a:srgbClr val="7F1D1D"/>
                </a:solidFill>
                <a:latin typeface="Noto Sans Kr"/>
                <a:ea typeface="Noto Sans Kr"/>
                <a:cs typeface="Noto Sans Kr"/>
                <a:sym typeface="Noto Sans Kr"/>
              </a:rPr>
              <a:t>로 채움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79250" y="8168380"/>
            <a:ext cx="8809607" cy="254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5"/>
              </a:lnSpc>
            </a:pPr>
            <a:r>
              <a:rPr lang="en-US" sz="1299" b="true">
                <a:solidFill>
                  <a:srgbClr val="7F1D1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 </a:t>
            </a:r>
            <a:r>
              <a:rPr lang="en-US" sz="1299">
                <a:solidFill>
                  <a:srgbClr val="7F1D1D"/>
                </a:solidFill>
                <a:latin typeface="Noto Sans Kr"/>
                <a:ea typeface="Noto Sans Kr"/>
                <a:cs typeface="Noto Sans Kr"/>
                <a:sym typeface="Noto Sans Kr"/>
              </a:rPr>
              <a:t>실행 불가능한 조합인데도 </a:t>
            </a:r>
            <a:r>
              <a:rPr lang="en-US" sz="1299" b="true">
                <a:solidFill>
                  <a:srgbClr val="7F1D1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QA 10/10 통과 </a:t>
            </a:r>
            <a:r>
              <a:rPr lang="en-US" sz="1299">
                <a:solidFill>
                  <a:srgbClr val="7F1D1D"/>
                </a:solidFill>
                <a:latin typeface="Noto Sans Kr"/>
                <a:ea typeface="Noto Sans Kr"/>
                <a:cs typeface="Noto Sans Kr"/>
                <a:sym typeface="Noto Sans Kr"/>
              </a:rPr>
              <a:t>— 검증이 못 걸러냄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322708" y="8000380"/>
            <a:ext cx="27473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🟢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96953" y="8886187"/>
            <a:ext cx="3343961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같은 발화 · 같은 QA 점수(10/10)인데 —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983886" y="8886187"/>
            <a:ext cx="6655089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도입 전은 </a:t>
            </a:r>
            <a:r>
              <a:rPr lang="en-US" sz="1299" b="true">
                <a:solidFill>
                  <a:srgbClr val="FCA5A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“알 수 없음”이 통과</a:t>
            </a: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, 도입 후는 </a:t>
            </a:r>
            <a:r>
              <a:rPr lang="en-US" sz="1299" b="true">
                <a:solidFill>
                  <a:srgbClr val="A5B4F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정확한 노드</a:t>
            </a: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. 차이는 </a:t>
            </a:r>
            <a:r>
              <a:rPr lang="en-US" sz="1299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노드 선택의 정확성</a:t>
            </a: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이다.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586812" y="8890982"/>
            <a:ext cx="5672488" cy="180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vector seed → graph expand(1-hop) → 제약 후보 → 그래프 안에서만 생성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725687" y="511178"/>
            <a:ext cx="380031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REQ-004 · 신정혜 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87403" y="1111253"/>
            <a:ext cx="11926967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온톨로지 - 워크플로우 품질 보장을 위한 하네스 엔지니어링의 출발점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87403" y="1726568"/>
            <a:ext cx="17216123" cy="247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top-k 임베딩만으로는 노드 호환성·필수 연결·반복 패턴을 표현할 수 없다. · 동일 발화 “매주 월요일 9시에 광고 시트를 읽어서 요약하고 Slack으로 보내줘”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2235822" y="2112077"/>
            <a:ext cx="5201395" cy="496975"/>
            <a:chOff x="0" y="0"/>
            <a:chExt cx="6380145" cy="6096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380146" cy="609600"/>
            </a:xfrm>
            <a:custGeom>
              <a:avLst/>
              <a:gdLst/>
              <a:ahLst/>
              <a:cxnLst/>
              <a:rect r="r" b="b" t="t" l="l"/>
              <a:pathLst>
                <a:path h="609600" w="6380146">
                  <a:moveTo>
                    <a:pt x="101097" y="0"/>
                  </a:moveTo>
                  <a:lnTo>
                    <a:pt x="6279049" y="0"/>
                  </a:lnTo>
                  <a:cubicBezTo>
                    <a:pt x="6334883" y="0"/>
                    <a:pt x="6380146" y="45263"/>
                    <a:pt x="6380146" y="101097"/>
                  </a:cubicBezTo>
                  <a:lnTo>
                    <a:pt x="6380146" y="508503"/>
                  </a:lnTo>
                  <a:cubicBezTo>
                    <a:pt x="6380146" y="564337"/>
                    <a:pt x="6334883" y="609600"/>
                    <a:pt x="6279049" y="609600"/>
                  </a:cubicBezTo>
                  <a:lnTo>
                    <a:pt x="101097" y="609600"/>
                  </a:lnTo>
                  <a:cubicBezTo>
                    <a:pt x="45263" y="609600"/>
                    <a:pt x="0" y="564337"/>
                    <a:pt x="0" y="508503"/>
                  </a:cubicBezTo>
                  <a:lnTo>
                    <a:pt x="0" y="101097"/>
                  </a:lnTo>
                  <a:cubicBezTo>
                    <a:pt x="0" y="45263"/>
                    <a:pt x="45263" y="0"/>
                    <a:pt x="101097" y="0"/>
                  </a:cubicBezTo>
                  <a:close/>
                </a:path>
              </a:pathLst>
            </a:custGeom>
            <a:solidFill>
              <a:srgbClr val="EEF2FF"/>
            </a:solidFill>
            <a:ln w="9525" cap="sq">
              <a:solidFill>
                <a:srgbClr val="C4B5FD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2422188" y="2205260"/>
            <a:ext cx="1366680" cy="302326"/>
            <a:chOff x="0" y="0"/>
            <a:chExt cx="1676400" cy="3708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676400" cy="370840"/>
            </a:xfrm>
            <a:custGeom>
              <a:avLst/>
              <a:gdLst/>
              <a:ahLst/>
              <a:cxnLst/>
              <a:rect r="r" b="b" t="t" l="l"/>
              <a:pathLst>
                <a:path h="370840" w="1676400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lnTo>
                    <a:pt x="1600200" y="0"/>
                  </a:lnTo>
                  <a:cubicBezTo>
                    <a:pt x="1642237" y="0"/>
                    <a:pt x="1676400" y="34163"/>
                    <a:pt x="1676400" y="76200"/>
                  </a:cubicBezTo>
                  <a:lnTo>
                    <a:pt x="1676400" y="294640"/>
                  </a:lnTo>
                  <a:cubicBezTo>
                    <a:pt x="1676400" y="336677"/>
                    <a:pt x="1642237" y="370840"/>
                    <a:pt x="1600200" y="370840"/>
                  </a:cubicBezTo>
                  <a:lnTo>
                    <a:pt x="76200" y="370840"/>
                  </a:lnTo>
                  <a:cubicBezTo>
                    <a:pt x="34163" y="370840"/>
                    <a:pt x="0" y="336677"/>
                    <a:pt x="0" y="294640"/>
                  </a:cubicBezTo>
                  <a:close/>
                </a:path>
              </a:pathLst>
            </a:custGeom>
            <a:solidFill>
              <a:srgbClr val="4F46E5"/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12511917" y="2258063"/>
            <a:ext cx="1187221" cy="196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5"/>
              </a:lnSpc>
            </a:pPr>
            <a:r>
              <a:rPr lang="en-US" sz="1304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온톨로지 도입 후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3909664" y="2257235"/>
            <a:ext cx="1160819" cy="2079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0"/>
              </a:lnSpc>
            </a:pPr>
            <a:r>
              <a:rPr lang="en-US" b="true" sz="1467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평탄 벡터 검색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23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2127418" y="9608820"/>
            <a:ext cx="5341505" cy="22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② 온톨로지 GraphRAG · 노드 선택 A/B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2236287" y="9563738"/>
            <a:ext cx="5289713" cy="22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GraphRAG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2180911" y="511178"/>
            <a:ext cx="513052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5C54E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Composer · 온톨로지 GraphRAG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2000" y="2849308"/>
            <a:ext cx="16769086" cy="588086"/>
            <a:chOff x="0" y="0"/>
            <a:chExt cx="20424489" cy="7162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424490" cy="716280"/>
            </a:xfrm>
            <a:custGeom>
              <a:avLst/>
              <a:gdLst/>
              <a:ahLst/>
              <a:cxnLst/>
              <a:rect r="r" b="b" t="t" l="l"/>
              <a:pathLst>
                <a:path h="716280" w="20424490">
                  <a:moveTo>
                    <a:pt x="0" y="165100"/>
                  </a:moveTo>
                  <a:cubicBezTo>
                    <a:pt x="0" y="73914"/>
                    <a:pt x="67540" y="0"/>
                    <a:pt x="150863" y="0"/>
                  </a:cubicBezTo>
                  <a:lnTo>
                    <a:pt x="20273626" y="0"/>
                  </a:lnTo>
                  <a:cubicBezTo>
                    <a:pt x="20356950" y="0"/>
                    <a:pt x="20424490" y="73914"/>
                    <a:pt x="20424490" y="165100"/>
                  </a:cubicBezTo>
                  <a:lnTo>
                    <a:pt x="20424490" y="551180"/>
                  </a:lnTo>
                  <a:cubicBezTo>
                    <a:pt x="20424490" y="642366"/>
                    <a:pt x="20356950" y="716280"/>
                    <a:pt x="20273626" y="716280"/>
                  </a:cubicBezTo>
                  <a:lnTo>
                    <a:pt x="150863" y="716280"/>
                  </a:lnTo>
                  <a:cubicBezTo>
                    <a:pt x="67540" y="716280"/>
                    <a:pt x="0" y="642366"/>
                    <a:pt x="0" y="55118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998350" y="3044295"/>
            <a:ext cx="982146" cy="19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6"/>
              </a:lnSpc>
            </a:pPr>
            <a:r>
              <a:rPr lang="en-US" b="true" sz="1313" spc="105">
                <a:solidFill>
                  <a:srgbClr val="A5B4F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도입 후 구조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2293519" y="3020312"/>
            <a:ext cx="1391095" cy="246079"/>
            <a:chOff x="0" y="0"/>
            <a:chExt cx="1694332" cy="2997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94307" cy="299720"/>
            </a:xfrm>
            <a:custGeom>
              <a:avLst/>
              <a:gdLst/>
              <a:ahLst/>
              <a:cxnLst/>
              <a:rect r="r" b="b" t="t" l="l"/>
              <a:pathLst>
                <a:path h="299720" w="1694307">
                  <a:moveTo>
                    <a:pt x="0" y="88900"/>
                  </a:moveTo>
                  <a:cubicBezTo>
                    <a:pt x="0" y="39751"/>
                    <a:pt x="39751" y="0"/>
                    <a:pt x="88900" y="0"/>
                  </a:cubicBezTo>
                  <a:lnTo>
                    <a:pt x="1605407" y="0"/>
                  </a:lnTo>
                  <a:cubicBezTo>
                    <a:pt x="1654556" y="0"/>
                    <a:pt x="1694307" y="39751"/>
                    <a:pt x="1694307" y="88900"/>
                  </a:cubicBezTo>
                  <a:lnTo>
                    <a:pt x="1694307" y="210820"/>
                  </a:lnTo>
                  <a:cubicBezTo>
                    <a:pt x="1694307" y="259969"/>
                    <a:pt x="1654556" y="299720"/>
                    <a:pt x="1605407" y="299720"/>
                  </a:cubicBezTo>
                  <a:lnTo>
                    <a:pt x="88900" y="299720"/>
                  </a:lnTo>
                  <a:cubicBezTo>
                    <a:pt x="39751" y="299720"/>
                    <a:pt x="0" y="259969"/>
                    <a:pt x="0" y="21082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2372752" y="3070362"/>
            <a:ext cx="1232628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82"/>
              </a:lnSpc>
            </a:pPr>
            <a:r>
              <a:rPr lang="en-US" sz="985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vector seed </a:t>
            </a:r>
            <a:r>
              <a:rPr lang="en-US" sz="985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pgvector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806266" y="3044295"/>
            <a:ext cx="194642" cy="19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6"/>
              </a:lnSpc>
            </a:pPr>
            <a:r>
              <a:rPr lang="en-US" sz="1313" b="true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4039144" y="3020312"/>
            <a:ext cx="1891730" cy="246079"/>
            <a:chOff x="0" y="0"/>
            <a:chExt cx="2304098" cy="2997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304034" cy="299720"/>
            </a:xfrm>
            <a:custGeom>
              <a:avLst/>
              <a:gdLst/>
              <a:ahLst/>
              <a:cxnLst/>
              <a:rect r="r" b="b" t="t" l="l"/>
              <a:pathLst>
                <a:path h="299720" w="2304034">
                  <a:moveTo>
                    <a:pt x="0" y="88900"/>
                  </a:moveTo>
                  <a:cubicBezTo>
                    <a:pt x="0" y="39751"/>
                    <a:pt x="39751" y="0"/>
                    <a:pt x="88900" y="0"/>
                  </a:cubicBezTo>
                  <a:lnTo>
                    <a:pt x="2215134" y="0"/>
                  </a:lnTo>
                  <a:cubicBezTo>
                    <a:pt x="2264283" y="0"/>
                    <a:pt x="2304034" y="39751"/>
                    <a:pt x="2304034" y="88900"/>
                  </a:cubicBezTo>
                  <a:lnTo>
                    <a:pt x="2304034" y="210820"/>
                  </a:lnTo>
                  <a:cubicBezTo>
                    <a:pt x="2304034" y="259969"/>
                    <a:pt x="2264283" y="299720"/>
                    <a:pt x="2215134" y="299720"/>
                  </a:cubicBezTo>
                  <a:lnTo>
                    <a:pt x="88900" y="299720"/>
                  </a:lnTo>
                  <a:cubicBezTo>
                    <a:pt x="39751" y="299720"/>
                    <a:pt x="0" y="259969"/>
                    <a:pt x="0" y="21082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4153721" y="3070362"/>
            <a:ext cx="1662576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82"/>
              </a:lnSpc>
            </a:pPr>
            <a:r>
              <a:rPr lang="en-US" sz="985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1-hop expand </a:t>
            </a:r>
            <a:r>
              <a:rPr lang="en-US" sz="985">
                <a:solidFill>
                  <a:srgbClr val="818CF8"/>
                </a:solidFill>
                <a:latin typeface="Noto Sans Kr"/>
                <a:ea typeface="Noto Sans Kr"/>
                <a:cs typeface="Noto Sans Kr"/>
                <a:sym typeface="Noto Sans Kr"/>
              </a:rPr>
              <a:t>CAN_FOLLOW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52516" y="3044295"/>
            <a:ext cx="194642" cy="19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6"/>
              </a:lnSpc>
            </a:pPr>
            <a:r>
              <a:rPr lang="en-US" sz="1313" b="true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281223" y="2991117"/>
            <a:ext cx="1424462" cy="304470"/>
            <a:chOff x="0" y="0"/>
            <a:chExt cx="1734972" cy="370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35074" cy="370840"/>
            </a:xfrm>
            <a:custGeom>
              <a:avLst/>
              <a:gdLst/>
              <a:ahLst/>
              <a:cxnLst/>
              <a:rect r="r" b="b" t="t" l="l"/>
              <a:pathLst>
                <a:path h="370840" w="1735074">
                  <a:moveTo>
                    <a:pt x="0" y="91440"/>
                  </a:moveTo>
                  <a:cubicBezTo>
                    <a:pt x="0" y="40894"/>
                    <a:pt x="40894" y="0"/>
                    <a:pt x="91440" y="0"/>
                  </a:cubicBezTo>
                  <a:lnTo>
                    <a:pt x="1643634" y="0"/>
                  </a:lnTo>
                  <a:cubicBezTo>
                    <a:pt x="1694053" y="0"/>
                    <a:pt x="1735074" y="40894"/>
                    <a:pt x="1735074" y="91440"/>
                  </a:cubicBezTo>
                  <a:lnTo>
                    <a:pt x="1735074" y="279400"/>
                  </a:lnTo>
                  <a:cubicBezTo>
                    <a:pt x="1735074" y="329819"/>
                    <a:pt x="1694180" y="370840"/>
                    <a:pt x="1643634" y="370840"/>
                  </a:cubicBezTo>
                  <a:lnTo>
                    <a:pt x="91440" y="370840"/>
                  </a:lnTo>
                  <a:cubicBezTo>
                    <a:pt x="40894" y="370840"/>
                    <a:pt x="0" y="329946"/>
                    <a:pt x="0" y="279400"/>
                  </a:cubicBezTo>
                  <a:close/>
                </a:path>
              </a:pathLst>
            </a:custGeom>
            <a:solidFill>
              <a:srgbClr val="A5B4FC">
                <a:alpha val="1569"/>
              </a:srgbClr>
            </a:solidFill>
            <a:ln w="7620" cap="sq">
              <a:solidFill>
                <a:srgbClr val="A5B4FC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6368458" y="3070362"/>
            <a:ext cx="1249991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82"/>
              </a:lnSpc>
            </a:pPr>
            <a:r>
              <a:rPr lang="en-US" sz="985">
                <a:solidFill>
                  <a:srgbClr val="C7D2FE"/>
                </a:solidFill>
                <a:latin typeface="Noto Sans Kr"/>
                <a:ea typeface="Noto Sans Kr"/>
                <a:cs typeface="Noto Sans Kr"/>
                <a:sym typeface="Noto Sans Kr"/>
              </a:rPr>
              <a:t>ground truth </a:t>
            </a:r>
            <a:r>
              <a:rPr lang="en-US" sz="985">
                <a:solidFill>
                  <a:srgbClr val="A5B4FC"/>
                </a:solidFill>
                <a:latin typeface="Noto Sans Kr"/>
                <a:ea typeface="Noto Sans Kr"/>
                <a:cs typeface="Noto Sans Kr"/>
                <a:sym typeface="Noto Sans Kr"/>
              </a:rPr>
              <a:t>허용집합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823166" y="3044295"/>
            <a:ext cx="194642" cy="19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6"/>
              </a:lnSpc>
            </a:pPr>
            <a:r>
              <a:rPr lang="en-US" sz="1313" b="true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8056034" y="3003629"/>
            <a:ext cx="724681" cy="279445"/>
            <a:chOff x="0" y="0"/>
            <a:chExt cx="882650" cy="3403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82650" cy="340360"/>
            </a:xfrm>
            <a:custGeom>
              <a:avLst/>
              <a:gdLst/>
              <a:ahLst/>
              <a:cxnLst/>
              <a:rect r="r" b="b" t="t" l="l"/>
              <a:pathLst>
                <a:path h="340360" w="882650">
                  <a:moveTo>
                    <a:pt x="0" y="88900"/>
                  </a:moveTo>
                  <a:cubicBezTo>
                    <a:pt x="0" y="39751"/>
                    <a:pt x="39751" y="0"/>
                    <a:pt x="88900" y="0"/>
                  </a:cubicBezTo>
                  <a:lnTo>
                    <a:pt x="793750" y="0"/>
                  </a:lnTo>
                  <a:cubicBezTo>
                    <a:pt x="842899" y="0"/>
                    <a:pt x="882650" y="39751"/>
                    <a:pt x="882650" y="88900"/>
                  </a:cubicBezTo>
                  <a:lnTo>
                    <a:pt x="882650" y="251460"/>
                  </a:lnTo>
                  <a:cubicBezTo>
                    <a:pt x="882650" y="300609"/>
                    <a:pt x="842899" y="340360"/>
                    <a:pt x="793750" y="340360"/>
                  </a:cubicBezTo>
                  <a:lnTo>
                    <a:pt x="88900" y="340360"/>
                  </a:lnTo>
                  <a:cubicBezTo>
                    <a:pt x="39751" y="340360"/>
                    <a:pt x="0" y="300609"/>
                    <a:pt x="0" y="25146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8170569" y="3070362"/>
            <a:ext cx="495611" cy="14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2"/>
              </a:lnSpc>
            </a:pPr>
            <a:r>
              <a:rPr lang="en-US" sz="985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제약 후보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902367" y="3044295"/>
            <a:ext cx="194642" cy="19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6"/>
              </a:lnSpc>
            </a:pPr>
            <a:r>
              <a:rPr lang="en-US" sz="1313" b="true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135235" y="3003629"/>
            <a:ext cx="1340659" cy="279445"/>
            <a:chOff x="0" y="0"/>
            <a:chExt cx="1632902" cy="3403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632966" cy="340360"/>
            </a:xfrm>
            <a:custGeom>
              <a:avLst/>
              <a:gdLst/>
              <a:ahLst/>
              <a:cxnLst/>
              <a:rect r="r" b="b" t="t" l="l"/>
              <a:pathLst>
                <a:path h="340360" w="1632966">
                  <a:moveTo>
                    <a:pt x="0" y="88900"/>
                  </a:moveTo>
                  <a:cubicBezTo>
                    <a:pt x="0" y="39751"/>
                    <a:pt x="39751" y="0"/>
                    <a:pt x="88900" y="0"/>
                  </a:cubicBezTo>
                  <a:lnTo>
                    <a:pt x="1544066" y="0"/>
                  </a:lnTo>
                  <a:cubicBezTo>
                    <a:pt x="1593215" y="0"/>
                    <a:pt x="1632966" y="39751"/>
                    <a:pt x="1632966" y="88900"/>
                  </a:cubicBezTo>
                  <a:lnTo>
                    <a:pt x="1632966" y="251460"/>
                  </a:lnTo>
                  <a:cubicBezTo>
                    <a:pt x="1632966" y="300609"/>
                    <a:pt x="1593215" y="340360"/>
                    <a:pt x="1544066" y="340360"/>
                  </a:cubicBezTo>
                  <a:lnTo>
                    <a:pt x="88900" y="340360"/>
                  </a:lnTo>
                  <a:cubicBezTo>
                    <a:pt x="39751" y="340360"/>
                    <a:pt x="0" y="300609"/>
                    <a:pt x="0" y="25146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9232158" y="3070362"/>
            <a:ext cx="1146814" cy="14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2"/>
              </a:lnSpc>
            </a:pPr>
            <a:r>
              <a:rPr lang="en-US" sz="985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결정적 조립 </a:t>
            </a:r>
            <a:r>
              <a:rPr lang="en-US" sz="985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skeleton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597547" y="3044295"/>
            <a:ext cx="194642" cy="19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6"/>
              </a:lnSpc>
            </a:pPr>
            <a:r>
              <a:rPr lang="en-US" sz="1313" b="true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830414" y="3003629"/>
            <a:ext cx="459698" cy="279445"/>
            <a:chOff x="0" y="0"/>
            <a:chExt cx="559905" cy="3403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59943" cy="340360"/>
            </a:xfrm>
            <a:custGeom>
              <a:avLst/>
              <a:gdLst/>
              <a:ahLst/>
              <a:cxnLst/>
              <a:rect r="r" b="b" t="t" l="l"/>
              <a:pathLst>
                <a:path h="340360" w="559943">
                  <a:moveTo>
                    <a:pt x="0" y="88900"/>
                  </a:moveTo>
                  <a:cubicBezTo>
                    <a:pt x="0" y="39751"/>
                    <a:pt x="39751" y="0"/>
                    <a:pt x="88900" y="0"/>
                  </a:cubicBezTo>
                  <a:lnTo>
                    <a:pt x="471043" y="0"/>
                  </a:lnTo>
                  <a:cubicBezTo>
                    <a:pt x="520192" y="0"/>
                    <a:pt x="559943" y="39751"/>
                    <a:pt x="559943" y="88900"/>
                  </a:cubicBezTo>
                  <a:lnTo>
                    <a:pt x="559943" y="251460"/>
                  </a:lnTo>
                  <a:cubicBezTo>
                    <a:pt x="559943" y="300609"/>
                    <a:pt x="520192" y="340360"/>
                    <a:pt x="471043" y="340360"/>
                  </a:cubicBezTo>
                  <a:lnTo>
                    <a:pt x="88900" y="340360"/>
                  </a:lnTo>
                  <a:cubicBezTo>
                    <a:pt x="39751" y="340360"/>
                    <a:pt x="0" y="300609"/>
                    <a:pt x="0" y="25146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0945077" y="3070362"/>
            <a:ext cx="230373" cy="145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2"/>
              </a:lnSpc>
            </a:pPr>
            <a:r>
              <a:rPr lang="en-US" sz="985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검증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453715" y="3049508"/>
            <a:ext cx="365505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OntologyRetrieverPort · Neo4jOntologyAdapter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758190" y="4383996"/>
            <a:ext cx="9548336" cy="4215806"/>
            <a:chOff x="0" y="0"/>
            <a:chExt cx="12731115" cy="562107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2731115" cy="5621075"/>
            </a:xfrm>
            <a:custGeom>
              <a:avLst/>
              <a:gdLst/>
              <a:ahLst/>
              <a:cxnLst/>
              <a:rect r="r" b="b" t="t" l="l"/>
              <a:pathLst>
                <a:path h="5621075" w="12731115">
                  <a:moveTo>
                    <a:pt x="0" y="213174"/>
                  </a:moveTo>
                  <a:cubicBezTo>
                    <a:pt x="0" y="95419"/>
                    <a:pt x="79756" y="0"/>
                    <a:pt x="178181" y="0"/>
                  </a:cubicBezTo>
                  <a:lnTo>
                    <a:pt x="12552934" y="0"/>
                  </a:lnTo>
                  <a:cubicBezTo>
                    <a:pt x="12651359" y="0"/>
                    <a:pt x="12731115" y="95419"/>
                    <a:pt x="12731115" y="213174"/>
                  </a:cubicBezTo>
                  <a:lnTo>
                    <a:pt x="12731115" y="5407901"/>
                  </a:lnTo>
                  <a:cubicBezTo>
                    <a:pt x="12731115" y="5525656"/>
                    <a:pt x="12651359" y="5621075"/>
                    <a:pt x="12552934" y="5621075"/>
                  </a:cubicBezTo>
                  <a:lnTo>
                    <a:pt x="178181" y="5621075"/>
                  </a:lnTo>
                  <a:cubicBezTo>
                    <a:pt x="79756" y="5621075"/>
                    <a:pt x="0" y="5525656"/>
                    <a:pt x="0" y="5407901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sp>
        <p:nvSpPr>
          <p:cNvPr name="TextBox 31" id="31"/>
          <p:cNvSpPr txBox="true"/>
          <p:nvPr/>
        </p:nvSpPr>
        <p:spPr>
          <a:xfrm rot="0">
            <a:off x="1023623" y="4660859"/>
            <a:ext cx="261607" cy="22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🧩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367476" y="4660859"/>
            <a:ext cx="3103383" cy="22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결정적 스켈레톤 라이브러리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9371992" y="4601166"/>
            <a:ext cx="698315" cy="451485"/>
            <a:chOff x="0" y="0"/>
            <a:chExt cx="667868" cy="431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67766" cy="431800"/>
            </a:xfrm>
            <a:custGeom>
              <a:avLst/>
              <a:gdLst/>
              <a:ahLst/>
              <a:cxnLst/>
              <a:rect r="r" b="b" t="t" l="l"/>
              <a:pathLst>
                <a:path h="431800" w="667766">
                  <a:moveTo>
                    <a:pt x="0" y="104013"/>
                  </a:moveTo>
                  <a:cubicBezTo>
                    <a:pt x="0" y="46609"/>
                    <a:pt x="46609" y="0"/>
                    <a:pt x="104013" y="0"/>
                  </a:cubicBezTo>
                  <a:lnTo>
                    <a:pt x="563753" y="0"/>
                  </a:lnTo>
                  <a:cubicBezTo>
                    <a:pt x="621157" y="0"/>
                    <a:pt x="667766" y="46609"/>
                    <a:pt x="667766" y="104013"/>
                  </a:cubicBezTo>
                  <a:lnTo>
                    <a:pt x="667766" y="327787"/>
                  </a:lnTo>
                  <a:cubicBezTo>
                    <a:pt x="667766" y="385191"/>
                    <a:pt x="621157" y="431800"/>
                    <a:pt x="563753" y="431800"/>
                  </a:cubicBezTo>
                  <a:lnTo>
                    <a:pt x="104013" y="431800"/>
                  </a:lnTo>
                  <a:cubicBezTo>
                    <a:pt x="46609" y="431800"/>
                    <a:pt x="0" y="385191"/>
                    <a:pt x="0" y="327787"/>
                  </a:cubicBezTo>
                  <a:close/>
                </a:path>
              </a:pathLst>
            </a:custGeom>
            <a:solidFill>
              <a:srgbClr val="EEF2FF"/>
            </a:solidFill>
            <a:ln w="7620" cap="sq">
              <a:solidFill>
                <a:srgbClr val="E0E7FF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9547295" y="4707397"/>
            <a:ext cx="347708" cy="239021"/>
            <a:chOff x="0" y="0"/>
            <a:chExt cx="463611" cy="318695"/>
          </a:xfrm>
        </p:grpSpPr>
        <p:sp>
          <p:nvSpPr>
            <p:cNvPr name="TextBox 36" id="36"/>
            <p:cNvSpPr txBox="true"/>
            <p:nvPr/>
          </p:nvSpPr>
          <p:spPr>
            <a:xfrm rot="0">
              <a:off x="0" y="9525"/>
              <a:ext cx="208993" cy="3091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882"/>
                </a:lnSpc>
              </a:pPr>
              <a:r>
                <a:rPr lang="en-US" sz="1568" b="true">
                  <a:solidFill>
                    <a:srgbClr val="4F46E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8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268023" y="25886"/>
              <a:ext cx="195588" cy="257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05"/>
                </a:lnSpc>
              </a:pPr>
              <a:r>
                <a:rPr lang="en-US" sz="1254" b="true">
                  <a:solidFill>
                    <a:srgbClr val="4338C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종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23623" y="5003759"/>
            <a:ext cx="9289523" cy="180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skeleton_library.py → Neo4j (:Skeleton)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994410" y="5309826"/>
            <a:ext cx="4458213" cy="483647"/>
            <a:chOff x="0" y="0"/>
            <a:chExt cx="4635867" cy="50292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635931" cy="502920"/>
            </a:xfrm>
            <a:custGeom>
              <a:avLst/>
              <a:gdLst/>
              <a:ahLst/>
              <a:cxnLst/>
              <a:rect r="r" b="b" t="t" l="l"/>
              <a:pathLst>
                <a:path h="502920" w="4635931">
                  <a:moveTo>
                    <a:pt x="0" y="116713"/>
                  </a:moveTo>
                  <a:cubicBezTo>
                    <a:pt x="0" y="52197"/>
                    <a:pt x="40340" y="0"/>
                    <a:pt x="90200" y="0"/>
                  </a:cubicBezTo>
                  <a:lnTo>
                    <a:pt x="4545717" y="0"/>
                  </a:lnTo>
                  <a:cubicBezTo>
                    <a:pt x="4595479" y="0"/>
                    <a:pt x="4635931" y="52197"/>
                    <a:pt x="4635931" y="116713"/>
                  </a:cubicBezTo>
                  <a:lnTo>
                    <a:pt x="4635931" y="386207"/>
                  </a:lnTo>
                  <a:cubicBezTo>
                    <a:pt x="4635931" y="450596"/>
                    <a:pt x="4595577" y="502920"/>
                    <a:pt x="4545717" y="502920"/>
                  </a:cubicBezTo>
                  <a:lnTo>
                    <a:pt x="90200" y="502920"/>
                  </a:lnTo>
                  <a:cubicBezTo>
                    <a:pt x="40340" y="502920"/>
                    <a:pt x="0" y="450723"/>
                    <a:pt x="0" y="386207"/>
                  </a:cubicBezTo>
                  <a:close/>
                </a:path>
              </a:pathLst>
            </a:custGeom>
            <a:solidFill>
              <a:srgbClr val="F8FAFF"/>
            </a:solidFill>
            <a:ln w="762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41" id="41"/>
          <p:cNvSpPr txBox="true"/>
          <p:nvPr/>
        </p:nvSpPr>
        <p:spPr>
          <a:xfrm rot="0">
            <a:off x="1153615" y="5466974"/>
            <a:ext cx="4273325" cy="180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scheduled_pipeline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5612093" y="5309826"/>
            <a:ext cx="4458213" cy="483647"/>
            <a:chOff x="0" y="0"/>
            <a:chExt cx="4635867" cy="5029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635931" cy="502920"/>
            </a:xfrm>
            <a:custGeom>
              <a:avLst/>
              <a:gdLst/>
              <a:ahLst/>
              <a:cxnLst/>
              <a:rect r="r" b="b" t="t" l="l"/>
              <a:pathLst>
                <a:path h="502920" w="4635931">
                  <a:moveTo>
                    <a:pt x="0" y="116713"/>
                  </a:moveTo>
                  <a:cubicBezTo>
                    <a:pt x="0" y="52197"/>
                    <a:pt x="40340" y="0"/>
                    <a:pt x="90200" y="0"/>
                  </a:cubicBezTo>
                  <a:lnTo>
                    <a:pt x="4545717" y="0"/>
                  </a:lnTo>
                  <a:cubicBezTo>
                    <a:pt x="4595479" y="0"/>
                    <a:pt x="4635931" y="52197"/>
                    <a:pt x="4635931" y="116713"/>
                  </a:cubicBezTo>
                  <a:lnTo>
                    <a:pt x="4635931" y="386207"/>
                  </a:lnTo>
                  <a:cubicBezTo>
                    <a:pt x="4635931" y="450596"/>
                    <a:pt x="4595577" y="502920"/>
                    <a:pt x="4545717" y="502920"/>
                  </a:cubicBezTo>
                  <a:lnTo>
                    <a:pt x="90200" y="502920"/>
                  </a:lnTo>
                  <a:cubicBezTo>
                    <a:pt x="40340" y="502920"/>
                    <a:pt x="0" y="450723"/>
                    <a:pt x="0" y="386207"/>
                  </a:cubicBezTo>
                  <a:close/>
                </a:path>
              </a:pathLst>
            </a:custGeom>
            <a:solidFill>
              <a:srgbClr val="F8FAFF"/>
            </a:solidFill>
            <a:ln w="762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44" id="44"/>
          <p:cNvSpPr txBox="true"/>
          <p:nvPr/>
        </p:nvSpPr>
        <p:spPr>
          <a:xfrm rot="0">
            <a:off x="5771298" y="5466974"/>
            <a:ext cx="4273325" cy="180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event_response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994410" y="5893634"/>
            <a:ext cx="4458213" cy="483647"/>
            <a:chOff x="0" y="0"/>
            <a:chExt cx="4635867" cy="5029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4635931" cy="502920"/>
            </a:xfrm>
            <a:custGeom>
              <a:avLst/>
              <a:gdLst/>
              <a:ahLst/>
              <a:cxnLst/>
              <a:rect r="r" b="b" t="t" l="l"/>
              <a:pathLst>
                <a:path h="502920" w="4635931">
                  <a:moveTo>
                    <a:pt x="0" y="116713"/>
                  </a:moveTo>
                  <a:cubicBezTo>
                    <a:pt x="0" y="52197"/>
                    <a:pt x="40340" y="0"/>
                    <a:pt x="90200" y="0"/>
                  </a:cubicBezTo>
                  <a:lnTo>
                    <a:pt x="4545717" y="0"/>
                  </a:lnTo>
                  <a:cubicBezTo>
                    <a:pt x="4595479" y="0"/>
                    <a:pt x="4635931" y="52197"/>
                    <a:pt x="4635931" y="116713"/>
                  </a:cubicBezTo>
                  <a:lnTo>
                    <a:pt x="4635931" y="386207"/>
                  </a:lnTo>
                  <a:cubicBezTo>
                    <a:pt x="4635931" y="450596"/>
                    <a:pt x="4595577" y="502920"/>
                    <a:pt x="4545717" y="502920"/>
                  </a:cubicBezTo>
                  <a:lnTo>
                    <a:pt x="90200" y="502920"/>
                  </a:lnTo>
                  <a:cubicBezTo>
                    <a:pt x="40340" y="502920"/>
                    <a:pt x="0" y="450723"/>
                    <a:pt x="0" y="386207"/>
                  </a:cubicBezTo>
                  <a:close/>
                </a:path>
              </a:pathLst>
            </a:custGeom>
            <a:solidFill>
              <a:srgbClr val="F8FAFF"/>
            </a:solidFill>
            <a:ln w="762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47" id="47"/>
          <p:cNvSpPr txBox="true"/>
          <p:nvPr/>
        </p:nvSpPr>
        <p:spPr>
          <a:xfrm rot="0">
            <a:off x="1153615" y="6050771"/>
            <a:ext cx="4273325" cy="180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quality_loop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5612093" y="5893634"/>
            <a:ext cx="4458213" cy="483647"/>
            <a:chOff x="0" y="0"/>
            <a:chExt cx="4635867" cy="5029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635931" cy="502920"/>
            </a:xfrm>
            <a:custGeom>
              <a:avLst/>
              <a:gdLst/>
              <a:ahLst/>
              <a:cxnLst/>
              <a:rect r="r" b="b" t="t" l="l"/>
              <a:pathLst>
                <a:path h="502920" w="4635931">
                  <a:moveTo>
                    <a:pt x="0" y="116713"/>
                  </a:moveTo>
                  <a:cubicBezTo>
                    <a:pt x="0" y="52197"/>
                    <a:pt x="40340" y="0"/>
                    <a:pt x="90200" y="0"/>
                  </a:cubicBezTo>
                  <a:lnTo>
                    <a:pt x="4545717" y="0"/>
                  </a:lnTo>
                  <a:cubicBezTo>
                    <a:pt x="4595479" y="0"/>
                    <a:pt x="4635931" y="52197"/>
                    <a:pt x="4635931" y="116713"/>
                  </a:cubicBezTo>
                  <a:lnTo>
                    <a:pt x="4635931" y="386207"/>
                  </a:lnTo>
                  <a:cubicBezTo>
                    <a:pt x="4635931" y="450596"/>
                    <a:pt x="4595577" y="502920"/>
                    <a:pt x="4545717" y="502920"/>
                  </a:cubicBezTo>
                  <a:lnTo>
                    <a:pt x="90200" y="502920"/>
                  </a:lnTo>
                  <a:cubicBezTo>
                    <a:pt x="40340" y="502920"/>
                    <a:pt x="0" y="450723"/>
                    <a:pt x="0" y="386207"/>
                  </a:cubicBezTo>
                  <a:close/>
                </a:path>
              </a:pathLst>
            </a:custGeom>
            <a:solidFill>
              <a:srgbClr val="F8FAFF"/>
            </a:solidFill>
            <a:ln w="762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50" id="50"/>
          <p:cNvSpPr txBox="true"/>
          <p:nvPr/>
        </p:nvSpPr>
        <p:spPr>
          <a:xfrm rot="0">
            <a:off x="5771298" y="6050771"/>
            <a:ext cx="4273325" cy="180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branch_on_classification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994410" y="6477431"/>
            <a:ext cx="4458213" cy="483647"/>
            <a:chOff x="0" y="0"/>
            <a:chExt cx="4635867" cy="5029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635931" cy="502920"/>
            </a:xfrm>
            <a:custGeom>
              <a:avLst/>
              <a:gdLst/>
              <a:ahLst/>
              <a:cxnLst/>
              <a:rect r="r" b="b" t="t" l="l"/>
              <a:pathLst>
                <a:path h="502920" w="4635931">
                  <a:moveTo>
                    <a:pt x="0" y="116713"/>
                  </a:moveTo>
                  <a:cubicBezTo>
                    <a:pt x="0" y="52197"/>
                    <a:pt x="40340" y="0"/>
                    <a:pt x="90200" y="0"/>
                  </a:cubicBezTo>
                  <a:lnTo>
                    <a:pt x="4545717" y="0"/>
                  </a:lnTo>
                  <a:cubicBezTo>
                    <a:pt x="4595479" y="0"/>
                    <a:pt x="4635931" y="52197"/>
                    <a:pt x="4635931" y="116713"/>
                  </a:cubicBezTo>
                  <a:lnTo>
                    <a:pt x="4635931" y="386207"/>
                  </a:lnTo>
                  <a:cubicBezTo>
                    <a:pt x="4635931" y="450596"/>
                    <a:pt x="4595577" y="502920"/>
                    <a:pt x="4545717" y="502920"/>
                  </a:cubicBezTo>
                  <a:lnTo>
                    <a:pt x="90200" y="502920"/>
                  </a:lnTo>
                  <a:cubicBezTo>
                    <a:pt x="40340" y="502920"/>
                    <a:pt x="0" y="450723"/>
                    <a:pt x="0" y="386207"/>
                  </a:cubicBezTo>
                  <a:close/>
                </a:path>
              </a:pathLst>
            </a:custGeom>
            <a:solidFill>
              <a:srgbClr val="F8FAFF"/>
            </a:solidFill>
            <a:ln w="762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53" id="53"/>
          <p:cNvSpPr txBox="true"/>
          <p:nvPr/>
        </p:nvSpPr>
        <p:spPr>
          <a:xfrm rot="0">
            <a:off x="1153615" y="6634567"/>
            <a:ext cx="4273325" cy="180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conditional_action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5612093" y="6477431"/>
            <a:ext cx="4458213" cy="483647"/>
            <a:chOff x="0" y="0"/>
            <a:chExt cx="4635867" cy="5029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4635931" cy="502920"/>
            </a:xfrm>
            <a:custGeom>
              <a:avLst/>
              <a:gdLst/>
              <a:ahLst/>
              <a:cxnLst/>
              <a:rect r="r" b="b" t="t" l="l"/>
              <a:pathLst>
                <a:path h="502920" w="4635931">
                  <a:moveTo>
                    <a:pt x="0" y="116713"/>
                  </a:moveTo>
                  <a:cubicBezTo>
                    <a:pt x="0" y="52197"/>
                    <a:pt x="40340" y="0"/>
                    <a:pt x="90200" y="0"/>
                  </a:cubicBezTo>
                  <a:lnTo>
                    <a:pt x="4545717" y="0"/>
                  </a:lnTo>
                  <a:cubicBezTo>
                    <a:pt x="4595479" y="0"/>
                    <a:pt x="4635931" y="52197"/>
                    <a:pt x="4635931" y="116713"/>
                  </a:cubicBezTo>
                  <a:lnTo>
                    <a:pt x="4635931" y="386207"/>
                  </a:lnTo>
                  <a:cubicBezTo>
                    <a:pt x="4635931" y="450596"/>
                    <a:pt x="4595577" y="502920"/>
                    <a:pt x="4545717" y="502920"/>
                  </a:cubicBezTo>
                  <a:lnTo>
                    <a:pt x="90200" y="502920"/>
                  </a:lnTo>
                  <a:cubicBezTo>
                    <a:pt x="40340" y="502920"/>
                    <a:pt x="0" y="450723"/>
                    <a:pt x="0" y="386207"/>
                  </a:cubicBezTo>
                  <a:close/>
                </a:path>
              </a:pathLst>
            </a:custGeom>
            <a:solidFill>
              <a:srgbClr val="F8FAFF"/>
            </a:solidFill>
            <a:ln w="762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56" id="56"/>
          <p:cNvSpPr txBox="true"/>
          <p:nvPr/>
        </p:nvSpPr>
        <p:spPr>
          <a:xfrm rot="0">
            <a:off x="5771298" y="6634567"/>
            <a:ext cx="4273325" cy="180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fan_out_map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994410" y="7061215"/>
            <a:ext cx="4458213" cy="483647"/>
            <a:chOff x="0" y="0"/>
            <a:chExt cx="4635867" cy="50292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635931" cy="502920"/>
            </a:xfrm>
            <a:custGeom>
              <a:avLst/>
              <a:gdLst/>
              <a:ahLst/>
              <a:cxnLst/>
              <a:rect r="r" b="b" t="t" l="l"/>
              <a:pathLst>
                <a:path h="502920" w="4635931">
                  <a:moveTo>
                    <a:pt x="0" y="116713"/>
                  </a:moveTo>
                  <a:cubicBezTo>
                    <a:pt x="0" y="52197"/>
                    <a:pt x="40340" y="0"/>
                    <a:pt x="90200" y="0"/>
                  </a:cubicBezTo>
                  <a:lnTo>
                    <a:pt x="4545717" y="0"/>
                  </a:lnTo>
                  <a:cubicBezTo>
                    <a:pt x="4595479" y="0"/>
                    <a:pt x="4635931" y="52197"/>
                    <a:pt x="4635931" y="116713"/>
                  </a:cubicBezTo>
                  <a:lnTo>
                    <a:pt x="4635931" y="386207"/>
                  </a:lnTo>
                  <a:cubicBezTo>
                    <a:pt x="4635931" y="450596"/>
                    <a:pt x="4595577" y="502920"/>
                    <a:pt x="4545717" y="502920"/>
                  </a:cubicBezTo>
                  <a:lnTo>
                    <a:pt x="90200" y="502920"/>
                  </a:lnTo>
                  <a:cubicBezTo>
                    <a:pt x="40340" y="502920"/>
                    <a:pt x="0" y="450723"/>
                    <a:pt x="0" y="386207"/>
                  </a:cubicBezTo>
                  <a:close/>
                </a:path>
              </a:pathLst>
            </a:custGeom>
            <a:solidFill>
              <a:srgbClr val="F8FAFF"/>
            </a:solidFill>
            <a:ln w="762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59" id="59"/>
          <p:cNvSpPr txBox="true"/>
          <p:nvPr/>
        </p:nvSpPr>
        <p:spPr>
          <a:xfrm rot="0">
            <a:off x="1153615" y="7218364"/>
            <a:ext cx="4273325" cy="180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retry_backoff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5612093" y="7061215"/>
            <a:ext cx="4458213" cy="483647"/>
            <a:chOff x="0" y="0"/>
            <a:chExt cx="4635867" cy="50292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635931" cy="502920"/>
            </a:xfrm>
            <a:custGeom>
              <a:avLst/>
              <a:gdLst/>
              <a:ahLst/>
              <a:cxnLst/>
              <a:rect r="r" b="b" t="t" l="l"/>
              <a:pathLst>
                <a:path h="502920" w="4635931">
                  <a:moveTo>
                    <a:pt x="0" y="116713"/>
                  </a:moveTo>
                  <a:cubicBezTo>
                    <a:pt x="0" y="52197"/>
                    <a:pt x="40340" y="0"/>
                    <a:pt x="90200" y="0"/>
                  </a:cubicBezTo>
                  <a:lnTo>
                    <a:pt x="4545717" y="0"/>
                  </a:lnTo>
                  <a:cubicBezTo>
                    <a:pt x="4595479" y="0"/>
                    <a:pt x="4635931" y="52197"/>
                    <a:pt x="4635931" y="116713"/>
                  </a:cubicBezTo>
                  <a:lnTo>
                    <a:pt x="4635931" y="386207"/>
                  </a:lnTo>
                  <a:cubicBezTo>
                    <a:pt x="4635931" y="450596"/>
                    <a:pt x="4595577" y="502920"/>
                    <a:pt x="4545717" y="502920"/>
                  </a:cubicBezTo>
                  <a:lnTo>
                    <a:pt x="90200" y="502920"/>
                  </a:lnTo>
                  <a:cubicBezTo>
                    <a:pt x="40340" y="502920"/>
                    <a:pt x="0" y="450723"/>
                    <a:pt x="0" y="386207"/>
                  </a:cubicBezTo>
                  <a:close/>
                </a:path>
              </a:pathLst>
            </a:custGeom>
            <a:solidFill>
              <a:srgbClr val="F8FAFF"/>
            </a:solidFill>
            <a:ln w="762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62" id="62"/>
          <p:cNvSpPr txBox="true"/>
          <p:nvPr/>
        </p:nvSpPr>
        <p:spPr>
          <a:xfrm rot="0">
            <a:off x="5771298" y="7218364"/>
            <a:ext cx="4273325" cy="180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approval_gate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994410" y="7730505"/>
            <a:ext cx="9075896" cy="632039"/>
            <a:chOff x="0" y="0"/>
            <a:chExt cx="9437559" cy="657225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9437559" cy="657225"/>
            </a:xfrm>
            <a:custGeom>
              <a:avLst/>
              <a:gdLst/>
              <a:ahLst/>
              <a:cxnLst/>
              <a:rect r="r" b="b" t="t" l="l"/>
              <a:pathLst>
                <a:path h="657225" w="9437559">
                  <a:moveTo>
                    <a:pt x="0" y="129032"/>
                  </a:moveTo>
                  <a:cubicBezTo>
                    <a:pt x="0" y="57785"/>
                    <a:pt x="45066" y="0"/>
                    <a:pt x="100630" y="0"/>
                  </a:cubicBezTo>
                  <a:lnTo>
                    <a:pt x="9336929" y="0"/>
                  </a:lnTo>
                  <a:cubicBezTo>
                    <a:pt x="9392493" y="0"/>
                    <a:pt x="9437559" y="57785"/>
                    <a:pt x="9437559" y="129032"/>
                  </a:cubicBezTo>
                  <a:lnTo>
                    <a:pt x="9437559" y="528193"/>
                  </a:lnTo>
                  <a:cubicBezTo>
                    <a:pt x="9437559" y="599440"/>
                    <a:pt x="9392493" y="657225"/>
                    <a:pt x="9336929" y="657225"/>
                  </a:cubicBezTo>
                  <a:lnTo>
                    <a:pt x="100630" y="657225"/>
                  </a:lnTo>
                  <a:cubicBezTo>
                    <a:pt x="45066" y="657225"/>
                    <a:pt x="0" y="599440"/>
                    <a:pt x="0" y="528193"/>
                  </a:cubicBezTo>
                  <a:close/>
                </a:path>
              </a:pathLst>
            </a:custGeom>
            <a:solidFill>
              <a:srgbClr val="FBF6EF"/>
            </a:solidFill>
            <a:ln w="7620" cap="sq">
              <a:solidFill>
                <a:srgbClr val="EADFCF"/>
              </a:solidFill>
              <a:prstDash val="solid"/>
              <a:miter/>
            </a:ln>
          </p:spPr>
        </p:sp>
      </p:grpSp>
      <p:sp>
        <p:nvSpPr>
          <p:cNvPr name="TextBox 65" id="65"/>
          <p:cNvSpPr txBox="true"/>
          <p:nvPr/>
        </p:nvSpPr>
        <p:spPr>
          <a:xfrm rot="0">
            <a:off x="1088171" y="7901951"/>
            <a:ext cx="8888374" cy="231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87"/>
              </a:lnSpc>
            </a:pPr>
            <a:r>
              <a:rPr lang="en-US" sz="1199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동작: intent에 “검증·분류·분기·반복” 감지 → 스켈레톤 슬롯을 실제 </a:t>
            </a:r>
            <a:r>
              <a:rPr lang="en-US" sz="1199">
                <a:solidFill>
                  <a:srgbClr val="4338CA"/>
                </a:solidFill>
                <a:latin typeface="Noto Sans Kr"/>
                <a:ea typeface="Noto Sans Kr"/>
                <a:cs typeface="Noto Sans Kr"/>
                <a:sym typeface="Noto Sans Kr"/>
              </a:rPr>
              <a:t>node_type</a:t>
            </a:r>
            <a:r>
              <a:rPr lang="en-US" sz="1199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으로 결정적 바인딩 — </a:t>
            </a:r>
            <a:r>
              <a:rPr lang="en-US" sz="1199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구조는 코드, LLM은 파라미터만.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70356" y="4408945"/>
            <a:ext cx="7059454" cy="3077649"/>
            <a:chOff x="0" y="0"/>
            <a:chExt cx="9412605" cy="4103531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12605" cy="4103532"/>
            </a:xfrm>
            <a:custGeom>
              <a:avLst/>
              <a:gdLst/>
              <a:ahLst/>
              <a:cxnLst/>
              <a:rect r="r" b="b" t="t" l="l"/>
              <a:pathLst>
                <a:path h="4103532" w="9412605">
                  <a:moveTo>
                    <a:pt x="0" y="238045"/>
                  </a:moveTo>
                  <a:cubicBezTo>
                    <a:pt x="0" y="106570"/>
                    <a:pt x="79883" y="0"/>
                    <a:pt x="178435" y="0"/>
                  </a:cubicBezTo>
                  <a:lnTo>
                    <a:pt x="9234170" y="0"/>
                  </a:lnTo>
                  <a:cubicBezTo>
                    <a:pt x="9332722" y="0"/>
                    <a:pt x="9412605" y="106570"/>
                    <a:pt x="9412605" y="238045"/>
                  </a:cubicBezTo>
                  <a:lnTo>
                    <a:pt x="9412605" y="3865486"/>
                  </a:lnTo>
                  <a:cubicBezTo>
                    <a:pt x="9412605" y="3996962"/>
                    <a:pt x="9332722" y="4103532"/>
                    <a:pt x="9234170" y="4103532"/>
                  </a:cubicBezTo>
                  <a:lnTo>
                    <a:pt x="178435" y="4103532"/>
                  </a:lnTo>
                  <a:cubicBezTo>
                    <a:pt x="79883" y="4103531"/>
                    <a:pt x="0" y="3996962"/>
                    <a:pt x="0" y="3865486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sp>
        <p:nvSpPr>
          <p:cNvPr name="TextBox 68" id="68"/>
          <p:cNvSpPr txBox="true"/>
          <p:nvPr/>
        </p:nvSpPr>
        <p:spPr>
          <a:xfrm rot="0">
            <a:off x="10716739" y="4660859"/>
            <a:ext cx="6765217" cy="22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90">
                <a:solidFill>
                  <a:srgbClr val="33415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2중 검증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10687526" y="5055279"/>
            <a:ext cx="3259217" cy="2247759"/>
            <a:chOff x="0" y="0"/>
            <a:chExt cx="4345622" cy="2997012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345559" cy="2997012"/>
            </a:xfrm>
            <a:custGeom>
              <a:avLst/>
              <a:gdLst/>
              <a:ahLst/>
              <a:cxnLst/>
              <a:rect r="r" b="b" t="t" l="l"/>
              <a:pathLst>
                <a:path h="2997012" w="4345559">
                  <a:moveTo>
                    <a:pt x="0" y="197831"/>
                  </a:moveTo>
                  <a:cubicBezTo>
                    <a:pt x="0" y="88621"/>
                    <a:pt x="62865" y="0"/>
                    <a:pt x="140335" y="0"/>
                  </a:cubicBezTo>
                  <a:lnTo>
                    <a:pt x="4205224" y="0"/>
                  </a:lnTo>
                  <a:cubicBezTo>
                    <a:pt x="4282694" y="0"/>
                    <a:pt x="4345559" y="88621"/>
                    <a:pt x="4345559" y="197831"/>
                  </a:cubicBezTo>
                  <a:lnTo>
                    <a:pt x="4345559" y="2799181"/>
                  </a:lnTo>
                  <a:cubicBezTo>
                    <a:pt x="4345559" y="2908391"/>
                    <a:pt x="4282694" y="2997012"/>
                    <a:pt x="4205224" y="2997012"/>
                  </a:cubicBezTo>
                  <a:lnTo>
                    <a:pt x="140335" y="2997012"/>
                  </a:lnTo>
                  <a:cubicBezTo>
                    <a:pt x="62865" y="2997012"/>
                    <a:pt x="0" y="2908391"/>
                    <a:pt x="0" y="2799181"/>
                  </a:cubicBezTo>
                  <a:close/>
                </a:path>
              </a:pathLst>
            </a:custGeom>
            <a:solidFill>
              <a:srgbClr val="FAFAFF"/>
            </a:solidFill>
            <a:ln w="762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71" id="71"/>
          <p:cNvSpPr txBox="true"/>
          <p:nvPr/>
        </p:nvSpPr>
        <p:spPr>
          <a:xfrm rot="0">
            <a:off x="10876759" y="5244503"/>
            <a:ext cx="226549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⚖️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1178940" y="5248313"/>
            <a:ext cx="1398546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품질 검증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0876759" y="5719909"/>
            <a:ext cx="2978187" cy="161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초안 단계 · LLM-as-Judge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0876759" y="5947957"/>
            <a:ext cx="2978187" cy="4887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6"/>
              </a:lnSpc>
            </a:pPr>
            <a:r>
              <a:rPr lang="en-US" sz="11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의도 반영 평가 → </a:t>
            </a:r>
            <a:r>
              <a:rPr lang="en-US" sz="1100" b="true">
                <a:solidFill>
                  <a:srgbClr val="04785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score ≥ 8.0 </a:t>
            </a:r>
          </a:p>
          <a:p>
            <a:pPr algn="l">
              <a:lnSpc>
                <a:spcPts val="2046"/>
              </a:lnSpc>
            </a:pPr>
            <a:r>
              <a:rPr lang="en-US" sz="1100" b="true">
                <a:solidFill>
                  <a:srgbClr val="04785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 promote </a:t>
            </a:r>
            <a:r>
              <a:rPr lang="en-US" sz="11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FAIL → </a:t>
            </a:r>
            <a:r>
              <a:rPr lang="en-US" sz="1100" b="true">
                <a:solidFill>
                  <a:srgbClr val="B91C1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retry_draft (최대 3회)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0876759" y="6581558"/>
            <a:ext cx="2978187" cy="161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추적 · </a:t>
            </a:r>
            <a:r>
              <a:rPr lang="en-US" sz="1100" b="true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motif-correctness</a:t>
            </a:r>
          </a:p>
        </p:txBody>
      </p:sp>
      <p:grpSp>
        <p:nvGrpSpPr>
          <p:cNvPr name="Group 76" id="76"/>
          <p:cNvGrpSpPr/>
          <p:nvPr/>
        </p:nvGrpSpPr>
        <p:grpSpPr>
          <a:xfrm rot="0">
            <a:off x="14053423" y="5055279"/>
            <a:ext cx="3259217" cy="2247759"/>
            <a:chOff x="0" y="0"/>
            <a:chExt cx="4345622" cy="2997012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345559" cy="2997012"/>
            </a:xfrm>
            <a:custGeom>
              <a:avLst/>
              <a:gdLst/>
              <a:ahLst/>
              <a:cxnLst/>
              <a:rect r="r" b="b" t="t" l="l"/>
              <a:pathLst>
                <a:path h="2997012" w="4345559">
                  <a:moveTo>
                    <a:pt x="0" y="197831"/>
                  </a:moveTo>
                  <a:cubicBezTo>
                    <a:pt x="0" y="88621"/>
                    <a:pt x="62865" y="0"/>
                    <a:pt x="140335" y="0"/>
                  </a:cubicBezTo>
                  <a:lnTo>
                    <a:pt x="4205224" y="0"/>
                  </a:lnTo>
                  <a:cubicBezTo>
                    <a:pt x="4282694" y="0"/>
                    <a:pt x="4345559" y="88621"/>
                    <a:pt x="4345559" y="197831"/>
                  </a:cubicBezTo>
                  <a:lnTo>
                    <a:pt x="4345559" y="2799181"/>
                  </a:lnTo>
                  <a:cubicBezTo>
                    <a:pt x="4345559" y="2908391"/>
                    <a:pt x="4282694" y="2997012"/>
                    <a:pt x="4205224" y="2997012"/>
                  </a:cubicBezTo>
                  <a:lnTo>
                    <a:pt x="140335" y="2997012"/>
                  </a:lnTo>
                  <a:cubicBezTo>
                    <a:pt x="62865" y="2997012"/>
                    <a:pt x="0" y="2908391"/>
                    <a:pt x="0" y="2799181"/>
                  </a:cubicBezTo>
                  <a:close/>
                </a:path>
              </a:pathLst>
            </a:custGeom>
            <a:solidFill>
              <a:srgbClr val="F1F5F9"/>
            </a:solidFill>
            <a:ln w="7620" cap="sq">
              <a:solidFill>
                <a:srgbClr val="E2E8F0"/>
              </a:solidFill>
              <a:prstDash val="solid"/>
              <a:miter/>
            </a:ln>
          </p:spPr>
        </p:sp>
      </p:grpSp>
      <p:sp>
        <p:nvSpPr>
          <p:cNvPr name="TextBox 78" id="78"/>
          <p:cNvSpPr txBox="true"/>
          <p:nvPr/>
        </p:nvSpPr>
        <p:spPr>
          <a:xfrm rot="0">
            <a:off x="14242656" y="5244503"/>
            <a:ext cx="226549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🛡️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4544837" y="5248313"/>
            <a:ext cx="1451886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33415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실행 검증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14242656" y="5719909"/>
            <a:ext cx="2968704" cy="161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실행 직전 · GraphValidator 7종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14242656" y="5933032"/>
            <a:ext cx="2968704" cy="509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</a:pPr>
            <a:r>
              <a:rPr lang="en-US" sz="11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비실재 · 중복 ID · 사이클 </a:t>
            </a:r>
            <a:r>
              <a:rPr lang="en-US" sz="11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(유한순환 허용) </a:t>
            </a:r>
          </a:p>
          <a:p>
            <a:pPr algn="l">
              <a:lnSpc>
                <a:spcPts val="2112"/>
              </a:lnSpc>
            </a:pPr>
            <a:r>
              <a:rPr lang="en-US" sz="11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· 타입 호환 · 고립 · 필수 연결 · 필수 파라미터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4242656" y="6581558"/>
            <a:ext cx="2968704" cy="161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33415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엔진 실행과 동일 기준으로 사전 차단</a:t>
            </a:r>
          </a:p>
        </p:txBody>
      </p:sp>
      <p:grpSp>
        <p:nvGrpSpPr>
          <p:cNvPr name="Group 83" id="83"/>
          <p:cNvGrpSpPr/>
          <p:nvPr/>
        </p:nvGrpSpPr>
        <p:grpSpPr>
          <a:xfrm rot="0">
            <a:off x="10474166" y="7610418"/>
            <a:ext cx="7007790" cy="942498"/>
            <a:chOff x="0" y="0"/>
            <a:chExt cx="7629847" cy="102616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7629847" cy="1026160"/>
            </a:xfrm>
            <a:custGeom>
              <a:avLst/>
              <a:gdLst/>
              <a:ahLst/>
              <a:cxnLst/>
              <a:rect r="r" b="b" t="t" l="l"/>
              <a:pathLst>
                <a:path h="1026160" w="7629847">
                  <a:moveTo>
                    <a:pt x="0" y="152400"/>
                  </a:moveTo>
                  <a:cubicBezTo>
                    <a:pt x="0" y="68199"/>
                    <a:pt x="55342" y="0"/>
                    <a:pt x="123669" y="0"/>
                  </a:cubicBezTo>
                  <a:lnTo>
                    <a:pt x="7506177" y="0"/>
                  </a:lnTo>
                  <a:cubicBezTo>
                    <a:pt x="7574505" y="0"/>
                    <a:pt x="7629847" y="68199"/>
                    <a:pt x="7629847" y="152400"/>
                  </a:cubicBezTo>
                  <a:lnTo>
                    <a:pt x="7629847" y="873760"/>
                  </a:lnTo>
                  <a:cubicBezTo>
                    <a:pt x="7629847" y="957961"/>
                    <a:pt x="7574505" y="1026160"/>
                    <a:pt x="7506177" y="1026160"/>
                  </a:cubicBezTo>
                  <a:lnTo>
                    <a:pt x="123669" y="1026160"/>
                  </a:lnTo>
                  <a:cubicBezTo>
                    <a:pt x="55342" y="1026160"/>
                    <a:pt x="0" y="957961"/>
                    <a:pt x="0" y="87376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85" id="85"/>
          <p:cNvSpPr txBox="true"/>
          <p:nvPr/>
        </p:nvSpPr>
        <p:spPr>
          <a:xfrm rot="0">
            <a:off x="10738567" y="7841776"/>
            <a:ext cx="157783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0"/>
              </a:lnSpc>
            </a:pPr>
            <a:r>
              <a:rPr lang="en-US" sz="13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의도 반영 → 품질 평가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12370826" y="7785387"/>
            <a:ext cx="2124854" cy="303279"/>
            <a:chOff x="0" y="0"/>
            <a:chExt cx="2313470" cy="3302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313432" cy="330200"/>
            </a:xfrm>
            <a:custGeom>
              <a:avLst/>
              <a:gdLst/>
              <a:ahLst/>
              <a:cxnLst/>
              <a:rect r="r" b="b" t="t" l="l"/>
              <a:pathLst>
                <a:path h="330200" w="2313432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lnTo>
                    <a:pt x="2237232" y="0"/>
                  </a:lnTo>
                  <a:cubicBezTo>
                    <a:pt x="2279269" y="0"/>
                    <a:pt x="2313432" y="34163"/>
                    <a:pt x="2313432" y="76200"/>
                  </a:cubicBezTo>
                  <a:lnTo>
                    <a:pt x="2313432" y="254000"/>
                  </a:lnTo>
                  <a:cubicBezTo>
                    <a:pt x="2313432" y="296037"/>
                    <a:pt x="2279269" y="330200"/>
                    <a:pt x="2237232" y="330200"/>
                  </a:cubicBezTo>
                  <a:lnTo>
                    <a:pt x="76200" y="330200"/>
                  </a:lnTo>
                  <a:cubicBezTo>
                    <a:pt x="34163" y="330200"/>
                    <a:pt x="0" y="296037"/>
                    <a:pt x="0" y="254000"/>
                  </a:cubicBezTo>
                  <a:close/>
                </a:path>
              </a:pathLst>
            </a:custGeom>
            <a:solidFill>
              <a:srgbClr val="6EE7B7">
                <a:alpha val="1961"/>
              </a:srgbClr>
            </a:solidFill>
          </p:spPr>
        </p:sp>
      </p:grpSp>
      <p:sp>
        <p:nvSpPr>
          <p:cNvPr name="TextBox 88" id="88"/>
          <p:cNvSpPr txBox="true"/>
          <p:nvPr/>
        </p:nvSpPr>
        <p:spPr>
          <a:xfrm rot="0">
            <a:off x="12471923" y="7841776"/>
            <a:ext cx="1922661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0"/>
              </a:lnSpc>
            </a:pPr>
            <a:r>
              <a:rPr lang="en-US" sz="1300" b="true">
                <a:solidFill>
                  <a:srgbClr val="6EE7B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score ≥ 8.0 → promote</a:t>
            </a:r>
          </a:p>
        </p:txBody>
      </p:sp>
      <p:grpSp>
        <p:nvGrpSpPr>
          <p:cNvPr name="Group 89" id="89"/>
          <p:cNvGrpSpPr/>
          <p:nvPr/>
        </p:nvGrpSpPr>
        <p:grpSpPr>
          <a:xfrm rot="0">
            <a:off x="14612315" y="7785387"/>
            <a:ext cx="1546291" cy="303279"/>
            <a:chOff x="0" y="0"/>
            <a:chExt cx="1683550" cy="33020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683512" cy="330200"/>
            </a:xfrm>
            <a:custGeom>
              <a:avLst/>
              <a:gdLst/>
              <a:ahLst/>
              <a:cxnLst/>
              <a:rect r="r" b="b" t="t" l="l"/>
              <a:pathLst>
                <a:path h="330200" w="1683512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lnTo>
                    <a:pt x="1607312" y="0"/>
                  </a:lnTo>
                  <a:cubicBezTo>
                    <a:pt x="1649349" y="0"/>
                    <a:pt x="1683512" y="34163"/>
                    <a:pt x="1683512" y="76200"/>
                  </a:cubicBezTo>
                  <a:lnTo>
                    <a:pt x="1683512" y="254000"/>
                  </a:lnTo>
                  <a:cubicBezTo>
                    <a:pt x="1683512" y="296037"/>
                    <a:pt x="1649349" y="330200"/>
                    <a:pt x="1607312" y="330200"/>
                  </a:cubicBezTo>
                  <a:lnTo>
                    <a:pt x="76200" y="330200"/>
                  </a:lnTo>
                  <a:cubicBezTo>
                    <a:pt x="34163" y="330200"/>
                    <a:pt x="0" y="296037"/>
                    <a:pt x="0" y="254000"/>
                  </a:cubicBezTo>
                  <a:close/>
                </a:path>
              </a:pathLst>
            </a:custGeom>
            <a:solidFill>
              <a:srgbClr val="FCA5A5">
                <a:alpha val="1961"/>
              </a:srgbClr>
            </a:solidFill>
          </p:spPr>
        </p:sp>
      </p:grpSp>
      <p:sp>
        <p:nvSpPr>
          <p:cNvPr name="TextBox 91" id="91"/>
          <p:cNvSpPr txBox="true"/>
          <p:nvPr/>
        </p:nvSpPr>
        <p:spPr>
          <a:xfrm rot="0">
            <a:off x="14713412" y="7841776"/>
            <a:ext cx="1344098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0"/>
              </a:lnSpc>
            </a:pPr>
            <a:r>
              <a:rPr lang="en-US" sz="1300" b="true">
                <a:solidFill>
                  <a:srgbClr val="FCA5A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FAIL → retry ×3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10738567" y="8213080"/>
            <a:ext cx="337641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0"/>
              </a:lnSpc>
            </a:pPr>
            <a:r>
              <a:rPr lang="en-US" sz="13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motif-correctness로 스켈레톤 조립 정확도 추적</a:t>
            </a:r>
          </a:p>
        </p:txBody>
      </p:sp>
      <p:grpSp>
        <p:nvGrpSpPr>
          <p:cNvPr name="Group 93" id="93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95" id="95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24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2127418" y="9608820"/>
            <a:ext cx="3752393" cy="22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② 스켈레톤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grounding + 2중 검증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14727565" y="9608820"/>
            <a:ext cx="2803522" cy="22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Skeleton · Validation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11359921" y="511178"/>
            <a:ext cx="6171165" cy="247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REQ-004 · 신정혜 · ADR-0026 §6 · ADR-0023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787403" y="1111253"/>
            <a:ext cx="14460379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에이전트에게 하네스(작업지침서)를 전달하기 위한 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GraphRAG와 ground truth 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787403" y="1726568"/>
            <a:ext cx="17216123" cy="247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벡터는 seed로 그대로 쓰고, Neo4j는 “다음에 올 수 있는 노드” 구조 확장만 — ground truth는 허용 node_type 집합으로 결정적 제약이 된다.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2180911" y="511178"/>
            <a:ext cx="513052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5C54E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Composer · 도입 구조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58190" y="3586524"/>
            <a:ext cx="9052560" cy="3802380"/>
            <a:chOff x="0" y="0"/>
            <a:chExt cx="12070080" cy="5069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070080" cy="5069840"/>
            </a:xfrm>
            <a:custGeom>
              <a:avLst/>
              <a:gdLst/>
              <a:ahLst/>
              <a:cxnLst/>
              <a:rect r="r" b="b" t="t" l="l"/>
              <a:pathLst>
                <a:path h="5069840" w="12070080">
                  <a:moveTo>
                    <a:pt x="0" y="178181"/>
                  </a:moveTo>
                  <a:cubicBezTo>
                    <a:pt x="0" y="79756"/>
                    <a:pt x="72550" y="0"/>
                    <a:pt x="162082" y="0"/>
                  </a:cubicBezTo>
                  <a:lnTo>
                    <a:pt x="11907998" y="0"/>
                  </a:lnTo>
                  <a:cubicBezTo>
                    <a:pt x="11997530" y="0"/>
                    <a:pt x="12070080" y="79756"/>
                    <a:pt x="12070080" y="178181"/>
                  </a:cubicBezTo>
                  <a:lnTo>
                    <a:pt x="12070080" y="4891659"/>
                  </a:lnTo>
                  <a:cubicBezTo>
                    <a:pt x="12070080" y="4990084"/>
                    <a:pt x="11997530" y="5069840"/>
                    <a:pt x="11907998" y="5069840"/>
                  </a:cubicBezTo>
                  <a:lnTo>
                    <a:pt x="162082" y="5069840"/>
                  </a:lnTo>
                  <a:cubicBezTo>
                    <a:pt x="72550" y="5069840"/>
                    <a:pt x="0" y="4990084"/>
                    <a:pt x="0" y="4891659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93862" y="4394244"/>
            <a:ext cx="8581217" cy="9525"/>
            <a:chOff x="0" y="0"/>
            <a:chExt cx="11441623" cy="12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41623" cy="12700"/>
            </a:xfrm>
            <a:custGeom>
              <a:avLst/>
              <a:gdLst/>
              <a:ahLst/>
              <a:cxnLst/>
              <a:rect r="r" b="b" t="t" l="l"/>
              <a:pathLst>
                <a:path h="12700" w="11441623">
                  <a:moveTo>
                    <a:pt x="0" y="0"/>
                  </a:moveTo>
                  <a:lnTo>
                    <a:pt x="11441623" y="0"/>
                  </a:lnTo>
                  <a:lnTo>
                    <a:pt x="11441623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99823" y="3979811"/>
            <a:ext cx="3738115" cy="209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499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지표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80488" y="3979811"/>
            <a:ext cx="2253973" cy="209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99"/>
              </a:lnSpc>
            </a:pPr>
            <a:r>
              <a:rPr lang="en-US" sz="1499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BEFORE </a:t>
            </a:r>
            <a:r>
              <a:rPr lang="en-US" sz="1499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벡터만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280677" y="3979811"/>
            <a:ext cx="2253973" cy="209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99"/>
              </a:lnSpc>
            </a:pPr>
            <a:r>
              <a:rPr lang="en-US" sz="1499" b="true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AFTER </a:t>
            </a:r>
            <a:r>
              <a:rPr lang="en-US" sz="1499" b="true">
                <a:solidFill>
                  <a:srgbClr val="A5B4F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GraphRAG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3862" y="5083762"/>
            <a:ext cx="8581217" cy="9525"/>
            <a:chOff x="0" y="0"/>
            <a:chExt cx="11441623" cy="127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441623" cy="12700"/>
            </a:xfrm>
            <a:custGeom>
              <a:avLst/>
              <a:gdLst/>
              <a:ahLst/>
              <a:cxnLst/>
              <a:rect r="r" b="b" t="t" l="l"/>
              <a:pathLst>
                <a:path h="12700" w="11441623">
                  <a:moveTo>
                    <a:pt x="0" y="0"/>
                  </a:moveTo>
                  <a:lnTo>
                    <a:pt x="11441623" y="0"/>
                  </a:lnTo>
                  <a:lnTo>
                    <a:pt x="11441623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051623" y="4572283"/>
            <a:ext cx="8465695" cy="342966"/>
            <a:chOff x="0" y="0"/>
            <a:chExt cx="11287593" cy="457288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0800"/>
              <a:ext cx="4533824" cy="3556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끊긴 워크플로우율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4415376" y="0"/>
              <a:ext cx="3005297" cy="457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91C1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23.2%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7389863" y="31750"/>
              <a:ext cx="923243" cy="3937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CBD5E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8282295" y="0"/>
              <a:ext cx="3005297" cy="457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0.0%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93862" y="5773279"/>
            <a:ext cx="8581217" cy="9525"/>
            <a:chOff x="0" y="0"/>
            <a:chExt cx="11441623" cy="127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441623" cy="12700"/>
            </a:xfrm>
            <a:custGeom>
              <a:avLst/>
              <a:gdLst/>
              <a:ahLst/>
              <a:cxnLst/>
              <a:rect r="r" b="b" t="t" l="l"/>
              <a:pathLst>
                <a:path h="12700" w="11441623">
                  <a:moveTo>
                    <a:pt x="0" y="0"/>
                  </a:moveTo>
                  <a:lnTo>
                    <a:pt x="11441623" y="0"/>
                  </a:lnTo>
                  <a:lnTo>
                    <a:pt x="11441623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051623" y="5261800"/>
            <a:ext cx="8465695" cy="342966"/>
            <a:chOff x="0" y="0"/>
            <a:chExt cx="11287593" cy="457288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50800"/>
              <a:ext cx="4533824" cy="3556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qa_pass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4415376" y="0"/>
              <a:ext cx="3005297" cy="457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91C1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0.45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7389863" y="31750"/>
              <a:ext cx="923243" cy="3937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CBD5E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8282295" y="0"/>
              <a:ext cx="3005297" cy="457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0.75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93862" y="6462797"/>
            <a:ext cx="8581217" cy="9525"/>
            <a:chOff x="0" y="0"/>
            <a:chExt cx="11441623" cy="127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441623" cy="12700"/>
            </a:xfrm>
            <a:custGeom>
              <a:avLst/>
              <a:gdLst/>
              <a:ahLst/>
              <a:cxnLst/>
              <a:rect r="r" b="b" t="t" l="l"/>
              <a:pathLst>
                <a:path h="12700" w="11441623">
                  <a:moveTo>
                    <a:pt x="0" y="0"/>
                  </a:moveTo>
                  <a:lnTo>
                    <a:pt x="11441623" y="0"/>
                  </a:lnTo>
                  <a:lnTo>
                    <a:pt x="11441623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51623" y="5951318"/>
            <a:ext cx="8465695" cy="342966"/>
            <a:chOff x="0" y="0"/>
            <a:chExt cx="11287593" cy="457288"/>
          </a:xfrm>
        </p:grpSpPr>
        <p:sp>
          <p:nvSpPr>
            <p:cNvPr name="TextBox 26" id="26"/>
            <p:cNvSpPr txBox="true"/>
            <p:nvPr/>
          </p:nvSpPr>
          <p:spPr>
            <a:xfrm rot="0">
              <a:off x="0" y="50800"/>
              <a:ext cx="4533824" cy="3556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motif-correctness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4415376" y="0"/>
              <a:ext cx="3005297" cy="457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94A3B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75%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7389863" y="31750"/>
              <a:ext cx="923243" cy="3937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CBD5E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8282295" y="0"/>
              <a:ext cx="3005297" cy="457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100%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51623" y="6640835"/>
            <a:ext cx="8465695" cy="342966"/>
            <a:chOff x="0" y="0"/>
            <a:chExt cx="11287593" cy="457288"/>
          </a:xfrm>
        </p:grpSpPr>
        <p:sp>
          <p:nvSpPr>
            <p:cNvPr name="TextBox 31" id="31"/>
            <p:cNvSpPr txBox="true"/>
            <p:nvPr/>
          </p:nvSpPr>
          <p:spPr>
            <a:xfrm rot="0">
              <a:off x="0" y="50800"/>
              <a:ext cx="4533824" cy="3556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노드 풍부화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4415376" y="0"/>
              <a:ext cx="3005297" cy="457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94A3B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3.0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7389863" y="31750"/>
              <a:ext cx="923243" cy="3937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CBD5E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8282295" y="0"/>
              <a:ext cx="3005297" cy="457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3.25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0104120" y="3586524"/>
            <a:ext cx="7426966" cy="3802380"/>
            <a:chOff x="0" y="0"/>
            <a:chExt cx="9902622" cy="50698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902622" cy="5069840"/>
            </a:xfrm>
            <a:custGeom>
              <a:avLst/>
              <a:gdLst/>
              <a:ahLst/>
              <a:cxnLst/>
              <a:rect r="r" b="b" t="t" l="l"/>
              <a:pathLst>
                <a:path h="5069840" w="9902622">
                  <a:moveTo>
                    <a:pt x="0" y="309947"/>
                  </a:moveTo>
                  <a:cubicBezTo>
                    <a:pt x="0" y="138812"/>
                    <a:pt x="89209" y="0"/>
                    <a:pt x="199191" y="0"/>
                  </a:cubicBezTo>
                  <a:lnTo>
                    <a:pt x="9703431" y="0"/>
                  </a:lnTo>
                  <a:cubicBezTo>
                    <a:pt x="9813413" y="0"/>
                    <a:pt x="9902622" y="138812"/>
                    <a:pt x="9902622" y="309947"/>
                  </a:cubicBezTo>
                  <a:lnTo>
                    <a:pt x="9902622" y="4759894"/>
                  </a:lnTo>
                  <a:cubicBezTo>
                    <a:pt x="9902622" y="4931028"/>
                    <a:pt x="9813413" y="5069840"/>
                    <a:pt x="9703431" y="5069840"/>
                  </a:cubicBezTo>
                  <a:lnTo>
                    <a:pt x="199191" y="5069840"/>
                  </a:lnTo>
                  <a:cubicBezTo>
                    <a:pt x="89209" y="5069840"/>
                    <a:pt x="0" y="4931028"/>
                    <a:pt x="0" y="4759894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10625158" y="3970286"/>
            <a:ext cx="9193776" cy="22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60">
                <a:solidFill>
                  <a:srgbClr val="A5B4F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실패에서 배운 것 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0625158" y="4796478"/>
            <a:ext cx="6162163" cy="228534"/>
            <a:chOff x="0" y="0"/>
            <a:chExt cx="8216217" cy="304712"/>
          </a:xfrm>
        </p:grpSpPr>
        <p:sp>
          <p:nvSpPr>
            <p:cNvPr name="TextBox 39" id="39"/>
            <p:cNvSpPr txBox="true"/>
            <p:nvPr/>
          </p:nvSpPr>
          <p:spPr>
            <a:xfrm rot="0">
              <a:off x="0" y="0"/>
              <a:ext cx="292373" cy="304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FCA5A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✕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415241" y="-71120"/>
              <a:ext cx="7800976" cy="3707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10"/>
                </a:lnSpc>
              </a:pPr>
              <a:r>
                <a:rPr lang="en-US" sz="1500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soft 힌트만 = 효과 0 </a:t>
              </a:r>
              <a:r>
                <a:rPr lang="en-US" sz="1500">
                  <a:solidFill>
                    <a:srgbClr val="94A3B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>
                  <a:solidFill>
                    <a:srgbClr val="E2E8F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— 작은 LLM은 힌트로 구조를 안 바꾼다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625158" y="5357289"/>
            <a:ext cx="5382775" cy="544698"/>
            <a:chOff x="0" y="0"/>
            <a:chExt cx="7177033" cy="726264"/>
          </a:xfrm>
        </p:grpSpPr>
        <p:sp>
          <p:nvSpPr>
            <p:cNvPr name="TextBox 42" id="42"/>
            <p:cNvSpPr txBox="true"/>
            <p:nvPr/>
          </p:nvSpPr>
          <p:spPr>
            <a:xfrm rot="0">
              <a:off x="0" y="0"/>
              <a:ext cx="292373" cy="304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FCA5A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✕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415241" y="-76200"/>
              <a:ext cx="6761792" cy="8024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10"/>
                </a:lnSpc>
              </a:pPr>
              <a:r>
                <a:rPr lang="en-US" sz="1500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ADD-all 확장 = 회귀 </a:t>
              </a:r>
              <a:r>
                <a:rPr lang="en-US" sz="1500">
                  <a:solidFill>
                    <a:srgbClr val="E2E8F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— 후보 비대 </a:t>
              </a:r>
            </a:p>
            <a:p>
              <a:pPr algn="l">
                <a:lnSpc>
                  <a:spcPts val="2610"/>
                </a:lnSpc>
              </a:pPr>
              <a:r>
                <a:rPr lang="en-US" sz="1500">
                  <a:solidFill>
                    <a:srgbClr val="E2E8F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→ Gemma JSON 잘림 (drafter 실패 6→23, qa 64→29%)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0625158" y="6234263"/>
            <a:ext cx="6877982" cy="548508"/>
            <a:chOff x="0" y="0"/>
            <a:chExt cx="9170643" cy="731344"/>
          </a:xfrm>
        </p:grpSpPr>
        <p:sp>
          <p:nvSpPr>
            <p:cNvPr name="TextBox 45" id="45"/>
            <p:cNvSpPr txBox="true"/>
            <p:nvPr/>
          </p:nvSpPr>
          <p:spPr>
            <a:xfrm rot="0">
              <a:off x="0" y="0"/>
              <a:ext cx="270079" cy="304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6EE7B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✓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392947" y="-71120"/>
              <a:ext cx="8777696" cy="8024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10"/>
                </a:lnSpc>
              </a:pPr>
              <a:r>
                <a:rPr lang="en-US" sz="1500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cap 필수 </a:t>
              </a:r>
              <a:r>
                <a:rPr lang="en-US" sz="1500">
                  <a:solidFill>
                    <a:srgbClr val="94A3B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(seed 5 + add ≤3) </a:t>
              </a:r>
              <a:r>
                <a:rPr lang="en-US" sz="1500">
                  <a:solidFill>
                    <a:srgbClr val="E2E8F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· </a:t>
              </a:r>
            </a:p>
            <a:p>
              <a:pPr algn="l">
                <a:lnSpc>
                  <a:spcPts val="2610"/>
                </a:lnSpc>
              </a:pPr>
              <a:r>
                <a:rPr lang="en-US" sz="1500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구조는 코드가 강제, LLM은 파라미터만 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758190" y="7655604"/>
            <a:ext cx="16771620" cy="476250"/>
            <a:chOff x="0" y="0"/>
            <a:chExt cx="22362160" cy="6350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362161" cy="635000"/>
            </a:xfrm>
            <a:custGeom>
              <a:avLst/>
              <a:gdLst/>
              <a:ahLst/>
              <a:cxnLst/>
              <a:rect r="r" b="b" t="t" l="l"/>
              <a:pathLst>
                <a:path h="635000" w="22362161">
                  <a:moveTo>
                    <a:pt x="0" y="141986"/>
                  </a:moveTo>
                  <a:cubicBezTo>
                    <a:pt x="0" y="63627"/>
                    <a:pt x="63627" y="0"/>
                    <a:pt x="141986" y="0"/>
                  </a:cubicBezTo>
                  <a:lnTo>
                    <a:pt x="22220174" y="0"/>
                  </a:lnTo>
                  <a:cubicBezTo>
                    <a:pt x="22298533" y="0"/>
                    <a:pt x="22362161" y="63627"/>
                    <a:pt x="22362161" y="141986"/>
                  </a:cubicBezTo>
                  <a:lnTo>
                    <a:pt x="22362161" y="493014"/>
                  </a:lnTo>
                  <a:cubicBezTo>
                    <a:pt x="22362161" y="571373"/>
                    <a:pt x="22298533" y="635000"/>
                    <a:pt x="22220174" y="635000"/>
                  </a:cubicBezTo>
                  <a:lnTo>
                    <a:pt x="141986" y="635000"/>
                  </a:lnTo>
                  <a:cubicBezTo>
                    <a:pt x="63627" y="635000"/>
                    <a:pt x="0" y="571373"/>
                    <a:pt x="0" y="493014"/>
                  </a:cubicBezTo>
                  <a:close/>
                </a:path>
              </a:pathLst>
            </a:custGeom>
            <a:solidFill>
              <a:srgbClr val="EEF2FF"/>
            </a:solidFill>
            <a:ln w="7620" cap="sq">
              <a:solidFill>
                <a:srgbClr val="C7D2FE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985523" y="7784192"/>
            <a:ext cx="34091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연결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415339" y="7784192"/>
            <a:ext cx="10890885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S5(정성) </a:t>
            </a:r>
            <a:r>
              <a:rPr lang="en-US" sz="1350">
                <a:solidFill>
                  <a:srgbClr val="3730A3"/>
                </a:solidFill>
                <a:latin typeface="Noto Sans Kr"/>
                <a:ea typeface="Noto Sans Kr"/>
                <a:cs typeface="Noto Sans Kr"/>
                <a:sym typeface="Noto Sans Kr"/>
              </a:rPr>
              <a:t>“알 수 없음 노드가 통과 vs google_sheets_read 정상” → </a:t>
            </a:r>
            <a:r>
              <a:rPr lang="en-US" sz="1350" b="true">
                <a:solidFill>
                  <a:srgbClr val="3730A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S7(정량) </a:t>
            </a:r>
            <a:r>
              <a:rPr lang="en-US" sz="1350">
                <a:solidFill>
                  <a:srgbClr val="3730A3"/>
                </a:solidFill>
                <a:latin typeface="Noto Sans Kr"/>
                <a:ea typeface="Noto Sans Kr"/>
                <a:cs typeface="Noto Sans Kr"/>
                <a:sym typeface="Noto Sans Kr"/>
              </a:rPr>
              <a:t>qa 0.45→0.75 — 두 장이 “노드 선택 정확성”을 정성+정량으로 받친다.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1359921" y="511178"/>
            <a:ext cx="6171165" cy="247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REQ-004 · 신정혜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787403" y="1111253"/>
            <a:ext cx="8460383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도입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전 vs 후 — 측정으로 증명한 온톨로지 효과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87403" y="1726568"/>
            <a:ext cx="17216123" cy="247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“측정 없는 고도화는 추측” — §6.5 평가 하니스로 Before/After 실측.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57" id="57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25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2127418" y="9608820"/>
            <a:ext cx="3752393" cy="22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② 온톨로지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도입 전후 실측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4727565" y="9608820"/>
            <a:ext cx="2803522" cy="228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Before / After</a:t>
            </a:r>
          </a:p>
        </p:txBody>
      </p:sp>
      <p:grpSp>
        <p:nvGrpSpPr>
          <p:cNvPr name="Group 61" id="61"/>
          <p:cNvGrpSpPr/>
          <p:nvPr/>
        </p:nvGrpSpPr>
        <p:grpSpPr>
          <a:xfrm rot="0">
            <a:off x="10390032" y="4384719"/>
            <a:ext cx="6855143" cy="9525"/>
            <a:chOff x="0" y="0"/>
            <a:chExt cx="9140190" cy="1270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9140190" cy="12700"/>
            </a:xfrm>
            <a:custGeom>
              <a:avLst/>
              <a:gdLst/>
              <a:ahLst/>
              <a:cxnLst/>
              <a:rect r="r" b="b" t="t" l="l"/>
              <a:pathLst>
                <a:path h="12700" w="9140190">
                  <a:moveTo>
                    <a:pt x="0" y="0"/>
                  </a:moveTo>
                  <a:lnTo>
                    <a:pt x="9140190" y="0"/>
                  </a:lnTo>
                  <a:lnTo>
                    <a:pt x="914019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sp>
        <p:nvSpPr>
          <p:cNvPr name="TextBox 63" id="63"/>
          <p:cNvSpPr txBox="true"/>
          <p:nvPr/>
        </p:nvSpPr>
        <p:spPr>
          <a:xfrm rot="0">
            <a:off x="2180911" y="511178"/>
            <a:ext cx="513052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5C54E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Composer · 도입 효과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58190" y="3421539"/>
            <a:ext cx="5494020" cy="4446590"/>
            <a:chOff x="0" y="0"/>
            <a:chExt cx="7325360" cy="592878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325361" cy="5928750"/>
            </a:xfrm>
            <a:custGeom>
              <a:avLst/>
              <a:gdLst/>
              <a:ahLst/>
              <a:cxnLst/>
              <a:rect r="r" b="b" t="t" l="l"/>
              <a:pathLst>
                <a:path h="5928750" w="7325361">
                  <a:moveTo>
                    <a:pt x="0" y="104539"/>
                  </a:moveTo>
                  <a:cubicBezTo>
                    <a:pt x="0" y="46826"/>
                    <a:pt x="79756" y="0"/>
                    <a:pt x="178054" y="0"/>
                  </a:cubicBezTo>
                  <a:lnTo>
                    <a:pt x="7147306" y="0"/>
                  </a:lnTo>
                  <a:cubicBezTo>
                    <a:pt x="7245604" y="0"/>
                    <a:pt x="7325361" y="46826"/>
                    <a:pt x="7325361" y="104539"/>
                  </a:cubicBezTo>
                  <a:lnTo>
                    <a:pt x="7325361" y="5824211"/>
                  </a:lnTo>
                  <a:cubicBezTo>
                    <a:pt x="7325361" y="5881923"/>
                    <a:pt x="7245604" y="5928750"/>
                    <a:pt x="7147306" y="5928750"/>
                  </a:cubicBezTo>
                  <a:lnTo>
                    <a:pt x="178054" y="5928750"/>
                  </a:lnTo>
                  <a:cubicBezTo>
                    <a:pt x="79756" y="5928851"/>
                    <a:pt x="0" y="5881998"/>
                    <a:pt x="0" y="5824211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04573" y="3750922"/>
            <a:ext cx="273053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0B98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37948" y="3765210"/>
            <a:ext cx="446046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노드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4663202" y="3671865"/>
            <a:ext cx="1371838" cy="453390"/>
            <a:chOff x="0" y="0"/>
            <a:chExt cx="1829118" cy="6045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29181" cy="604520"/>
            </a:xfrm>
            <a:custGeom>
              <a:avLst/>
              <a:gdLst/>
              <a:ahLst/>
              <a:cxnLst/>
              <a:rect r="r" b="b" t="t" l="l"/>
              <a:pathLst>
                <a:path h="604520" w="1829181">
                  <a:moveTo>
                    <a:pt x="0" y="103378"/>
                  </a:moveTo>
                  <a:cubicBezTo>
                    <a:pt x="0" y="46228"/>
                    <a:pt x="46228" y="0"/>
                    <a:pt x="103378" y="0"/>
                  </a:cubicBezTo>
                  <a:lnTo>
                    <a:pt x="1725803" y="0"/>
                  </a:lnTo>
                  <a:cubicBezTo>
                    <a:pt x="1782826" y="0"/>
                    <a:pt x="1829181" y="46228"/>
                    <a:pt x="1829181" y="103378"/>
                  </a:cubicBezTo>
                  <a:lnTo>
                    <a:pt x="1829181" y="501142"/>
                  </a:lnTo>
                  <a:cubicBezTo>
                    <a:pt x="1829181" y="558165"/>
                    <a:pt x="1782953" y="604520"/>
                    <a:pt x="1725803" y="604520"/>
                  </a:cubicBezTo>
                  <a:lnTo>
                    <a:pt x="103378" y="604520"/>
                  </a:lnTo>
                  <a:cubicBezTo>
                    <a:pt x="46228" y="604520"/>
                    <a:pt x="0" y="558292"/>
                    <a:pt x="0" y="501142"/>
                  </a:cubicBezTo>
                  <a:close/>
                </a:path>
              </a:pathLst>
            </a:custGeom>
            <a:solidFill>
              <a:srgbClr val="ECFDF5"/>
            </a:solidFill>
            <a:ln w="7620" cap="sq">
              <a:solidFill>
                <a:srgbClr val="A7F3D0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4804810" y="3765210"/>
            <a:ext cx="303886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05966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62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130917" y="3808072"/>
            <a:ext cx="838714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4785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· 8 카테고리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004573" y="4481166"/>
            <a:ext cx="5001263" cy="200025"/>
            <a:chOff x="0" y="0"/>
            <a:chExt cx="6668351" cy="266700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-3175"/>
              <a:ext cx="1338613" cy="263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transform</a:t>
              </a:r>
            </a:p>
          </p:txBody>
        </p:sp>
        <p:grpSp>
          <p:nvGrpSpPr>
            <p:cNvPr name="Group 12" id="12"/>
            <p:cNvGrpSpPr/>
            <p:nvPr/>
          </p:nvGrpSpPr>
          <p:grpSpPr>
            <a:xfrm rot="0">
              <a:off x="1645075" y="19050"/>
              <a:ext cx="4676134" cy="228600"/>
              <a:chOff x="0" y="0"/>
              <a:chExt cx="4676134" cy="2286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4676134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4676134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4619439" y="0"/>
                    </a:lnTo>
                    <a:cubicBezTo>
                      <a:pt x="4650735" y="0"/>
                      <a:pt x="4676134" y="28448"/>
                      <a:pt x="4676134" y="63500"/>
                    </a:cubicBezTo>
                    <a:lnTo>
                      <a:pt x="4676134" y="165100"/>
                    </a:lnTo>
                    <a:cubicBezTo>
                      <a:pt x="4676134" y="200152"/>
                      <a:pt x="4650735" y="228600"/>
                      <a:pt x="4619439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grpSp>
          <p:nvGrpSpPr>
            <p:cNvPr name="Group 14" id="14"/>
            <p:cNvGrpSpPr/>
            <p:nvPr/>
          </p:nvGrpSpPr>
          <p:grpSpPr>
            <a:xfrm rot="0">
              <a:off x="1645075" y="19050"/>
              <a:ext cx="4676134" cy="228600"/>
              <a:chOff x="0" y="0"/>
              <a:chExt cx="4676134" cy="2286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676134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4676134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4619439" y="0"/>
                    </a:lnTo>
                    <a:cubicBezTo>
                      <a:pt x="4650735" y="0"/>
                      <a:pt x="4676134" y="28448"/>
                      <a:pt x="4676134" y="63500"/>
                    </a:cubicBezTo>
                    <a:lnTo>
                      <a:pt x="4676134" y="165100"/>
                    </a:lnTo>
                    <a:cubicBezTo>
                      <a:pt x="4676134" y="200152"/>
                      <a:pt x="4650735" y="228600"/>
                      <a:pt x="4619439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10B981"/>
              </a:solidFill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6380480" y="-9525"/>
              <a:ext cx="287871" cy="276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18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04573" y="4827876"/>
            <a:ext cx="5001263" cy="200025"/>
            <a:chOff x="0" y="0"/>
            <a:chExt cx="6668351" cy="26670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3175"/>
              <a:ext cx="1441875" cy="263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integration</a:t>
              </a:r>
            </a:p>
          </p:txBody>
        </p:sp>
        <p:grpSp>
          <p:nvGrpSpPr>
            <p:cNvPr name="Group 19" id="19"/>
            <p:cNvGrpSpPr/>
            <p:nvPr/>
          </p:nvGrpSpPr>
          <p:grpSpPr>
            <a:xfrm rot="0">
              <a:off x="1645075" y="19050"/>
              <a:ext cx="4676134" cy="228600"/>
              <a:chOff x="0" y="0"/>
              <a:chExt cx="4676134" cy="2286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676134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4676134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4619439" y="0"/>
                    </a:lnTo>
                    <a:cubicBezTo>
                      <a:pt x="4650735" y="0"/>
                      <a:pt x="4676134" y="28448"/>
                      <a:pt x="4676134" y="63500"/>
                    </a:cubicBezTo>
                    <a:lnTo>
                      <a:pt x="4676134" y="165100"/>
                    </a:lnTo>
                    <a:cubicBezTo>
                      <a:pt x="4676134" y="200152"/>
                      <a:pt x="4650735" y="228600"/>
                      <a:pt x="4619439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grpSp>
          <p:nvGrpSpPr>
            <p:cNvPr name="Group 21" id="21"/>
            <p:cNvGrpSpPr/>
            <p:nvPr/>
          </p:nvGrpSpPr>
          <p:grpSpPr>
            <a:xfrm rot="0">
              <a:off x="1645075" y="19050"/>
              <a:ext cx="4676134" cy="228600"/>
              <a:chOff x="0" y="0"/>
              <a:chExt cx="4676134" cy="2286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4676134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4676134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4619439" y="0"/>
                    </a:lnTo>
                    <a:cubicBezTo>
                      <a:pt x="4650735" y="0"/>
                      <a:pt x="4676134" y="28448"/>
                      <a:pt x="4676134" y="63500"/>
                    </a:cubicBezTo>
                    <a:lnTo>
                      <a:pt x="4676134" y="165100"/>
                    </a:lnTo>
                    <a:cubicBezTo>
                      <a:pt x="4676134" y="200152"/>
                      <a:pt x="4650735" y="228600"/>
                      <a:pt x="4619439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10B981"/>
              </a:solidFill>
            </p:spPr>
          </p:sp>
        </p:grpSp>
        <p:sp>
          <p:nvSpPr>
            <p:cNvPr name="TextBox 23" id="23"/>
            <p:cNvSpPr txBox="true"/>
            <p:nvPr/>
          </p:nvSpPr>
          <p:spPr>
            <a:xfrm rot="0">
              <a:off x="6380480" y="-9525"/>
              <a:ext cx="287871" cy="276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18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04573" y="5174586"/>
            <a:ext cx="5001263" cy="200025"/>
            <a:chOff x="0" y="0"/>
            <a:chExt cx="6668351" cy="266700"/>
          </a:xfrm>
        </p:grpSpPr>
        <p:sp>
          <p:nvSpPr>
            <p:cNvPr name="TextBox 25" id="25"/>
            <p:cNvSpPr txBox="true"/>
            <p:nvPr/>
          </p:nvSpPr>
          <p:spPr>
            <a:xfrm rot="0">
              <a:off x="0" y="-3175"/>
              <a:ext cx="1441875" cy="263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condition</a:t>
              </a:r>
            </a:p>
          </p:txBody>
        </p:sp>
        <p:grpSp>
          <p:nvGrpSpPr>
            <p:cNvPr name="Group 26" id="26"/>
            <p:cNvGrpSpPr/>
            <p:nvPr/>
          </p:nvGrpSpPr>
          <p:grpSpPr>
            <a:xfrm rot="0">
              <a:off x="1645075" y="19050"/>
              <a:ext cx="4676134" cy="228600"/>
              <a:chOff x="0" y="0"/>
              <a:chExt cx="4676134" cy="2286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4676134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4676134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4619439" y="0"/>
                    </a:lnTo>
                    <a:cubicBezTo>
                      <a:pt x="4650735" y="0"/>
                      <a:pt x="4676134" y="28448"/>
                      <a:pt x="4676134" y="63500"/>
                    </a:cubicBezTo>
                    <a:lnTo>
                      <a:pt x="4676134" y="165100"/>
                    </a:lnTo>
                    <a:cubicBezTo>
                      <a:pt x="4676134" y="200152"/>
                      <a:pt x="4650735" y="228600"/>
                      <a:pt x="4619439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grpSp>
          <p:nvGrpSpPr>
            <p:cNvPr name="Group 28" id="28"/>
            <p:cNvGrpSpPr/>
            <p:nvPr/>
          </p:nvGrpSpPr>
          <p:grpSpPr>
            <a:xfrm rot="0">
              <a:off x="1645075" y="19050"/>
              <a:ext cx="2057431" cy="228600"/>
              <a:chOff x="0" y="0"/>
              <a:chExt cx="2057431" cy="2286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2057431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2057431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2000737" y="0"/>
                    </a:lnTo>
                    <a:cubicBezTo>
                      <a:pt x="2032032" y="0"/>
                      <a:pt x="2057431" y="28448"/>
                      <a:pt x="2057431" y="63500"/>
                    </a:cubicBezTo>
                    <a:lnTo>
                      <a:pt x="2057431" y="165100"/>
                    </a:lnTo>
                    <a:cubicBezTo>
                      <a:pt x="2057431" y="200152"/>
                      <a:pt x="2032032" y="228600"/>
                      <a:pt x="2000737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34D399"/>
              </a:solidFill>
            </p:spPr>
          </p:sp>
        </p:grpSp>
        <p:sp>
          <p:nvSpPr>
            <p:cNvPr name="TextBox 30" id="30"/>
            <p:cNvSpPr txBox="true"/>
            <p:nvPr/>
          </p:nvSpPr>
          <p:spPr>
            <a:xfrm rot="0">
              <a:off x="6380480" y="-9525"/>
              <a:ext cx="287871" cy="276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8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04573" y="5521296"/>
            <a:ext cx="5001263" cy="200025"/>
            <a:chOff x="0" y="0"/>
            <a:chExt cx="6668351" cy="266700"/>
          </a:xfrm>
        </p:grpSpPr>
        <p:sp>
          <p:nvSpPr>
            <p:cNvPr name="TextBox 32" id="32"/>
            <p:cNvSpPr txBox="true"/>
            <p:nvPr/>
          </p:nvSpPr>
          <p:spPr>
            <a:xfrm rot="0">
              <a:off x="0" y="-3175"/>
              <a:ext cx="1024471" cy="263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trigger</a:t>
              </a:r>
            </a:p>
          </p:txBody>
        </p:sp>
        <p:grpSp>
          <p:nvGrpSpPr>
            <p:cNvPr name="Group 33" id="33"/>
            <p:cNvGrpSpPr/>
            <p:nvPr/>
          </p:nvGrpSpPr>
          <p:grpSpPr>
            <a:xfrm rot="0">
              <a:off x="1645075" y="19050"/>
              <a:ext cx="4676134" cy="228600"/>
              <a:chOff x="0" y="0"/>
              <a:chExt cx="4676134" cy="2286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676134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4676134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4619439" y="0"/>
                    </a:lnTo>
                    <a:cubicBezTo>
                      <a:pt x="4650735" y="0"/>
                      <a:pt x="4676134" y="28448"/>
                      <a:pt x="4676134" y="63500"/>
                    </a:cubicBezTo>
                    <a:lnTo>
                      <a:pt x="4676134" y="165100"/>
                    </a:lnTo>
                    <a:cubicBezTo>
                      <a:pt x="4676134" y="200152"/>
                      <a:pt x="4650735" y="228600"/>
                      <a:pt x="4619439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1645075" y="19050"/>
              <a:ext cx="1543079" cy="228600"/>
              <a:chOff x="0" y="0"/>
              <a:chExt cx="1543079" cy="2286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1543104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1543104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1486407" y="0"/>
                    </a:lnTo>
                    <a:cubicBezTo>
                      <a:pt x="1517702" y="0"/>
                      <a:pt x="1543104" y="28448"/>
                      <a:pt x="1543104" y="63500"/>
                    </a:cubicBezTo>
                    <a:lnTo>
                      <a:pt x="1543104" y="165100"/>
                    </a:lnTo>
                    <a:cubicBezTo>
                      <a:pt x="1543104" y="200152"/>
                      <a:pt x="1517702" y="228600"/>
                      <a:pt x="1486407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34D399"/>
              </a:solidFill>
            </p:spPr>
          </p:sp>
        </p:grpSp>
        <p:sp>
          <p:nvSpPr>
            <p:cNvPr name="TextBox 37" id="37"/>
            <p:cNvSpPr txBox="true"/>
            <p:nvPr/>
          </p:nvSpPr>
          <p:spPr>
            <a:xfrm rot="0">
              <a:off x="6380480" y="-9525"/>
              <a:ext cx="287871" cy="276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6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004573" y="5868006"/>
            <a:ext cx="5161283" cy="200025"/>
            <a:chOff x="0" y="0"/>
            <a:chExt cx="6881711" cy="266700"/>
          </a:xfrm>
        </p:grpSpPr>
        <p:sp>
          <p:nvSpPr>
            <p:cNvPr name="TextBox 39" id="39"/>
            <p:cNvSpPr txBox="true"/>
            <p:nvPr/>
          </p:nvSpPr>
          <p:spPr>
            <a:xfrm rot="0">
              <a:off x="0" y="-3175"/>
              <a:ext cx="1251375" cy="263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action · ai</a:t>
              </a:r>
            </a:p>
          </p:txBody>
        </p:sp>
        <p:grpSp>
          <p:nvGrpSpPr>
            <p:cNvPr name="Group 40" id="40"/>
            <p:cNvGrpSpPr/>
            <p:nvPr/>
          </p:nvGrpSpPr>
          <p:grpSpPr>
            <a:xfrm rot="0">
              <a:off x="1645075" y="19050"/>
              <a:ext cx="4676134" cy="228600"/>
              <a:chOff x="0" y="0"/>
              <a:chExt cx="4676134" cy="228600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676134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4676134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4619439" y="0"/>
                    </a:lnTo>
                    <a:cubicBezTo>
                      <a:pt x="4650735" y="0"/>
                      <a:pt x="4676134" y="28448"/>
                      <a:pt x="4676134" y="63500"/>
                    </a:cubicBezTo>
                    <a:lnTo>
                      <a:pt x="4676134" y="165100"/>
                    </a:lnTo>
                    <a:cubicBezTo>
                      <a:pt x="4676134" y="200152"/>
                      <a:pt x="4650735" y="228600"/>
                      <a:pt x="4619439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grpSp>
          <p:nvGrpSpPr>
            <p:cNvPr name="Group 42" id="42"/>
            <p:cNvGrpSpPr/>
            <p:nvPr/>
          </p:nvGrpSpPr>
          <p:grpSpPr>
            <a:xfrm rot="0">
              <a:off x="1645075" y="19050"/>
              <a:ext cx="1309204" cy="228600"/>
              <a:chOff x="0" y="0"/>
              <a:chExt cx="1309204" cy="2286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1309181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1309181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1252487" y="0"/>
                    </a:lnTo>
                    <a:cubicBezTo>
                      <a:pt x="1283782" y="0"/>
                      <a:pt x="1309181" y="28448"/>
                      <a:pt x="1309181" y="63500"/>
                    </a:cubicBezTo>
                    <a:lnTo>
                      <a:pt x="1309181" y="165100"/>
                    </a:lnTo>
                    <a:cubicBezTo>
                      <a:pt x="1309181" y="200152"/>
                      <a:pt x="1283782" y="228600"/>
                      <a:pt x="1252487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6EE7B7"/>
              </a:solidFill>
            </p:spPr>
          </p:sp>
        </p:grpSp>
        <p:sp>
          <p:nvSpPr>
            <p:cNvPr name="TextBox 44" id="44"/>
            <p:cNvSpPr txBox="true"/>
            <p:nvPr/>
          </p:nvSpPr>
          <p:spPr>
            <a:xfrm rot="0">
              <a:off x="6380480" y="-9525"/>
              <a:ext cx="501231" cy="276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5·3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004573" y="6214716"/>
            <a:ext cx="5100323" cy="200025"/>
            <a:chOff x="0" y="0"/>
            <a:chExt cx="6800431" cy="266700"/>
          </a:xfrm>
        </p:grpSpPr>
        <p:sp>
          <p:nvSpPr>
            <p:cNvPr name="TextBox 46" id="46"/>
            <p:cNvSpPr txBox="true"/>
            <p:nvPr/>
          </p:nvSpPr>
          <p:spPr>
            <a:xfrm rot="0">
              <a:off x="0" y="-3175"/>
              <a:ext cx="1821909" cy="263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30"/>
                </a:lnSpc>
              </a:pPr>
              <a:r>
                <a:rPr lang="en-US" sz="1275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utility·output</a:t>
              </a:r>
            </a:p>
          </p:txBody>
        </p:sp>
        <p:grpSp>
          <p:nvGrpSpPr>
            <p:cNvPr name="Group 47" id="47"/>
            <p:cNvGrpSpPr/>
            <p:nvPr/>
          </p:nvGrpSpPr>
          <p:grpSpPr>
            <a:xfrm rot="0">
              <a:off x="1645075" y="19050"/>
              <a:ext cx="4676134" cy="228600"/>
              <a:chOff x="0" y="0"/>
              <a:chExt cx="4676134" cy="2286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4676134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4676134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4619439" y="0"/>
                    </a:lnTo>
                    <a:cubicBezTo>
                      <a:pt x="4650735" y="0"/>
                      <a:pt x="4676134" y="28448"/>
                      <a:pt x="4676134" y="63500"/>
                    </a:cubicBezTo>
                    <a:lnTo>
                      <a:pt x="4676134" y="165100"/>
                    </a:lnTo>
                    <a:cubicBezTo>
                      <a:pt x="4676134" y="200152"/>
                      <a:pt x="4650735" y="228600"/>
                      <a:pt x="4619439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grpSp>
          <p:nvGrpSpPr>
            <p:cNvPr name="Group 49" id="49"/>
            <p:cNvGrpSpPr/>
            <p:nvPr/>
          </p:nvGrpSpPr>
          <p:grpSpPr>
            <a:xfrm rot="0">
              <a:off x="1645075" y="19050"/>
              <a:ext cx="514363" cy="228600"/>
              <a:chOff x="0" y="0"/>
              <a:chExt cx="514363" cy="22860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514329" cy="228600"/>
              </a:xfrm>
              <a:custGeom>
                <a:avLst/>
                <a:gdLst/>
                <a:ahLst/>
                <a:cxnLst/>
                <a:rect r="r" b="b" t="t" l="l"/>
                <a:pathLst>
                  <a:path h="228600" w="514329">
                    <a:moveTo>
                      <a:pt x="0" y="63500"/>
                    </a:moveTo>
                    <a:cubicBezTo>
                      <a:pt x="0" y="28448"/>
                      <a:pt x="25399" y="0"/>
                      <a:pt x="56694" y="0"/>
                    </a:cubicBezTo>
                    <a:lnTo>
                      <a:pt x="457635" y="0"/>
                    </a:lnTo>
                    <a:cubicBezTo>
                      <a:pt x="488930" y="0"/>
                      <a:pt x="514329" y="28448"/>
                      <a:pt x="514329" y="63500"/>
                    </a:cubicBezTo>
                    <a:lnTo>
                      <a:pt x="514329" y="165100"/>
                    </a:lnTo>
                    <a:cubicBezTo>
                      <a:pt x="514329" y="200152"/>
                      <a:pt x="488930" y="228600"/>
                      <a:pt x="457635" y="228600"/>
                    </a:cubicBezTo>
                    <a:lnTo>
                      <a:pt x="56694" y="228600"/>
                    </a:lnTo>
                    <a:cubicBezTo>
                      <a:pt x="25399" y="228600"/>
                      <a:pt x="0" y="200152"/>
                      <a:pt x="0" y="165100"/>
                    </a:cubicBezTo>
                    <a:close/>
                  </a:path>
                </a:pathLst>
              </a:custGeom>
              <a:solidFill>
                <a:srgbClr val="A7F3D0"/>
              </a:solidFill>
            </p:spPr>
          </p:sp>
        </p:grpSp>
        <p:sp>
          <p:nvSpPr>
            <p:cNvPr name="TextBox 51" id="51"/>
            <p:cNvSpPr txBox="true"/>
            <p:nvPr/>
          </p:nvSpPr>
          <p:spPr>
            <a:xfrm rot="0">
              <a:off x="6380480" y="-9525"/>
              <a:ext cx="419951" cy="276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20"/>
                </a:lnSpc>
              </a:pPr>
              <a:r>
                <a:rPr lang="en-US" sz="1350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2·2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75360" y="6791755"/>
            <a:ext cx="5059680" cy="728315"/>
            <a:chOff x="0" y="0"/>
            <a:chExt cx="6746240" cy="971087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6746240" cy="971087"/>
            </a:xfrm>
            <a:custGeom>
              <a:avLst/>
              <a:gdLst/>
              <a:ahLst/>
              <a:cxnLst/>
              <a:rect r="r" b="b" t="t" l="l"/>
              <a:pathLst>
                <a:path h="971087" w="6746240">
                  <a:moveTo>
                    <a:pt x="0" y="167467"/>
                  </a:moveTo>
                  <a:cubicBezTo>
                    <a:pt x="0" y="74939"/>
                    <a:pt x="51943" y="0"/>
                    <a:pt x="116078" y="0"/>
                  </a:cubicBezTo>
                  <a:lnTo>
                    <a:pt x="6630162" y="0"/>
                  </a:lnTo>
                  <a:cubicBezTo>
                    <a:pt x="6694297" y="0"/>
                    <a:pt x="6746240" y="74939"/>
                    <a:pt x="6746240" y="167467"/>
                  </a:cubicBezTo>
                  <a:lnTo>
                    <a:pt x="6746240" y="803621"/>
                  </a:lnTo>
                  <a:cubicBezTo>
                    <a:pt x="6746240" y="896149"/>
                    <a:pt x="6694297" y="971087"/>
                    <a:pt x="6630162" y="971087"/>
                  </a:cubicBezTo>
                  <a:lnTo>
                    <a:pt x="116078" y="971087"/>
                  </a:lnTo>
                  <a:cubicBezTo>
                    <a:pt x="51943" y="971087"/>
                    <a:pt x="0" y="896149"/>
                    <a:pt x="0" y="803621"/>
                  </a:cubicBezTo>
                  <a:close/>
                </a:path>
              </a:pathLst>
            </a:custGeom>
            <a:solidFill>
              <a:srgbClr val="F0FDF4"/>
            </a:solidFill>
            <a:ln w="7620" cap="sq">
              <a:solidFill>
                <a:srgbClr val="BBF7D0"/>
              </a:solidFill>
              <a:prstDash val="solid"/>
              <a:miter/>
            </a:ln>
          </p:spPr>
        </p:sp>
      </p:grpSp>
      <p:sp>
        <p:nvSpPr>
          <p:cNvPr name="TextBox 54" id="54"/>
          <p:cNvSpPr txBox="true"/>
          <p:nvPr/>
        </p:nvSpPr>
        <p:spPr>
          <a:xfrm rot="0">
            <a:off x="1069758" y="6969222"/>
            <a:ext cx="4870885" cy="287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1350" b="true">
                <a:solidFill>
                  <a:srgbClr val="065F4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선정 </a:t>
            </a:r>
            <a:r>
              <a:rPr lang="en-US" sz="1350">
                <a:solidFill>
                  <a:srgbClr val="15803D"/>
                </a:solidFill>
                <a:latin typeface="Noto Sans Kr"/>
                <a:ea typeface="Noto Sans Kr"/>
                <a:cs typeface="Noto Sans Kr"/>
                <a:sym typeface="Noto Sans Kr"/>
              </a:rPr>
              <a:t>— MVP 핵심 자동화 단위 선별 · </a:t>
            </a:r>
            <a:r>
              <a:rPr lang="en-US" sz="1350" b="true">
                <a:solidFill>
                  <a:srgbClr val="15803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read/write 대칭(+9)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396990" y="3421539"/>
            <a:ext cx="5494020" cy="4446590"/>
            <a:chOff x="0" y="0"/>
            <a:chExt cx="7325360" cy="5928787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7325361" cy="5928750"/>
            </a:xfrm>
            <a:custGeom>
              <a:avLst/>
              <a:gdLst/>
              <a:ahLst/>
              <a:cxnLst/>
              <a:rect r="r" b="b" t="t" l="l"/>
              <a:pathLst>
                <a:path h="5928750" w="7325361">
                  <a:moveTo>
                    <a:pt x="0" y="104539"/>
                  </a:moveTo>
                  <a:cubicBezTo>
                    <a:pt x="0" y="46826"/>
                    <a:pt x="79756" y="0"/>
                    <a:pt x="178054" y="0"/>
                  </a:cubicBezTo>
                  <a:lnTo>
                    <a:pt x="7147306" y="0"/>
                  </a:lnTo>
                  <a:cubicBezTo>
                    <a:pt x="7245604" y="0"/>
                    <a:pt x="7325361" y="46826"/>
                    <a:pt x="7325361" y="104539"/>
                  </a:cubicBezTo>
                  <a:lnTo>
                    <a:pt x="7325361" y="5824211"/>
                  </a:lnTo>
                  <a:cubicBezTo>
                    <a:pt x="7325361" y="5881923"/>
                    <a:pt x="7245604" y="5928750"/>
                    <a:pt x="7147306" y="5928750"/>
                  </a:cubicBezTo>
                  <a:lnTo>
                    <a:pt x="178054" y="5928750"/>
                  </a:lnTo>
                  <a:cubicBezTo>
                    <a:pt x="79756" y="5928851"/>
                    <a:pt x="0" y="5881998"/>
                    <a:pt x="0" y="5824211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sp>
        <p:nvSpPr>
          <p:cNvPr name="TextBox 57" id="57"/>
          <p:cNvSpPr txBox="true"/>
          <p:nvPr/>
        </p:nvSpPr>
        <p:spPr>
          <a:xfrm rot="0">
            <a:off x="6643373" y="3750922"/>
            <a:ext cx="273053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0B98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6976748" y="3765210"/>
            <a:ext cx="114101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노드 그래프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0496074" y="3738540"/>
            <a:ext cx="1177766" cy="320040"/>
            <a:chOff x="0" y="0"/>
            <a:chExt cx="1570355" cy="42672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570355" cy="426720"/>
            </a:xfrm>
            <a:custGeom>
              <a:avLst/>
              <a:gdLst/>
              <a:ahLst/>
              <a:cxnLst/>
              <a:rect r="r" b="b" t="t" l="l"/>
              <a:pathLst>
                <a:path h="426720" w="1570355">
                  <a:moveTo>
                    <a:pt x="0" y="91059"/>
                  </a:moveTo>
                  <a:cubicBezTo>
                    <a:pt x="0" y="40767"/>
                    <a:pt x="40767" y="0"/>
                    <a:pt x="91059" y="0"/>
                  </a:cubicBezTo>
                  <a:lnTo>
                    <a:pt x="1479296" y="0"/>
                  </a:lnTo>
                  <a:cubicBezTo>
                    <a:pt x="1529588" y="0"/>
                    <a:pt x="1570355" y="40767"/>
                    <a:pt x="1570355" y="91059"/>
                  </a:cubicBezTo>
                  <a:lnTo>
                    <a:pt x="1570355" y="335661"/>
                  </a:lnTo>
                  <a:cubicBezTo>
                    <a:pt x="1570355" y="385953"/>
                    <a:pt x="1529588" y="426720"/>
                    <a:pt x="1479296" y="426720"/>
                  </a:cubicBezTo>
                  <a:lnTo>
                    <a:pt x="91059" y="426720"/>
                  </a:lnTo>
                  <a:cubicBezTo>
                    <a:pt x="40767" y="426720"/>
                    <a:pt x="0" y="385953"/>
                    <a:pt x="0" y="335661"/>
                  </a:cubicBezTo>
                  <a:close/>
                </a:path>
              </a:pathLst>
            </a:custGeom>
            <a:solidFill>
              <a:srgbClr val="ECFDF5"/>
            </a:solidFill>
            <a:ln w="7620" cap="sq">
              <a:solidFill>
                <a:srgbClr val="A7F3D0"/>
              </a:solidFill>
              <a:prstDash val="solid"/>
              <a:miter/>
            </a:ln>
          </p:spPr>
        </p:sp>
      </p:grpSp>
      <p:sp>
        <p:nvSpPr>
          <p:cNvPr name="TextBox 61" id="61"/>
          <p:cNvSpPr txBox="true"/>
          <p:nvPr/>
        </p:nvSpPr>
        <p:spPr>
          <a:xfrm rot="0">
            <a:off x="10628157" y="3808072"/>
            <a:ext cx="98980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4785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Validator 7종</a:t>
            </a:r>
          </a:p>
        </p:txBody>
      </p:sp>
      <p:grpSp>
        <p:nvGrpSpPr>
          <p:cNvPr name="Group 62" id="62"/>
          <p:cNvGrpSpPr/>
          <p:nvPr/>
        </p:nvGrpSpPr>
        <p:grpSpPr>
          <a:xfrm rot="0">
            <a:off x="6643373" y="4639366"/>
            <a:ext cx="1995726" cy="207887"/>
            <a:chOff x="0" y="0"/>
            <a:chExt cx="2660968" cy="277182"/>
          </a:xfrm>
        </p:grpSpPr>
        <p:sp>
          <p:nvSpPr>
            <p:cNvPr name="TextBox 63" id="63"/>
            <p:cNvSpPr txBox="true"/>
            <p:nvPr/>
          </p:nvSpPr>
          <p:spPr>
            <a:xfrm rot="0">
              <a:off x="0" y="9525"/>
              <a:ext cx="212229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 b="true">
                  <a:solidFill>
                    <a:srgbClr val="10B98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✓</a:t>
              </a:r>
            </a:p>
          </p:txBody>
        </p:sp>
        <p:sp>
          <p:nvSpPr>
            <p:cNvPr name="TextBox 64" id="64"/>
            <p:cNvSpPr txBox="true"/>
            <p:nvPr/>
          </p:nvSpPr>
          <p:spPr>
            <a:xfrm rot="0">
              <a:off x="444500" y="9525"/>
              <a:ext cx="2216468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>
                  <a:solidFill>
                    <a:srgbClr val="334155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비실재 노드 · 중복 ID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6643373" y="4942287"/>
            <a:ext cx="2871909" cy="207887"/>
            <a:chOff x="0" y="0"/>
            <a:chExt cx="3829212" cy="277182"/>
          </a:xfrm>
        </p:grpSpPr>
        <p:sp>
          <p:nvSpPr>
            <p:cNvPr name="TextBox 66" id="66"/>
            <p:cNvSpPr txBox="true"/>
            <p:nvPr/>
          </p:nvSpPr>
          <p:spPr>
            <a:xfrm rot="0">
              <a:off x="0" y="9525"/>
              <a:ext cx="212229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 b="true">
                  <a:solidFill>
                    <a:srgbClr val="10B98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✓</a:t>
              </a:r>
            </a:p>
          </p:txBody>
        </p:sp>
        <p:sp>
          <p:nvSpPr>
            <p:cNvPr name="TextBox 67" id="67"/>
            <p:cNvSpPr txBox="true"/>
            <p:nvPr/>
          </p:nvSpPr>
          <p:spPr>
            <a:xfrm rot="0">
              <a:off x="444500" y="9525"/>
              <a:ext cx="1936316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>
                  <a:solidFill>
                    <a:srgbClr val="334155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사이클 (Tarjan) —</a:t>
              </a:r>
            </a:p>
          </p:txBody>
        </p:sp>
        <p:sp>
          <p:nvSpPr>
            <p:cNvPr name="TextBox 68" id="68"/>
            <p:cNvSpPr txBox="true"/>
            <p:nvPr/>
          </p:nvSpPr>
          <p:spPr>
            <a:xfrm rot="0">
              <a:off x="2416018" y="9525"/>
              <a:ext cx="1413194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유한순환 허용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6643373" y="5245207"/>
            <a:ext cx="1981491" cy="207887"/>
            <a:chOff x="0" y="0"/>
            <a:chExt cx="2641988" cy="277182"/>
          </a:xfrm>
        </p:grpSpPr>
        <p:sp>
          <p:nvSpPr>
            <p:cNvPr name="TextBox 70" id="70"/>
            <p:cNvSpPr txBox="true"/>
            <p:nvPr/>
          </p:nvSpPr>
          <p:spPr>
            <a:xfrm rot="0">
              <a:off x="0" y="9525"/>
              <a:ext cx="212229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 b="true">
                  <a:solidFill>
                    <a:srgbClr val="10B98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✓</a:t>
              </a:r>
            </a:p>
          </p:txBody>
        </p:sp>
        <p:sp>
          <p:nvSpPr>
            <p:cNvPr name="TextBox 71" id="71"/>
            <p:cNvSpPr txBox="true"/>
            <p:nvPr/>
          </p:nvSpPr>
          <p:spPr>
            <a:xfrm rot="0">
              <a:off x="444500" y="9525"/>
              <a:ext cx="2197488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>
                  <a:solidFill>
                    <a:srgbClr val="334155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고립 노드 · 필수 연결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6643373" y="5548128"/>
            <a:ext cx="2782218" cy="207887"/>
            <a:chOff x="0" y="0"/>
            <a:chExt cx="3709624" cy="277182"/>
          </a:xfrm>
        </p:grpSpPr>
        <p:sp>
          <p:nvSpPr>
            <p:cNvPr name="TextBox 73" id="73"/>
            <p:cNvSpPr txBox="true"/>
            <p:nvPr/>
          </p:nvSpPr>
          <p:spPr>
            <a:xfrm rot="0">
              <a:off x="0" y="9525"/>
              <a:ext cx="212229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 b="true">
                  <a:solidFill>
                    <a:srgbClr val="10B98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✓</a:t>
              </a:r>
            </a:p>
          </p:txBody>
        </p:sp>
        <p:sp>
          <p:nvSpPr>
            <p:cNvPr name="TextBox 74" id="74"/>
            <p:cNvSpPr txBox="true"/>
            <p:nvPr/>
          </p:nvSpPr>
          <p:spPr>
            <a:xfrm rot="0">
              <a:off x="444500" y="9525"/>
              <a:ext cx="1483097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>
                  <a:solidFill>
                    <a:srgbClr val="334155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필수 파라미터</a:t>
              </a:r>
            </a:p>
          </p:txBody>
        </p:sp>
        <p:sp>
          <p:nvSpPr>
            <p:cNvPr name="TextBox 75" id="75"/>
            <p:cNvSpPr txBox="true"/>
            <p:nvPr/>
          </p:nvSpPr>
          <p:spPr>
            <a:xfrm rot="0">
              <a:off x="1962799" y="9525"/>
              <a:ext cx="1746826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>
                  <a:solidFill>
                    <a:srgbClr val="94A3B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(input_schema)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6643373" y="5851048"/>
            <a:ext cx="3136965" cy="207887"/>
            <a:chOff x="0" y="0"/>
            <a:chExt cx="4182619" cy="277182"/>
          </a:xfrm>
        </p:grpSpPr>
        <p:sp>
          <p:nvSpPr>
            <p:cNvPr name="TextBox 77" id="77"/>
            <p:cNvSpPr txBox="true"/>
            <p:nvPr/>
          </p:nvSpPr>
          <p:spPr>
            <a:xfrm rot="0">
              <a:off x="0" y="9525"/>
              <a:ext cx="272787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 b="true">
                  <a:solidFill>
                    <a:srgbClr val="CBD5E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△</a:t>
              </a:r>
            </a:p>
          </p:txBody>
        </p:sp>
        <p:sp>
          <p:nvSpPr>
            <p:cNvPr name="TextBox 78" id="78"/>
            <p:cNvSpPr txBox="true"/>
            <p:nvPr/>
          </p:nvSpPr>
          <p:spPr>
            <a:xfrm rot="0">
              <a:off x="505058" y="9525"/>
              <a:ext cx="1046033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타입 호환</a:t>
              </a:r>
            </a:p>
          </p:txBody>
        </p:sp>
        <p:sp>
          <p:nvSpPr>
            <p:cNvPr name="TextBox 79" id="79"/>
            <p:cNvSpPr txBox="true"/>
            <p:nvPr/>
          </p:nvSpPr>
          <p:spPr>
            <a:xfrm rot="0">
              <a:off x="1586293" y="9525"/>
              <a:ext cx="2596327" cy="2676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3"/>
                </a:lnSpc>
              </a:pPr>
              <a:r>
                <a:rPr lang="en-US" sz="1403">
                  <a:solidFill>
                    <a:srgbClr val="94A3B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— 검증 전용(엔진 미구현)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6614160" y="6830460"/>
            <a:ext cx="5059680" cy="689610"/>
            <a:chOff x="0" y="0"/>
            <a:chExt cx="6746240" cy="91948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6746240" cy="919480"/>
            </a:xfrm>
            <a:custGeom>
              <a:avLst/>
              <a:gdLst/>
              <a:ahLst/>
              <a:cxnLst/>
              <a:rect r="r" b="b" t="t" l="l"/>
              <a:pathLst>
                <a:path h="919480" w="6746240">
                  <a:moveTo>
                    <a:pt x="0" y="115570"/>
                  </a:moveTo>
                  <a:cubicBezTo>
                    <a:pt x="0" y="51689"/>
                    <a:pt x="51689" y="0"/>
                    <a:pt x="115570" y="0"/>
                  </a:cubicBezTo>
                  <a:lnTo>
                    <a:pt x="6630670" y="0"/>
                  </a:lnTo>
                  <a:cubicBezTo>
                    <a:pt x="6694551" y="0"/>
                    <a:pt x="6746240" y="51689"/>
                    <a:pt x="6746240" y="115570"/>
                  </a:cubicBezTo>
                  <a:lnTo>
                    <a:pt x="6746240" y="803910"/>
                  </a:lnTo>
                  <a:cubicBezTo>
                    <a:pt x="6746240" y="867791"/>
                    <a:pt x="6694551" y="919480"/>
                    <a:pt x="6630670" y="919480"/>
                  </a:cubicBezTo>
                  <a:lnTo>
                    <a:pt x="115570" y="919480"/>
                  </a:lnTo>
                  <a:cubicBezTo>
                    <a:pt x="51689" y="919480"/>
                    <a:pt x="0" y="867791"/>
                    <a:pt x="0" y="803910"/>
                  </a:cubicBezTo>
                  <a:close/>
                </a:path>
              </a:pathLst>
            </a:custGeom>
            <a:solidFill>
              <a:srgbClr val="F0FDF4"/>
            </a:solidFill>
            <a:ln w="7620" cap="sq">
              <a:solidFill>
                <a:srgbClr val="BBF7D0"/>
              </a:solidFill>
              <a:prstDash val="solid"/>
              <a:miter/>
            </a:ln>
          </p:spPr>
        </p:sp>
      </p:grpSp>
      <p:sp>
        <p:nvSpPr>
          <p:cNvPr name="TextBox 82" id="82"/>
          <p:cNvSpPr txBox="true"/>
          <p:nvPr/>
        </p:nvSpPr>
        <p:spPr>
          <a:xfrm rot="0">
            <a:off x="6699033" y="6895868"/>
            <a:ext cx="4889935" cy="522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2"/>
              </a:lnSpc>
            </a:pPr>
            <a:r>
              <a:rPr lang="en-US" sz="1275" b="true">
                <a:solidFill>
                  <a:srgbClr val="065F4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6종 = 엔진 실행과 1:1 미러 </a:t>
            </a:r>
            <a:r>
              <a:rPr lang="en-US" sz="1275">
                <a:solidFill>
                  <a:srgbClr val="15803D"/>
                </a:solidFill>
                <a:latin typeface="Noto Sans Kr"/>
                <a:ea typeface="Noto Sans Kr"/>
                <a:cs typeface="Noto Sans Kr"/>
                <a:sym typeface="Noto Sans Kr"/>
              </a:rPr>
              <a:t>· 타입 호환만 검증 전용. 사이클 수용 기준은 검증=실행 동일 판정(parity 테스트).</a:t>
            </a:r>
          </a:p>
        </p:txBody>
      </p:sp>
      <p:grpSp>
        <p:nvGrpSpPr>
          <p:cNvPr name="Group 83" id="83"/>
          <p:cNvGrpSpPr/>
          <p:nvPr/>
        </p:nvGrpSpPr>
        <p:grpSpPr>
          <a:xfrm rot="0">
            <a:off x="12039600" y="3423776"/>
            <a:ext cx="5486400" cy="4442116"/>
            <a:chOff x="0" y="0"/>
            <a:chExt cx="7315200" cy="5922822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7315200" cy="5922785"/>
            </a:xfrm>
            <a:custGeom>
              <a:avLst/>
              <a:gdLst/>
              <a:ahLst/>
              <a:cxnLst/>
              <a:rect r="r" b="b" t="t" l="l"/>
              <a:pathLst>
                <a:path h="5922785" w="7315200">
                  <a:moveTo>
                    <a:pt x="0" y="104390"/>
                  </a:moveTo>
                  <a:cubicBezTo>
                    <a:pt x="0" y="46752"/>
                    <a:pt x="79629" y="0"/>
                    <a:pt x="177800" y="0"/>
                  </a:cubicBezTo>
                  <a:lnTo>
                    <a:pt x="7137400" y="0"/>
                  </a:lnTo>
                  <a:cubicBezTo>
                    <a:pt x="7235571" y="0"/>
                    <a:pt x="7315200" y="46752"/>
                    <a:pt x="7315200" y="104390"/>
                  </a:cubicBezTo>
                  <a:lnTo>
                    <a:pt x="7315200" y="5818395"/>
                  </a:lnTo>
                  <a:cubicBezTo>
                    <a:pt x="7315200" y="5876033"/>
                    <a:pt x="7235571" y="5922785"/>
                    <a:pt x="7137400" y="5922785"/>
                  </a:cubicBezTo>
                  <a:lnTo>
                    <a:pt x="177800" y="5922785"/>
                  </a:lnTo>
                  <a:cubicBezTo>
                    <a:pt x="79629" y="5922785"/>
                    <a:pt x="0" y="5876033"/>
                    <a:pt x="0" y="5818395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85" id="85"/>
          <p:cNvSpPr txBox="true"/>
          <p:nvPr/>
        </p:nvSpPr>
        <p:spPr>
          <a:xfrm rot="0">
            <a:off x="12274553" y="3750922"/>
            <a:ext cx="273053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34D3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③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2607928" y="3765210"/>
            <a:ext cx="930754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실행 엔진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12249150" y="4439580"/>
            <a:ext cx="5067300" cy="674370"/>
            <a:chOff x="0" y="0"/>
            <a:chExt cx="6756400" cy="89916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6756400" cy="899160"/>
            </a:xfrm>
            <a:custGeom>
              <a:avLst/>
              <a:gdLst/>
              <a:ahLst/>
              <a:cxnLst/>
              <a:rect r="r" b="b" t="t" l="l"/>
              <a:pathLst>
                <a:path h="899160" w="6756400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lnTo>
                    <a:pt x="6642100" y="0"/>
                  </a:lnTo>
                  <a:cubicBezTo>
                    <a:pt x="6705219" y="0"/>
                    <a:pt x="6756400" y="51181"/>
                    <a:pt x="6756400" y="114300"/>
                  </a:cubicBezTo>
                  <a:lnTo>
                    <a:pt x="6756400" y="784860"/>
                  </a:lnTo>
                  <a:cubicBezTo>
                    <a:pt x="6756400" y="847979"/>
                    <a:pt x="6705219" y="899160"/>
                    <a:pt x="6642100" y="899160"/>
                  </a:cubicBezTo>
                  <a:lnTo>
                    <a:pt x="114300" y="899160"/>
                  </a:lnTo>
                  <a:cubicBezTo>
                    <a:pt x="51181" y="899160"/>
                    <a:pt x="0" y="847979"/>
                    <a:pt x="0" y="78486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89" id="89"/>
          <p:cNvSpPr txBox="true"/>
          <p:nvPr/>
        </p:nvSpPr>
        <p:spPr>
          <a:xfrm rot="0">
            <a:off x="12398378" y="4550698"/>
            <a:ext cx="491344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6EE7B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TopologicalScheduler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2398378" y="4823113"/>
            <a:ext cx="4913443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비순환 — 위상정렬</a:t>
            </a:r>
          </a:p>
        </p:txBody>
      </p:sp>
      <p:grpSp>
        <p:nvGrpSpPr>
          <p:cNvPr name="Group 91" id="91"/>
          <p:cNvGrpSpPr/>
          <p:nvPr/>
        </p:nvGrpSpPr>
        <p:grpSpPr>
          <a:xfrm rot="0">
            <a:off x="12249150" y="5199675"/>
            <a:ext cx="5067300" cy="674370"/>
            <a:chOff x="0" y="0"/>
            <a:chExt cx="6756400" cy="89916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6756400" cy="899160"/>
            </a:xfrm>
            <a:custGeom>
              <a:avLst/>
              <a:gdLst/>
              <a:ahLst/>
              <a:cxnLst/>
              <a:rect r="r" b="b" t="t" l="l"/>
              <a:pathLst>
                <a:path h="899160" w="6756400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lnTo>
                    <a:pt x="6642100" y="0"/>
                  </a:lnTo>
                  <a:cubicBezTo>
                    <a:pt x="6705219" y="0"/>
                    <a:pt x="6756400" y="51181"/>
                    <a:pt x="6756400" y="114300"/>
                  </a:cubicBezTo>
                  <a:lnTo>
                    <a:pt x="6756400" y="784860"/>
                  </a:lnTo>
                  <a:cubicBezTo>
                    <a:pt x="6756400" y="847979"/>
                    <a:pt x="6705219" y="899160"/>
                    <a:pt x="6642100" y="899160"/>
                  </a:cubicBezTo>
                  <a:lnTo>
                    <a:pt x="114300" y="899160"/>
                  </a:lnTo>
                  <a:cubicBezTo>
                    <a:pt x="51181" y="899160"/>
                    <a:pt x="0" y="847979"/>
                    <a:pt x="0" y="78486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sp>
        <p:nvSpPr>
          <p:cNvPr name="TextBox 93" id="93"/>
          <p:cNvSpPr txBox="true"/>
          <p:nvPr/>
        </p:nvSpPr>
        <p:spPr>
          <a:xfrm rot="0">
            <a:off x="12398378" y="5310793"/>
            <a:ext cx="491344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6EE7B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CyclicScheduler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12398378" y="5583208"/>
            <a:ext cx="4913443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Tarjan SCC → </a:t>
            </a:r>
            <a:r>
              <a:rPr lang="en-US" sz="12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LoopBody </a:t>
            </a:r>
            <a:r>
              <a:rPr lang="en-US" sz="12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· back-edge 판정 → 반복 · max 10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12274553" y="5928013"/>
            <a:ext cx="169508" cy="254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3"/>
              </a:lnSpc>
            </a:pPr>
            <a:r>
              <a:rPr lang="en-US" sz="1299" b="true">
                <a:solidFill>
                  <a:srgbClr val="34D3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↻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12471789" y="5917860"/>
            <a:ext cx="1179507" cy="254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3"/>
              </a:lnSpc>
            </a:pP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조건 노드 ≥1 =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13679014" y="5934681"/>
            <a:ext cx="1246722" cy="254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3"/>
              </a:lnSpc>
            </a:pPr>
            <a:r>
              <a:rPr lang="en-US" sz="1299">
                <a:solidFill>
                  <a:srgbClr val="6EE7B7"/>
                </a:solidFill>
                <a:latin typeface="Noto Sans Kr"/>
                <a:ea typeface="Noto Sans Kr"/>
                <a:cs typeface="Noto Sans Kr"/>
                <a:sym typeface="Noto Sans Kr"/>
              </a:rPr>
              <a:t>is_brancher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14771618" y="5917860"/>
            <a:ext cx="1018358" cy="254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3"/>
              </a:lnSpc>
            </a:pPr>
            <a:r>
              <a:rPr lang="en-US" sz="1299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→ 분기·반복</a:t>
            </a:r>
          </a:p>
        </p:txBody>
      </p:sp>
      <p:grpSp>
        <p:nvGrpSpPr>
          <p:cNvPr name="Group 99" id="99"/>
          <p:cNvGrpSpPr/>
          <p:nvPr/>
        </p:nvGrpSpPr>
        <p:grpSpPr>
          <a:xfrm rot="0">
            <a:off x="12245340" y="6830460"/>
            <a:ext cx="5074920" cy="689610"/>
            <a:chOff x="0" y="0"/>
            <a:chExt cx="6766560" cy="919480"/>
          </a:xfrm>
        </p:grpSpPr>
        <p:grpSp>
          <p:nvGrpSpPr>
            <p:cNvPr name="Group 100" id="100"/>
            <p:cNvGrpSpPr/>
            <p:nvPr/>
          </p:nvGrpSpPr>
          <p:grpSpPr>
            <a:xfrm rot="0">
              <a:off x="0" y="0"/>
              <a:ext cx="6766560" cy="919480"/>
              <a:chOff x="0" y="0"/>
              <a:chExt cx="6766560" cy="919480"/>
            </a:xfrm>
          </p:grpSpPr>
          <p:sp>
            <p:nvSpPr>
              <p:cNvPr name="Freeform 101" id="101"/>
              <p:cNvSpPr/>
              <p:nvPr/>
            </p:nvSpPr>
            <p:spPr>
              <a:xfrm flipH="false" flipV="false" rot="0">
                <a:off x="0" y="0"/>
                <a:ext cx="6766560" cy="919480"/>
              </a:xfrm>
              <a:custGeom>
                <a:avLst/>
                <a:gdLst/>
                <a:ahLst/>
                <a:cxnLst/>
                <a:rect r="r" b="b" t="t" l="l"/>
                <a:pathLst>
                  <a:path h="919480" w="6766560">
                    <a:moveTo>
                      <a:pt x="0" y="115570"/>
                    </a:moveTo>
                    <a:cubicBezTo>
                      <a:pt x="0" y="51689"/>
                      <a:pt x="51689" y="0"/>
                      <a:pt x="115570" y="0"/>
                    </a:cubicBezTo>
                    <a:lnTo>
                      <a:pt x="6650990" y="0"/>
                    </a:lnTo>
                    <a:cubicBezTo>
                      <a:pt x="6714872" y="0"/>
                      <a:pt x="6766560" y="51689"/>
                      <a:pt x="6766560" y="115570"/>
                    </a:cubicBezTo>
                    <a:lnTo>
                      <a:pt x="6766560" y="803910"/>
                    </a:lnTo>
                    <a:cubicBezTo>
                      <a:pt x="6766560" y="867791"/>
                      <a:pt x="6714872" y="919480"/>
                      <a:pt x="6650990" y="919480"/>
                    </a:cubicBezTo>
                    <a:lnTo>
                      <a:pt x="115570" y="919480"/>
                    </a:lnTo>
                    <a:cubicBezTo>
                      <a:pt x="51689" y="919480"/>
                      <a:pt x="0" y="867791"/>
                      <a:pt x="0" y="803910"/>
                    </a:cubicBezTo>
                    <a:close/>
                  </a:path>
                </a:pathLst>
              </a:custGeom>
              <a:solidFill>
                <a:srgbClr val="34D399">
                  <a:alpha val="1176"/>
                </a:srgbClr>
              </a:solidFill>
              <a:ln w="7620" cap="sq">
                <a:solidFill>
                  <a:srgbClr val="34D399"/>
                </a:solidFill>
                <a:prstDash val="solid"/>
                <a:miter/>
              </a:ln>
            </p:spPr>
          </p:sp>
        </p:grpSp>
        <p:sp>
          <p:nvSpPr>
            <p:cNvPr name="TextBox 102" id="102"/>
            <p:cNvSpPr txBox="true"/>
            <p:nvPr/>
          </p:nvSpPr>
          <p:spPr>
            <a:xfrm rot="0">
              <a:off x="112859" y="89281"/>
              <a:ext cx="6540843" cy="6742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42"/>
                </a:lnSpc>
              </a:pPr>
              <a:r>
                <a:rPr lang="en-US" sz="1275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왜 이렇게 짰나 </a:t>
              </a:r>
              <a:r>
                <a:rPr lang="en-US" sz="1275">
                  <a:solidFill>
                    <a:srgbClr val="A7F3D0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— 조건문·제어문·검증 루프를 모두 지원하려고. 단순 DAG가 아니다.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105" id="105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26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2127418" y="9608820"/>
            <a:ext cx="375239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③ 노드 카탈로그 ·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그래프 · 실행엔진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14727565" y="9608820"/>
            <a:ext cx="280352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Node Catalog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2180911" y="511178"/>
            <a:ext cx="544033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10B98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③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노드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11359921" y="511178"/>
            <a:ext cx="617116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REQ-003 · 박아름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787403" y="1111253"/>
            <a:ext cx="9873378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노드 · 노드 그래프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· 실행 엔진 — 셋이 맞물려 동작한다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검증(노드 그래프)이 곧 실행(엔진)의 거울 — 같은 기준으로 검사하고 실행한다.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87403" y="2202894"/>
            <a:ext cx="6383956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b="true" sz="1499" spc="89">
                <a:solidFill>
                  <a:srgbClr val="33415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멀티에이전트 4요소 — Composer와 동일 프레임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762000" y="3896201"/>
            <a:ext cx="9115425" cy="9525"/>
            <a:chOff x="0" y="0"/>
            <a:chExt cx="12153900" cy="12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153900" cy="12700"/>
            </a:xfrm>
            <a:custGeom>
              <a:avLst/>
              <a:gdLst/>
              <a:ahLst/>
              <a:cxnLst/>
              <a:rect r="r" b="b" t="t" l="l"/>
              <a:pathLst>
                <a:path h="12700" w="12153900">
                  <a:moveTo>
                    <a:pt x="0" y="0"/>
                  </a:moveTo>
                  <a:lnTo>
                    <a:pt x="12153900" y="0"/>
                  </a:lnTo>
                  <a:lnTo>
                    <a:pt x="121539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62520" y="2574369"/>
            <a:ext cx="9107285" cy="1333500"/>
            <a:chOff x="0" y="0"/>
            <a:chExt cx="12143046" cy="1778000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12143046" cy="1778000"/>
              <a:chOff x="0" y="0"/>
              <a:chExt cx="12143046" cy="177800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2143046" cy="1778064"/>
              </a:xfrm>
              <a:custGeom>
                <a:avLst/>
                <a:gdLst/>
                <a:ahLst/>
                <a:cxnLst/>
                <a:rect r="r" b="b" t="t" l="l"/>
                <a:pathLst>
                  <a:path h="1778064" w="12143046">
                    <a:moveTo>
                      <a:pt x="0" y="113991"/>
                    </a:moveTo>
                    <a:cubicBezTo>
                      <a:pt x="0" y="50985"/>
                      <a:pt x="62428" y="0"/>
                      <a:pt x="139575" y="0"/>
                    </a:cubicBezTo>
                    <a:lnTo>
                      <a:pt x="12003471" y="0"/>
                    </a:lnTo>
                    <a:cubicBezTo>
                      <a:pt x="12080491" y="0"/>
                      <a:pt x="12143046" y="50985"/>
                      <a:pt x="12143046" y="113991"/>
                    </a:cubicBezTo>
                    <a:lnTo>
                      <a:pt x="12143046" y="1664061"/>
                    </a:lnTo>
                    <a:cubicBezTo>
                      <a:pt x="12143046" y="1726963"/>
                      <a:pt x="12080618" y="1778064"/>
                      <a:pt x="12003471" y="1778064"/>
                    </a:cubicBezTo>
                    <a:lnTo>
                      <a:pt x="139575" y="1778064"/>
                    </a:lnTo>
                    <a:cubicBezTo>
                      <a:pt x="62555" y="1778064"/>
                      <a:pt x="0" y="1727067"/>
                      <a:pt x="0" y="166406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8" id="8"/>
            <p:cNvGrpSpPr/>
            <p:nvPr/>
          </p:nvGrpSpPr>
          <p:grpSpPr>
            <a:xfrm rot="0">
              <a:off x="0" y="0"/>
              <a:ext cx="63500" cy="1778000"/>
              <a:chOff x="0" y="0"/>
              <a:chExt cx="63500" cy="17780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63500" cy="1778064"/>
              </a:xfrm>
              <a:custGeom>
                <a:avLst/>
                <a:gdLst/>
                <a:ahLst/>
                <a:cxnLst/>
                <a:rect r="r" b="b" t="t" l="l"/>
                <a:pathLst>
                  <a:path h="1778064" w="63500">
                    <a:moveTo>
                      <a:pt x="0" y="0"/>
                    </a:moveTo>
                    <a:lnTo>
                      <a:pt x="63500" y="0"/>
                    </a:lnTo>
                    <a:lnTo>
                      <a:pt x="63500" y="1778064"/>
                    </a:lnTo>
                    <a:lnTo>
                      <a:pt x="0" y="1778064"/>
                    </a:lnTo>
                    <a:close/>
                  </a:path>
                </a:pathLst>
              </a:custGeom>
              <a:solidFill>
                <a:srgbClr val="DB4778"/>
              </a:solidFill>
            </p:spPr>
          </p:sp>
        </p:grpSp>
        <p:sp>
          <p:nvSpPr>
            <p:cNvPr name="TextBox 10" id="10"/>
            <p:cNvSpPr txBox="true"/>
            <p:nvPr/>
          </p:nvSpPr>
          <p:spPr>
            <a:xfrm rot="0">
              <a:off x="356039" y="762000"/>
              <a:ext cx="1914890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b="true" sz="1299" spc="77">
                  <a:solidFill>
                    <a:srgbClr val="DB477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① PLANNING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690639" y="1063943"/>
              <a:ext cx="1914890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입력·스킬 결정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4222445" y="746125"/>
              <a:ext cx="7627651" cy="276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분석 문서 선택 / seed 합성 → 무엇을 만들지</a:t>
              </a:r>
            </a:p>
          </p:txBody>
        </p:sp>
        <p:grpSp>
          <p:nvGrpSpPr>
            <p:cNvPr name="Group 13" id="13"/>
            <p:cNvGrpSpPr/>
            <p:nvPr/>
          </p:nvGrpSpPr>
          <p:grpSpPr>
            <a:xfrm rot="0">
              <a:off x="10394233" y="713740"/>
              <a:ext cx="557145" cy="350520"/>
              <a:chOff x="0" y="0"/>
              <a:chExt cx="557145" cy="35052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557145" cy="350520"/>
              </a:xfrm>
              <a:custGeom>
                <a:avLst/>
                <a:gdLst/>
                <a:ahLst/>
                <a:cxnLst/>
                <a:rect r="r" b="b" t="t" l="l"/>
                <a:pathLst>
                  <a:path h="350520" w="557145">
                    <a:moveTo>
                      <a:pt x="0" y="76200"/>
                    </a:moveTo>
                    <a:cubicBezTo>
                      <a:pt x="0" y="34163"/>
                      <a:pt x="38827" y="0"/>
                      <a:pt x="86603" y="0"/>
                    </a:cubicBezTo>
                    <a:lnTo>
                      <a:pt x="470542" y="0"/>
                    </a:lnTo>
                    <a:cubicBezTo>
                      <a:pt x="518318" y="0"/>
                      <a:pt x="557145" y="34163"/>
                      <a:pt x="557145" y="76200"/>
                    </a:cubicBezTo>
                    <a:lnTo>
                      <a:pt x="557145" y="274320"/>
                    </a:lnTo>
                    <a:cubicBezTo>
                      <a:pt x="557145" y="316357"/>
                      <a:pt x="518318" y="350520"/>
                      <a:pt x="470542" y="350520"/>
                    </a:cubicBezTo>
                    <a:lnTo>
                      <a:pt x="86603" y="350520"/>
                    </a:lnTo>
                    <a:cubicBezTo>
                      <a:pt x="38827" y="350520"/>
                      <a:pt x="0" y="316357"/>
                      <a:pt x="0" y="27432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sp>
          <p:nvSpPr>
            <p:cNvPr name="TextBox 15" id="15"/>
            <p:cNvSpPr txBox="true"/>
            <p:nvPr/>
          </p:nvSpPr>
          <p:spPr>
            <a:xfrm rot="0">
              <a:off x="10504890" y="762000"/>
              <a:ext cx="335831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✅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58190" y="8700487"/>
            <a:ext cx="9123045" cy="415290"/>
            <a:chOff x="0" y="0"/>
            <a:chExt cx="12164060" cy="5537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164060" cy="553720"/>
            </a:xfrm>
            <a:custGeom>
              <a:avLst/>
              <a:gdLst/>
              <a:ahLst/>
              <a:cxnLst/>
              <a:rect r="r" b="b" t="t" l="l"/>
              <a:pathLst>
                <a:path h="553720" w="12164060">
                  <a:moveTo>
                    <a:pt x="0" y="129413"/>
                  </a:moveTo>
                  <a:cubicBezTo>
                    <a:pt x="0" y="57912"/>
                    <a:pt x="57912" y="0"/>
                    <a:pt x="129413" y="0"/>
                  </a:cubicBezTo>
                  <a:lnTo>
                    <a:pt x="12034647" y="0"/>
                  </a:lnTo>
                  <a:cubicBezTo>
                    <a:pt x="12106148" y="0"/>
                    <a:pt x="12164060" y="57912"/>
                    <a:pt x="12164060" y="129413"/>
                  </a:cubicBezTo>
                  <a:lnTo>
                    <a:pt x="12164060" y="424307"/>
                  </a:lnTo>
                  <a:cubicBezTo>
                    <a:pt x="12164060" y="495808"/>
                    <a:pt x="12106148" y="553720"/>
                    <a:pt x="12034647" y="553720"/>
                  </a:cubicBezTo>
                  <a:lnTo>
                    <a:pt x="129413" y="553720"/>
                  </a:lnTo>
                  <a:cubicBezTo>
                    <a:pt x="57912" y="553720"/>
                    <a:pt x="0" y="495808"/>
                    <a:pt x="0" y="424307"/>
                  </a:cubicBezTo>
                  <a:close/>
                </a:path>
              </a:pathLst>
            </a:custGeom>
            <a:solidFill>
              <a:srgbClr val="FBF6EF"/>
            </a:solidFill>
            <a:ln w="7620" cap="sq">
              <a:solidFill>
                <a:srgbClr val="EADFCF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959277" y="8752494"/>
            <a:ext cx="8720871" cy="254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3"/>
              </a:lnSpc>
            </a:pPr>
            <a:r>
              <a:rPr lang="en-US" sz="1299">
                <a:solidFill>
                  <a:srgbClr val="9A3412"/>
                </a:solidFill>
                <a:latin typeface="Noto Sans Kr"/>
                <a:ea typeface="Noto Sans Kr"/>
                <a:cs typeface="Noto Sans Kr"/>
                <a:sym typeface="Noto Sans Kr"/>
              </a:rPr>
              <a:t>정직 표기: 5종 콜러블은 준비됨 — 에이전트 루프(wrap)는 프레임(O1) 결정 후. </a:t>
            </a:r>
            <a:r>
              <a:rPr lang="en-US" sz="1299" b="true">
                <a:solidFill>
                  <a:srgbClr val="9A3412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현재는 결정적 위저드가 이 콜러블을 직접 호출.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067925" y="2542342"/>
            <a:ext cx="7465695" cy="4427257"/>
            <a:chOff x="0" y="0"/>
            <a:chExt cx="9954260" cy="590300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954261" cy="5903072"/>
            </a:xfrm>
            <a:custGeom>
              <a:avLst/>
              <a:gdLst/>
              <a:ahLst/>
              <a:cxnLst/>
              <a:rect r="r" b="b" t="t" l="l"/>
              <a:pathLst>
                <a:path h="5903072" w="9954261">
                  <a:moveTo>
                    <a:pt x="0" y="130758"/>
                  </a:moveTo>
                  <a:cubicBezTo>
                    <a:pt x="0" y="58571"/>
                    <a:pt x="79756" y="0"/>
                    <a:pt x="178054" y="0"/>
                  </a:cubicBezTo>
                  <a:lnTo>
                    <a:pt x="9776206" y="0"/>
                  </a:lnTo>
                  <a:cubicBezTo>
                    <a:pt x="9874504" y="0"/>
                    <a:pt x="9954261" y="58571"/>
                    <a:pt x="9954261" y="130758"/>
                  </a:cubicBezTo>
                  <a:lnTo>
                    <a:pt x="9954261" y="5772297"/>
                  </a:lnTo>
                  <a:cubicBezTo>
                    <a:pt x="9954261" y="5844484"/>
                    <a:pt x="9874504" y="5903072"/>
                    <a:pt x="9776206" y="5903072"/>
                  </a:cubicBezTo>
                  <a:lnTo>
                    <a:pt x="178054" y="5903072"/>
                  </a:lnTo>
                  <a:cubicBezTo>
                    <a:pt x="79756" y="5903072"/>
                    <a:pt x="0" y="5844485"/>
                    <a:pt x="0" y="5772297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0067925" y="2231469"/>
            <a:ext cx="304551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799"/>
              </a:lnSpc>
              <a:spcBef>
                <a:spcPct val="0"/>
              </a:spcBef>
            </a:pPr>
            <a:r>
              <a:rPr lang="en-US" b="true" sz="1499" spc="89" strike="noStrike" u="none">
                <a:solidFill>
                  <a:srgbClr val="33415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콜러블 TOOL 5종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262235" y="2868058"/>
            <a:ext cx="7005972" cy="480568"/>
            <a:chOff x="0" y="0"/>
            <a:chExt cx="8368652" cy="574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368651" cy="574040"/>
            </a:xfrm>
            <a:custGeom>
              <a:avLst/>
              <a:gdLst/>
              <a:ahLst/>
              <a:cxnLst/>
              <a:rect r="r" b="b" t="t" l="l"/>
              <a:pathLst>
                <a:path h="574040" w="8368651">
                  <a:moveTo>
                    <a:pt x="0" y="116332"/>
                  </a:moveTo>
                  <a:cubicBezTo>
                    <a:pt x="0" y="52070"/>
                    <a:pt x="46229" y="0"/>
                    <a:pt x="103283" y="0"/>
                  </a:cubicBezTo>
                  <a:lnTo>
                    <a:pt x="8265368" y="0"/>
                  </a:lnTo>
                  <a:cubicBezTo>
                    <a:pt x="8322422" y="0"/>
                    <a:pt x="8368651" y="52070"/>
                    <a:pt x="8368651" y="116332"/>
                  </a:cubicBezTo>
                  <a:lnTo>
                    <a:pt x="8368651" y="457708"/>
                  </a:lnTo>
                  <a:cubicBezTo>
                    <a:pt x="8368651" y="521970"/>
                    <a:pt x="8322422" y="574040"/>
                    <a:pt x="8265368" y="574040"/>
                  </a:cubicBezTo>
                  <a:lnTo>
                    <a:pt x="103283" y="574040"/>
                  </a:lnTo>
                  <a:cubicBezTo>
                    <a:pt x="46229" y="574040"/>
                    <a:pt x="0" y="521970"/>
                    <a:pt x="0" y="457708"/>
                  </a:cubicBezTo>
                  <a:close/>
                </a:path>
              </a:pathLst>
            </a:custGeom>
            <a:solidFill>
              <a:srgbClr val="F8FAFC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0413210" y="2985011"/>
            <a:ext cx="359895" cy="246663"/>
            <a:chOff x="0" y="0"/>
            <a:chExt cx="429895" cy="294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29895" cy="294640"/>
            </a:xfrm>
            <a:custGeom>
              <a:avLst/>
              <a:gdLst/>
              <a:ahLst/>
              <a:cxnLst/>
              <a:rect r="r" b="b" t="t" l="l"/>
              <a:pathLst>
                <a:path h="294640" w="429895">
                  <a:moveTo>
                    <a:pt x="0" y="63500"/>
                  </a:moveTo>
                  <a:cubicBezTo>
                    <a:pt x="0" y="28448"/>
                    <a:pt x="28448" y="0"/>
                    <a:pt x="63500" y="0"/>
                  </a:cubicBezTo>
                  <a:lnTo>
                    <a:pt x="366395" y="0"/>
                  </a:lnTo>
                  <a:cubicBezTo>
                    <a:pt x="401447" y="0"/>
                    <a:pt x="429895" y="28448"/>
                    <a:pt x="429895" y="63500"/>
                  </a:cubicBezTo>
                  <a:lnTo>
                    <a:pt x="429895" y="231140"/>
                  </a:lnTo>
                  <a:cubicBezTo>
                    <a:pt x="429895" y="266192"/>
                    <a:pt x="401447" y="294640"/>
                    <a:pt x="366395" y="294640"/>
                  </a:cubicBezTo>
                  <a:lnTo>
                    <a:pt x="63500" y="294640"/>
                  </a:lnTo>
                  <a:cubicBezTo>
                    <a:pt x="28448" y="294640"/>
                    <a:pt x="0" y="266192"/>
                    <a:pt x="0" y="231140"/>
                  </a:cubicBezTo>
                  <a:close/>
                </a:path>
              </a:pathLst>
            </a:custGeom>
            <a:solidFill>
              <a:srgbClr val="ECFDF5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0484088" y="2997813"/>
            <a:ext cx="218138" cy="211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07"/>
              </a:lnSpc>
            </a:pPr>
            <a:r>
              <a:rPr lang="en-US" sz="1339" b="true">
                <a:solidFill>
                  <a:srgbClr val="04785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✅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907781" y="3002022"/>
            <a:ext cx="3300004" cy="2126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7"/>
              </a:lnSpc>
            </a:pPr>
            <a:r>
              <a:rPr lang="en-US" sz="1423" b="true">
                <a:solidFill>
                  <a:srgbClr val="33415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extract_skill_candidates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6297389" y="2997813"/>
            <a:ext cx="803821" cy="211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07"/>
              </a:lnSpc>
            </a:pPr>
            <a:r>
              <a:rPr lang="en-US" sz="1339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메타 추출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0262235" y="3726756"/>
            <a:ext cx="7005972" cy="480568"/>
            <a:chOff x="0" y="0"/>
            <a:chExt cx="9341296" cy="640758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9341296" cy="640758"/>
              <a:chOff x="0" y="0"/>
              <a:chExt cx="8368652" cy="57404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8368651" cy="574040"/>
              </a:xfrm>
              <a:custGeom>
                <a:avLst/>
                <a:gdLst/>
                <a:ahLst/>
                <a:cxnLst/>
                <a:rect r="r" b="b" t="t" l="l"/>
                <a:pathLst>
                  <a:path h="574040" w="8368651">
                    <a:moveTo>
                      <a:pt x="0" y="116332"/>
                    </a:moveTo>
                    <a:cubicBezTo>
                      <a:pt x="0" y="52070"/>
                      <a:pt x="46229" y="0"/>
                      <a:pt x="103283" y="0"/>
                    </a:cubicBezTo>
                    <a:lnTo>
                      <a:pt x="8265368" y="0"/>
                    </a:lnTo>
                    <a:cubicBezTo>
                      <a:pt x="8322422" y="0"/>
                      <a:pt x="8368651" y="52070"/>
                      <a:pt x="8368651" y="116332"/>
                    </a:cubicBezTo>
                    <a:lnTo>
                      <a:pt x="8368651" y="457708"/>
                    </a:lnTo>
                    <a:cubicBezTo>
                      <a:pt x="8368651" y="521970"/>
                      <a:pt x="8322422" y="574040"/>
                      <a:pt x="8265368" y="574040"/>
                    </a:cubicBezTo>
                    <a:lnTo>
                      <a:pt x="103283" y="574040"/>
                    </a:lnTo>
                    <a:cubicBezTo>
                      <a:pt x="46229" y="574040"/>
                      <a:pt x="0" y="521970"/>
                      <a:pt x="0" y="457708"/>
                    </a:cubicBezTo>
                    <a:close/>
                  </a:path>
                </a:pathLst>
              </a:custGeom>
              <a:solidFill>
                <a:srgbClr val="F8FAFC"/>
              </a:solidFill>
              <a:ln w="7620" cap="sq">
                <a:solidFill>
                  <a:srgbClr val="EEF0F2"/>
                </a:solidFill>
                <a:prstDash val="solid"/>
                <a:miter/>
              </a:ln>
            </p:spPr>
          </p:sp>
        </p:grpSp>
        <p:grpSp>
          <p:nvGrpSpPr>
            <p:cNvPr name="Group 32" id="32"/>
            <p:cNvGrpSpPr/>
            <p:nvPr/>
          </p:nvGrpSpPr>
          <p:grpSpPr>
            <a:xfrm rot="0">
              <a:off x="201300" y="155937"/>
              <a:ext cx="479859" cy="328884"/>
              <a:chOff x="0" y="0"/>
              <a:chExt cx="429895" cy="29464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429895" cy="294640"/>
              </a:xfrm>
              <a:custGeom>
                <a:avLst/>
                <a:gdLst/>
                <a:ahLst/>
                <a:cxnLst/>
                <a:rect r="r" b="b" t="t" l="l"/>
                <a:pathLst>
                  <a:path h="294640" w="429895">
                    <a:moveTo>
                      <a:pt x="0" y="63500"/>
                    </a:moveTo>
                    <a:cubicBezTo>
                      <a:pt x="0" y="28448"/>
                      <a:pt x="28448" y="0"/>
                      <a:pt x="63500" y="0"/>
                    </a:cubicBezTo>
                    <a:lnTo>
                      <a:pt x="366395" y="0"/>
                    </a:lnTo>
                    <a:cubicBezTo>
                      <a:pt x="401447" y="0"/>
                      <a:pt x="429895" y="28448"/>
                      <a:pt x="429895" y="63500"/>
                    </a:cubicBezTo>
                    <a:lnTo>
                      <a:pt x="429895" y="231140"/>
                    </a:lnTo>
                    <a:cubicBezTo>
                      <a:pt x="429895" y="266192"/>
                      <a:pt x="401447" y="294640"/>
                      <a:pt x="366395" y="294640"/>
                    </a:cubicBezTo>
                    <a:lnTo>
                      <a:pt x="63500" y="294640"/>
                    </a:lnTo>
                    <a:cubicBezTo>
                      <a:pt x="28448" y="294640"/>
                      <a:pt x="0" y="266192"/>
                      <a:pt x="0" y="23114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sp>
          <p:nvSpPr>
            <p:cNvPr name="TextBox 34" id="34"/>
            <p:cNvSpPr txBox="true"/>
            <p:nvPr/>
          </p:nvSpPr>
          <p:spPr>
            <a:xfrm rot="0">
              <a:off x="295805" y="176181"/>
              <a:ext cx="290850" cy="2788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07"/>
                </a:lnSpc>
              </a:pPr>
              <a:r>
                <a:rPr lang="en-US" sz="1339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✅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860727" y="178618"/>
              <a:ext cx="1962916" cy="28352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07"/>
                </a:lnSpc>
              </a:pPr>
              <a:r>
                <a:rPr lang="en-US" sz="1423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search_skeleton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6521271" y="176181"/>
              <a:ext cx="2597363" cy="2788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1607"/>
                </a:lnSpc>
              </a:pPr>
              <a:r>
                <a:rPr lang="en-US" sz="1339">
                  <a:solidFill>
                    <a:srgbClr val="94A3B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SOP→스켈레톤·결정적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0266011" y="4585453"/>
            <a:ext cx="7005972" cy="480568"/>
            <a:chOff x="0" y="0"/>
            <a:chExt cx="9341296" cy="640758"/>
          </a:xfrm>
        </p:grpSpPr>
        <p:grpSp>
          <p:nvGrpSpPr>
            <p:cNvPr name="Group 38" id="38"/>
            <p:cNvGrpSpPr/>
            <p:nvPr/>
          </p:nvGrpSpPr>
          <p:grpSpPr>
            <a:xfrm rot="0">
              <a:off x="0" y="0"/>
              <a:ext cx="9341296" cy="640758"/>
              <a:chOff x="0" y="0"/>
              <a:chExt cx="8368652" cy="5740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8368651" cy="574040"/>
              </a:xfrm>
              <a:custGeom>
                <a:avLst/>
                <a:gdLst/>
                <a:ahLst/>
                <a:cxnLst/>
                <a:rect r="r" b="b" t="t" l="l"/>
                <a:pathLst>
                  <a:path h="574040" w="8368651">
                    <a:moveTo>
                      <a:pt x="0" y="116332"/>
                    </a:moveTo>
                    <a:cubicBezTo>
                      <a:pt x="0" y="52070"/>
                      <a:pt x="46229" y="0"/>
                      <a:pt x="103283" y="0"/>
                    </a:cubicBezTo>
                    <a:lnTo>
                      <a:pt x="8265368" y="0"/>
                    </a:lnTo>
                    <a:cubicBezTo>
                      <a:pt x="8322422" y="0"/>
                      <a:pt x="8368651" y="52070"/>
                      <a:pt x="8368651" y="116332"/>
                    </a:cubicBezTo>
                    <a:lnTo>
                      <a:pt x="8368651" y="457708"/>
                    </a:lnTo>
                    <a:cubicBezTo>
                      <a:pt x="8368651" y="521970"/>
                      <a:pt x="8322422" y="574040"/>
                      <a:pt x="8265368" y="574040"/>
                    </a:cubicBezTo>
                    <a:lnTo>
                      <a:pt x="103283" y="574040"/>
                    </a:lnTo>
                    <a:cubicBezTo>
                      <a:pt x="46229" y="574040"/>
                      <a:pt x="0" y="521970"/>
                      <a:pt x="0" y="457708"/>
                    </a:cubicBezTo>
                    <a:close/>
                  </a:path>
                </a:pathLst>
              </a:custGeom>
              <a:solidFill>
                <a:srgbClr val="F8FAFC"/>
              </a:solidFill>
              <a:ln w="7620" cap="sq">
                <a:solidFill>
                  <a:srgbClr val="EEF0F2"/>
                </a:solidFill>
                <a:prstDash val="solid"/>
                <a:miter/>
              </a:ln>
            </p:spPr>
          </p:sp>
        </p:grpSp>
        <p:grpSp>
          <p:nvGrpSpPr>
            <p:cNvPr name="Group 40" id="40"/>
            <p:cNvGrpSpPr/>
            <p:nvPr/>
          </p:nvGrpSpPr>
          <p:grpSpPr>
            <a:xfrm rot="0">
              <a:off x="201936" y="155937"/>
              <a:ext cx="479859" cy="328884"/>
              <a:chOff x="0" y="0"/>
              <a:chExt cx="429895" cy="294640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29895" cy="294640"/>
              </a:xfrm>
              <a:custGeom>
                <a:avLst/>
                <a:gdLst/>
                <a:ahLst/>
                <a:cxnLst/>
                <a:rect r="r" b="b" t="t" l="l"/>
                <a:pathLst>
                  <a:path h="294640" w="429895">
                    <a:moveTo>
                      <a:pt x="0" y="63500"/>
                    </a:moveTo>
                    <a:cubicBezTo>
                      <a:pt x="0" y="28448"/>
                      <a:pt x="28448" y="0"/>
                      <a:pt x="63500" y="0"/>
                    </a:cubicBezTo>
                    <a:lnTo>
                      <a:pt x="366395" y="0"/>
                    </a:lnTo>
                    <a:cubicBezTo>
                      <a:pt x="401447" y="0"/>
                      <a:pt x="429895" y="28448"/>
                      <a:pt x="429895" y="63500"/>
                    </a:cubicBezTo>
                    <a:lnTo>
                      <a:pt x="429895" y="231140"/>
                    </a:lnTo>
                    <a:cubicBezTo>
                      <a:pt x="429895" y="266192"/>
                      <a:pt x="401447" y="294640"/>
                      <a:pt x="366395" y="294640"/>
                    </a:cubicBezTo>
                    <a:lnTo>
                      <a:pt x="63500" y="294640"/>
                    </a:lnTo>
                    <a:cubicBezTo>
                      <a:pt x="28448" y="294640"/>
                      <a:pt x="0" y="266192"/>
                      <a:pt x="0" y="23114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sp>
          <p:nvSpPr>
            <p:cNvPr name="TextBox 42" id="42"/>
            <p:cNvSpPr txBox="true"/>
            <p:nvPr/>
          </p:nvSpPr>
          <p:spPr>
            <a:xfrm rot="0">
              <a:off x="296441" y="176181"/>
              <a:ext cx="290850" cy="2788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07"/>
                </a:lnSpc>
              </a:pPr>
              <a:r>
                <a:rPr lang="en-US" sz="1339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✅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861363" y="178618"/>
              <a:ext cx="1788905" cy="28352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07"/>
                </a:lnSpc>
              </a:pPr>
              <a:r>
                <a:rPr lang="en-US" sz="1423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assemble_skill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7265640" y="176181"/>
              <a:ext cx="1853630" cy="2788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1607"/>
                </a:lnSpc>
              </a:pPr>
              <a:r>
                <a:rPr lang="en-US" sz="1339">
                  <a:solidFill>
                    <a:srgbClr val="94A3B8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결정적 슬롯 채움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0262235" y="5444151"/>
            <a:ext cx="7005972" cy="480568"/>
            <a:chOff x="0" y="0"/>
            <a:chExt cx="9341296" cy="640758"/>
          </a:xfrm>
        </p:grpSpPr>
        <p:grpSp>
          <p:nvGrpSpPr>
            <p:cNvPr name="Group 46" id="46"/>
            <p:cNvGrpSpPr/>
            <p:nvPr/>
          </p:nvGrpSpPr>
          <p:grpSpPr>
            <a:xfrm rot="0">
              <a:off x="0" y="0"/>
              <a:ext cx="9341296" cy="640758"/>
              <a:chOff x="0" y="0"/>
              <a:chExt cx="8368652" cy="574040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8368651" cy="574040"/>
              </a:xfrm>
              <a:custGeom>
                <a:avLst/>
                <a:gdLst/>
                <a:ahLst/>
                <a:cxnLst/>
                <a:rect r="r" b="b" t="t" l="l"/>
                <a:pathLst>
                  <a:path h="574040" w="8368651">
                    <a:moveTo>
                      <a:pt x="0" y="116332"/>
                    </a:moveTo>
                    <a:cubicBezTo>
                      <a:pt x="0" y="52070"/>
                      <a:pt x="46229" y="0"/>
                      <a:pt x="103283" y="0"/>
                    </a:cubicBezTo>
                    <a:lnTo>
                      <a:pt x="8265368" y="0"/>
                    </a:lnTo>
                    <a:cubicBezTo>
                      <a:pt x="8322422" y="0"/>
                      <a:pt x="8368651" y="52070"/>
                      <a:pt x="8368651" y="116332"/>
                    </a:cubicBezTo>
                    <a:lnTo>
                      <a:pt x="8368651" y="457708"/>
                    </a:lnTo>
                    <a:cubicBezTo>
                      <a:pt x="8368651" y="521970"/>
                      <a:pt x="8322422" y="574040"/>
                      <a:pt x="8265368" y="574040"/>
                    </a:cubicBezTo>
                    <a:lnTo>
                      <a:pt x="103283" y="574040"/>
                    </a:lnTo>
                    <a:cubicBezTo>
                      <a:pt x="46229" y="574040"/>
                      <a:pt x="0" y="521970"/>
                      <a:pt x="0" y="457708"/>
                    </a:cubicBezTo>
                    <a:close/>
                  </a:path>
                </a:pathLst>
              </a:custGeom>
              <a:solidFill>
                <a:srgbClr val="FFFBEB"/>
              </a:solidFill>
              <a:ln w="7620" cap="sq">
                <a:solidFill>
                  <a:srgbClr val="FDE68A"/>
                </a:solidFill>
                <a:prstDash val="solid"/>
                <a:miter/>
              </a:ln>
            </p:spPr>
          </p:sp>
        </p:grpSp>
        <p:grpSp>
          <p:nvGrpSpPr>
            <p:cNvPr name="Group 48" id="48"/>
            <p:cNvGrpSpPr/>
            <p:nvPr/>
          </p:nvGrpSpPr>
          <p:grpSpPr>
            <a:xfrm rot="0">
              <a:off x="201300" y="155937"/>
              <a:ext cx="479859" cy="328884"/>
              <a:chOff x="0" y="0"/>
              <a:chExt cx="429895" cy="29464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429895" cy="294640"/>
              </a:xfrm>
              <a:custGeom>
                <a:avLst/>
                <a:gdLst/>
                <a:ahLst/>
                <a:cxnLst/>
                <a:rect r="r" b="b" t="t" l="l"/>
                <a:pathLst>
                  <a:path h="294640" w="429895">
                    <a:moveTo>
                      <a:pt x="0" y="63500"/>
                    </a:moveTo>
                    <a:cubicBezTo>
                      <a:pt x="0" y="28448"/>
                      <a:pt x="28448" y="0"/>
                      <a:pt x="63500" y="0"/>
                    </a:cubicBezTo>
                    <a:lnTo>
                      <a:pt x="366395" y="0"/>
                    </a:lnTo>
                    <a:cubicBezTo>
                      <a:pt x="401447" y="0"/>
                      <a:pt x="429895" y="28448"/>
                      <a:pt x="429895" y="63500"/>
                    </a:cubicBezTo>
                    <a:lnTo>
                      <a:pt x="429895" y="231140"/>
                    </a:lnTo>
                    <a:cubicBezTo>
                      <a:pt x="429895" y="266192"/>
                      <a:pt x="401447" y="294640"/>
                      <a:pt x="366395" y="294640"/>
                    </a:cubicBezTo>
                    <a:lnTo>
                      <a:pt x="63500" y="294640"/>
                    </a:lnTo>
                    <a:cubicBezTo>
                      <a:pt x="28448" y="294640"/>
                      <a:pt x="0" y="266192"/>
                      <a:pt x="0" y="231140"/>
                    </a:cubicBezTo>
                    <a:close/>
                  </a:path>
                </a:pathLst>
              </a:custGeom>
              <a:solidFill>
                <a:srgbClr val="FEF9C3"/>
              </a:solidFill>
            </p:spPr>
          </p:sp>
        </p:grpSp>
        <p:sp>
          <p:nvSpPr>
            <p:cNvPr name="TextBox 50" id="50"/>
            <p:cNvSpPr txBox="true"/>
            <p:nvPr/>
          </p:nvSpPr>
          <p:spPr>
            <a:xfrm rot="0">
              <a:off x="295805" y="176181"/>
              <a:ext cx="290850" cy="2788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07"/>
                </a:lnSpc>
              </a:pPr>
              <a:r>
                <a:rPr lang="en-US" sz="1339" b="true">
                  <a:solidFill>
                    <a:srgbClr val="A1620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⏳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860727" y="178618"/>
              <a:ext cx="2938582" cy="28352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07"/>
                </a:lnSpc>
              </a:pPr>
              <a:r>
                <a:rPr lang="en-US" sz="1423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search_user_documents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6880148" y="176181"/>
              <a:ext cx="2238485" cy="2788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1607"/>
                </a:lnSpc>
              </a:pPr>
              <a:r>
                <a:rPr lang="en-US" sz="1339">
                  <a:solidFill>
                    <a:srgbClr val="A16207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storage 어댑터 대기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0262235" y="6302848"/>
            <a:ext cx="7005972" cy="480568"/>
            <a:chOff x="0" y="0"/>
            <a:chExt cx="9341296" cy="640758"/>
          </a:xfrm>
        </p:grpSpPr>
        <p:grpSp>
          <p:nvGrpSpPr>
            <p:cNvPr name="Group 54" id="54"/>
            <p:cNvGrpSpPr/>
            <p:nvPr/>
          </p:nvGrpSpPr>
          <p:grpSpPr>
            <a:xfrm rot="0">
              <a:off x="0" y="0"/>
              <a:ext cx="9341296" cy="640758"/>
              <a:chOff x="0" y="0"/>
              <a:chExt cx="8368652" cy="574040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8368651" cy="574040"/>
              </a:xfrm>
              <a:custGeom>
                <a:avLst/>
                <a:gdLst/>
                <a:ahLst/>
                <a:cxnLst/>
                <a:rect r="r" b="b" t="t" l="l"/>
                <a:pathLst>
                  <a:path h="574040" w="8368651">
                    <a:moveTo>
                      <a:pt x="0" y="116332"/>
                    </a:moveTo>
                    <a:cubicBezTo>
                      <a:pt x="0" y="52070"/>
                      <a:pt x="46229" y="0"/>
                      <a:pt x="103283" y="0"/>
                    </a:cubicBezTo>
                    <a:lnTo>
                      <a:pt x="8265368" y="0"/>
                    </a:lnTo>
                    <a:cubicBezTo>
                      <a:pt x="8322422" y="0"/>
                      <a:pt x="8368651" y="52070"/>
                      <a:pt x="8368651" y="116332"/>
                    </a:cubicBezTo>
                    <a:lnTo>
                      <a:pt x="8368651" y="457708"/>
                    </a:lnTo>
                    <a:cubicBezTo>
                      <a:pt x="8368651" y="521970"/>
                      <a:pt x="8322422" y="574040"/>
                      <a:pt x="8265368" y="574040"/>
                    </a:cubicBezTo>
                    <a:lnTo>
                      <a:pt x="103283" y="574040"/>
                    </a:lnTo>
                    <a:cubicBezTo>
                      <a:pt x="46229" y="574040"/>
                      <a:pt x="0" y="521970"/>
                      <a:pt x="0" y="457708"/>
                    </a:cubicBezTo>
                    <a:close/>
                  </a:path>
                </a:pathLst>
              </a:custGeom>
              <a:solidFill>
                <a:srgbClr val="FEF2F2"/>
              </a:solidFill>
              <a:ln w="7620" cap="sq">
                <a:solidFill>
                  <a:srgbClr val="FECACA"/>
                </a:solidFill>
                <a:prstDash val="solid"/>
                <a:miter/>
              </a:ln>
            </p:spPr>
          </p:sp>
        </p:grpSp>
        <p:grpSp>
          <p:nvGrpSpPr>
            <p:cNvPr name="Group 56" id="56"/>
            <p:cNvGrpSpPr/>
            <p:nvPr/>
          </p:nvGrpSpPr>
          <p:grpSpPr>
            <a:xfrm rot="0">
              <a:off x="201300" y="155937"/>
              <a:ext cx="479859" cy="328884"/>
              <a:chOff x="0" y="0"/>
              <a:chExt cx="429895" cy="294640"/>
            </a:xfrm>
          </p:grpSpPr>
          <p:sp>
            <p:nvSpPr>
              <p:cNvPr name="Freeform 57" id="57"/>
              <p:cNvSpPr/>
              <p:nvPr/>
            </p:nvSpPr>
            <p:spPr>
              <a:xfrm flipH="false" flipV="false" rot="0">
                <a:off x="0" y="0"/>
                <a:ext cx="429895" cy="294640"/>
              </a:xfrm>
              <a:custGeom>
                <a:avLst/>
                <a:gdLst/>
                <a:ahLst/>
                <a:cxnLst/>
                <a:rect r="r" b="b" t="t" l="l"/>
                <a:pathLst>
                  <a:path h="294640" w="429895">
                    <a:moveTo>
                      <a:pt x="0" y="63500"/>
                    </a:moveTo>
                    <a:cubicBezTo>
                      <a:pt x="0" y="28448"/>
                      <a:pt x="28448" y="0"/>
                      <a:pt x="63500" y="0"/>
                    </a:cubicBezTo>
                    <a:lnTo>
                      <a:pt x="366395" y="0"/>
                    </a:lnTo>
                    <a:cubicBezTo>
                      <a:pt x="401447" y="0"/>
                      <a:pt x="429895" y="28448"/>
                      <a:pt x="429895" y="63500"/>
                    </a:cubicBezTo>
                    <a:lnTo>
                      <a:pt x="429895" y="231140"/>
                    </a:lnTo>
                    <a:cubicBezTo>
                      <a:pt x="429895" y="266192"/>
                      <a:pt x="401447" y="294640"/>
                      <a:pt x="366395" y="294640"/>
                    </a:cubicBezTo>
                    <a:lnTo>
                      <a:pt x="63500" y="294640"/>
                    </a:lnTo>
                    <a:cubicBezTo>
                      <a:pt x="28448" y="294640"/>
                      <a:pt x="0" y="266192"/>
                      <a:pt x="0" y="231140"/>
                    </a:cubicBezTo>
                    <a:close/>
                  </a:path>
                </a:pathLst>
              </a:custGeom>
              <a:solidFill>
                <a:srgbClr val="FEE2E2"/>
              </a:solidFill>
            </p:spPr>
          </p:sp>
        </p:grpSp>
        <p:sp>
          <p:nvSpPr>
            <p:cNvPr name="TextBox 58" id="58"/>
            <p:cNvSpPr txBox="true"/>
            <p:nvPr/>
          </p:nvSpPr>
          <p:spPr>
            <a:xfrm rot="0">
              <a:off x="295805" y="176181"/>
              <a:ext cx="290850" cy="2788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07"/>
                </a:lnSpc>
              </a:pPr>
              <a:r>
                <a:rPr lang="en-US" sz="1339" b="true">
                  <a:solidFill>
                    <a:srgbClr val="B91C1C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⚠️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0">
              <a:off x="860727" y="178618"/>
              <a:ext cx="2043365" cy="28352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07"/>
                </a:lnSpc>
              </a:pPr>
              <a:r>
                <a:rPr lang="en-US" sz="1423" b="true">
                  <a:solidFill>
                    <a:srgbClr val="33415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parse_document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0">
              <a:off x="6524965" y="176181"/>
              <a:ext cx="2593668" cy="2788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1607"/>
                </a:lnSpc>
              </a:pPr>
              <a:r>
                <a:rPr lang="en-US" sz="1339">
                  <a:solidFill>
                    <a:srgbClr val="B91C1C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호출 자리 없음·재검토</a:t>
              </a: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2180911" y="511178"/>
            <a:ext cx="544033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DB477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④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Skills Builder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1359921" y="511178"/>
            <a:ext cx="617116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REQ-013 · 박아름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787403" y="1111253"/>
            <a:ext cx="10759321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업무 문서를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재사용 가능한 스킬로 — 구조는 코드가 결정한다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현재 = 결정적 스켈레톤 위저드(가동) · 목표 = tool-calling 루프(프레임 대기). 어느 쪽이든 구조는 코드가 결정.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758190" y="4105234"/>
            <a:ext cx="9107285" cy="1333500"/>
            <a:chOff x="0" y="0"/>
            <a:chExt cx="12143046" cy="1778000"/>
          </a:xfrm>
        </p:grpSpPr>
        <p:grpSp>
          <p:nvGrpSpPr>
            <p:cNvPr name="Group 67" id="67"/>
            <p:cNvGrpSpPr/>
            <p:nvPr/>
          </p:nvGrpSpPr>
          <p:grpSpPr>
            <a:xfrm rot="0">
              <a:off x="0" y="0"/>
              <a:ext cx="12143046" cy="1778000"/>
              <a:chOff x="0" y="0"/>
              <a:chExt cx="12143046" cy="1778000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12143046" cy="1778064"/>
              </a:xfrm>
              <a:custGeom>
                <a:avLst/>
                <a:gdLst/>
                <a:ahLst/>
                <a:cxnLst/>
                <a:rect r="r" b="b" t="t" l="l"/>
                <a:pathLst>
                  <a:path h="1778064" w="12143046">
                    <a:moveTo>
                      <a:pt x="0" y="113991"/>
                    </a:moveTo>
                    <a:cubicBezTo>
                      <a:pt x="0" y="50985"/>
                      <a:pt x="62428" y="0"/>
                      <a:pt x="139575" y="0"/>
                    </a:cubicBezTo>
                    <a:lnTo>
                      <a:pt x="12003471" y="0"/>
                    </a:lnTo>
                    <a:cubicBezTo>
                      <a:pt x="12080491" y="0"/>
                      <a:pt x="12143046" y="50985"/>
                      <a:pt x="12143046" y="113991"/>
                    </a:cubicBezTo>
                    <a:lnTo>
                      <a:pt x="12143046" y="1664061"/>
                    </a:lnTo>
                    <a:cubicBezTo>
                      <a:pt x="12143046" y="1726963"/>
                      <a:pt x="12080618" y="1778064"/>
                      <a:pt x="12003471" y="1778064"/>
                    </a:cubicBezTo>
                    <a:lnTo>
                      <a:pt x="139575" y="1778064"/>
                    </a:lnTo>
                    <a:cubicBezTo>
                      <a:pt x="62555" y="1778064"/>
                      <a:pt x="0" y="1727067"/>
                      <a:pt x="0" y="166406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69" id="69"/>
            <p:cNvGrpSpPr/>
            <p:nvPr/>
          </p:nvGrpSpPr>
          <p:grpSpPr>
            <a:xfrm rot="0">
              <a:off x="0" y="0"/>
              <a:ext cx="63500" cy="1778000"/>
              <a:chOff x="0" y="0"/>
              <a:chExt cx="63500" cy="1778000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63500" cy="1778064"/>
              </a:xfrm>
              <a:custGeom>
                <a:avLst/>
                <a:gdLst/>
                <a:ahLst/>
                <a:cxnLst/>
                <a:rect r="r" b="b" t="t" l="l"/>
                <a:pathLst>
                  <a:path h="1778064" w="63500">
                    <a:moveTo>
                      <a:pt x="0" y="0"/>
                    </a:moveTo>
                    <a:lnTo>
                      <a:pt x="63500" y="0"/>
                    </a:lnTo>
                    <a:lnTo>
                      <a:pt x="63500" y="1778064"/>
                    </a:lnTo>
                    <a:lnTo>
                      <a:pt x="0" y="1778064"/>
                    </a:lnTo>
                    <a:close/>
                  </a:path>
                </a:pathLst>
              </a:custGeom>
              <a:solidFill>
                <a:srgbClr val="DB4778"/>
              </a:solidFill>
            </p:spPr>
          </p:sp>
        </p:grpSp>
        <p:sp>
          <p:nvSpPr>
            <p:cNvPr name="TextBox 71" id="71"/>
            <p:cNvSpPr txBox="true"/>
            <p:nvPr/>
          </p:nvSpPr>
          <p:spPr>
            <a:xfrm rot="0">
              <a:off x="356039" y="762000"/>
              <a:ext cx="3315538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b="true" sz="1299" spc="77">
                  <a:solidFill>
                    <a:srgbClr val="DB477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②</a:t>
              </a:r>
              <a:r>
                <a:rPr lang="en-US" b="true" sz="1299" spc="77">
                  <a:solidFill>
                    <a:srgbClr val="DB477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TOOL-CALLING</a:t>
              </a:r>
            </a:p>
          </p:txBody>
        </p:sp>
        <p:sp>
          <p:nvSpPr>
            <p:cNvPr name="TextBox 72" id="72"/>
            <p:cNvSpPr txBox="true"/>
            <p:nvPr/>
          </p:nvSpPr>
          <p:spPr>
            <a:xfrm rot="0">
              <a:off x="690639" y="1063943"/>
              <a:ext cx="1914890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콜러블</a:t>
              </a:r>
              <a:r>
                <a:rPr lang="en-US" sz="1299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5종</a:t>
              </a:r>
            </a:p>
          </p:txBody>
        </p:sp>
        <p:sp>
          <p:nvSpPr>
            <p:cNvPr name="TextBox 73" id="73"/>
            <p:cNvSpPr txBox="true"/>
            <p:nvPr/>
          </p:nvSpPr>
          <p:spPr>
            <a:xfrm rot="0">
              <a:off x="4222445" y="746125"/>
              <a:ext cx="7627651" cy="276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오른쪽</a:t>
              </a:r>
              <a:r>
                <a:rPr lang="en-US" sz="1350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350" b="true">
                  <a:solidFill>
                    <a:srgbClr val="DB477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콜러블 5종</a:t>
              </a:r>
              <a:r>
                <a:rPr lang="en-US" sz="1350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참조 →</a:t>
              </a:r>
            </a:p>
          </p:txBody>
        </p:sp>
        <p:grpSp>
          <p:nvGrpSpPr>
            <p:cNvPr name="Group 74" id="74"/>
            <p:cNvGrpSpPr/>
            <p:nvPr/>
          </p:nvGrpSpPr>
          <p:grpSpPr>
            <a:xfrm rot="0">
              <a:off x="10394233" y="713740"/>
              <a:ext cx="1226874" cy="350520"/>
              <a:chOff x="0" y="0"/>
              <a:chExt cx="1226874" cy="350520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1226874" cy="350520"/>
              </a:xfrm>
              <a:custGeom>
                <a:avLst/>
                <a:gdLst/>
                <a:ahLst/>
                <a:cxnLst/>
                <a:rect r="r" b="b" t="t" l="l"/>
                <a:pathLst>
                  <a:path h="350520" w="1226874">
                    <a:moveTo>
                      <a:pt x="0" y="76200"/>
                    </a:moveTo>
                    <a:cubicBezTo>
                      <a:pt x="0" y="34163"/>
                      <a:pt x="85500" y="0"/>
                      <a:pt x="190706" y="0"/>
                    </a:cubicBezTo>
                    <a:lnTo>
                      <a:pt x="1036168" y="0"/>
                    </a:lnTo>
                    <a:cubicBezTo>
                      <a:pt x="1141374" y="0"/>
                      <a:pt x="1226874" y="34163"/>
                      <a:pt x="1226874" y="76200"/>
                    </a:cubicBezTo>
                    <a:lnTo>
                      <a:pt x="1226874" y="274320"/>
                    </a:lnTo>
                    <a:cubicBezTo>
                      <a:pt x="1226874" y="316357"/>
                      <a:pt x="1141374" y="350520"/>
                      <a:pt x="1036168" y="350520"/>
                    </a:cubicBezTo>
                    <a:lnTo>
                      <a:pt x="190706" y="350520"/>
                    </a:lnTo>
                    <a:cubicBezTo>
                      <a:pt x="85500" y="350520"/>
                      <a:pt x="0" y="316357"/>
                      <a:pt x="0" y="274320"/>
                    </a:cubicBezTo>
                    <a:close/>
                  </a:path>
                </a:pathLst>
              </a:custGeom>
              <a:solidFill>
                <a:srgbClr val="FFFBEB"/>
              </a:solidFill>
            </p:spPr>
          </p:sp>
        </p:grpSp>
        <p:sp>
          <p:nvSpPr>
            <p:cNvPr name="TextBox 76" id="76"/>
            <p:cNvSpPr txBox="true"/>
            <p:nvPr/>
          </p:nvSpPr>
          <p:spPr>
            <a:xfrm rot="0">
              <a:off x="10504890" y="762000"/>
              <a:ext cx="1190313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A1620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3 가동 / 5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758190" y="5636098"/>
            <a:ext cx="9107285" cy="1333500"/>
            <a:chOff x="0" y="0"/>
            <a:chExt cx="12143046" cy="1778000"/>
          </a:xfrm>
        </p:grpSpPr>
        <p:grpSp>
          <p:nvGrpSpPr>
            <p:cNvPr name="Group 78" id="78"/>
            <p:cNvGrpSpPr/>
            <p:nvPr/>
          </p:nvGrpSpPr>
          <p:grpSpPr>
            <a:xfrm rot="0">
              <a:off x="0" y="0"/>
              <a:ext cx="12143046" cy="1778000"/>
              <a:chOff x="0" y="0"/>
              <a:chExt cx="12143046" cy="1778000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12143046" cy="1778064"/>
              </a:xfrm>
              <a:custGeom>
                <a:avLst/>
                <a:gdLst/>
                <a:ahLst/>
                <a:cxnLst/>
                <a:rect r="r" b="b" t="t" l="l"/>
                <a:pathLst>
                  <a:path h="1778064" w="12143046">
                    <a:moveTo>
                      <a:pt x="0" y="113991"/>
                    </a:moveTo>
                    <a:cubicBezTo>
                      <a:pt x="0" y="50985"/>
                      <a:pt x="62428" y="0"/>
                      <a:pt x="139575" y="0"/>
                    </a:cubicBezTo>
                    <a:lnTo>
                      <a:pt x="12003471" y="0"/>
                    </a:lnTo>
                    <a:cubicBezTo>
                      <a:pt x="12080491" y="0"/>
                      <a:pt x="12143046" y="50985"/>
                      <a:pt x="12143046" y="113991"/>
                    </a:cubicBezTo>
                    <a:lnTo>
                      <a:pt x="12143046" y="1664061"/>
                    </a:lnTo>
                    <a:cubicBezTo>
                      <a:pt x="12143046" y="1726963"/>
                      <a:pt x="12080618" y="1778064"/>
                      <a:pt x="12003471" y="1778064"/>
                    </a:cubicBezTo>
                    <a:lnTo>
                      <a:pt x="139575" y="1778064"/>
                    </a:lnTo>
                    <a:cubicBezTo>
                      <a:pt x="62555" y="1778064"/>
                      <a:pt x="0" y="1727067"/>
                      <a:pt x="0" y="166406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80" id="80"/>
            <p:cNvGrpSpPr/>
            <p:nvPr/>
          </p:nvGrpSpPr>
          <p:grpSpPr>
            <a:xfrm rot="0">
              <a:off x="0" y="0"/>
              <a:ext cx="63500" cy="1778000"/>
              <a:chOff x="0" y="0"/>
              <a:chExt cx="63500" cy="1778000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63500" cy="1778064"/>
              </a:xfrm>
              <a:custGeom>
                <a:avLst/>
                <a:gdLst/>
                <a:ahLst/>
                <a:cxnLst/>
                <a:rect r="r" b="b" t="t" l="l"/>
                <a:pathLst>
                  <a:path h="1778064" w="63500">
                    <a:moveTo>
                      <a:pt x="0" y="0"/>
                    </a:moveTo>
                    <a:lnTo>
                      <a:pt x="63500" y="0"/>
                    </a:lnTo>
                    <a:lnTo>
                      <a:pt x="63500" y="1778064"/>
                    </a:lnTo>
                    <a:lnTo>
                      <a:pt x="0" y="1778064"/>
                    </a:lnTo>
                    <a:close/>
                  </a:path>
                </a:pathLst>
              </a:custGeom>
              <a:solidFill>
                <a:srgbClr val="DB4778"/>
              </a:solidFill>
            </p:spPr>
          </p:sp>
        </p:grpSp>
        <p:sp>
          <p:nvSpPr>
            <p:cNvPr name="TextBox 82" id="82"/>
            <p:cNvSpPr txBox="true"/>
            <p:nvPr/>
          </p:nvSpPr>
          <p:spPr>
            <a:xfrm rot="0">
              <a:off x="356039" y="762000"/>
              <a:ext cx="1914890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b="true" sz="1299" spc="77">
                  <a:solidFill>
                    <a:srgbClr val="DB477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③</a:t>
              </a:r>
              <a:r>
                <a:rPr lang="en-US" b="true" sz="1299" spc="77">
                  <a:solidFill>
                    <a:srgbClr val="DB477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ACTION</a:t>
              </a:r>
            </a:p>
          </p:txBody>
        </p:sp>
        <p:sp>
          <p:nvSpPr>
            <p:cNvPr name="TextBox 83" id="83"/>
            <p:cNvSpPr txBox="true"/>
            <p:nvPr/>
          </p:nvSpPr>
          <p:spPr>
            <a:xfrm rot="0">
              <a:off x="690639" y="1063943"/>
              <a:ext cx="2992674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confirm →</a:t>
              </a:r>
              <a:r>
                <a:rPr lang="en-US" sz="1299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DRAFT</a:t>
              </a:r>
            </a:p>
          </p:txBody>
        </p:sp>
        <p:sp>
          <p:nvSpPr>
            <p:cNvPr name="TextBox 84" id="84"/>
            <p:cNvSpPr txBox="true"/>
            <p:nvPr/>
          </p:nvSpPr>
          <p:spPr>
            <a:xfrm rot="0">
              <a:off x="4222445" y="746125"/>
              <a:ext cx="7627651" cy="276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2-m</a:t>
              </a:r>
              <a:r>
                <a:rPr lang="en-US" sz="1350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 GCS 저장</a:t>
              </a:r>
            </a:p>
          </p:txBody>
        </p:sp>
        <p:grpSp>
          <p:nvGrpSpPr>
            <p:cNvPr name="Group 85" id="85"/>
            <p:cNvGrpSpPr/>
            <p:nvPr/>
          </p:nvGrpSpPr>
          <p:grpSpPr>
            <a:xfrm rot="0">
              <a:off x="10394233" y="713740"/>
              <a:ext cx="557145" cy="350520"/>
              <a:chOff x="0" y="0"/>
              <a:chExt cx="557145" cy="350520"/>
            </a:xfrm>
          </p:grpSpPr>
          <p:sp>
            <p:nvSpPr>
              <p:cNvPr name="Freeform 86" id="86"/>
              <p:cNvSpPr/>
              <p:nvPr/>
            </p:nvSpPr>
            <p:spPr>
              <a:xfrm flipH="false" flipV="false" rot="0">
                <a:off x="0" y="0"/>
                <a:ext cx="557145" cy="350520"/>
              </a:xfrm>
              <a:custGeom>
                <a:avLst/>
                <a:gdLst/>
                <a:ahLst/>
                <a:cxnLst/>
                <a:rect r="r" b="b" t="t" l="l"/>
                <a:pathLst>
                  <a:path h="350520" w="557145">
                    <a:moveTo>
                      <a:pt x="0" y="76200"/>
                    </a:moveTo>
                    <a:cubicBezTo>
                      <a:pt x="0" y="34163"/>
                      <a:pt x="38827" y="0"/>
                      <a:pt x="86603" y="0"/>
                    </a:cubicBezTo>
                    <a:lnTo>
                      <a:pt x="470542" y="0"/>
                    </a:lnTo>
                    <a:cubicBezTo>
                      <a:pt x="518318" y="0"/>
                      <a:pt x="557145" y="34163"/>
                      <a:pt x="557145" y="76200"/>
                    </a:cubicBezTo>
                    <a:lnTo>
                      <a:pt x="557145" y="274320"/>
                    </a:lnTo>
                    <a:cubicBezTo>
                      <a:pt x="557145" y="316357"/>
                      <a:pt x="518318" y="350520"/>
                      <a:pt x="470542" y="350520"/>
                    </a:cubicBezTo>
                    <a:lnTo>
                      <a:pt x="86603" y="350520"/>
                    </a:lnTo>
                    <a:cubicBezTo>
                      <a:pt x="38827" y="350520"/>
                      <a:pt x="0" y="316357"/>
                      <a:pt x="0" y="27432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sp>
          <p:nvSpPr>
            <p:cNvPr name="TextBox 87" id="87"/>
            <p:cNvSpPr txBox="true"/>
            <p:nvPr/>
          </p:nvSpPr>
          <p:spPr>
            <a:xfrm rot="0">
              <a:off x="10504890" y="762000"/>
              <a:ext cx="335831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✅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758190" y="7166962"/>
            <a:ext cx="9107285" cy="1333500"/>
            <a:chOff x="0" y="0"/>
            <a:chExt cx="12143046" cy="1778000"/>
          </a:xfrm>
        </p:grpSpPr>
        <p:grpSp>
          <p:nvGrpSpPr>
            <p:cNvPr name="Group 89" id="89"/>
            <p:cNvGrpSpPr/>
            <p:nvPr/>
          </p:nvGrpSpPr>
          <p:grpSpPr>
            <a:xfrm rot="0">
              <a:off x="0" y="0"/>
              <a:ext cx="12143046" cy="1778000"/>
              <a:chOff x="0" y="0"/>
              <a:chExt cx="12143046" cy="1778000"/>
            </a:xfrm>
          </p:grpSpPr>
          <p:sp>
            <p:nvSpPr>
              <p:cNvPr name="Freeform 90" id="90"/>
              <p:cNvSpPr/>
              <p:nvPr/>
            </p:nvSpPr>
            <p:spPr>
              <a:xfrm flipH="false" flipV="false" rot="0">
                <a:off x="0" y="0"/>
                <a:ext cx="12143046" cy="1778064"/>
              </a:xfrm>
              <a:custGeom>
                <a:avLst/>
                <a:gdLst/>
                <a:ahLst/>
                <a:cxnLst/>
                <a:rect r="r" b="b" t="t" l="l"/>
                <a:pathLst>
                  <a:path h="1778064" w="12143046">
                    <a:moveTo>
                      <a:pt x="0" y="113991"/>
                    </a:moveTo>
                    <a:cubicBezTo>
                      <a:pt x="0" y="50985"/>
                      <a:pt x="62428" y="0"/>
                      <a:pt x="139575" y="0"/>
                    </a:cubicBezTo>
                    <a:lnTo>
                      <a:pt x="12003471" y="0"/>
                    </a:lnTo>
                    <a:cubicBezTo>
                      <a:pt x="12080491" y="0"/>
                      <a:pt x="12143046" y="50985"/>
                      <a:pt x="12143046" y="113991"/>
                    </a:cubicBezTo>
                    <a:lnTo>
                      <a:pt x="12143046" y="1664061"/>
                    </a:lnTo>
                    <a:cubicBezTo>
                      <a:pt x="12143046" y="1726963"/>
                      <a:pt x="12080618" y="1778064"/>
                      <a:pt x="12003471" y="1778064"/>
                    </a:cubicBezTo>
                    <a:lnTo>
                      <a:pt x="139575" y="1778064"/>
                    </a:lnTo>
                    <a:cubicBezTo>
                      <a:pt x="62555" y="1778064"/>
                      <a:pt x="0" y="1727067"/>
                      <a:pt x="0" y="1664061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grpSp>
          <p:nvGrpSpPr>
            <p:cNvPr name="Group 91" id="91"/>
            <p:cNvGrpSpPr/>
            <p:nvPr/>
          </p:nvGrpSpPr>
          <p:grpSpPr>
            <a:xfrm rot="0">
              <a:off x="0" y="0"/>
              <a:ext cx="63500" cy="1778000"/>
              <a:chOff x="0" y="0"/>
              <a:chExt cx="63500" cy="1778000"/>
            </a:xfrm>
          </p:grpSpPr>
          <p:sp>
            <p:nvSpPr>
              <p:cNvPr name="Freeform 92" id="92"/>
              <p:cNvSpPr/>
              <p:nvPr/>
            </p:nvSpPr>
            <p:spPr>
              <a:xfrm flipH="false" flipV="false" rot="0">
                <a:off x="0" y="0"/>
                <a:ext cx="63500" cy="1778064"/>
              </a:xfrm>
              <a:custGeom>
                <a:avLst/>
                <a:gdLst/>
                <a:ahLst/>
                <a:cxnLst/>
                <a:rect r="r" b="b" t="t" l="l"/>
                <a:pathLst>
                  <a:path h="1778064" w="63500">
                    <a:moveTo>
                      <a:pt x="0" y="0"/>
                    </a:moveTo>
                    <a:lnTo>
                      <a:pt x="63500" y="0"/>
                    </a:lnTo>
                    <a:lnTo>
                      <a:pt x="63500" y="1778064"/>
                    </a:lnTo>
                    <a:lnTo>
                      <a:pt x="0" y="1778064"/>
                    </a:lnTo>
                    <a:close/>
                  </a:path>
                </a:pathLst>
              </a:custGeom>
              <a:solidFill>
                <a:srgbClr val="DB4778"/>
              </a:solidFill>
            </p:spPr>
          </p:sp>
        </p:grpSp>
        <p:sp>
          <p:nvSpPr>
            <p:cNvPr name="TextBox 93" id="93"/>
            <p:cNvSpPr txBox="true"/>
            <p:nvPr/>
          </p:nvSpPr>
          <p:spPr>
            <a:xfrm rot="0">
              <a:off x="356039" y="762000"/>
              <a:ext cx="2698733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b="true" sz="1299" spc="77">
                  <a:solidFill>
                    <a:srgbClr val="DB477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④</a:t>
              </a:r>
              <a:r>
                <a:rPr lang="en-US" b="true" sz="1299" spc="77">
                  <a:solidFill>
                    <a:srgbClr val="DB477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EVALUATION</a:t>
              </a:r>
            </a:p>
          </p:txBody>
        </p:sp>
        <p:sp>
          <p:nvSpPr>
            <p:cNvPr name="TextBox 94" id="94"/>
            <p:cNvSpPr txBox="true"/>
            <p:nvPr/>
          </p:nvSpPr>
          <p:spPr>
            <a:xfrm rot="0">
              <a:off x="690639" y="1063943"/>
              <a:ext cx="1914890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HITL 게이트</a:t>
              </a:r>
              <a:r>
                <a:rPr lang="en-US" sz="1299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 🔁</a:t>
              </a:r>
            </a:p>
          </p:txBody>
        </p:sp>
        <p:sp>
          <p:nvSpPr>
            <p:cNvPr name="TextBox 95" id="95"/>
            <p:cNvSpPr txBox="true"/>
            <p:nvPr/>
          </p:nvSpPr>
          <p:spPr>
            <a:xfrm rot="0">
              <a:off x="4222445" y="746125"/>
              <a:ext cx="7627651" cy="276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사용자</a:t>
              </a:r>
              <a:r>
                <a:rPr lang="en-US" sz="1350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검토·선택 (카탈로그 오염 차단) + QA</a:t>
              </a:r>
            </a:p>
          </p:txBody>
        </p:sp>
        <p:grpSp>
          <p:nvGrpSpPr>
            <p:cNvPr name="Group 96" id="96"/>
            <p:cNvGrpSpPr/>
            <p:nvPr/>
          </p:nvGrpSpPr>
          <p:grpSpPr>
            <a:xfrm rot="0">
              <a:off x="10394233" y="713740"/>
              <a:ext cx="557145" cy="350520"/>
              <a:chOff x="0" y="0"/>
              <a:chExt cx="557145" cy="350520"/>
            </a:xfrm>
          </p:grpSpPr>
          <p:sp>
            <p:nvSpPr>
              <p:cNvPr name="Freeform 97" id="97"/>
              <p:cNvSpPr/>
              <p:nvPr/>
            </p:nvSpPr>
            <p:spPr>
              <a:xfrm flipH="false" flipV="false" rot="0">
                <a:off x="0" y="0"/>
                <a:ext cx="557145" cy="350520"/>
              </a:xfrm>
              <a:custGeom>
                <a:avLst/>
                <a:gdLst/>
                <a:ahLst/>
                <a:cxnLst/>
                <a:rect r="r" b="b" t="t" l="l"/>
                <a:pathLst>
                  <a:path h="350520" w="557145">
                    <a:moveTo>
                      <a:pt x="0" y="76200"/>
                    </a:moveTo>
                    <a:cubicBezTo>
                      <a:pt x="0" y="34163"/>
                      <a:pt x="38827" y="0"/>
                      <a:pt x="86603" y="0"/>
                    </a:cubicBezTo>
                    <a:lnTo>
                      <a:pt x="470542" y="0"/>
                    </a:lnTo>
                    <a:cubicBezTo>
                      <a:pt x="518318" y="0"/>
                      <a:pt x="557145" y="34163"/>
                      <a:pt x="557145" y="76200"/>
                    </a:cubicBezTo>
                    <a:lnTo>
                      <a:pt x="557145" y="274320"/>
                    </a:lnTo>
                    <a:cubicBezTo>
                      <a:pt x="557145" y="316357"/>
                      <a:pt x="518318" y="350520"/>
                      <a:pt x="470542" y="350520"/>
                    </a:cubicBezTo>
                    <a:lnTo>
                      <a:pt x="86603" y="350520"/>
                    </a:lnTo>
                    <a:cubicBezTo>
                      <a:pt x="38827" y="350520"/>
                      <a:pt x="0" y="316357"/>
                      <a:pt x="0" y="274320"/>
                    </a:cubicBezTo>
                    <a:close/>
                  </a:path>
                </a:pathLst>
              </a:custGeom>
              <a:solidFill>
                <a:srgbClr val="ECFDF5"/>
              </a:solidFill>
            </p:spPr>
          </p:sp>
        </p:grpSp>
        <p:sp>
          <p:nvSpPr>
            <p:cNvPr name="TextBox 98" id="98"/>
            <p:cNvSpPr txBox="true"/>
            <p:nvPr/>
          </p:nvSpPr>
          <p:spPr>
            <a:xfrm rot="0">
              <a:off x="10504890" y="762000"/>
              <a:ext cx="335831" cy="254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04785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✅</a:t>
              </a:r>
            </a:p>
          </p:txBody>
        </p:sp>
      </p:grpSp>
      <p:grpSp>
        <p:nvGrpSpPr>
          <p:cNvPr name="Group 99" id="99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101" id="101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27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2127418" y="9608820"/>
            <a:ext cx="375239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④ Skills Builder ·</a:t>
            </a: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멀티에이전트 4요소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14727565" y="9608820"/>
            <a:ext cx="280352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Skills Builder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10067925" y="7217248"/>
            <a:ext cx="7458075" cy="1898529"/>
            <a:chOff x="0" y="0"/>
            <a:chExt cx="9944100" cy="2531372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9944100" cy="2531411"/>
            </a:xfrm>
            <a:custGeom>
              <a:avLst/>
              <a:gdLst/>
              <a:ahLst/>
              <a:cxnLst/>
              <a:rect r="r" b="b" t="t" l="l"/>
              <a:pathLst>
                <a:path h="2531411" w="9944100">
                  <a:moveTo>
                    <a:pt x="0" y="189710"/>
                  </a:moveTo>
                  <a:cubicBezTo>
                    <a:pt x="0" y="84963"/>
                    <a:pt x="79629" y="0"/>
                    <a:pt x="177800" y="0"/>
                  </a:cubicBezTo>
                  <a:lnTo>
                    <a:pt x="9766300" y="0"/>
                  </a:lnTo>
                  <a:cubicBezTo>
                    <a:pt x="9864471" y="0"/>
                    <a:pt x="9944100" y="84963"/>
                    <a:pt x="9944100" y="189710"/>
                  </a:cubicBezTo>
                  <a:lnTo>
                    <a:pt x="9944100" y="2341703"/>
                  </a:lnTo>
                  <a:cubicBezTo>
                    <a:pt x="9944100" y="2446450"/>
                    <a:pt x="9864471" y="2531411"/>
                    <a:pt x="9766300" y="2531411"/>
                  </a:cubicBezTo>
                  <a:lnTo>
                    <a:pt x="177800" y="2531411"/>
                  </a:lnTo>
                  <a:cubicBezTo>
                    <a:pt x="79629" y="2531411"/>
                    <a:pt x="0" y="2446450"/>
                    <a:pt x="0" y="2341703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107" id="107"/>
          <p:cNvSpPr txBox="true"/>
          <p:nvPr/>
        </p:nvSpPr>
        <p:spPr>
          <a:xfrm rot="0">
            <a:off x="10283828" y="7376001"/>
            <a:ext cx="7238590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0"/>
              </a:lnSpc>
            </a:pPr>
            <a:r>
              <a:rPr lang="en-US" b="true" sz="1275" spc="51">
                <a:solidFill>
                  <a:srgbClr val="F9A8D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§6.6 원칙 상속 </a:t>
            </a:r>
            <a:r>
              <a:rPr lang="en-US" b="true" sz="1275" spc="51">
                <a:solidFill>
                  <a:srgbClr val="64748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(Composer가 입증)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10283828" y="7640101"/>
            <a:ext cx="7238590" cy="232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8"/>
              </a:lnSpc>
            </a:pPr>
            <a:r>
              <a:rPr lang="en-US" sz="12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Composer가 입증한 온톨로지 효과 — </a:t>
            </a:r>
            <a:r>
              <a:rPr lang="en-US" sz="1200" b="true">
                <a:solidFill>
                  <a:srgbClr val="F9A8D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Skills Builder도 같은 원칙 상속</a:t>
            </a:r>
          </a:p>
        </p:txBody>
      </p:sp>
      <p:grpSp>
        <p:nvGrpSpPr>
          <p:cNvPr name="Group 109" id="109"/>
          <p:cNvGrpSpPr/>
          <p:nvPr/>
        </p:nvGrpSpPr>
        <p:grpSpPr>
          <a:xfrm rot="0">
            <a:off x="10258425" y="7992345"/>
            <a:ext cx="2674057" cy="426632"/>
            <a:chOff x="0" y="0"/>
            <a:chExt cx="2576220" cy="411023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576195" cy="410972"/>
            </a:xfrm>
            <a:custGeom>
              <a:avLst/>
              <a:gdLst/>
              <a:ahLst/>
              <a:cxnLst/>
              <a:rect r="r" b="b" t="t" l="l"/>
              <a:pathLst>
                <a:path h="410972" w="2576195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2474595" y="0"/>
                  </a:lnTo>
                  <a:cubicBezTo>
                    <a:pt x="2530729" y="0"/>
                    <a:pt x="2576195" y="45466"/>
                    <a:pt x="2576195" y="101600"/>
                  </a:cubicBezTo>
                  <a:lnTo>
                    <a:pt x="2576195" y="309372"/>
                  </a:lnTo>
                  <a:cubicBezTo>
                    <a:pt x="2576195" y="365506"/>
                    <a:pt x="2530729" y="410972"/>
                    <a:pt x="2474595" y="410972"/>
                  </a:cubicBezTo>
                  <a:lnTo>
                    <a:pt x="101600" y="410972"/>
                  </a:lnTo>
                  <a:cubicBezTo>
                    <a:pt x="45466" y="410972"/>
                    <a:pt x="0" y="365506"/>
                    <a:pt x="0" y="309372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10385852" y="8100203"/>
            <a:ext cx="2419203" cy="210917"/>
            <a:chOff x="0" y="0"/>
            <a:chExt cx="3225604" cy="281222"/>
          </a:xfrm>
        </p:grpSpPr>
        <p:sp>
          <p:nvSpPr>
            <p:cNvPr name="TextBox 112" id="112"/>
            <p:cNvSpPr txBox="true"/>
            <p:nvPr/>
          </p:nvSpPr>
          <p:spPr>
            <a:xfrm rot="0">
              <a:off x="0" y="0"/>
              <a:ext cx="1700658" cy="2812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43"/>
                </a:lnSpc>
              </a:pPr>
              <a:r>
                <a:rPr lang="en-US" sz="1453" b="true">
                  <a:solidFill>
                    <a:srgbClr val="94A3B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끊긴 워크플로우</a:t>
              </a:r>
            </a:p>
          </p:txBody>
        </p:sp>
        <p:sp>
          <p:nvSpPr>
            <p:cNvPr name="TextBox 113" id="113"/>
            <p:cNvSpPr txBox="true"/>
            <p:nvPr/>
          </p:nvSpPr>
          <p:spPr>
            <a:xfrm rot="0">
              <a:off x="1776816" y="0"/>
              <a:ext cx="574362" cy="2812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43"/>
                </a:lnSpc>
              </a:pPr>
              <a:r>
                <a:rPr lang="en-US" sz="1453" b="true">
                  <a:solidFill>
                    <a:srgbClr val="FCA5A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23%</a:t>
              </a:r>
            </a:p>
          </p:txBody>
        </p:sp>
        <p:sp>
          <p:nvSpPr>
            <p:cNvPr name="TextBox 114" id="114"/>
            <p:cNvSpPr txBox="true"/>
            <p:nvPr/>
          </p:nvSpPr>
          <p:spPr>
            <a:xfrm rot="0">
              <a:off x="2427337" y="0"/>
              <a:ext cx="292946" cy="2812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43"/>
                </a:lnSpc>
              </a:pPr>
              <a:r>
                <a:rPr lang="en-US" sz="1453" b="true">
                  <a:solidFill>
                    <a:srgbClr val="64748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  <p:sp>
          <p:nvSpPr>
            <p:cNvPr name="TextBox 115" id="115"/>
            <p:cNvSpPr txBox="true"/>
            <p:nvPr/>
          </p:nvSpPr>
          <p:spPr>
            <a:xfrm rot="0">
              <a:off x="2796441" y="0"/>
              <a:ext cx="429163" cy="2812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43"/>
                </a:lnSpc>
              </a:pPr>
              <a:r>
                <a:rPr lang="en-US" sz="1453" b="true">
                  <a:solidFill>
                    <a:srgbClr val="6EE7B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0%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3064305" y="7992345"/>
            <a:ext cx="2264812" cy="426632"/>
            <a:chOff x="0" y="0"/>
            <a:chExt cx="2181949" cy="411023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181987" cy="410972"/>
            </a:xfrm>
            <a:custGeom>
              <a:avLst/>
              <a:gdLst/>
              <a:ahLst/>
              <a:cxnLst/>
              <a:rect r="r" b="b" t="t" l="l"/>
              <a:pathLst>
                <a:path h="410972" w="2181987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2080387" y="0"/>
                  </a:lnTo>
                  <a:cubicBezTo>
                    <a:pt x="2136521" y="0"/>
                    <a:pt x="2181987" y="45466"/>
                    <a:pt x="2181987" y="101600"/>
                  </a:cubicBezTo>
                  <a:lnTo>
                    <a:pt x="2181987" y="309372"/>
                  </a:lnTo>
                  <a:cubicBezTo>
                    <a:pt x="2181987" y="365506"/>
                    <a:pt x="2136521" y="410972"/>
                    <a:pt x="2080387" y="410972"/>
                  </a:cubicBezTo>
                  <a:lnTo>
                    <a:pt x="101600" y="410972"/>
                  </a:lnTo>
                  <a:cubicBezTo>
                    <a:pt x="45466" y="410972"/>
                    <a:pt x="0" y="365506"/>
                    <a:pt x="0" y="309372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13191731" y="8100203"/>
            <a:ext cx="2009958" cy="210917"/>
            <a:chOff x="0" y="0"/>
            <a:chExt cx="2679945" cy="281222"/>
          </a:xfrm>
        </p:grpSpPr>
        <p:sp>
          <p:nvSpPr>
            <p:cNvPr name="TextBox 119" id="119"/>
            <p:cNvSpPr txBox="true"/>
            <p:nvPr/>
          </p:nvSpPr>
          <p:spPr>
            <a:xfrm rot="0">
              <a:off x="0" y="0"/>
              <a:ext cx="1032948" cy="2812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43"/>
                </a:lnSpc>
              </a:pPr>
              <a:r>
                <a:rPr lang="en-US" sz="1453" b="true">
                  <a:solidFill>
                    <a:srgbClr val="94A3B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qa_pass</a:t>
              </a:r>
            </a:p>
          </p:txBody>
        </p:sp>
        <p:sp>
          <p:nvSpPr>
            <p:cNvPr name="TextBox 120" id="120"/>
            <p:cNvSpPr txBox="true"/>
            <p:nvPr/>
          </p:nvSpPr>
          <p:spPr>
            <a:xfrm rot="0">
              <a:off x="1109106" y="0"/>
              <a:ext cx="562779" cy="2812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43"/>
                </a:lnSpc>
              </a:pPr>
              <a:r>
                <a:rPr lang="en-US" sz="1453" b="true">
                  <a:solidFill>
                    <a:srgbClr val="FCA5A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0.45</a:t>
              </a:r>
            </a:p>
          </p:txBody>
        </p:sp>
        <p:sp>
          <p:nvSpPr>
            <p:cNvPr name="TextBox 121" id="121"/>
            <p:cNvSpPr txBox="true"/>
            <p:nvPr/>
          </p:nvSpPr>
          <p:spPr>
            <a:xfrm rot="0">
              <a:off x="1748061" y="0"/>
              <a:ext cx="292946" cy="2812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43"/>
                </a:lnSpc>
              </a:pPr>
              <a:r>
                <a:rPr lang="en-US" sz="1453" b="true">
                  <a:solidFill>
                    <a:srgbClr val="64748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  <p:sp>
          <p:nvSpPr>
            <p:cNvPr name="TextBox 122" id="122"/>
            <p:cNvSpPr txBox="true"/>
            <p:nvPr/>
          </p:nvSpPr>
          <p:spPr>
            <a:xfrm rot="0">
              <a:off x="2117166" y="0"/>
              <a:ext cx="562779" cy="2812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43"/>
                </a:lnSpc>
              </a:pPr>
              <a:r>
                <a:rPr lang="en-US" sz="1453" b="true">
                  <a:solidFill>
                    <a:srgbClr val="6EE7B7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0.75</a:t>
              </a:r>
            </a:p>
          </p:txBody>
        </p:sp>
      </p:grpSp>
      <p:sp>
        <p:nvSpPr>
          <p:cNvPr name="TextBox 123" id="123"/>
          <p:cNvSpPr txBox="true"/>
          <p:nvPr/>
        </p:nvSpPr>
        <p:spPr>
          <a:xfrm rot="0">
            <a:off x="10283828" y="8504109"/>
            <a:ext cx="7238590" cy="232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8"/>
              </a:lnSpc>
            </a:pPr>
            <a:r>
              <a:rPr lang="en-US" sz="12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soft 힌트 = 효과 0 · </a:t>
            </a:r>
            <a:r>
              <a:rPr lang="en-US" sz="12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구조는 코드가 강제</a:t>
            </a:r>
          </a:p>
        </p:txBody>
      </p:sp>
      <p:sp>
        <p:nvSpPr>
          <p:cNvPr name="TextBox 124" id="124"/>
          <p:cNvSpPr txBox="true"/>
          <p:nvPr/>
        </p:nvSpPr>
        <p:spPr>
          <a:xfrm rot="0">
            <a:off x="10283828" y="8773449"/>
            <a:ext cx="7238590" cy="231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⚠ 수치는 Composer 측정값 · SB는 온톨로지 Phase 2 배선 후 자체 측정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00100" y="7728139"/>
            <a:ext cx="16764000" cy="438150"/>
            <a:chOff x="0" y="0"/>
            <a:chExt cx="22352000" cy="584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352000" cy="584200"/>
            </a:xfrm>
            <a:custGeom>
              <a:avLst/>
              <a:gdLst/>
              <a:ahLst/>
              <a:cxnLst/>
              <a:rect r="r" b="b" t="t" l="l"/>
              <a:pathLst>
                <a:path h="584200" w="22352000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22199600" y="0"/>
                  </a:lnTo>
                  <a:cubicBezTo>
                    <a:pt x="22283801" y="0"/>
                    <a:pt x="22352000" y="68199"/>
                    <a:pt x="22352000" y="152400"/>
                  </a:cubicBezTo>
                  <a:lnTo>
                    <a:pt x="22352000" y="431800"/>
                  </a:lnTo>
                  <a:cubicBezTo>
                    <a:pt x="22352000" y="516001"/>
                    <a:pt x="22283801" y="584200"/>
                    <a:pt x="22199600" y="584200"/>
                  </a:cubicBezTo>
                  <a:lnTo>
                    <a:pt x="152400" y="584200"/>
                  </a:lnTo>
                  <a:cubicBezTo>
                    <a:pt x="68199" y="584200"/>
                    <a:pt x="0" y="516001"/>
                    <a:pt x="0" y="43180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09650" y="7714994"/>
            <a:ext cx="627936" cy="464439"/>
            <a:chOff x="0" y="0"/>
            <a:chExt cx="837248" cy="61925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37248" cy="619252"/>
            </a:xfrm>
            <a:custGeom>
              <a:avLst/>
              <a:gdLst/>
              <a:ahLst/>
              <a:cxnLst/>
              <a:rect r="r" b="b" t="t" l="l"/>
              <a:pathLst>
                <a:path h="619252" w="837248">
                  <a:moveTo>
                    <a:pt x="0" y="0"/>
                  </a:moveTo>
                  <a:lnTo>
                    <a:pt x="837248" y="0"/>
                  </a:lnTo>
                  <a:lnTo>
                    <a:pt x="837248" y="619252"/>
                  </a:lnTo>
                  <a:lnTo>
                    <a:pt x="0" y="6192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34" r="0" b="4904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837248" cy="619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39"/>
                </a:lnSpc>
              </a:pPr>
              <a:r>
                <a:rPr lang="en-US" sz="1200" b="true">
                  <a:solidFill>
                    <a:srgbClr val="FCA5A5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⚠️ §6.6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720139" y="7802815"/>
            <a:ext cx="8861155" cy="231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2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GraphRAG 회수를 </a:t>
            </a:r>
            <a:r>
              <a:rPr lang="en-US" sz="1200" b="true">
                <a:solidFill>
                  <a:srgbClr val="FCA5A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LLM 힌트로만 = 효과 0</a:t>
            </a:r>
            <a:r>
              <a:rPr lang="en-US" sz="12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. 반드시 </a:t>
            </a:r>
            <a:r>
              <a:rPr lang="en-US" sz="12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“결정적 구조 선택”</a:t>
            </a:r>
            <a:r>
              <a:rPr lang="en-US" sz="12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에 사용 — LLM은 파라미터·설명만.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970691" y="7875776"/>
            <a:ext cx="624726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0"/>
              </a:lnSpc>
            </a:pPr>
            <a:r>
              <a:rPr lang="en-US" sz="975" b="true">
                <a:solidFill>
                  <a:srgbClr val="E2E8F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QA_PASS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601761" y="7875776"/>
            <a:ext cx="295437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0"/>
              </a:lnSpc>
            </a:pPr>
            <a:r>
              <a:rPr lang="en-US" sz="975" b="true">
                <a:solidFill>
                  <a:srgbClr val="FCA5A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0.45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903541" y="7875776"/>
            <a:ext cx="200025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0"/>
              </a:lnSpc>
            </a:pPr>
            <a:r>
              <a:rPr lang="en-US" sz="975" b="true">
                <a:solidFill>
                  <a:srgbClr val="E2E8F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→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109919" y="7875776"/>
            <a:ext cx="295437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0"/>
              </a:lnSpc>
            </a:pPr>
            <a:r>
              <a:rPr lang="en-US" sz="975" b="true">
                <a:solidFill>
                  <a:srgbClr val="6EE7B7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0.75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800100" y="2804292"/>
            <a:ext cx="6341269" cy="4682103"/>
            <a:chOff x="0" y="0"/>
            <a:chExt cx="8455025" cy="624280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455025" cy="6242756"/>
            </a:xfrm>
            <a:custGeom>
              <a:avLst/>
              <a:gdLst/>
              <a:ahLst/>
              <a:cxnLst/>
              <a:rect r="r" b="b" t="t" l="l"/>
              <a:pathLst>
                <a:path h="6242756" w="8455025">
                  <a:moveTo>
                    <a:pt x="0" y="141576"/>
                  </a:moveTo>
                  <a:cubicBezTo>
                    <a:pt x="0" y="63426"/>
                    <a:pt x="85344" y="0"/>
                    <a:pt x="190500" y="0"/>
                  </a:cubicBezTo>
                  <a:lnTo>
                    <a:pt x="8264525" y="0"/>
                  </a:lnTo>
                  <a:cubicBezTo>
                    <a:pt x="8369681" y="0"/>
                    <a:pt x="8455025" y="63426"/>
                    <a:pt x="8455025" y="141576"/>
                  </a:cubicBezTo>
                  <a:lnTo>
                    <a:pt x="8455025" y="6101180"/>
                  </a:lnTo>
                  <a:cubicBezTo>
                    <a:pt x="8455025" y="6179330"/>
                    <a:pt x="8369681" y="6242756"/>
                    <a:pt x="8264525" y="6242756"/>
                  </a:cubicBezTo>
                  <a:lnTo>
                    <a:pt x="190500" y="6242756"/>
                  </a:lnTo>
                  <a:cubicBezTo>
                    <a:pt x="85344" y="6242756"/>
                    <a:pt x="0" y="6179330"/>
                    <a:pt x="0" y="61011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00100" y="2804292"/>
            <a:ext cx="6341269" cy="45720"/>
            <a:chOff x="0" y="0"/>
            <a:chExt cx="8455025" cy="6096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455025" cy="60960"/>
            </a:xfrm>
            <a:custGeom>
              <a:avLst/>
              <a:gdLst/>
              <a:ahLst/>
              <a:cxnLst/>
              <a:rect r="r" b="b" t="t" l="l"/>
              <a:pathLst>
                <a:path h="60960" w="8455025">
                  <a:moveTo>
                    <a:pt x="0" y="0"/>
                  </a:moveTo>
                  <a:lnTo>
                    <a:pt x="8455025" y="0"/>
                  </a:lnTo>
                  <a:lnTo>
                    <a:pt x="8455025" y="60960"/>
                  </a:lnTo>
                  <a:lnTo>
                    <a:pt x="0" y="60960"/>
                  </a:lnTo>
                  <a:close/>
                </a:path>
              </a:pathLst>
            </a:custGeom>
            <a:solidFill>
              <a:srgbClr val="FECACA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41648" y="3036702"/>
            <a:ext cx="1229286" cy="312420"/>
            <a:chOff x="0" y="0"/>
            <a:chExt cx="1639048" cy="41656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639003" cy="416560"/>
            </a:xfrm>
            <a:custGeom>
              <a:avLst/>
              <a:gdLst/>
              <a:ahLst/>
              <a:cxnLst/>
              <a:rect r="r" b="b" t="t" l="l"/>
              <a:pathLst>
                <a:path h="416560" w="1639003">
                  <a:moveTo>
                    <a:pt x="0" y="208280"/>
                  </a:moveTo>
                  <a:cubicBezTo>
                    <a:pt x="0" y="93218"/>
                    <a:pt x="108665" y="0"/>
                    <a:pt x="242793" y="0"/>
                  </a:cubicBezTo>
                  <a:lnTo>
                    <a:pt x="1396210" y="0"/>
                  </a:lnTo>
                  <a:cubicBezTo>
                    <a:pt x="1530338" y="0"/>
                    <a:pt x="1639003" y="93218"/>
                    <a:pt x="1639003" y="208280"/>
                  </a:cubicBezTo>
                  <a:cubicBezTo>
                    <a:pt x="1639003" y="323342"/>
                    <a:pt x="1530338" y="416560"/>
                    <a:pt x="1396210" y="416560"/>
                  </a:cubicBezTo>
                  <a:lnTo>
                    <a:pt x="242793" y="416560"/>
                  </a:lnTo>
                  <a:cubicBezTo>
                    <a:pt x="108665" y="416560"/>
                    <a:pt x="0" y="323342"/>
                    <a:pt x="0" y="208280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F66C4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083929" y="3110682"/>
            <a:ext cx="1144723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"/>
              </a:lnSpc>
            </a:pPr>
            <a:r>
              <a:rPr lang="en-US" b="true" sz="1100" spc="44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현재 · 가동 ✅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99031" y="3077345"/>
            <a:ext cx="1790976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in-code 결정적 조립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013460" y="6658745"/>
            <a:ext cx="5914549" cy="643890"/>
            <a:chOff x="0" y="0"/>
            <a:chExt cx="7886065" cy="858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886065" cy="858520"/>
            </a:xfrm>
            <a:custGeom>
              <a:avLst/>
              <a:gdLst/>
              <a:ahLst/>
              <a:cxnLst/>
              <a:rect r="r" b="b" t="t" l="l"/>
              <a:pathLst>
                <a:path h="858520" w="7886065">
                  <a:moveTo>
                    <a:pt x="0" y="128524"/>
                  </a:moveTo>
                  <a:cubicBezTo>
                    <a:pt x="0" y="57531"/>
                    <a:pt x="57531" y="0"/>
                    <a:pt x="128524" y="0"/>
                  </a:cubicBezTo>
                  <a:lnTo>
                    <a:pt x="7757541" y="0"/>
                  </a:lnTo>
                  <a:cubicBezTo>
                    <a:pt x="7828535" y="0"/>
                    <a:pt x="7886065" y="57531"/>
                    <a:pt x="7886065" y="128524"/>
                  </a:cubicBezTo>
                  <a:lnTo>
                    <a:pt x="7886065" y="729996"/>
                  </a:lnTo>
                  <a:cubicBezTo>
                    <a:pt x="7886065" y="800989"/>
                    <a:pt x="7828535" y="858520"/>
                    <a:pt x="7757541" y="858520"/>
                  </a:cubicBezTo>
                  <a:lnTo>
                    <a:pt x="128524" y="858520"/>
                  </a:lnTo>
                  <a:cubicBezTo>
                    <a:pt x="57531" y="858520"/>
                    <a:pt x="0" y="800989"/>
                    <a:pt x="0" y="729996"/>
                  </a:cubicBezTo>
                  <a:close/>
                </a:path>
              </a:pathLst>
            </a:custGeom>
            <a:solidFill>
              <a:srgbClr val="FEF2F2"/>
            </a:solidFill>
            <a:ln w="7620" cap="sq">
              <a:solidFill>
                <a:srgbClr val="FECACA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193168" y="6737993"/>
            <a:ext cx="5511956" cy="437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8"/>
              </a:lnSpc>
            </a:pPr>
            <a:r>
              <a:rPr lang="en-US" sz="1100" b="true">
                <a:solidFill>
                  <a:srgbClr val="B91C1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한계 — </a:t>
            </a:r>
            <a:r>
              <a:rPr lang="en-US" sz="1100">
                <a:solidFill>
                  <a:srgbClr val="B91C1C"/>
                </a:solidFill>
                <a:latin typeface="Noto Sans Kr"/>
                <a:ea typeface="Noto Sans Kr"/>
                <a:cs typeface="Noto Sans Kr"/>
                <a:sym typeface="Noto Sans Kr"/>
              </a:rPr>
              <a:t>도메인 제약·필수·금지 규칙층이 없다. </a:t>
            </a:r>
          </a:p>
          <a:p>
            <a:pPr algn="l">
              <a:lnSpc>
                <a:spcPts val="1848"/>
              </a:lnSpc>
            </a:pPr>
            <a:r>
              <a:rPr lang="en-US" sz="1100">
                <a:solidFill>
                  <a:srgbClr val="B91C1C"/>
                </a:solidFill>
                <a:latin typeface="Noto Sans Kr"/>
                <a:ea typeface="Noto Sans Kr"/>
                <a:cs typeface="Noto Sans Kr"/>
                <a:sym typeface="Noto Sans Kr"/>
              </a:rPr>
              <a:t>현 그래프엔 </a:t>
            </a:r>
            <a:r>
              <a:rPr lang="en-US" sz="1100">
                <a:solidFill>
                  <a:srgbClr val="9F1239"/>
                </a:solidFill>
                <a:latin typeface="Noto Sans Kr"/>
                <a:ea typeface="Noto Sans Kr"/>
                <a:cs typeface="Noto Sans Kr"/>
                <a:sym typeface="Noto Sans Kr"/>
              </a:rPr>
              <a:t>REQUIRES + SlotSpec.required </a:t>
            </a:r>
            <a:r>
              <a:rPr lang="en-US" sz="1100">
                <a:solidFill>
                  <a:srgbClr val="B91C1C"/>
                </a:solidFill>
                <a:latin typeface="Noto Sans Kr"/>
                <a:ea typeface="Noto Sans Kr"/>
                <a:cs typeface="Noto Sans Kr"/>
                <a:sym typeface="Noto Sans Kr"/>
              </a:rPr>
              <a:t>뿐.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7331869" y="2804292"/>
            <a:ext cx="10156031" cy="4682103"/>
            <a:chOff x="0" y="0"/>
            <a:chExt cx="13541375" cy="6242803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3541375" cy="6242756"/>
            </a:xfrm>
            <a:custGeom>
              <a:avLst/>
              <a:gdLst/>
              <a:ahLst/>
              <a:cxnLst/>
              <a:rect r="r" b="b" t="t" l="l"/>
              <a:pathLst>
                <a:path h="6242756" w="13541375">
                  <a:moveTo>
                    <a:pt x="0" y="141576"/>
                  </a:moveTo>
                  <a:cubicBezTo>
                    <a:pt x="0" y="63426"/>
                    <a:pt x="85344" y="0"/>
                    <a:pt x="190500" y="0"/>
                  </a:cubicBezTo>
                  <a:lnTo>
                    <a:pt x="13350875" y="0"/>
                  </a:lnTo>
                  <a:cubicBezTo>
                    <a:pt x="13456031" y="0"/>
                    <a:pt x="13541375" y="63426"/>
                    <a:pt x="13541375" y="141576"/>
                  </a:cubicBezTo>
                  <a:lnTo>
                    <a:pt x="13541375" y="6101180"/>
                  </a:lnTo>
                  <a:cubicBezTo>
                    <a:pt x="13541375" y="6179330"/>
                    <a:pt x="13456031" y="6242756"/>
                    <a:pt x="13350875" y="6242756"/>
                  </a:cubicBezTo>
                  <a:lnTo>
                    <a:pt x="190500" y="6242756"/>
                  </a:lnTo>
                  <a:cubicBezTo>
                    <a:pt x="85344" y="6242756"/>
                    <a:pt x="0" y="6179330"/>
                    <a:pt x="0" y="61011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331869" y="2804292"/>
            <a:ext cx="10156031" cy="45720"/>
            <a:chOff x="0" y="0"/>
            <a:chExt cx="13541375" cy="609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3541375" cy="60960"/>
            </a:xfrm>
            <a:custGeom>
              <a:avLst/>
              <a:gdLst/>
              <a:ahLst/>
              <a:cxnLst/>
              <a:rect r="r" b="b" t="t" l="l"/>
              <a:pathLst>
                <a:path h="60960" w="13541375">
                  <a:moveTo>
                    <a:pt x="0" y="0"/>
                  </a:moveTo>
                  <a:lnTo>
                    <a:pt x="13541375" y="0"/>
                  </a:lnTo>
                  <a:lnTo>
                    <a:pt x="13541375" y="60960"/>
                  </a:lnTo>
                  <a:lnTo>
                    <a:pt x="0" y="60960"/>
                  </a:lnTo>
                  <a:close/>
                </a:path>
              </a:pathLst>
            </a:custGeom>
            <a:solidFill>
              <a:srgbClr val="EC4899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545229" y="3036702"/>
            <a:ext cx="1213990" cy="312420"/>
            <a:chOff x="0" y="0"/>
            <a:chExt cx="1618653" cy="4165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618653" cy="416560"/>
            </a:xfrm>
            <a:custGeom>
              <a:avLst/>
              <a:gdLst/>
              <a:ahLst/>
              <a:cxnLst/>
              <a:rect r="r" b="b" t="t" l="l"/>
              <a:pathLst>
                <a:path h="416560" w="1618653">
                  <a:moveTo>
                    <a:pt x="0" y="208280"/>
                  </a:moveTo>
                  <a:cubicBezTo>
                    <a:pt x="0" y="93218"/>
                    <a:pt x="113802" y="0"/>
                    <a:pt x="254271" y="0"/>
                  </a:cubicBezTo>
                  <a:lnTo>
                    <a:pt x="1364382" y="0"/>
                  </a:lnTo>
                  <a:cubicBezTo>
                    <a:pt x="1504851" y="0"/>
                    <a:pt x="1618653" y="93218"/>
                    <a:pt x="1618653" y="208280"/>
                  </a:cubicBezTo>
                  <a:cubicBezTo>
                    <a:pt x="1618653" y="323342"/>
                    <a:pt x="1504851" y="416560"/>
                    <a:pt x="1364382" y="416560"/>
                  </a:cubicBezTo>
                  <a:lnTo>
                    <a:pt x="254271" y="416560"/>
                  </a:lnTo>
                  <a:cubicBezTo>
                    <a:pt x="113802" y="416560"/>
                    <a:pt x="0" y="323342"/>
                    <a:pt x="0" y="208280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8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7654105" y="3111949"/>
            <a:ext cx="996238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"/>
              </a:lnSpc>
            </a:pPr>
            <a:r>
              <a:rPr lang="en-US" b="true" sz="1100" spc="44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목표 · 🔜 §8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913614" y="3077345"/>
            <a:ext cx="174514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800"/>
              </a:lnSpc>
              <a:spcBef>
                <a:spcPct val="0"/>
              </a:spcBef>
            </a:pPr>
            <a:r>
              <a:rPr lang="en-US" b="true" sz="1500" strike="noStrike" u="non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온톨로지 통합 3 지점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7545229" y="3512952"/>
            <a:ext cx="9729311" cy="1393508"/>
            <a:chOff x="0" y="0"/>
            <a:chExt cx="12972415" cy="185801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2972415" cy="1858010"/>
            </a:xfrm>
            <a:custGeom>
              <a:avLst/>
              <a:gdLst/>
              <a:ahLst/>
              <a:cxnLst/>
              <a:rect r="r" b="b" t="t" l="l"/>
              <a:pathLst>
                <a:path h="1858010" w="12972415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12831953" y="0"/>
                  </a:lnTo>
                  <a:cubicBezTo>
                    <a:pt x="12909550" y="0"/>
                    <a:pt x="12972415" y="62865"/>
                    <a:pt x="12972415" y="140462"/>
                  </a:cubicBezTo>
                  <a:lnTo>
                    <a:pt x="12972415" y="1717548"/>
                  </a:lnTo>
                  <a:cubicBezTo>
                    <a:pt x="12972415" y="1795145"/>
                    <a:pt x="12909550" y="1858010"/>
                    <a:pt x="12831953" y="1858010"/>
                  </a:cubicBezTo>
                  <a:lnTo>
                    <a:pt x="140462" y="1858010"/>
                  </a:lnTo>
                  <a:cubicBezTo>
                    <a:pt x="62865" y="1858010"/>
                    <a:pt x="0" y="1795145"/>
                    <a:pt x="0" y="1717548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8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7724937" y="3625985"/>
            <a:ext cx="152400" cy="211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1200" b="true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963062" y="3625985"/>
            <a:ext cx="2893933" cy="213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163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도메인 스켈레톤 + ground truth </a:t>
            </a:r>
            <a:r>
              <a:rPr lang="en-US" sz="1163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(필수·금지)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7937659" y="3913002"/>
            <a:ext cx="9182576" cy="867727"/>
            <a:chOff x="0" y="0"/>
            <a:chExt cx="12243435" cy="115697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2243435" cy="1156970"/>
            </a:xfrm>
            <a:custGeom>
              <a:avLst/>
              <a:gdLst/>
              <a:ahLst/>
              <a:cxnLst/>
              <a:rect r="r" b="b" t="t" l="l"/>
              <a:pathLst>
                <a:path h="1156970" w="12243435">
                  <a:moveTo>
                    <a:pt x="0" y="101600"/>
                  </a:moveTo>
                  <a:cubicBezTo>
                    <a:pt x="0" y="45466"/>
                    <a:pt x="45466" y="0"/>
                    <a:pt x="101600" y="0"/>
                  </a:cubicBezTo>
                  <a:lnTo>
                    <a:pt x="12141835" y="0"/>
                  </a:lnTo>
                  <a:cubicBezTo>
                    <a:pt x="12197969" y="0"/>
                    <a:pt x="12243435" y="45466"/>
                    <a:pt x="12243435" y="101600"/>
                  </a:cubicBezTo>
                  <a:lnTo>
                    <a:pt x="12243435" y="1055370"/>
                  </a:lnTo>
                  <a:cubicBezTo>
                    <a:pt x="12243435" y="1111504"/>
                    <a:pt x="12197969" y="1156970"/>
                    <a:pt x="12141835" y="1156970"/>
                  </a:cubicBezTo>
                  <a:lnTo>
                    <a:pt x="101600" y="1156970"/>
                  </a:lnTo>
                  <a:cubicBezTo>
                    <a:pt x="45466" y="1156970"/>
                    <a:pt x="0" y="1111504"/>
                    <a:pt x="0" y="1055370"/>
                  </a:cubicBezTo>
                  <a:close/>
                </a:path>
              </a:pathLst>
            </a:custGeom>
            <a:solidFill>
              <a:srgbClr val="0E1422"/>
            </a:solid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8077362" y="3986030"/>
            <a:ext cx="2297787" cy="168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4"/>
              </a:lnSpc>
            </a:pPr>
            <a:r>
              <a:rPr lang="en-US" sz="9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(:Domain)-[</a:t>
            </a:r>
            <a:r>
              <a:rPr lang="en-US" sz="900">
                <a:solidFill>
                  <a:srgbClr val="F9A8D4"/>
                </a:solidFill>
                <a:latin typeface="Noto Sans Kr"/>
                <a:ea typeface="Noto Sans Kr"/>
                <a:cs typeface="Noto Sans Kr"/>
                <a:sym typeface="Noto Sans Kr"/>
              </a:rPr>
              <a:t>:USES_SKELETON</a:t>
            </a:r>
            <a:r>
              <a:rPr lang="en-US" sz="9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]→(:Skeleton)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077362" y="4172720"/>
            <a:ext cx="2113002" cy="168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4"/>
              </a:lnSpc>
            </a:pPr>
            <a:r>
              <a:rPr lang="en-US" sz="9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(:Domain)-[</a:t>
            </a:r>
            <a:r>
              <a:rPr lang="en-US" sz="900">
                <a:solidFill>
                  <a:srgbClr val="F9A8D4"/>
                </a:solidFill>
                <a:latin typeface="Noto Sans Kr"/>
                <a:ea typeface="Noto Sans Kr"/>
                <a:cs typeface="Noto Sans Kr"/>
                <a:sym typeface="Noto Sans Kr"/>
              </a:rPr>
              <a:t>:REQUIRES_NODE</a:t>
            </a:r>
            <a:r>
              <a:rPr lang="en-US" sz="9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]→(:Node)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077362" y="4359410"/>
            <a:ext cx="2581394" cy="168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4"/>
              </a:lnSpc>
            </a:pPr>
            <a:r>
              <a:rPr lang="en-US" sz="9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(:Domain)-[</a:t>
            </a:r>
            <a:r>
              <a:rPr lang="en-US" sz="900">
                <a:solidFill>
                  <a:srgbClr val="F9A8D4"/>
                </a:solidFill>
                <a:latin typeface="Noto Sans Kr"/>
                <a:ea typeface="Noto Sans Kr"/>
                <a:cs typeface="Noto Sans Kr"/>
                <a:sym typeface="Noto Sans Kr"/>
              </a:rPr>
              <a:t>:FORBIDS</a:t>
            </a:r>
            <a:r>
              <a:rPr lang="en-US" sz="900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]→(:Node) ← 음수 제약(신규)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077362" y="4555625"/>
            <a:ext cx="2568893" cy="1527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87"/>
              </a:lnSpc>
            </a:pPr>
            <a:r>
              <a:rPr lang="en-US" sz="825">
                <a:solidFill>
                  <a:srgbClr val="FCA5A5"/>
                </a:solidFill>
                <a:latin typeface="Noto Sans Kr"/>
                <a:ea typeface="Noto Sans Kr"/>
                <a:cs typeface="Noto Sans Kr"/>
                <a:sym typeface="Noto Sans Kr"/>
              </a:rPr>
              <a:t>⚠ :Domain / :FORBIDS 는 미확정 제안 — 명명 합의 필요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7545229" y="5003614"/>
            <a:ext cx="9729311" cy="673894"/>
            <a:chOff x="0" y="0"/>
            <a:chExt cx="12972415" cy="89852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2972542" cy="898652"/>
            </a:xfrm>
            <a:custGeom>
              <a:avLst/>
              <a:gdLst/>
              <a:ahLst/>
              <a:cxnLst/>
              <a:rect r="r" b="b" t="t" l="l"/>
              <a:pathLst>
                <a:path h="898652" w="12972542">
                  <a:moveTo>
                    <a:pt x="0" y="141351"/>
                  </a:moveTo>
                  <a:cubicBezTo>
                    <a:pt x="0" y="63246"/>
                    <a:pt x="63246" y="0"/>
                    <a:pt x="141351" y="0"/>
                  </a:cubicBezTo>
                  <a:lnTo>
                    <a:pt x="12831191" y="0"/>
                  </a:lnTo>
                  <a:cubicBezTo>
                    <a:pt x="12909169" y="0"/>
                    <a:pt x="12972542" y="63246"/>
                    <a:pt x="12972542" y="141351"/>
                  </a:cubicBezTo>
                  <a:lnTo>
                    <a:pt x="12972542" y="757301"/>
                  </a:lnTo>
                  <a:cubicBezTo>
                    <a:pt x="12972542" y="835279"/>
                    <a:pt x="12909297" y="898652"/>
                    <a:pt x="12831191" y="898652"/>
                  </a:cubicBezTo>
                  <a:lnTo>
                    <a:pt x="141351" y="898652"/>
                  </a:lnTo>
                  <a:cubicBezTo>
                    <a:pt x="63246" y="898525"/>
                    <a:pt x="0" y="835279"/>
                    <a:pt x="0" y="757174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8"/>
              </a:solidFill>
              <a:prstDash val="solid"/>
              <a:miter/>
            </a:ln>
          </p:spPr>
        </p:sp>
      </p:grpSp>
      <p:sp>
        <p:nvSpPr>
          <p:cNvPr name="TextBox 43" id="43"/>
          <p:cNvSpPr txBox="true"/>
          <p:nvPr/>
        </p:nvSpPr>
        <p:spPr>
          <a:xfrm rot="0">
            <a:off x="7724937" y="5116647"/>
            <a:ext cx="152400" cy="211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1200" b="true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7963062" y="5116647"/>
            <a:ext cx="2941677" cy="213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163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스킬 후보 임베딩 → GraphRAG → </a:t>
            </a:r>
            <a:r>
              <a:rPr lang="en-US" sz="1163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SKILL.md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7963062" y="5371917"/>
            <a:ext cx="9414396" cy="171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8"/>
              </a:lnSpc>
            </a:pPr>
            <a:r>
              <a:rPr lang="en-US" sz="900">
                <a:solidFill>
                  <a:srgbClr val="BE185D"/>
                </a:solidFill>
                <a:latin typeface="Noto Sans Kr"/>
                <a:ea typeface="Noto Sans Kr"/>
                <a:cs typeface="Noto Sans Kr"/>
                <a:sym typeface="Noto Sans Kr"/>
              </a:rPr>
              <a:t>BGE-M3 · EmbedderPort 재사용 </a:t>
            </a:r>
            <a:r>
              <a:rPr lang="en-US" sz="9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→ 도메인 최적 구조 결정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7545229" y="5774663"/>
            <a:ext cx="9729311" cy="673894"/>
            <a:chOff x="0" y="0"/>
            <a:chExt cx="12972415" cy="898525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2972542" cy="898652"/>
            </a:xfrm>
            <a:custGeom>
              <a:avLst/>
              <a:gdLst/>
              <a:ahLst/>
              <a:cxnLst/>
              <a:rect r="r" b="b" t="t" l="l"/>
              <a:pathLst>
                <a:path h="898652" w="12972542">
                  <a:moveTo>
                    <a:pt x="0" y="141351"/>
                  </a:moveTo>
                  <a:cubicBezTo>
                    <a:pt x="0" y="63246"/>
                    <a:pt x="63246" y="0"/>
                    <a:pt x="141351" y="0"/>
                  </a:cubicBezTo>
                  <a:lnTo>
                    <a:pt x="12831191" y="0"/>
                  </a:lnTo>
                  <a:cubicBezTo>
                    <a:pt x="12909169" y="0"/>
                    <a:pt x="12972542" y="63246"/>
                    <a:pt x="12972542" y="141351"/>
                  </a:cubicBezTo>
                  <a:lnTo>
                    <a:pt x="12972542" y="757301"/>
                  </a:lnTo>
                  <a:cubicBezTo>
                    <a:pt x="12972542" y="835279"/>
                    <a:pt x="12909297" y="898652"/>
                    <a:pt x="12831191" y="898652"/>
                  </a:cubicBezTo>
                  <a:lnTo>
                    <a:pt x="141351" y="898652"/>
                  </a:lnTo>
                  <a:cubicBezTo>
                    <a:pt x="63246" y="898525"/>
                    <a:pt x="0" y="835279"/>
                    <a:pt x="0" y="757174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8"/>
              </a:solidFill>
              <a:prstDash val="solid"/>
              <a:miter/>
            </a:ln>
          </p:spPr>
        </p:sp>
      </p:grpSp>
      <p:sp>
        <p:nvSpPr>
          <p:cNvPr name="TextBox 48" id="48"/>
          <p:cNvSpPr txBox="true"/>
          <p:nvPr/>
        </p:nvSpPr>
        <p:spPr>
          <a:xfrm rot="0">
            <a:off x="7724937" y="5887696"/>
            <a:ext cx="152400" cy="211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1200" b="true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③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963062" y="5887696"/>
            <a:ext cx="3418999" cy="213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4"/>
              </a:lnSpc>
            </a:pPr>
            <a:r>
              <a:rPr lang="en-US" sz="1163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composer와 동일 온톨로지 조회 → </a:t>
            </a:r>
            <a:r>
              <a:rPr lang="en-US" sz="1163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COMPOSER.md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7963062" y="6142966"/>
            <a:ext cx="9414396" cy="171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8"/>
              </a:lnSpc>
            </a:pPr>
            <a:r>
              <a:rPr lang="en-US" sz="900">
                <a:solidFill>
                  <a:srgbClr val="BE185D"/>
                </a:solidFill>
                <a:latin typeface="Noto Sans Kr"/>
                <a:ea typeface="Noto Sans Kr"/>
                <a:cs typeface="Noto Sans Kr"/>
                <a:sym typeface="Noto Sans Kr"/>
              </a:rPr>
              <a:t>OntologyRetrieverPort.expand_candidates </a:t>
            </a:r>
            <a:r>
              <a:rPr lang="en-US" sz="9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· 같은 Neo4j 1개 공유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7549039" y="6746013"/>
            <a:ext cx="9721691" cy="9525"/>
            <a:chOff x="0" y="0"/>
            <a:chExt cx="12962255" cy="127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2962255" cy="12700"/>
            </a:xfrm>
            <a:custGeom>
              <a:avLst/>
              <a:gdLst/>
              <a:ahLst/>
              <a:cxnLst/>
              <a:rect r="r" b="b" t="t" l="l"/>
              <a:pathLst>
                <a:path h="12700" w="12962255">
                  <a:moveTo>
                    <a:pt x="0" y="0"/>
                  </a:moveTo>
                  <a:lnTo>
                    <a:pt x="12962255" y="0"/>
                  </a:lnTo>
                  <a:lnTo>
                    <a:pt x="12962255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53" id="53"/>
          <p:cNvSpPr txBox="true"/>
          <p:nvPr/>
        </p:nvSpPr>
        <p:spPr>
          <a:xfrm rot="0">
            <a:off x="1069343" y="3515495"/>
            <a:ext cx="5445281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0669" indent="-140335" lvl="1">
              <a:lnSpc>
                <a:spcPts val="2534"/>
              </a:lnSpc>
              <a:buFont typeface="Arial"/>
              <a:buChar char="•"/>
            </a:pP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skeleton_library.py·</a:t>
            </a:r>
            <a:r>
              <a:rPr lang="en-US" b="true" sz="1299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SKELETONS 8종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(도메인 무관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범용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모티프)</a:t>
            </a:r>
          </a:p>
          <a:p>
            <a:pPr algn="l" marL="280669" indent="-140335" lvl="1">
              <a:lnSpc>
                <a:spcPts val="2534"/>
              </a:lnSpc>
              <a:buFont typeface="Arial"/>
              <a:buChar char="•"/>
            </a:pP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SkeletonEntityExtractor·</a:t>
            </a:r>
            <a:r>
              <a:rPr lang="en-US" b="true" sz="1299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키워드 매칭</a:t>
            </a:r>
          </a:p>
          <a:p>
            <a:pPr algn="l" marL="280669" indent="-140335" lvl="1">
              <a:lnSpc>
                <a:spcPts val="2534"/>
              </a:lnSpc>
              <a:buFont typeface="Arial"/>
              <a:buChar char="•"/>
            </a:pP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SkeletonC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om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p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o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s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e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rMapper→ COMPOSER.md + 정밀 BINDS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7545229" y="6925445"/>
            <a:ext cx="3060144" cy="377190"/>
            <a:chOff x="0" y="0"/>
            <a:chExt cx="4080192" cy="5029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4080256" cy="502920"/>
            </a:xfrm>
            <a:custGeom>
              <a:avLst/>
              <a:gdLst/>
              <a:ahLst/>
              <a:cxnLst/>
              <a:rect r="r" b="b" t="t" l="l"/>
              <a:pathLst>
                <a:path h="502920" w="4080256">
                  <a:moveTo>
                    <a:pt x="0" y="103759"/>
                  </a:moveTo>
                  <a:cubicBezTo>
                    <a:pt x="0" y="46482"/>
                    <a:pt x="46482" y="0"/>
                    <a:pt x="103759" y="0"/>
                  </a:cubicBezTo>
                  <a:lnTo>
                    <a:pt x="3976497" y="0"/>
                  </a:lnTo>
                  <a:cubicBezTo>
                    <a:pt x="4033774" y="0"/>
                    <a:pt x="4080256" y="46482"/>
                    <a:pt x="4080256" y="103759"/>
                  </a:cubicBezTo>
                  <a:lnTo>
                    <a:pt x="4080256" y="399161"/>
                  </a:lnTo>
                  <a:cubicBezTo>
                    <a:pt x="4080256" y="456438"/>
                    <a:pt x="4033774" y="502920"/>
                    <a:pt x="3976497" y="502920"/>
                  </a:cubicBezTo>
                  <a:lnTo>
                    <a:pt x="103759" y="502920"/>
                  </a:lnTo>
                  <a:cubicBezTo>
                    <a:pt x="46482" y="502920"/>
                    <a:pt x="0" y="456438"/>
                    <a:pt x="0" y="399161"/>
                  </a:cubicBezTo>
                  <a:close/>
                </a:path>
              </a:pathLst>
            </a:custGeom>
            <a:solidFill>
              <a:srgbClr val="FBF6EF"/>
            </a:solidFill>
            <a:ln w="7620" cap="sq">
              <a:solidFill>
                <a:srgbClr val="EADFCF"/>
              </a:solidFill>
              <a:prstDash val="solid"/>
              <a:miter/>
            </a:ln>
          </p:spPr>
        </p:sp>
      </p:grpSp>
      <p:sp>
        <p:nvSpPr>
          <p:cNvPr name="TextBox 56" id="56"/>
          <p:cNvSpPr txBox="true"/>
          <p:nvPr/>
        </p:nvSpPr>
        <p:spPr>
          <a:xfrm rot="0">
            <a:off x="7641045" y="7023553"/>
            <a:ext cx="2868511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>
                <a:solidFill>
                  <a:srgbClr val="9A3412"/>
                </a:solidFill>
                <a:latin typeface="Noto Sans Kr"/>
                <a:ea typeface="Noto Sans Kr"/>
                <a:cs typeface="Noto Sans Kr"/>
                <a:sym typeface="Noto Sans Kr"/>
              </a:rPr>
              <a:t>⚠ :Domain/:FORBIDS 미확정 — 명명 합의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0673953" y="6925445"/>
            <a:ext cx="3644379" cy="377190"/>
            <a:chOff x="0" y="0"/>
            <a:chExt cx="4859172" cy="50292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859274" cy="502920"/>
            </a:xfrm>
            <a:custGeom>
              <a:avLst/>
              <a:gdLst/>
              <a:ahLst/>
              <a:cxnLst/>
              <a:rect r="r" b="b" t="t" l="l"/>
              <a:pathLst>
                <a:path h="502920" w="4859274">
                  <a:moveTo>
                    <a:pt x="0" y="103759"/>
                  </a:moveTo>
                  <a:cubicBezTo>
                    <a:pt x="0" y="46482"/>
                    <a:pt x="46482" y="0"/>
                    <a:pt x="103759" y="0"/>
                  </a:cubicBezTo>
                  <a:lnTo>
                    <a:pt x="4755515" y="0"/>
                  </a:lnTo>
                  <a:cubicBezTo>
                    <a:pt x="4812792" y="0"/>
                    <a:pt x="4859274" y="46482"/>
                    <a:pt x="4859274" y="103759"/>
                  </a:cubicBezTo>
                  <a:lnTo>
                    <a:pt x="4859274" y="399161"/>
                  </a:lnTo>
                  <a:cubicBezTo>
                    <a:pt x="4859274" y="456438"/>
                    <a:pt x="4812792" y="502920"/>
                    <a:pt x="4755515" y="502920"/>
                  </a:cubicBezTo>
                  <a:lnTo>
                    <a:pt x="103759" y="502920"/>
                  </a:lnTo>
                  <a:cubicBezTo>
                    <a:pt x="46482" y="502920"/>
                    <a:pt x="0" y="456438"/>
                    <a:pt x="0" y="399161"/>
                  </a:cubicBezTo>
                  <a:close/>
                </a:path>
              </a:pathLst>
            </a:custGeom>
            <a:solidFill>
              <a:srgbClr val="ECFDF5"/>
            </a:solidFill>
            <a:ln w="7620" cap="sq">
              <a:solidFill>
                <a:srgbClr val="A7F3D0"/>
              </a:solidFill>
              <a:prstDash val="solid"/>
              <a:miter/>
            </a:ln>
          </p:spPr>
        </p:sp>
      </p:grpSp>
      <p:sp>
        <p:nvSpPr>
          <p:cNvPr name="TextBox 59" id="59"/>
          <p:cNvSpPr txBox="true"/>
          <p:nvPr/>
        </p:nvSpPr>
        <p:spPr>
          <a:xfrm rot="0">
            <a:off x="10761002" y="7023553"/>
            <a:ext cx="3470281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>
                <a:solidFill>
                  <a:srgbClr val="047857"/>
                </a:solidFill>
                <a:latin typeface="Noto Sans Kr"/>
                <a:ea typeface="Noto Sans Kr"/>
                <a:cs typeface="Noto Sans Kr"/>
                <a:sym typeface="Noto Sans Kr"/>
              </a:rPr>
              <a:t>✅ Neo4j 1개 DB · 투영 경로 2개 (2026-06-11 확인)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28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2127418" y="9608820"/>
            <a:ext cx="375239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④ 온톨로지 고도화 로드맵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4727565" y="9608820"/>
            <a:ext cx="280352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Ontology Roadmap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1359921" y="511178"/>
            <a:ext cx="617116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REQ-013 · 박아름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787403" y="1111253"/>
            <a:ext cx="9544764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in-code 결정적 조립에서,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온톨로지 ground truth로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지금은 키워드 매칭으로 스켈레톤을 박는다 — 다음은 그래프가 도메인 정답 구조를 안다. 단, 그래프는 “결정적 구조 선택”에만.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2180911" y="511178"/>
            <a:ext cx="544033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DB477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④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Skills Builder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58190" y="2445468"/>
            <a:ext cx="16771620" cy="529590"/>
            <a:chOff x="0" y="0"/>
            <a:chExt cx="22362160" cy="706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362161" cy="706120"/>
            </a:xfrm>
            <a:custGeom>
              <a:avLst/>
              <a:gdLst/>
              <a:ahLst/>
              <a:cxnLst/>
              <a:rect r="r" b="b" t="t" l="l"/>
              <a:pathLst>
                <a:path h="706120" w="22362161">
                  <a:moveTo>
                    <a:pt x="0" y="141732"/>
                  </a:moveTo>
                  <a:cubicBezTo>
                    <a:pt x="0" y="63500"/>
                    <a:pt x="63500" y="0"/>
                    <a:pt x="141732" y="0"/>
                  </a:cubicBezTo>
                  <a:lnTo>
                    <a:pt x="22220428" y="0"/>
                  </a:lnTo>
                  <a:cubicBezTo>
                    <a:pt x="22298661" y="0"/>
                    <a:pt x="22362161" y="63500"/>
                    <a:pt x="22362161" y="141732"/>
                  </a:cubicBezTo>
                  <a:lnTo>
                    <a:pt x="22362161" y="564388"/>
                  </a:lnTo>
                  <a:cubicBezTo>
                    <a:pt x="22362161" y="642620"/>
                    <a:pt x="22298661" y="706120"/>
                    <a:pt x="22220428" y="706120"/>
                  </a:cubicBezTo>
                  <a:lnTo>
                    <a:pt x="141732" y="706120"/>
                  </a:lnTo>
                  <a:cubicBezTo>
                    <a:pt x="63500" y="706120"/>
                    <a:pt x="0" y="642620"/>
                    <a:pt x="0" y="564388"/>
                  </a:cubicBezTo>
                  <a:close/>
                </a:path>
              </a:pathLst>
            </a:custGeom>
            <a:solidFill>
              <a:srgbClr val="FBF6EF"/>
            </a:solidFill>
            <a:ln w="7620" cap="sq">
              <a:solidFill>
                <a:srgbClr val="EADFCF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41070" y="2561673"/>
            <a:ext cx="813083" cy="297180"/>
            <a:chOff x="0" y="0"/>
            <a:chExt cx="1084110" cy="396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84072" cy="396240"/>
            </a:xfrm>
            <a:custGeom>
              <a:avLst/>
              <a:gdLst/>
              <a:ahLst/>
              <a:cxnLst/>
              <a:rect r="r" b="b" t="t" l="l"/>
              <a:pathLst>
                <a:path h="396240" w="1084072">
                  <a:moveTo>
                    <a:pt x="0" y="88900"/>
                  </a:moveTo>
                  <a:cubicBezTo>
                    <a:pt x="0" y="39751"/>
                    <a:pt x="39751" y="0"/>
                    <a:pt x="88900" y="0"/>
                  </a:cubicBezTo>
                  <a:lnTo>
                    <a:pt x="995172" y="0"/>
                  </a:lnTo>
                  <a:cubicBezTo>
                    <a:pt x="1044321" y="0"/>
                    <a:pt x="1084072" y="39751"/>
                    <a:pt x="1084072" y="88900"/>
                  </a:cubicBezTo>
                  <a:lnTo>
                    <a:pt x="1084072" y="307340"/>
                  </a:lnTo>
                  <a:cubicBezTo>
                    <a:pt x="1084072" y="356489"/>
                    <a:pt x="1044321" y="396240"/>
                    <a:pt x="995172" y="396240"/>
                  </a:cubicBezTo>
                  <a:lnTo>
                    <a:pt x="88900" y="396240"/>
                  </a:lnTo>
                  <a:cubicBezTo>
                    <a:pt x="39751" y="396240"/>
                    <a:pt x="0" y="356489"/>
                    <a:pt x="0" y="30734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33148" y="2619775"/>
            <a:ext cx="628926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입력 동일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893846" y="2600725"/>
            <a:ext cx="5095675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현실적으로 얕은 </a:t>
            </a:r>
            <a:r>
              <a:rPr lang="en-US" sz="13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7줄짜리 온보딩 SOP.docx </a:t>
            </a:r>
            <a:r>
              <a:rPr lang="en-US" sz="135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· 같은 모델 Gemma 26B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58190" y="3119838"/>
            <a:ext cx="8303895" cy="4611291"/>
            <a:chOff x="0" y="0"/>
            <a:chExt cx="11071860" cy="61483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071861" cy="6148451"/>
            </a:xfrm>
            <a:custGeom>
              <a:avLst/>
              <a:gdLst/>
              <a:ahLst/>
              <a:cxnLst/>
              <a:rect r="r" b="b" t="t" l="l"/>
              <a:pathLst>
                <a:path h="6148451" w="11071861">
                  <a:moveTo>
                    <a:pt x="0" y="130899"/>
                  </a:moveTo>
                  <a:cubicBezTo>
                    <a:pt x="0" y="58634"/>
                    <a:pt x="79756" y="0"/>
                    <a:pt x="178054" y="0"/>
                  </a:cubicBezTo>
                  <a:lnTo>
                    <a:pt x="10893806" y="0"/>
                  </a:lnTo>
                  <a:cubicBezTo>
                    <a:pt x="10992104" y="0"/>
                    <a:pt x="11071861" y="58634"/>
                    <a:pt x="11071861" y="130899"/>
                  </a:cubicBezTo>
                  <a:lnTo>
                    <a:pt x="11071861" y="6017535"/>
                  </a:lnTo>
                  <a:cubicBezTo>
                    <a:pt x="11071861" y="6089800"/>
                    <a:pt x="10992104" y="6148451"/>
                    <a:pt x="10893806" y="6148451"/>
                  </a:cubicBezTo>
                  <a:lnTo>
                    <a:pt x="178054" y="6148451"/>
                  </a:lnTo>
                  <a:cubicBezTo>
                    <a:pt x="79756" y="6148451"/>
                    <a:pt x="0" y="6089800"/>
                    <a:pt x="0" y="6017535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FECACA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769620" y="3131268"/>
            <a:ext cx="8281035" cy="495300"/>
            <a:chOff x="0" y="0"/>
            <a:chExt cx="11041380" cy="6604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041380" cy="660400"/>
            </a:xfrm>
            <a:custGeom>
              <a:avLst/>
              <a:gdLst/>
              <a:ahLst/>
              <a:cxnLst/>
              <a:rect r="r" b="b" t="t" l="l"/>
              <a:pathLst>
                <a:path h="660400" w="11041380">
                  <a:moveTo>
                    <a:pt x="0" y="0"/>
                  </a:moveTo>
                  <a:lnTo>
                    <a:pt x="11041380" y="0"/>
                  </a:lnTo>
                  <a:lnTo>
                    <a:pt x="11041380" y="660400"/>
                  </a:lnTo>
                  <a:lnTo>
                    <a:pt x="0" y="660400"/>
                  </a:lnTo>
                  <a:close/>
                </a:path>
              </a:pathLst>
            </a:custGeom>
            <a:solidFill>
              <a:srgbClr val="FEF2F2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69620" y="3618948"/>
            <a:ext cx="8281035" cy="9525"/>
            <a:chOff x="0" y="0"/>
            <a:chExt cx="11041380" cy="127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041380" cy="12700"/>
            </a:xfrm>
            <a:custGeom>
              <a:avLst/>
              <a:gdLst/>
              <a:ahLst/>
              <a:cxnLst/>
              <a:rect r="r" b="b" t="t" l="l"/>
              <a:pathLst>
                <a:path h="12700" w="11041380">
                  <a:moveTo>
                    <a:pt x="0" y="0"/>
                  </a:moveTo>
                  <a:lnTo>
                    <a:pt x="11041380" y="0"/>
                  </a:lnTo>
                  <a:lnTo>
                    <a:pt x="1104138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ECACA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60120" y="3239853"/>
            <a:ext cx="797719" cy="278130"/>
            <a:chOff x="0" y="0"/>
            <a:chExt cx="1063625" cy="370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63625" cy="370840"/>
            </a:xfrm>
            <a:custGeom>
              <a:avLst/>
              <a:gdLst/>
              <a:ahLst/>
              <a:cxnLst/>
              <a:rect r="r" b="b" t="t" l="l"/>
              <a:pathLst>
                <a:path h="370840" w="1063625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lnTo>
                    <a:pt x="987425" y="0"/>
                  </a:lnTo>
                  <a:cubicBezTo>
                    <a:pt x="1029462" y="0"/>
                    <a:pt x="1063625" y="34163"/>
                    <a:pt x="1063625" y="76200"/>
                  </a:cubicBezTo>
                  <a:lnTo>
                    <a:pt x="1063625" y="294640"/>
                  </a:lnTo>
                  <a:cubicBezTo>
                    <a:pt x="1063625" y="336677"/>
                    <a:pt x="1029462" y="370840"/>
                    <a:pt x="987425" y="370840"/>
                  </a:cubicBezTo>
                  <a:lnTo>
                    <a:pt x="76200" y="370840"/>
                  </a:lnTo>
                  <a:cubicBezTo>
                    <a:pt x="34163" y="370840"/>
                    <a:pt x="0" y="336677"/>
                    <a:pt x="0" y="294640"/>
                  </a:cubicBezTo>
                  <a:close/>
                </a:path>
              </a:pathLst>
            </a:custGeom>
            <a:solidFill>
              <a:srgbClr val="DC2626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042668" y="3288430"/>
            <a:ext cx="632622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BEFORE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878492" y="3264618"/>
            <a:ext cx="89395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B91C1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3섹션 권장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088287" y="3290021"/>
            <a:ext cx="628926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강제 아님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85523" y="3737696"/>
            <a:ext cx="215903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 b="true">
                <a:solidFill>
                  <a:srgbClr val="7F1D1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61748" y="3737696"/>
            <a:ext cx="5566791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7F1D1D"/>
                </a:solidFill>
                <a:latin typeface="Noto Sans Kr"/>
                <a:ea typeface="Noto Sans Kr"/>
                <a:cs typeface="Noto Sans Kr"/>
                <a:sym typeface="Noto Sans Kr"/>
              </a:rPr>
              <a:t>description “무엇을” 1문장뿐 → 트리거 부족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85523" y="4071071"/>
            <a:ext cx="215903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 b="true">
                <a:solidFill>
                  <a:srgbClr val="7F1D1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61748" y="4071071"/>
            <a:ext cx="4973317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7F1D1D"/>
                </a:solidFill>
                <a:latin typeface="Noto Sans Kr"/>
                <a:ea typeface="Noto Sans Kr"/>
                <a:cs typeface="Noto Sans Kr"/>
                <a:sym typeface="Noto Sans Kr"/>
              </a:rPr>
              <a:t>섹션 권장일 뿐 → 형식·깊이 불안정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85523" y="4404446"/>
            <a:ext cx="215903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 b="true">
                <a:solidFill>
                  <a:srgbClr val="7F1D1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③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61748" y="4404446"/>
            <a:ext cx="1878130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>
                <a:solidFill>
                  <a:srgbClr val="7F1D1D"/>
                </a:solidFill>
                <a:latin typeface="Noto Sans Kr"/>
                <a:ea typeface="Noto Sans Kr"/>
                <a:cs typeface="Noto Sans Kr"/>
                <a:sym typeface="Noto Sans Kr"/>
              </a:rPr>
              <a:t>얕은 SOP → 얕은 결과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6310" y="4970231"/>
            <a:ext cx="7907655" cy="2025015"/>
            <a:chOff x="0" y="0"/>
            <a:chExt cx="10543540" cy="27000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543540" cy="2700020"/>
            </a:xfrm>
            <a:custGeom>
              <a:avLst/>
              <a:gdLst/>
              <a:ahLst/>
              <a:cxnLst/>
              <a:rect r="r" b="b" t="t" l="l"/>
              <a:pathLst>
                <a:path h="2700020" w="10543540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lnTo>
                    <a:pt x="10428859" y="0"/>
                  </a:lnTo>
                  <a:cubicBezTo>
                    <a:pt x="10492232" y="0"/>
                    <a:pt x="10543540" y="51308"/>
                    <a:pt x="10543540" y="114681"/>
                  </a:cubicBezTo>
                  <a:lnTo>
                    <a:pt x="10543540" y="2585339"/>
                  </a:lnTo>
                  <a:cubicBezTo>
                    <a:pt x="10543540" y="2648712"/>
                    <a:pt x="10492232" y="2700020"/>
                    <a:pt x="10428859" y="2700020"/>
                  </a:cubicBezTo>
                  <a:lnTo>
                    <a:pt x="114681" y="2700020"/>
                  </a:lnTo>
                  <a:cubicBezTo>
                    <a:pt x="51308" y="2700020"/>
                    <a:pt x="0" y="2648712"/>
                    <a:pt x="0" y="2585339"/>
                  </a:cubicBezTo>
                  <a:close/>
                </a:path>
              </a:pathLst>
            </a:custGeom>
            <a:solidFill>
              <a:srgbClr val="FBFBF9"/>
            </a:solidFill>
            <a:ln w="7620" cap="sq">
              <a:solidFill>
                <a:srgbClr val="F1F5F9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1126493" y="5016589"/>
            <a:ext cx="7795841" cy="304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3"/>
              </a:lnSpc>
            </a:pPr>
            <a:r>
              <a:rPr lang="en-US" sz="1350">
                <a:solidFill>
                  <a:srgbClr val="B91C1C"/>
                </a:solidFill>
                <a:latin typeface="Noto Sans Kr"/>
                <a:ea typeface="Noto Sans Kr"/>
                <a:cs typeface="Noto Sans Kr"/>
                <a:sym typeface="Noto Sans Kr"/>
              </a:rPr>
              <a:t>## When to use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26493" y="5299481"/>
            <a:ext cx="7795841" cy="304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3"/>
              </a:lnSpc>
            </a:pPr>
            <a:r>
              <a:rPr lang="en-US" sz="135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온보딩 안내문 작성 시.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26493" y="5620474"/>
            <a:ext cx="7795841" cy="304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3"/>
              </a:lnSpc>
            </a:pPr>
            <a:r>
              <a:rPr lang="en-US" sz="1350">
                <a:solidFill>
                  <a:srgbClr val="B91C1C"/>
                </a:solidFill>
                <a:latin typeface="Noto Sans Kr"/>
                <a:ea typeface="Noto Sans Kr"/>
                <a:cs typeface="Noto Sans Kr"/>
                <a:sym typeface="Noto Sans Kr"/>
              </a:rPr>
              <a:t>## Steps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26493" y="5903366"/>
            <a:ext cx="7795841" cy="304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3"/>
              </a:lnSpc>
            </a:pPr>
            <a:r>
              <a:rPr lang="en-US" sz="135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1. 정보 확인 2. 안내문 작성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26493" y="6224359"/>
            <a:ext cx="7795841" cy="304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3"/>
              </a:lnSpc>
            </a:pPr>
            <a:r>
              <a:rPr lang="en-US" sz="1350">
                <a:solidFill>
                  <a:srgbClr val="B91C1C"/>
                </a:solidFill>
                <a:latin typeface="Noto Sans Kr"/>
                <a:ea typeface="Noto Sans Kr"/>
                <a:cs typeface="Noto Sans Kr"/>
                <a:sym typeface="Noto Sans Kr"/>
              </a:rPr>
              <a:t>## Inputs/Outputs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26493" y="6507251"/>
            <a:ext cx="7795841" cy="304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3"/>
              </a:lnSpc>
            </a:pPr>
            <a:r>
              <a:rPr lang="en-US" sz="135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입력: 입사자 정보 / 출력: 안내문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956310" y="7082876"/>
            <a:ext cx="7907655" cy="449580"/>
            <a:chOff x="0" y="0"/>
            <a:chExt cx="10543540" cy="5994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543540" cy="599440"/>
            </a:xfrm>
            <a:custGeom>
              <a:avLst/>
              <a:gdLst/>
              <a:ahLst/>
              <a:cxnLst/>
              <a:rect r="r" b="b" t="t" l="l"/>
              <a:pathLst>
                <a:path h="599440" w="10543540">
                  <a:moveTo>
                    <a:pt x="0" y="103378"/>
                  </a:moveTo>
                  <a:cubicBezTo>
                    <a:pt x="0" y="46228"/>
                    <a:pt x="46228" y="0"/>
                    <a:pt x="103378" y="0"/>
                  </a:cubicBezTo>
                  <a:lnTo>
                    <a:pt x="10440162" y="0"/>
                  </a:lnTo>
                  <a:cubicBezTo>
                    <a:pt x="10497185" y="0"/>
                    <a:pt x="10543540" y="46228"/>
                    <a:pt x="10543540" y="103378"/>
                  </a:cubicBezTo>
                  <a:lnTo>
                    <a:pt x="10543540" y="496062"/>
                  </a:lnTo>
                  <a:cubicBezTo>
                    <a:pt x="10543540" y="553085"/>
                    <a:pt x="10497312" y="599440"/>
                    <a:pt x="10440162" y="599440"/>
                  </a:cubicBezTo>
                  <a:lnTo>
                    <a:pt x="103378" y="599440"/>
                  </a:lnTo>
                  <a:cubicBezTo>
                    <a:pt x="46228" y="599440"/>
                    <a:pt x="0" y="553212"/>
                    <a:pt x="0" y="496062"/>
                  </a:cubicBezTo>
                  <a:close/>
                </a:path>
              </a:pathLst>
            </a:custGeom>
            <a:solidFill>
              <a:srgbClr val="FEF2F2"/>
            </a:solidFill>
            <a:ln w="7620" cap="sq">
              <a:solidFill>
                <a:srgbClr val="FECACA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998468" y="7195909"/>
            <a:ext cx="782334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B91C1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그럴듯하지만 실행 못 하는 “한 줄짜리” 지침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9225915" y="3119838"/>
            <a:ext cx="8303895" cy="4611291"/>
            <a:chOff x="0" y="0"/>
            <a:chExt cx="11071860" cy="6148387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071861" cy="6148451"/>
            </a:xfrm>
            <a:custGeom>
              <a:avLst/>
              <a:gdLst/>
              <a:ahLst/>
              <a:cxnLst/>
              <a:rect r="r" b="b" t="t" l="l"/>
              <a:pathLst>
                <a:path h="6148451" w="11071861">
                  <a:moveTo>
                    <a:pt x="0" y="130899"/>
                  </a:moveTo>
                  <a:cubicBezTo>
                    <a:pt x="0" y="58634"/>
                    <a:pt x="79756" y="0"/>
                    <a:pt x="178054" y="0"/>
                  </a:cubicBezTo>
                  <a:lnTo>
                    <a:pt x="10893806" y="0"/>
                  </a:lnTo>
                  <a:cubicBezTo>
                    <a:pt x="10992104" y="0"/>
                    <a:pt x="11071861" y="58634"/>
                    <a:pt x="11071861" y="130899"/>
                  </a:cubicBezTo>
                  <a:lnTo>
                    <a:pt x="11071861" y="6017535"/>
                  </a:lnTo>
                  <a:cubicBezTo>
                    <a:pt x="11071861" y="6089800"/>
                    <a:pt x="10992104" y="6148451"/>
                    <a:pt x="10893806" y="6148451"/>
                  </a:cubicBezTo>
                  <a:lnTo>
                    <a:pt x="178054" y="6148451"/>
                  </a:lnTo>
                  <a:cubicBezTo>
                    <a:pt x="79756" y="6148451"/>
                    <a:pt x="0" y="6089800"/>
                    <a:pt x="0" y="6017535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9237345" y="3131268"/>
            <a:ext cx="8281035" cy="495300"/>
            <a:chOff x="0" y="0"/>
            <a:chExt cx="11041380" cy="6604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041380" cy="660400"/>
            </a:xfrm>
            <a:custGeom>
              <a:avLst/>
              <a:gdLst/>
              <a:ahLst/>
              <a:cxnLst/>
              <a:rect r="r" b="b" t="t" l="l"/>
              <a:pathLst>
                <a:path h="660400" w="11041380">
                  <a:moveTo>
                    <a:pt x="0" y="0"/>
                  </a:moveTo>
                  <a:lnTo>
                    <a:pt x="11041380" y="0"/>
                  </a:lnTo>
                  <a:lnTo>
                    <a:pt x="11041380" y="660400"/>
                  </a:lnTo>
                  <a:lnTo>
                    <a:pt x="0" y="660400"/>
                  </a:lnTo>
                  <a:close/>
                </a:path>
              </a:pathLst>
            </a:custGeom>
            <a:solidFill>
              <a:srgbClr val="FCE7F0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9237345" y="3618948"/>
            <a:ext cx="8281035" cy="9525"/>
            <a:chOff x="0" y="0"/>
            <a:chExt cx="11041380" cy="127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1041380" cy="12700"/>
            </a:xfrm>
            <a:custGeom>
              <a:avLst/>
              <a:gdLst/>
              <a:ahLst/>
              <a:cxnLst/>
              <a:rect r="r" b="b" t="t" l="l"/>
              <a:pathLst>
                <a:path h="12700" w="11041380">
                  <a:moveTo>
                    <a:pt x="0" y="0"/>
                  </a:moveTo>
                  <a:lnTo>
                    <a:pt x="11041380" y="0"/>
                  </a:lnTo>
                  <a:lnTo>
                    <a:pt x="1104138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BCFE0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9427845" y="3239853"/>
            <a:ext cx="677828" cy="278130"/>
            <a:chOff x="0" y="0"/>
            <a:chExt cx="903770" cy="3708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03732" cy="370840"/>
            </a:xfrm>
            <a:custGeom>
              <a:avLst/>
              <a:gdLst/>
              <a:ahLst/>
              <a:cxnLst/>
              <a:rect r="r" b="b" t="t" l="l"/>
              <a:pathLst>
                <a:path h="370840" w="903732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lnTo>
                    <a:pt x="827532" y="0"/>
                  </a:lnTo>
                  <a:cubicBezTo>
                    <a:pt x="869569" y="0"/>
                    <a:pt x="903732" y="34163"/>
                    <a:pt x="903732" y="76200"/>
                  </a:cubicBezTo>
                  <a:lnTo>
                    <a:pt x="903732" y="294640"/>
                  </a:lnTo>
                  <a:cubicBezTo>
                    <a:pt x="903732" y="336677"/>
                    <a:pt x="869569" y="370840"/>
                    <a:pt x="827532" y="370840"/>
                  </a:cubicBezTo>
                  <a:lnTo>
                    <a:pt x="76200" y="370840"/>
                  </a:lnTo>
                  <a:cubicBezTo>
                    <a:pt x="34163" y="370840"/>
                    <a:pt x="0" y="336677"/>
                    <a:pt x="0" y="294640"/>
                  </a:cubicBezTo>
                  <a:close/>
                </a:path>
              </a:pathLst>
            </a:custGeom>
            <a:solidFill>
              <a:srgbClr val="DB4778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9510398" y="3288430"/>
            <a:ext cx="512721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AFTER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0226316" y="3264618"/>
            <a:ext cx="89395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9섹션 강제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5928438" y="3288430"/>
            <a:ext cx="125650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같은 Gemma 26B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9424035" y="3775158"/>
            <a:ext cx="2013109" cy="342900"/>
            <a:chOff x="0" y="0"/>
            <a:chExt cx="2684145" cy="4572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684145" cy="457200"/>
            </a:xfrm>
            <a:custGeom>
              <a:avLst/>
              <a:gdLst/>
              <a:ahLst/>
              <a:cxnLst/>
              <a:rect r="r" b="b" t="t" l="l"/>
              <a:pathLst>
                <a:path h="457200" w="2684145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2606167" y="0"/>
                  </a:lnTo>
                  <a:cubicBezTo>
                    <a:pt x="2649220" y="0"/>
                    <a:pt x="2684145" y="34925"/>
                    <a:pt x="2684145" y="77978"/>
                  </a:cubicBezTo>
                  <a:lnTo>
                    <a:pt x="2684145" y="379222"/>
                  </a:lnTo>
                  <a:cubicBezTo>
                    <a:pt x="2684145" y="422275"/>
                    <a:pt x="2649220" y="457200"/>
                    <a:pt x="2606167" y="457200"/>
                  </a:cubicBezTo>
                  <a:lnTo>
                    <a:pt x="77978" y="457200"/>
                  </a:lnTo>
                  <a:cubicBezTo>
                    <a:pt x="34925" y="457200"/>
                    <a:pt x="0" y="422275"/>
                    <a:pt x="0" y="379222"/>
                  </a:cubicBezTo>
                  <a:close/>
                </a:path>
              </a:pathLst>
            </a:custGeom>
            <a:solidFill>
              <a:srgbClr val="DB4778"/>
            </a:solidFill>
            <a:ln w="7620" cap="sq">
              <a:solidFill>
                <a:srgbClr val="DB4778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9556118" y="3840566"/>
            <a:ext cx="182515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 description(트리거)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1486674" y="3775158"/>
            <a:ext cx="748313" cy="342900"/>
            <a:chOff x="0" y="0"/>
            <a:chExt cx="997750" cy="4572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997839" cy="457200"/>
            </a:xfrm>
            <a:custGeom>
              <a:avLst/>
              <a:gdLst/>
              <a:ahLst/>
              <a:cxnLst/>
              <a:rect r="r" b="b" t="t" l="l"/>
              <a:pathLst>
                <a:path h="457200" w="997839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919861" y="0"/>
                  </a:lnTo>
                  <a:cubicBezTo>
                    <a:pt x="962914" y="0"/>
                    <a:pt x="997839" y="34925"/>
                    <a:pt x="997839" y="77978"/>
                  </a:cubicBezTo>
                  <a:lnTo>
                    <a:pt x="997839" y="379222"/>
                  </a:lnTo>
                  <a:cubicBezTo>
                    <a:pt x="997839" y="422275"/>
                    <a:pt x="962914" y="457200"/>
                    <a:pt x="919861" y="457200"/>
                  </a:cubicBezTo>
                  <a:lnTo>
                    <a:pt x="77978" y="457200"/>
                  </a:lnTo>
                  <a:cubicBezTo>
                    <a:pt x="34925" y="457200"/>
                    <a:pt x="0" y="422275"/>
                    <a:pt x="0" y="379222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52" id="52"/>
          <p:cNvSpPr txBox="true"/>
          <p:nvPr/>
        </p:nvSpPr>
        <p:spPr>
          <a:xfrm rot="0">
            <a:off x="11618757" y="3840566"/>
            <a:ext cx="560346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 목적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2284516" y="3775158"/>
            <a:ext cx="1706051" cy="342900"/>
            <a:chOff x="0" y="0"/>
            <a:chExt cx="2274735" cy="4572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274824" cy="457200"/>
            </a:xfrm>
            <a:custGeom>
              <a:avLst/>
              <a:gdLst/>
              <a:ahLst/>
              <a:cxnLst/>
              <a:rect r="r" b="b" t="t" l="l"/>
              <a:pathLst>
                <a:path h="457200" w="2274824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2196846" y="0"/>
                  </a:lnTo>
                  <a:cubicBezTo>
                    <a:pt x="2239899" y="0"/>
                    <a:pt x="2274824" y="34925"/>
                    <a:pt x="2274824" y="77978"/>
                  </a:cubicBezTo>
                  <a:lnTo>
                    <a:pt x="2274824" y="379222"/>
                  </a:lnTo>
                  <a:cubicBezTo>
                    <a:pt x="2274824" y="422275"/>
                    <a:pt x="2239899" y="457200"/>
                    <a:pt x="2196846" y="457200"/>
                  </a:cubicBezTo>
                  <a:lnTo>
                    <a:pt x="77978" y="457200"/>
                  </a:lnTo>
                  <a:cubicBezTo>
                    <a:pt x="34925" y="457200"/>
                    <a:pt x="0" y="422275"/>
                    <a:pt x="0" y="379222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55" id="55"/>
          <p:cNvSpPr txBox="true"/>
          <p:nvPr/>
        </p:nvSpPr>
        <p:spPr>
          <a:xfrm rot="0">
            <a:off x="12416590" y="3840566"/>
            <a:ext cx="1518085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③ 언제 사용(+안 함)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4040088" y="3775158"/>
            <a:ext cx="1111806" cy="342900"/>
            <a:chOff x="0" y="0"/>
            <a:chExt cx="1482408" cy="4572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482471" cy="457200"/>
            </a:xfrm>
            <a:custGeom>
              <a:avLst/>
              <a:gdLst/>
              <a:ahLst/>
              <a:cxnLst/>
              <a:rect r="r" b="b" t="t" l="l"/>
              <a:pathLst>
                <a:path h="457200" w="1482471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1404493" y="0"/>
                  </a:lnTo>
                  <a:cubicBezTo>
                    <a:pt x="1447546" y="0"/>
                    <a:pt x="1482471" y="34925"/>
                    <a:pt x="1482471" y="77978"/>
                  </a:cubicBezTo>
                  <a:lnTo>
                    <a:pt x="1482471" y="379222"/>
                  </a:lnTo>
                  <a:cubicBezTo>
                    <a:pt x="1482471" y="422275"/>
                    <a:pt x="1447546" y="457200"/>
                    <a:pt x="1404493" y="457200"/>
                  </a:cubicBezTo>
                  <a:lnTo>
                    <a:pt x="77978" y="457200"/>
                  </a:lnTo>
                  <a:cubicBezTo>
                    <a:pt x="34925" y="457200"/>
                    <a:pt x="0" y="422275"/>
                    <a:pt x="0" y="379222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58" id="58"/>
          <p:cNvSpPr txBox="true"/>
          <p:nvPr/>
        </p:nvSpPr>
        <p:spPr>
          <a:xfrm rot="0">
            <a:off x="14172171" y="3840566"/>
            <a:ext cx="92384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④ 사전 조건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5201424" y="3775158"/>
            <a:ext cx="1111806" cy="342900"/>
            <a:chOff x="0" y="0"/>
            <a:chExt cx="1482408" cy="4572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482471" cy="457200"/>
            </a:xfrm>
            <a:custGeom>
              <a:avLst/>
              <a:gdLst/>
              <a:ahLst/>
              <a:cxnLst/>
              <a:rect r="r" b="b" t="t" l="l"/>
              <a:pathLst>
                <a:path h="457200" w="1482471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1404493" y="0"/>
                  </a:lnTo>
                  <a:cubicBezTo>
                    <a:pt x="1447546" y="0"/>
                    <a:pt x="1482471" y="34925"/>
                    <a:pt x="1482471" y="77978"/>
                  </a:cubicBezTo>
                  <a:lnTo>
                    <a:pt x="1482471" y="379222"/>
                  </a:lnTo>
                  <a:cubicBezTo>
                    <a:pt x="1482471" y="422275"/>
                    <a:pt x="1447546" y="457200"/>
                    <a:pt x="1404493" y="457200"/>
                  </a:cubicBezTo>
                  <a:lnTo>
                    <a:pt x="77978" y="457200"/>
                  </a:lnTo>
                  <a:cubicBezTo>
                    <a:pt x="34925" y="457200"/>
                    <a:pt x="0" y="422275"/>
                    <a:pt x="0" y="379222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61" id="61"/>
          <p:cNvSpPr txBox="true"/>
          <p:nvPr/>
        </p:nvSpPr>
        <p:spPr>
          <a:xfrm rot="0">
            <a:off x="15333507" y="3840566"/>
            <a:ext cx="92384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⑤ 처리 절차</a:t>
            </a:r>
          </a:p>
        </p:txBody>
      </p:sp>
      <p:grpSp>
        <p:nvGrpSpPr>
          <p:cNvPr name="Group 62" id="62"/>
          <p:cNvGrpSpPr/>
          <p:nvPr/>
        </p:nvGrpSpPr>
        <p:grpSpPr>
          <a:xfrm rot="0">
            <a:off x="9424035" y="4167588"/>
            <a:ext cx="1111806" cy="342900"/>
            <a:chOff x="0" y="0"/>
            <a:chExt cx="1482408" cy="4572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482471" cy="457200"/>
            </a:xfrm>
            <a:custGeom>
              <a:avLst/>
              <a:gdLst/>
              <a:ahLst/>
              <a:cxnLst/>
              <a:rect r="r" b="b" t="t" l="l"/>
              <a:pathLst>
                <a:path h="457200" w="1482471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1404493" y="0"/>
                  </a:lnTo>
                  <a:cubicBezTo>
                    <a:pt x="1447546" y="0"/>
                    <a:pt x="1482471" y="34925"/>
                    <a:pt x="1482471" y="77978"/>
                  </a:cubicBezTo>
                  <a:lnTo>
                    <a:pt x="1482471" y="379222"/>
                  </a:lnTo>
                  <a:cubicBezTo>
                    <a:pt x="1482471" y="422275"/>
                    <a:pt x="1447546" y="457200"/>
                    <a:pt x="1404493" y="457200"/>
                  </a:cubicBezTo>
                  <a:lnTo>
                    <a:pt x="77978" y="457200"/>
                  </a:lnTo>
                  <a:cubicBezTo>
                    <a:pt x="34925" y="457200"/>
                    <a:pt x="0" y="422275"/>
                    <a:pt x="0" y="379222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64" id="64"/>
          <p:cNvSpPr txBox="true"/>
          <p:nvPr/>
        </p:nvSpPr>
        <p:spPr>
          <a:xfrm rot="0">
            <a:off x="9556118" y="4232996"/>
            <a:ext cx="92384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⑥ 판단 규칙</a:t>
            </a:r>
          </a:p>
        </p:txBody>
      </p:sp>
      <p:grpSp>
        <p:nvGrpSpPr>
          <p:cNvPr name="Group 65" id="65"/>
          <p:cNvGrpSpPr/>
          <p:nvPr/>
        </p:nvGrpSpPr>
        <p:grpSpPr>
          <a:xfrm rot="0">
            <a:off x="10585371" y="4167588"/>
            <a:ext cx="1130618" cy="342900"/>
            <a:chOff x="0" y="0"/>
            <a:chExt cx="1507490" cy="4572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507490" cy="457200"/>
            </a:xfrm>
            <a:custGeom>
              <a:avLst/>
              <a:gdLst/>
              <a:ahLst/>
              <a:cxnLst/>
              <a:rect r="r" b="b" t="t" l="l"/>
              <a:pathLst>
                <a:path h="457200" w="1507490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1429512" y="0"/>
                  </a:lnTo>
                  <a:cubicBezTo>
                    <a:pt x="1472565" y="0"/>
                    <a:pt x="1507490" y="34925"/>
                    <a:pt x="1507490" y="77978"/>
                  </a:cubicBezTo>
                  <a:lnTo>
                    <a:pt x="1507490" y="379222"/>
                  </a:lnTo>
                  <a:cubicBezTo>
                    <a:pt x="1507490" y="422275"/>
                    <a:pt x="1472565" y="457200"/>
                    <a:pt x="1429512" y="457200"/>
                  </a:cubicBezTo>
                  <a:lnTo>
                    <a:pt x="77978" y="457200"/>
                  </a:lnTo>
                  <a:cubicBezTo>
                    <a:pt x="34925" y="457200"/>
                    <a:pt x="0" y="422275"/>
                    <a:pt x="0" y="379222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67" id="67"/>
          <p:cNvSpPr txBox="true"/>
          <p:nvPr/>
        </p:nvSpPr>
        <p:spPr>
          <a:xfrm rot="0">
            <a:off x="10717454" y="4232996"/>
            <a:ext cx="942661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⑦ 입력/출력</a:t>
            </a:r>
          </a:p>
        </p:txBody>
      </p:sp>
      <p:grpSp>
        <p:nvGrpSpPr>
          <p:cNvPr name="Group 68" id="68"/>
          <p:cNvGrpSpPr/>
          <p:nvPr/>
        </p:nvGrpSpPr>
        <p:grpSpPr>
          <a:xfrm rot="0">
            <a:off x="11765518" y="4167588"/>
            <a:ext cx="1575787" cy="342900"/>
            <a:chOff x="0" y="0"/>
            <a:chExt cx="2101050" cy="4572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101088" cy="457200"/>
            </a:xfrm>
            <a:custGeom>
              <a:avLst/>
              <a:gdLst/>
              <a:ahLst/>
              <a:cxnLst/>
              <a:rect r="r" b="b" t="t" l="l"/>
              <a:pathLst>
                <a:path h="457200" w="2101088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2023110" y="0"/>
                  </a:lnTo>
                  <a:cubicBezTo>
                    <a:pt x="2066163" y="0"/>
                    <a:pt x="2101088" y="34925"/>
                    <a:pt x="2101088" y="77978"/>
                  </a:cubicBezTo>
                  <a:lnTo>
                    <a:pt x="2101088" y="379222"/>
                  </a:lnTo>
                  <a:cubicBezTo>
                    <a:pt x="2101088" y="422275"/>
                    <a:pt x="2066163" y="457200"/>
                    <a:pt x="2023110" y="457200"/>
                  </a:cubicBezTo>
                  <a:lnTo>
                    <a:pt x="77978" y="457200"/>
                  </a:lnTo>
                  <a:cubicBezTo>
                    <a:pt x="34925" y="457200"/>
                    <a:pt x="0" y="422275"/>
                    <a:pt x="0" y="379222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70" id="70"/>
          <p:cNvSpPr txBox="true"/>
          <p:nvPr/>
        </p:nvSpPr>
        <p:spPr>
          <a:xfrm rot="0">
            <a:off x="11897601" y="4232996"/>
            <a:ext cx="1387831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⑧ 예시(정상/엣지)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3390845" y="4167588"/>
            <a:ext cx="1165269" cy="342900"/>
            <a:chOff x="0" y="0"/>
            <a:chExt cx="1553693" cy="4572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1553718" cy="457200"/>
            </a:xfrm>
            <a:custGeom>
              <a:avLst/>
              <a:gdLst/>
              <a:ahLst/>
              <a:cxnLst/>
              <a:rect r="r" b="b" t="t" l="l"/>
              <a:pathLst>
                <a:path h="457200" w="1553718">
                  <a:moveTo>
                    <a:pt x="0" y="77978"/>
                  </a:moveTo>
                  <a:cubicBezTo>
                    <a:pt x="0" y="34925"/>
                    <a:pt x="34925" y="0"/>
                    <a:pt x="77978" y="0"/>
                  </a:cubicBezTo>
                  <a:lnTo>
                    <a:pt x="1475740" y="0"/>
                  </a:lnTo>
                  <a:cubicBezTo>
                    <a:pt x="1518793" y="0"/>
                    <a:pt x="1553718" y="34925"/>
                    <a:pt x="1553718" y="77978"/>
                  </a:cubicBezTo>
                  <a:lnTo>
                    <a:pt x="1553718" y="379222"/>
                  </a:lnTo>
                  <a:cubicBezTo>
                    <a:pt x="1553718" y="422275"/>
                    <a:pt x="1518793" y="457200"/>
                    <a:pt x="1475740" y="457200"/>
                  </a:cubicBezTo>
                  <a:lnTo>
                    <a:pt x="77978" y="457200"/>
                  </a:lnTo>
                  <a:cubicBezTo>
                    <a:pt x="34925" y="457200"/>
                    <a:pt x="0" y="422275"/>
                    <a:pt x="0" y="379222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73" id="73"/>
          <p:cNvSpPr txBox="true"/>
          <p:nvPr/>
        </p:nvSpPr>
        <p:spPr>
          <a:xfrm rot="0">
            <a:off x="13522919" y="4232996"/>
            <a:ext cx="97730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⑨ 제약·주의</a:t>
            </a:r>
          </a:p>
        </p:txBody>
      </p:sp>
      <p:grpSp>
        <p:nvGrpSpPr>
          <p:cNvPr name="Group 74" id="74"/>
          <p:cNvGrpSpPr/>
          <p:nvPr/>
        </p:nvGrpSpPr>
        <p:grpSpPr>
          <a:xfrm rot="0">
            <a:off x="9424035" y="4598118"/>
            <a:ext cx="7907655" cy="2397128"/>
            <a:chOff x="0" y="0"/>
            <a:chExt cx="10543540" cy="3196171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543540" cy="3196234"/>
            </a:xfrm>
            <a:custGeom>
              <a:avLst/>
              <a:gdLst/>
              <a:ahLst/>
              <a:cxnLst/>
              <a:rect r="r" b="b" t="t" l="l"/>
              <a:pathLst>
                <a:path h="3196234" w="10543540">
                  <a:moveTo>
                    <a:pt x="0" y="67026"/>
                  </a:moveTo>
                  <a:cubicBezTo>
                    <a:pt x="0" y="30020"/>
                    <a:pt x="51308" y="0"/>
                    <a:pt x="114554" y="0"/>
                  </a:cubicBezTo>
                  <a:lnTo>
                    <a:pt x="10428986" y="0"/>
                  </a:lnTo>
                  <a:cubicBezTo>
                    <a:pt x="10492232" y="0"/>
                    <a:pt x="10543540" y="30020"/>
                    <a:pt x="10543540" y="67026"/>
                  </a:cubicBezTo>
                  <a:lnTo>
                    <a:pt x="10543540" y="3129182"/>
                  </a:lnTo>
                  <a:cubicBezTo>
                    <a:pt x="10543540" y="3166188"/>
                    <a:pt x="10492232" y="3196234"/>
                    <a:pt x="10428986" y="3196234"/>
                  </a:cubicBezTo>
                  <a:lnTo>
                    <a:pt x="114554" y="3196234"/>
                  </a:lnTo>
                  <a:cubicBezTo>
                    <a:pt x="51308" y="3196234"/>
                    <a:pt x="0" y="3166188"/>
                    <a:pt x="0" y="3129182"/>
                  </a:cubicBezTo>
                  <a:close/>
                </a:path>
              </a:pathLst>
            </a:custGeom>
            <a:solidFill>
              <a:srgbClr val="FBFBF9"/>
            </a:solidFill>
            <a:ln w="7620" cap="sq">
              <a:solidFill>
                <a:srgbClr val="F1F5F9"/>
              </a:solidFill>
              <a:prstDash val="solid"/>
              <a:miter/>
            </a:ln>
          </p:spPr>
        </p:sp>
      </p:grpSp>
      <p:sp>
        <p:nvSpPr>
          <p:cNvPr name="TextBox 76" id="76"/>
          <p:cNvSpPr txBox="true"/>
          <p:nvPr/>
        </p:nvSpPr>
        <p:spPr>
          <a:xfrm rot="0">
            <a:off x="9594218" y="4654001"/>
            <a:ext cx="7795841" cy="295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3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# 환불 요청 매니저 알림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9594218" y="4956896"/>
            <a:ext cx="7795841" cy="295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350">
                <a:solidFill>
                  <a:srgbClr val="BE185D"/>
                </a:solidFill>
                <a:latin typeface="Noto Sans Kr"/>
                <a:ea typeface="Noto Sans Kr"/>
                <a:cs typeface="Noto Sans Kr"/>
                <a:sym typeface="Noto Sans Kr"/>
              </a:rPr>
              <a:t>## 목적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9594218" y="5231216"/>
            <a:ext cx="7795841" cy="295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35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환불 접수 시 매니저 빠른 대응 자동 통보.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9594218" y="5534111"/>
            <a:ext cx="7795841" cy="295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350">
                <a:solidFill>
                  <a:srgbClr val="BE185D"/>
                </a:solidFill>
                <a:latin typeface="Noto Sans Kr"/>
                <a:ea typeface="Noto Sans Kr"/>
                <a:cs typeface="Noto Sans Kr"/>
                <a:sym typeface="Noto Sans Kr"/>
              </a:rPr>
              <a:t>## 판단 규칙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594218" y="5808431"/>
            <a:ext cx="7795841" cy="295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35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금액 5만원 초과면 ‘승인 필요’ 표기.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9594218" y="6111326"/>
            <a:ext cx="7795841" cy="295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350">
                <a:solidFill>
                  <a:srgbClr val="BE185D"/>
                </a:solidFill>
                <a:latin typeface="Noto Sans Kr"/>
                <a:ea typeface="Noto Sans Kr"/>
                <a:cs typeface="Noto Sans Kr"/>
                <a:sym typeface="Noto Sans Kr"/>
              </a:rPr>
              <a:t>## 제약·주의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9594218" y="6385646"/>
            <a:ext cx="7795841" cy="295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35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민감정보 있으면 원문 노출 금지, 분류만.</a:t>
            </a:r>
          </a:p>
        </p:txBody>
      </p:sp>
      <p:grpSp>
        <p:nvGrpSpPr>
          <p:cNvPr name="Group 83" id="83"/>
          <p:cNvGrpSpPr/>
          <p:nvPr/>
        </p:nvGrpSpPr>
        <p:grpSpPr>
          <a:xfrm rot="0">
            <a:off x="9424035" y="7085419"/>
            <a:ext cx="7907655" cy="449580"/>
            <a:chOff x="0" y="0"/>
            <a:chExt cx="10543540" cy="59944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10543540" cy="599440"/>
            </a:xfrm>
            <a:custGeom>
              <a:avLst/>
              <a:gdLst/>
              <a:ahLst/>
              <a:cxnLst/>
              <a:rect r="r" b="b" t="t" l="l"/>
              <a:pathLst>
                <a:path h="599440" w="10543540">
                  <a:moveTo>
                    <a:pt x="0" y="103378"/>
                  </a:moveTo>
                  <a:cubicBezTo>
                    <a:pt x="0" y="46228"/>
                    <a:pt x="46228" y="0"/>
                    <a:pt x="103378" y="0"/>
                  </a:cubicBezTo>
                  <a:lnTo>
                    <a:pt x="10440162" y="0"/>
                  </a:lnTo>
                  <a:cubicBezTo>
                    <a:pt x="10497185" y="0"/>
                    <a:pt x="10543540" y="46228"/>
                    <a:pt x="10543540" y="103378"/>
                  </a:cubicBezTo>
                  <a:lnTo>
                    <a:pt x="10543540" y="496062"/>
                  </a:lnTo>
                  <a:cubicBezTo>
                    <a:pt x="10543540" y="553085"/>
                    <a:pt x="10497312" y="599440"/>
                    <a:pt x="10440162" y="599440"/>
                  </a:cubicBezTo>
                  <a:lnTo>
                    <a:pt x="103378" y="599440"/>
                  </a:lnTo>
                  <a:cubicBezTo>
                    <a:pt x="46228" y="599440"/>
                    <a:pt x="0" y="553212"/>
                    <a:pt x="0" y="496062"/>
                  </a:cubicBezTo>
                  <a:close/>
                </a:path>
              </a:pathLst>
            </a:custGeom>
            <a:solidFill>
              <a:srgbClr val="FCE7F0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85" id="85"/>
          <p:cNvSpPr txBox="true"/>
          <p:nvPr/>
        </p:nvSpPr>
        <p:spPr>
          <a:xfrm rot="0">
            <a:off x="9466193" y="7198452"/>
            <a:ext cx="782334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비전문가도 따라 하는 런북 — </a:t>
            </a:r>
            <a:r>
              <a:rPr lang="en-US" sz="1500" b="true">
                <a:solidFill>
                  <a:srgbClr val="9F123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 description</a:t>
            </a:r>
            <a:r>
              <a:rPr lang="en-US" sz="15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sz="150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한 줄로 호출 판단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62000" y="7959728"/>
            <a:ext cx="16764000" cy="521970"/>
            <a:chOff x="0" y="0"/>
            <a:chExt cx="22352000" cy="69596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2352000" cy="695960"/>
            </a:xfrm>
            <a:custGeom>
              <a:avLst/>
              <a:gdLst/>
              <a:ahLst/>
              <a:cxnLst/>
              <a:rect r="r" b="b" t="t" l="l"/>
              <a:pathLst>
                <a:path h="695960" w="22352000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22199600" y="0"/>
                  </a:lnTo>
                  <a:cubicBezTo>
                    <a:pt x="22283801" y="0"/>
                    <a:pt x="22352000" y="68199"/>
                    <a:pt x="22352000" y="152400"/>
                  </a:cubicBezTo>
                  <a:lnTo>
                    <a:pt x="22352000" y="543560"/>
                  </a:lnTo>
                  <a:cubicBezTo>
                    <a:pt x="22352000" y="627761"/>
                    <a:pt x="22283801" y="695960"/>
                    <a:pt x="22199600" y="695960"/>
                  </a:cubicBezTo>
                  <a:lnTo>
                    <a:pt x="152400" y="695960"/>
                  </a:lnTo>
                  <a:cubicBezTo>
                    <a:pt x="68199" y="695960"/>
                    <a:pt x="0" y="627761"/>
                    <a:pt x="0" y="54356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88" id="88"/>
          <p:cNvSpPr txBox="true"/>
          <p:nvPr/>
        </p:nvSpPr>
        <p:spPr>
          <a:xfrm rot="0">
            <a:off x="996953" y="8106413"/>
            <a:ext cx="301432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“모델이 아니라, 시키는 법을 바꿨다”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4106151" y="8111176"/>
            <a:ext cx="568432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구조(9섹션)는 프롬프트가 강제 · 내용은 LLM이 채움 · 2단계 추출(메타→상세)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2536100" y="8130226"/>
            <a:ext cx="4795590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⚠ 9섹션은 무배포 실측 — 코드 반영은 후속 (현 build_from_sop는 3섹션)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11359921" y="511178"/>
            <a:ext cx="617116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REQ-013 · 박아름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787403" y="1111253"/>
            <a:ext cx="10718155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같은 SOP, 같은 모델 — 프롬프트만 바꿔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런북 수준 지침서로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소형 LLM(Gemma 26B)도 “무엇을 시키느냐”를 9섹션으로 구조화하면 Claude Skill급 SKILL.md. · 2026-06-10 무배포 실측</a:t>
            </a:r>
          </a:p>
        </p:txBody>
      </p:sp>
      <p:grpSp>
        <p:nvGrpSpPr>
          <p:cNvPr name="Group 95" id="95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97" id="97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29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2127418" y="9608820"/>
            <a:ext cx="375239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④ 지침서 품질 고도화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14727565" y="9608820"/>
            <a:ext cx="280352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Skill Doc Quality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2180911" y="511178"/>
            <a:ext cx="544033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DB477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④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Skills Builder · 지침서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58190" y="3870369"/>
            <a:ext cx="4822746" cy="3827145"/>
            <a:chOff x="0" y="0"/>
            <a:chExt cx="6430328" cy="51028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430264" cy="5102860"/>
            </a:xfrm>
            <a:custGeom>
              <a:avLst/>
              <a:gdLst/>
              <a:ahLst/>
              <a:cxnLst/>
              <a:rect r="r" b="b" t="t" l="l"/>
              <a:pathLst>
                <a:path h="5102860" w="6430264">
                  <a:moveTo>
                    <a:pt x="0" y="209827"/>
                  </a:moveTo>
                  <a:cubicBezTo>
                    <a:pt x="0" y="93921"/>
                    <a:pt x="79756" y="0"/>
                    <a:pt x="178181" y="0"/>
                  </a:cubicBezTo>
                  <a:lnTo>
                    <a:pt x="6252083" y="0"/>
                  </a:lnTo>
                  <a:cubicBezTo>
                    <a:pt x="6350508" y="0"/>
                    <a:pt x="6430264" y="93921"/>
                    <a:pt x="6430264" y="209827"/>
                  </a:cubicBezTo>
                  <a:lnTo>
                    <a:pt x="6430264" y="4893033"/>
                  </a:lnTo>
                  <a:cubicBezTo>
                    <a:pt x="6430264" y="5008939"/>
                    <a:pt x="6350508" y="5102860"/>
                    <a:pt x="6252083" y="5102860"/>
                  </a:cubicBezTo>
                  <a:lnTo>
                    <a:pt x="178181" y="5102860"/>
                  </a:lnTo>
                  <a:cubicBezTo>
                    <a:pt x="79756" y="5102860"/>
                    <a:pt x="0" y="5008939"/>
                    <a:pt x="0" y="4893033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23623" y="4116743"/>
            <a:ext cx="497086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🌱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3623" y="4711103"/>
            <a:ext cx="4422162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SEED 표준 스킬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3623" y="5088293"/>
            <a:ext cx="442216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검증된 시드 자산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3623" y="5639791"/>
            <a:ext cx="34091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산업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632284" y="5639791"/>
            <a:ext cx="75941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6 </a:t>
            </a:r>
            <a:r>
              <a:rPr lang="en-US" sz="135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(활성 1)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3623" y="5969356"/>
            <a:ext cx="34091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직무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263553" y="5969356"/>
            <a:ext cx="12814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5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3623" y="6603721"/>
            <a:ext cx="4422162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2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customer_support · it_ops · document_data · hr · marketing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3623" y="7032346"/>
            <a:ext cx="4422162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company scope 자동 PUBLISHED · uuid5 idempotent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5744766" y="3870369"/>
            <a:ext cx="4822869" cy="3827145"/>
            <a:chOff x="0" y="0"/>
            <a:chExt cx="6430493" cy="51028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430518" cy="5102860"/>
            </a:xfrm>
            <a:custGeom>
              <a:avLst/>
              <a:gdLst/>
              <a:ahLst/>
              <a:cxnLst/>
              <a:rect r="r" b="b" t="t" l="l"/>
              <a:pathLst>
                <a:path h="5102860" w="6430518">
                  <a:moveTo>
                    <a:pt x="0" y="178181"/>
                  </a:moveTo>
                  <a:cubicBezTo>
                    <a:pt x="0" y="79756"/>
                    <a:pt x="79756" y="0"/>
                    <a:pt x="178181" y="0"/>
                  </a:cubicBezTo>
                  <a:lnTo>
                    <a:pt x="6252337" y="0"/>
                  </a:lnTo>
                  <a:cubicBezTo>
                    <a:pt x="6350762" y="0"/>
                    <a:pt x="6430518" y="79756"/>
                    <a:pt x="6430518" y="178181"/>
                  </a:cubicBezTo>
                  <a:lnTo>
                    <a:pt x="6430518" y="4924679"/>
                  </a:lnTo>
                  <a:cubicBezTo>
                    <a:pt x="6430518" y="5023104"/>
                    <a:pt x="6350762" y="5102860"/>
                    <a:pt x="6252337" y="5102860"/>
                  </a:cubicBezTo>
                  <a:lnTo>
                    <a:pt x="178181" y="5102860"/>
                  </a:lnTo>
                  <a:cubicBezTo>
                    <a:pt x="79756" y="5102860"/>
                    <a:pt x="0" y="5023104"/>
                    <a:pt x="0" y="4924679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6010199" y="4117219"/>
            <a:ext cx="497086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📄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10199" y="4711103"/>
            <a:ext cx="4422286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2-MD 합성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10199" y="5088293"/>
            <a:ext cx="4422286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스킬당 두 지침서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5980986" y="5693454"/>
            <a:ext cx="4350429" cy="697230"/>
            <a:chOff x="0" y="0"/>
            <a:chExt cx="5800573" cy="929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800598" cy="929640"/>
            </a:xfrm>
            <a:custGeom>
              <a:avLst/>
              <a:gdLst/>
              <a:ahLst/>
              <a:cxnLst/>
              <a:rect r="r" b="b" t="t" l="l"/>
              <a:pathLst>
                <a:path h="929640" w="5800598">
                  <a:moveTo>
                    <a:pt x="0" y="115570"/>
                  </a:moveTo>
                  <a:cubicBezTo>
                    <a:pt x="0" y="51689"/>
                    <a:pt x="51689" y="0"/>
                    <a:pt x="115570" y="0"/>
                  </a:cubicBezTo>
                  <a:lnTo>
                    <a:pt x="5685028" y="0"/>
                  </a:lnTo>
                  <a:cubicBezTo>
                    <a:pt x="5748909" y="0"/>
                    <a:pt x="5800598" y="51689"/>
                    <a:pt x="5800598" y="115570"/>
                  </a:cubicBezTo>
                  <a:lnTo>
                    <a:pt x="5800598" y="814070"/>
                  </a:lnTo>
                  <a:cubicBezTo>
                    <a:pt x="5800598" y="877951"/>
                    <a:pt x="5748909" y="929640"/>
                    <a:pt x="5685028" y="929640"/>
                  </a:cubicBezTo>
                  <a:lnTo>
                    <a:pt x="115570" y="929640"/>
                  </a:lnTo>
                  <a:cubicBezTo>
                    <a:pt x="51689" y="929640"/>
                    <a:pt x="0" y="877951"/>
                    <a:pt x="0" y="814070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6141644" y="5816003"/>
            <a:ext cx="415150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SKILL.md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141644" y="6088418"/>
            <a:ext cx="415150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노드 </a:t>
            </a:r>
            <a:r>
              <a:rPr lang="en-US" sz="1200" b="true">
                <a:solidFill>
                  <a:srgbClr val="64748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실행 </a:t>
            </a: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시 LLM 주입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980986" y="6487839"/>
            <a:ext cx="4350429" cy="697230"/>
            <a:chOff x="0" y="0"/>
            <a:chExt cx="5800573" cy="929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800598" cy="929640"/>
            </a:xfrm>
            <a:custGeom>
              <a:avLst/>
              <a:gdLst/>
              <a:ahLst/>
              <a:cxnLst/>
              <a:rect r="r" b="b" t="t" l="l"/>
              <a:pathLst>
                <a:path h="929640" w="5800598">
                  <a:moveTo>
                    <a:pt x="0" y="115570"/>
                  </a:moveTo>
                  <a:cubicBezTo>
                    <a:pt x="0" y="51689"/>
                    <a:pt x="51689" y="0"/>
                    <a:pt x="115570" y="0"/>
                  </a:cubicBezTo>
                  <a:lnTo>
                    <a:pt x="5685028" y="0"/>
                  </a:lnTo>
                  <a:cubicBezTo>
                    <a:pt x="5748909" y="0"/>
                    <a:pt x="5800598" y="51689"/>
                    <a:pt x="5800598" y="115570"/>
                  </a:cubicBezTo>
                  <a:lnTo>
                    <a:pt x="5800598" y="814070"/>
                  </a:lnTo>
                  <a:cubicBezTo>
                    <a:pt x="5800598" y="877951"/>
                    <a:pt x="5748909" y="929640"/>
                    <a:pt x="5685028" y="929640"/>
                  </a:cubicBezTo>
                  <a:lnTo>
                    <a:pt x="115570" y="929640"/>
                  </a:lnTo>
                  <a:cubicBezTo>
                    <a:pt x="51689" y="929640"/>
                    <a:pt x="0" y="877951"/>
                    <a:pt x="0" y="814070"/>
                  </a:cubicBezTo>
                  <a:close/>
                </a:path>
              </a:pathLst>
            </a:custGeom>
            <a:solidFill>
              <a:srgbClr val="FDF2F8"/>
            </a:solidFill>
            <a:ln w="7620" cap="sq">
              <a:solidFill>
                <a:srgbClr val="FBCFE0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6141644" y="6610388"/>
            <a:ext cx="415150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COMPOSER.md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141644" y="6882803"/>
            <a:ext cx="415150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워크플로우 </a:t>
            </a:r>
            <a:r>
              <a:rPr lang="en-US" sz="1200" b="true">
                <a:solidFill>
                  <a:srgbClr val="64748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생성 </a:t>
            </a: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시 drafter 주입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945057" y="7377284"/>
            <a:ext cx="4422286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1050" b="true">
                <a:solidFill>
                  <a:srgbClr val="BE185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같은 스킬, 소비처가 다름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0729560" y="3865283"/>
            <a:ext cx="6790734" cy="3827145"/>
            <a:chOff x="0" y="0"/>
            <a:chExt cx="9054313" cy="51028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054338" cy="5102860"/>
            </a:xfrm>
            <a:custGeom>
              <a:avLst/>
              <a:gdLst/>
              <a:ahLst/>
              <a:cxnLst/>
              <a:rect r="r" b="b" t="t" l="l"/>
              <a:pathLst>
                <a:path h="5102860" w="9054338">
                  <a:moveTo>
                    <a:pt x="0" y="192457"/>
                  </a:moveTo>
                  <a:cubicBezTo>
                    <a:pt x="0" y="86193"/>
                    <a:pt x="79629" y="0"/>
                    <a:pt x="177800" y="0"/>
                  </a:cubicBezTo>
                  <a:lnTo>
                    <a:pt x="8876538" y="0"/>
                  </a:lnTo>
                  <a:cubicBezTo>
                    <a:pt x="8974709" y="0"/>
                    <a:pt x="9054338" y="86193"/>
                    <a:pt x="9054338" y="192457"/>
                  </a:cubicBezTo>
                  <a:lnTo>
                    <a:pt x="9054338" y="4910403"/>
                  </a:lnTo>
                  <a:cubicBezTo>
                    <a:pt x="9054338" y="5016667"/>
                    <a:pt x="8974709" y="5102860"/>
                    <a:pt x="8876538" y="5102860"/>
                  </a:cubicBezTo>
                  <a:lnTo>
                    <a:pt x="177800" y="5102860"/>
                  </a:lnTo>
                  <a:cubicBezTo>
                    <a:pt x="79629" y="5102860"/>
                    <a:pt x="0" y="5016667"/>
                    <a:pt x="0" y="4910403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0989269" y="4198182"/>
            <a:ext cx="31387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E2E8F0"/>
                </a:solidFill>
                <a:latin typeface="Noto Sans Kr"/>
                <a:ea typeface="Noto Sans Kr"/>
                <a:cs typeface="Noto Sans Kr"/>
                <a:sym typeface="Noto Sans Kr"/>
              </a:rPr>
              <a:t>🔁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388966" y="4183894"/>
            <a:ext cx="1234002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재사용 루프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592626" y="4174369"/>
            <a:ext cx="66667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0"/>
              </a:lnSpc>
            </a:pPr>
            <a:r>
              <a:rPr lang="en-US" sz="1275" b="true">
                <a:solidFill>
                  <a:srgbClr val="64748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자기 강화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1479034" y="4635475"/>
            <a:ext cx="323850" cy="518922"/>
            <a:chOff x="0" y="0"/>
            <a:chExt cx="431800" cy="691896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50800" y="180848"/>
              <a:ext cx="330200" cy="330200"/>
              <a:chOff x="0" y="0"/>
              <a:chExt cx="330200" cy="3302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330200" cy="330200"/>
              </a:xfrm>
              <a:custGeom>
                <a:avLst/>
                <a:gdLst/>
                <a:ahLst/>
                <a:cxnLst/>
                <a:rect r="r" b="b" t="t" l="l"/>
                <a:pathLst>
                  <a:path h="330200" w="330200">
                    <a:moveTo>
                      <a:pt x="0" y="88900"/>
                    </a:moveTo>
                    <a:cubicBezTo>
                      <a:pt x="0" y="39751"/>
                      <a:pt x="39751" y="0"/>
                      <a:pt x="88900" y="0"/>
                    </a:cubicBezTo>
                    <a:lnTo>
                      <a:pt x="241300" y="0"/>
                    </a:lnTo>
                    <a:cubicBezTo>
                      <a:pt x="290449" y="0"/>
                      <a:pt x="330200" y="39751"/>
                      <a:pt x="330200" y="88900"/>
                    </a:cubicBezTo>
                    <a:lnTo>
                      <a:pt x="330200" y="241300"/>
                    </a:lnTo>
                    <a:cubicBezTo>
                      <a:pt x="330200" y="290449"/>
                      <a:pt x="290449" y="330200"/>
                      <a:pt x="241300" y="330200"/>
                    </a:cubicBezTo>
                    <a:lnTo>
                      <a:pt x="88900" y="330200"/>
                    </a:lnTo>
                    <a:cubicBezTo>
                      <a:pt x="39751" y="330200"/>
                      <a:pt x="0" y="290449"/>
                      <a:pt x="0" y="241300"/>
                    </a:cubicBezTo>
                    <a:close/>
                  </a:path>
                </a:pathLst>
              </a:custGeom>
              <a:solidFill>
                <a:srgbClr val="1E293B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31800" cy="691896"/>
              <a:chOff x="0" y="0"/>
              <a:chExt cx="431800" cy="691896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31800" cy="691896"/>
              </a:xfrm>
              <a:custGeom>
                <a:avLst/>
                <a:gdLst/>
                <a:ahLst/>
                <a:cxnLst/>
                <a:rect r="r" b="b" t="t" l="l"/>
                <a:pathLst>
                  <a:path h="691896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691896"/>
                    </a:lnTo>
                    <a:lnTo>
                      <a:pt x="0" y="69189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63209" t="0" r="-63209" b="44933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9525"/>
                <a:ext cx="431800" cy="70142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620"/>
                  </a:lnSpc>
                </a:pPr>
                <a:r>
                  <a:rPr lang="en-US" sz="1350" b="true">
                    <a:solidFill>
                      <a:srgbClr val="F9A8D4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1</a:t>
                </a:r>
              </a:p>
            </p:txBody>
          </p:sp>
        </p:grpSp>
      </p:grpSp>
      <p:sp>
        <p:nvSpPr>
          <p:cNvPr name="TextBox 38" id="38"/>
          <p:cNvSpPr txBox="true"/>
          <p:nvPr/>
        </p:nvSpPr>
        <p:spPr>
          <a:xfrm rot="0">
            <a:off x="11927062" y="4780636"/>
            <a:ext cx="2656351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Skills Builder </a:t>
            </a:r>
            <a:r>
              <a:rPr lang="en-US" sz="15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SOP → DRAFT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1386172" y="5131156"/>
            <a:ext cx="509575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b="true">
                <a:solidFill>
                  <a:srgbClr val="47556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↓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1479034" y="5259934"/>
            <a:ext cx="323850" cy="518922"/>
            <a:chOff x="0" y="0"/>
            <a:chExt cx="431800" cy="691896"/>
          </a:xfrm>
        </p:grpSpPr>
        <p:grpSp>
          <p:nvGrpSpPr>
            <p:cNvPr name="Group 41" id="41"/>
            <p:cNvGrpSpPr/>
            <p:nvPr/>
          </p:nvGrpSpPr>
          <p:grpSpPr>
            <a:xfrm rot="0">
              <a:off x="50800" y="180848"/>
              <a:ext cx="330200" cy="330200"/>
              <a:chOff x="0" y="0"/>
              <a:chExt cx="330200" cy="3302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330200" cy="330200"/>
              </a:xfrm>
              <a:custGeom>
                <a:avLst/>
                <a:gdLst/>
                <a:ahLst/>
                <a:cxnLst/>
                <a:rect r="r" b="b" t="t" l="l"/>
                <a:pathLst>
                  <a:path h="330200" w="330200">
                    <a:moveTo>
                      <a:pt x="0" y="88900"/>
                    </a:moveTo>
                    <a:cubicBezTo>
                      <a:pt x="0" y="39751"/>
                      <a:pt x="39751" y="0"/>
                      <a:pt x="88900" y="0"/>
                    </a:cubicBezTo>
                    <a:lnTo>
                      <a:pt x="241300" y="0"/>
                    </a:lnTo>
                    <a:cubicBezTo>
                      <a:pt x="290449" y="0"/>
                      <a:pt x="330200" y="39751"/>
                      <a:pt x="330200" y="88900"/>
                    </a:cubicBezTo>
                    <a:lnTo>
                      <a:pt x="330200" y="241300"/>
                    </a:lnTo>
                    <a:cubicBezTo>
                      <a:pt x="330200" y="290449"/>
                      <a:pt x="290449" y="330200"/>
                      <a:pt x="241300" y="330200"/>
                    </a:cubicBezTo>
                    <a:lnTo>
                      <a:pt x="88900" y="330200"/>
                    </a:lnTo>
                    <a:cubicBezTo>
                      <a:pt x="39751" y="330200"/>
                      <a:pt x="0" y="290449"/>
                      <a:pt x="0" y="241300"/>
                    </a:cubicBezTo>
                    <a:close/>
                  </a:path>
                </a:pathLst>
              </a:custGeom>
              <a:solidFill>
                <a:srgbClr val="1E293B"/>
              </a:solidFill>
            </p:spPr>
          </p:sp>
        </p:grpSp>
        <p:grpSp>
          <p:nvGrpSpPr>
            <p:cNvPr name="Group 43" id="43"/>
            <p:cNvGrpSpPr/>
            <p:nvPr/>
          </p:nvGrpSpPr>
          <p:grpSpPr>
            <a:xfrm rot="0">
              <a:off x="0" y="0"/>
              <a:ext cx="431800" cy="691896"/>
              <a:chOff x="0" y="0"/>
              <a:chExt cx="431800" cy="691896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431800" cy="691896"/>
              </a:xfrm>
              <a:custGeom>
                <a:avLst/>
                <a:gdLst/>
                <a:ahLst/>
                <a:cxnLst/>
                <a:rect r="r" b="b" t="t" l="l"/>
                <a:pathLst>
                  <a:path h="691896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691896"/>
                    </a:lnTo>
                    <a:lnTo>
                      <a:pt x="0" y="69189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63209" t="0" r="-63209" b="44933"/>
                </a:stretch>
              </a:blipFill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-9525"/>
                <a:ext cx="431800" cy="70142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620"/>
                  </a:lnSpc>
                </a:pPr>
                <a:r>
                  <a:rPr lang="en-US" sz="1350" b="true">
                    <a:solidFill>
                      <a:srgbClr val="FBBF24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2</a:t>
                </a:r>
              </a:p>
            </p:txBody>
          </p:sp>
        </p:grpSp>
      </p:grpSp>
      <p:sp>
        <p:nvSpPr>
          <p:cNvPr name="TextBox 46" id="46"/>
          <p:cNvSpPr txBox="true"/>
          <p:nvPr/>
        </p:nvSpPr>
        <p:spPr>
          <a:xfrm rot="0">
            <a:off x="11927062" y="5405095"/>
            <a:ext cx="212780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⑤ 마켓플레이스 </a:t>
            </a:r>
            <a:r>
              <a:rPr lang="en-US" sz="15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자산 축적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1386172" y="5778856"/>
            <a:ext cx="509575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b="true">
                <a:solidFill>
                  <a:srgbClr val="47556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↓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1479034" y="5959831"/>
            <a:ext cx="323850" cy="518922"/>
            <a:chOff x="0" y="0"/>
            <a:chExt cx="431800" cy="691896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50800" y="180848"/>
              <a:ext cx="330200" cy="330200"/>
              <a:chOff x="0" y="0"/>
              <a:chExt cx="330200" cy="33020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330200" cy="330200"/>
              </a:xfrm>
              <a:custGeom>
                <a:avLst/>
                <a:gdLst/>
                <a:ahLst/>
                <a:cxnLst/>
                <a:rect r="r" b="b" t="t" l="l"/>
                <a:pathLst>
                  <a:path h="330200" w="330200">
                    <a:moveTo>
                      <a:pt x="0" y="88900"/>
                    </a:moveTo>
                    <a:cubicBezTo>
                      <a:pt x="0" y="39751"/>
                      <a:pt x="39751" y="0"/>
                      <a:pt x="88900" y="0"/>
                    </a:cubicBezTo>
                    <a:lnTo>
                      <a:pt x="241300" y="0"/>
                    </a:lnTo>
                    <a:cubicBezTo>
                      <a:pt x="290449" y="0"/>
                      <a:pt x="330200" y="39751"/>
                      <a:pt x="330200" y="88900"/>
                    </a:cubicBezTo>
                    <a:lnTo>
                      <a:pt x="330200" y="241300"/>
                    </a:lnTo>
                    <a:cubicBezTo>
                      <a:pt x="330200" y="290449"/>
                      <a:pt x="290449" y="330200"/>
                      <a:pt x="241300" y="330200"/>
                    </a:cubicBezTo>
                    <a:lnTo>
                      <a:pt x="88900" y="330200"/>
                    </a:lnTo>
                    <a:cubicBezTo>
                      <a:pt x="39751" y="330200"/>
                      <a:pt x="0" y="290449"/>
                      <a:pt x="0" y="241300"/>
                    </a:cubicBezTo>
                    <a:close/>
                  </a:path>
                </a:pathLst>
              </a:custGeom>
              <a:solidFill>
                <a:srgbClr val="1E293B"/>
              </a:solidFill>
            </p:spPr>
          </p:sp>
        </p:grpSp>
        <p:grpSp>
          <p:nvGrpSpPr>
            <p:cNvPr name="Group 51" id="51"/>
            <p:cNvGrpSpPr/>
            <p:nvPr/>
          </p:nvGrpSpPr>
          <p:grpSpPr>
            <a:xfrm rot="0">
              <a:off x="0" y="0"/>
              <a:ext cx="431800" cy="691896"/>
              <a:chOff x="0" y="0"/>
              <a:chExt cx="431800" cy="691896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431800" cy="691896"/>
              </a:xfrm>
              <a:custGeom>
                <a:avLst/>
                <a:gdLst/>
                <a:ahLst/>
                <a:cxnLst/>
                <a:rect r="r" b="b" t="t" l="l"/>
                <a:pathLst>
                  <a:path h="691896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691896"/>
                    </a:lnTo>
                    <a:lnTo>
                      <a:pt x="0" y="69189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63209" t="0" r="-63209" b="44933"/>
                </a:stretch>
              </a:blip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0" y="-9525"/>
                <a:ext cx="431800" cy="70142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620"/>
                  </a:lnSpc>
                </a:pPr>
                <a:r>
                  <a:rPr lang="en-US" sz="1350" b="true">
                    <a:solidFill>
                      <a:srgbClr val="818CF8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3</a:t>
                </a:r>
              </a:p>
            </p:txBody>
          </p:sp>
        </p:grpSp>
      </p:grpSp>
      <p:sp>
        <p:nvSpPr>
          <p:cNvPr name="TextBox 54" id="54"/>
          <p:cNvSpPr txBox="true"/>
          <p:nvPr/>
        </p:nvSpPr>
        <p:spPr>
          <a:xfrm rot="0">
            <a:off x="11927062" y="6104992"/>
            <a:ext cx="371139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 Composer </a:t>
            </a:r>
            <a:r>
              <a:rPr lang="en-US" sz="15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suggest_skill 재사용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1070933" y="6478753"/>
            <a:ext cx="1140053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b="true">
                <a:solidFill>
                  <a:srgbClr val="47556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↺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1479034" y="6692875"/>
            <a:ext cx="323850" cy="518922"/>
            <a:chOff x="0" y="0"/>
            <a:chExt cx="431800" cy="691896"/>
          </a:xfrm>
        </p:grpSpPr>
        <p:grpSp>
          <p:nvGrpSpPr>
            <p:cNvPr name="Group 57" id="57"/>
            <p:cNvGrpSpPr/>
            <p:nvPr/>
          </p:nvGrpSpPr>
          <p:grpSpPr>
            <a:xfrm rot="0">
              <a:off x="50800" y="180848"/>
              <a:ext cx="330200" cy="330200"/>
              <a:chOff x="0" y="0"/>
              <a:chExt cx="330200" cy="330200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330200" cy="330200"/>
              </a:xfrm>
              <a:custGeom>
                <a:avLst/>
                <a:gdLst/>
                <a:ahLst/>
                <a:cxnLst/>
                <a:rect r="r" b="b" t="t" l="l"/>
                <a:pathLst>
                  <a:path h="330200" w="330200">
                    <a:moveTo>
                      <a:pt x="0" y="88900"/>
                    </a:moveTo>
                    <a:cubicBezTo>
                      <a:pt x="0" y="39751"/>
                      <a:pt x="39751" y="0"/>
                      <a:pt x="88900" y="0"/>
                    </a:cubicBezTo>
                    <a:lnTo>
                      <a:pt x="241300" y="0"/>
                    </a:lnTo>
                    <a:cubicBezTo>
                      <a:pt x="290449" y="0"/>
                      <a:pt x="330200" y="39751"/>
                      <a:pt x="330200" y="88900"/>
                    </a:cubicBezTo>
                    <a:lnTo>
                      <a:pt x="330200" y="241300"/>
                    </a:lnTo>
                    <a:cubicBezTo>
                      <a:pt x="330200" y="290449"/>
                      <a:pt x="290449" y="330200"/>
                      <a:pt x="241300" y="330200"/>
                    </a:cubicBezTo>
                    <a:lnTo>
                      <a:pt x="88900" y="330200"/>
                    </a:lnTo>
                    <a:cubicBezTo>
                      <a:pt x="39751" y="330200"/>
                      <a:pt x="0" y="290449"/>
                      <a:pt x="0" y="241300"/>
                    </a:cubicBezTo>
                    <a:close/>
                  </a:path>
                </a:pathLst>
              </a:custGeom>
              <a:solidFill>
                <a:srgbClr val="DB4778">
                  <a:alpha val="3137"/>
                </a:srgbClr>
              </a:solidFill>
            </p:spPr>
          </p:sp>
        </p:grpSp>
        <p:grpSp>
          <p:nvGrpSpPr>
            <p:cNvPr name="Group 59" id="59"/>
            <p:cNvGrpSpPr/>
            <p:nvPr/>
          </p:nvGrpSpPr>
          <p:grpSpPr>
            <a:xfrm rot="0">
              <a:off x="0" y="0"/>
              <a:ext cx="431800" cy="691896"/>
              <a:chOff x="0" y="0"/>
              <a:chExt cx="431800" cy="691896"/>
            </a:xfrm>
          </p:grpSpPr>
          <p:sp>
            <p:nvSpPr>
              <p:cNvPr name="Freeform 60" id="60"/>
              <p:cNvSpPr/>
              <p:nvPr/>
            </p:nvSpPr>
            <p:spPr>
              <a:xfrm flipH="false" flipV="false" rot="0">
                <a:off x="0" y="0"/>
                <a:ext cx="431800" cy="691896"/>
              </a:xfrm>
              <a:custGeom>
                <a:avLst/>
                <a:gdLst/>
                <a:ahLst/>
                <a:cxnLst/>
                <a:rect r="r" b="b" t="t" l="l"/>
                <a:pathLst>
                  <a:path h="691896" w="431800">
                    <a:moveTo>
                      <a:pt x="0" y="0"/>
                    </a:moveTo>
                    <a:lnTo>
                      <a:pt x="431800" y="0"/>
                    </a:lnTo>
                    <a:lnTo>
                      <a:pt x="431800" y="691896"/>
                    </a:lnTo>
                    <a:lnTo>
                      <a:pt x="0" y="69189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63209" t="0" r="-63209" b="44933"/>
                </a:stretch>
              </a:blipFill>
            </p:spPr>
          </p:sp>
          <p:sp>
            <p:nvSpPr>
              <p:cNvPr name="TextBox 61" id="61"/>
              <p:cNvSpPr txBox="true"/>
              <p:nvPr/>
            </p:nvSpPr>
            <p:spPr>
              <a:xfrm>
                <a:off x="0" y="-9525"/>
                <a:ext cx="431800" cy="70142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620"/>
                  </a:lnSpc>
                </a:pPr>
                <a:r>
                  <a:rPr lang="en-US" sz="1350" b="true">
                    <a:solidFill>
                      <a:srgbClr val="F9A8D4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4</a:t>
                </a:r>
              </a:p>
            </p:txBody>
          </p:sp>
        </p:grpSp>
      </p:grpSp>
      <p:sp>
        <p:nvSpPr>
          <p:cNvPr name="TextBox 62" id="62"/>
          <p:cNvSpPr txBox="true"/>
          <p:nvPr/>
        </p:nvSpPr>
        <p:spPr>
          <a:xfrm rot="0">
            <a:off x="11927062" y="6838036"/>
            <a:ext cx="254845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조립·학습 </a:t>
            </a:r>
            <a:r>
              <a:rPr lang="en-US" sz="1500">
                <a:solidFill>
                  <a:srgbClr val="94A3B8"/>
                </a:solidFill>
                <a:latin typeface="Noto Sans Kr"/>
                <a:ea typeface="Noto Sans Kr"/>
                <a:cs typeface="Noto Sans Kr"/>
                <a:sym typeface="Noto Sans Kr"/>
              </a:rPr>
              <a:t>⤺ 새 SOP → 재투입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1104064" y="7202024"/>
            <a:ext cx="6472733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2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company scope 자동 PUBLISHED · uuid5 idempotent · composer_instructions 배선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787403" y="9697088"/>
            <a:ext cx="60559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30 </a:t>
            </a:r>
            <a:r>
              <a:rPr lang="en-US" sz="135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462840" y="9697088"/>
            <a:ext cx="7623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608934" y="9697088"/>
            <a:ext cx="226615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64748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④ SEED · 2-md · 재사용 루프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5720574" y="9697088"/>
            <a:ext cx="185622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64748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 — Reuse Loop</a:t>
            </a:r>
          </a:p>
        </p:txBody>
      </p:sp>
      <p:grpSp>
        <p:nvGrpSpPr>
          <p:cNvPr name="Group 68" id="68"/>
          <p:cNvGrpSpPr/>
          <p:nvPr/>
        </p:nvGrpSpPr>
        <p:grpSpPr>
          <a:xfrm rot="0">
            <a:off x="10967685" y="4837422"/>
            <a:ext cx="470670" cy="2119481"/>
            <a:chOff x="0" y="0"/>
            <a:chExt cx="627561" cy="2825975"/>
          </a:xfrm>
        </p:grpSpPr>
        <p:sp>
          <p:nvSpPr>
            <p:cNvPr name="AutoShape 69" id="69"/>
            <p:cNvSpPr/>
            <p:nvPr/>
          </p:nvSpPr>
          <p:spPr>
            <a:xfrm>
              <a:off x="302910" y="21850"/>
              <a:ext cx="324651" cy="0"/>
            </a:xfrm>
            <a:prstGeom prst="line">
              <a:avLst/>
            </a:prstGeom>
            <a:ln cap="flat" w="43699">
              <a:solidFill>
                <a:srgbClr val="F9A8D4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70" id="70"/>
            <p:cNvSpPr/>
            <p:nvPr/>
          </p:nvSpPr>
          <p:spPr>
            <a:xfrm flipH="true">
              <a:off x="302910" y="8841"/>
              <a:ext cx="0" cy="2817134"/>
            </a:xfrm>
            <a:prstGeom prst="line">
              <a:avLst/>
            </a:prstGeom>
            <a:ln cap="flat" w="43699">
              <a:solidFill>
                <a:srgbClr val="F9A8D4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71" id="71"/>
            <p:cNvGrpSpPr/>
            <p:nvPr/>
          </p:nvGrpSpPr>
          <p:grpSpPr>
            <a:xfrm rot="0">
              <a:off x="83675" y="1043327"/>
              <a:ext cx="460211" cy="460211"/>
              <a:chOff x="0" y="0"/>
              <a:chExt cx="279400" cy="279400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279400" cy="279400"/>
              </a:xfrm>
              <a:custGeom>
                <a:avLst/>
                <a:gdLst/>
                <a:ahLst/>
                <a:cxnLst/>
                <a:rect r="r" b="b" t="t" l="l"/>
                <a:pathLst>
                  <a:path h="279400" w="279400">
                    <a:moveTo>
                      <a:pt x="0" y="139700"/>
                    </a:moveTo>
                    <a:cubicBezTo>
                      <a:pt x="0" y="62484"/>
                      <a:pt x="62484" y="0"/>
                      <a:pt x="139700" y="0"/>
                    </a:cubicBezTo>
                    <a:cubicBezTo>
                      <a:pt x="216916" y="0"/>
                      <a:pt x="279400" y="62484"/>
                      <a:pt x="279400" y="139700"/>
                    </a:cubicBezTo>
                    <a:cubicBezTo>
                      <a:pt x="279400" y="216916"/>
                      <a:pt x="216916" y="279400"/>
                      <a:pt x="139700" y="279400"/>
                    </a:cubicBezTo>
                    <a:cubicBezTo>
                      <a:pt x="62484" y="279400"/>
                      <a:pt x="0" y="216916"/>
                      <a:pt x="0" y="139700"/>
                    </a:cubicBezTo>
                    <a:close/>
                  </a:path>
                </a:pathLst>
              </a:custGeom>
              <a:solidFill>
                <a:srgbClr val="F9A8D4"/>
              </a:solidFill>
            </p:spPr>
          </p:sp>
        </p:grpSp>
        <p:grpSp>
          <p:nvGrpSpPr>
            <p:cNvPr name="Group 73" id="73"/>
            <p:cNvGrpSpPr/>
            <p:nvPr/>
          </p:nvGrpSpPr>
          <p:grpSpPr>
            <a:xfrm rot="0">
              <a:off x="0" y="863635"/>
              <a:ext cx="627561" cy="819594"/>
              <a:chOff x="0" y="0"/>
              <a:chExt cx="381000" cy="497586"/>
            </a:xfrm>
          </p:grpSpPr>
          <p:sp>
            <p:nvSpPr>
              <p:cNvPr name="Freeform 74" id="74"/>
              <p:cNvSpPr/>
              <p:nvPr/>
            </p:nvSpPr>
            <p:spPr>
              <a:xfrm flipH="false" flipV="false" rot="0">
                <a:off x="0" y="0"/>
                <a:ext cx="381000" cy="497586"/>
              </a:xfrm>
              <a:custGeom>
                <a:avLst/>
                <a:gdLst/>
                <a:ahLst/>
                <a:cxnLst/>
                <a:rect r="r" b="b" t="t" l="l"/>
                <a:pathLst>
                  <a:path h="497586" w="381000">
                    <a:moveTo>
                      <a:pt x="0" y="0"/>
                    </a:moveTo>
                    <a:lnTo>
                      <a:pt x="381000" y="0"/>
                    </a:lnTo>
                    <a:lnTo>
                      <a:pt x="381000" y="497586"/>
                    </a:lnTo>
                    <a:lnTo>
                      <a:pt x="0" y="497586"/>
                    </a:lnTo>
                    <a:close/>
                  </a:path>
                </a:pathLst>
              </a:custGeom>
              <a:solidFill>
                <a:srgbClr val="F9A8D4">
                  <a:alpha val="0"/>
                </a:srgbClr>
              </a:solidFill>
            </p:spPr>
          </p:sp>
          <p:sp>
            <p:nvSpPr>
              <p:cNvPr name="TextBox 75" id="75"/>
              <p:cNvSpPr txBox="true"/>
              <p:nvPr/>
            </p:nvSpPr>
            <p:spPr>
              <a:xfrm>
                <a:off x="0" y="9525"/>
                <a:ext cx="381000" cy="48806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799"/>
                  </a:lnSpc>
                </a:pPr>
                <a:r>
                  <a:rPr lang="en-US" sz="1499" b="true">
                    <a:solidFill>
                      <a:srgbClr val="FFFFFF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↺</a:t>
                </a:r>
              </a:p>
            </p:txBody>
          </p:sp>
        </p:grpSp>
      </p:grpSp>
      <p:sp>
        <p:nvSpPr>
          <p:cNvPr name="AutoShape 76" id="76"/>
          <p:cNvSpPr/>
          <p:nvPr/>
        </p:nvSpPr>
        <p:spPr>
          <a:xfrm flipH="true">
            <a:off x="11194867" y="6956903"/>
            <a:ext cx="243488" cy="0"/>
          </a:xfrm>
          <a:prstGeom prst="line">
            <a:avLst/>
          </a:prstGeom>
          <a:ln cap="flat" w="28575">
            <a:solidFill>
              <a:srgbClr val="F9A8D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7" id="77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F5A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11359921" y="511178"/>
            <a:ext cx="617116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REQ-013 · 박아름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787403" y="1111253"/>
            <a:ext cx="9586764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한 번 만든 스킬이 다음 워크플로우를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더 빠르게 만든다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SOP·SEED → 2종 지침서 → 마켓 → 재사용. 자기 강화 루프.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2180911" y="511178"/>
            <a:ext cx="544033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DB477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④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Skills Builder · 재사용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25503" y="3744278"/>
            <a:ext cx="1713763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40">
                <a:solidFill>
                  <a:srgbClr val="64748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🏪 3 SCOPE · 승격 = 복제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800100" y="4035742"/>
            <a:ext cx="5334000" cy="1592580"/>
            <a:chOff x="0" y="0"/>
            <a:chExt cx="7112000" cy="2123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112000" cy="2123440"/>
            </a:xfrm>
            <a:custGeom>
              <a:avLst/>
              <a:gdLst/>
              <a:ahLst/>
              <a:cxnLst/>
              <a:rect r="r" b="b" t="t" l="l"/>
              <a:pathLst>
                <a:path h="2123440" w="7112000">
                  <a:moveTo>
                    <a:pt x="0" y="177800"/>
                  </a:moveTo>
                  <a:cubicBezTo>
                    <a:pt x="0" y="79629"/>
                    <a:pt x="79629" y="0"/>
                    <a:pt x="177800" y="0"/>
                  </a:cubicBezTo>
                  <a:lnTo>
                    <a:pt x="6934200" y="0"/>
                  </a:lnTo>
                  <a:cubicBezTo>
                    <a:pt x="7032371" y="0"/>
                    <a:pt x="7112000" y="79629"/>
                    <a:pt x="7112000" y="177800"/>
                  </a:cubicBezTo>
                  <a:lnTo>
                    <a:pt x="7112000" y="1945640"/>
                  </a:lnTo>
                  <a:cubicBezTo>
                    <a:pt x="7112000" y="2043811"/>
                    <a:pt x="7032371" y="2123440"/>
                    <a:pt x="6934200" y="2123440"/>
                  </a:cubicBezTo>
                  <a:lnTo>
                    <a:pt x="177800" y="2123440"/>
                  </a:lnTo>
                  <a:cubicBezTo>
                    <a:pt x="79629" y="2123440"/>
                    <a:pt x="0" y="2043811"/>
                    <a:pt x="0" y="194564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800100" y="5618159"/>
            <a:ext cx="5334000" cy="10163"/>
            <a:chOff x="0" y="0"/>
            <a:chExt cx="7112000" cy="13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112000" cy="13589"/>
            </a:xfrm>
            <a:custGeom>
              <a:avLst/>
              <a:gdLst/>
              <a:ahLst/>
              <a:cxnLst/>
              <a:rect r="r" b="b" t="t" l="l"/>
              <a:pathLst>
                <a:path h="13589" w="7112000">
                  <a:moveTo>
                    <a:pt x="0" y="0"/>
                  </a:moveTo>
                  <a:lnTo>
                    <a:pt x="7112000" y="0"/>
                  </a:lnTo>
                  <a:lnTo>
                    <a:pt x="711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800100" y="4035742"/>
            <a:ext cx="5334000" cy="40643"/>
            <a:chOff x="0" y="0"/>
            <a:chExt cx="7112000" cy="5419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112000" cy="54229"/>
            </a:xfrm>
            <a:custGeom>
              <a:avLst/>
              <a:gdLst/>
              <a:ahLst/>
              <a:cxnLst/>
              <a:rect r="r" b="b" t="t" l="l"/>
              <a:pathLst>
                <a:path h="54229" w="7112000">
                  <a:moveTo>
                    <a:pt x="0" y="0"/>
                  </a:moveTo>
                  <a:lnTo>
                    <a:pt x="7112000" y="0"/>
                  </a:lnTo>
                  <a:lnTo>
                    <a:pt x="7112000" y="54229"/>
                  </a:lnTo>
                  <a:lnTo>
                    <a:pt x="0" y="54229"/>
                  </a:lnTo>
                  <a:close/>
                </a:path>
              </a:pathLst>
            </a:custGeom>
            <a:solidFill>
              <a:srgbClr val="FBBF24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800100" y="4035742"/>
            <a:ext cx="10163" cy="1592580"/>
            <a:chOff x="0" y="0"/>
            <a:chExt cx="13551" cy="21234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3589" cy="2123440"/>
            </a:xfrm>
            <a:custGeom>
              <a:avLst/>
              <a:gdLst/>
              <a:ahLst/>
              <a:cxnLst/>
              <a:rect r="r" b="b" t="t" l="l"/>
              <a:pathLst>
                <a:path h="2123440" w="13589">
                  <a:moveTo>
                    <a:pt x="0" y="0"/>
                  </a:moveTo>
                  <a:lnTo>
                    <a:pt x="13589" y="0"/>
                  </a:lnTo>
                  <a:lnTo>
                    <a:pt x="13589" y="2123440"/>
                  </a:lnTo>
                  <a:lnTo>
                    <a:pt x="0" y="2123440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6123937" y="4035742"/>
            <a:ext cx="10163" cy="1592580"/>
            <a:chOff x="0" y="0"/>
            <a:chExt cx="13551" cy="21234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589" cy="2123440"/>
            </a:xfrm>
            <a:custGeom>
              <a:avLst/>
              <a:gdLst/>
              <a:ahLst/>
              <a:cxnLst/>
              <a:rect r="r" b="b" t="t" l="l"/>
              <a:pathLst>
                <a:path h="2123440" w="13589">
                  <a:moveTo>
                    <a:pt x="0" y="0"/>
                  </a:moveTo>
                  <a:lnTo>
                    <a:pt x="13589" y="0"/>
                  </a:lnTo>
                  <a:lnTo>
                    <a:pt x="13589" y="2123440"/>
                  </a:lnTo>
                  <a:lnTo>
                    <a:pt x="0" y="2123440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064257" y="4406579"/>
            <a:ext cx="4951371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personal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64257" y="4849178"/>
            <a:ext cx="86844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FBBF24"/>
                </a:solidFill>
                <a:latin typeface="Noto Sans Kr"/>
                <a:ea typeface="Noto Sans Kr"/>
                <a:cs typeface="Noto Sans Kr"/>
                <a:sym typeface="Noto Sans Kr"/>
              </a:rPr>
              <a:t>owner only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64257" y="5125403"/>
            <a:ext cx="4951371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개인 작업 공간 · 본인만 접근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267450" y="4035742"/>
            <a:ext cx="152400" cy="1630680"/>
            <a:chOff x="0" y="0"/>
            <a:chExt cx="203200" cy="21742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03200" cy="2174240"/>
            </a:xfrm>
            <a:custGeom>
              <a:avLst/>
              <a:gdLst/>
              <a:ahLst/>
              <a:cxnLst/>
              <a:rect r="r" b="b" t="t" l="l"/>
              <a:pathLst>
                <a:path h="2174240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2174240"/>
                  </a:lnTo>
                  <a:lnTo>
                    <a:pt x="0" y="217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22848" t="0" r="-1322848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203200" cy="2164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99"/>
                </a:lnSpc>
              </a:pPr>
              <a:r>
                <a:rPr lang="en-US" b="true" sz="1999">
                  <a:solidFill>
                    <a:srgbClr val="FBBF2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›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477000" y="4035742"/>
            <a:ext cx="5334000" cy="1592580"/>
            <a:chOff x="0" y="0"/>
            <a:chExt cx="7112000" cy="21234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112000" cy="2123440"/>
            </a:xfrm>
            <a:custGeom>
              <a:avLst/>
              <a:gdLst/>
              <a:ahLst/>
              <a:cxnLst/>
              <a:rect r="r" b="b" t="t" l="l"/>
              <a:pathLst>
                <a:path h="2123440" w="7112000">
                  <a:moveTo>
                    <a:pt x="0" y="177800"/>
                  </a:moveTo>
                  <a:cubicBezTo>
                    <a:pt x="0" y="79629"/>
                    <a:pt x="79629" y="0"/>
                    <a:pt x="177800" y="0"/>
                  </a:cubicBezTo>
                  <a:lnTo>
                    <a:pt x="6934200" y="0"/>
                  </a:lnTo>
                  <a:cubicBezTo>
                    <a:pt x="7032371" y="0"/>
                    <a:pt x="7112000" y="79629"/>
                    <a:pt x="7112000" y="177800"/>
                  </a:cubicBezTo>
                  <a:lnTo>
                    <a:pt x="7112000" y="1945640"/>
                  </a:lnTo>
                  <a:cubicBezTo>
                    <a:pt x="7112000" y="2043811"/>
                    <a:pt x="7032371" y="2123440"/>
                    <a:pt x="6934200" y="2123440"/>
                  </a:cubicBezTo>
                  <a:lnTo>
                    <a:pt x="177800" y="2123440"/>
                  </a:lnTo>
                  <a:cubicBezTo>
                    <a:pt x="79629" y="2123440"/>
                    <a:pt x="0" y="2043811"/>
                    <a:pt x="0" y="194564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477000" y="5618159"/>
            <a:ext cx="5334000" cy="10163"/>
            <a:chOff x="0" y="0"/>
            <a:chExt cx="7112000" cy="1355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112000" cy="13589"/>
            </a:xfrm>
            <a:custGeom>
              <a:avLst/>
              <a:gdLst/>
              <a:ahLst/>
              <a:cxnLst/>
              <a:rect r="r" b="b" t="t" l="l"/>
              <a:pathLst>
                <a:path h="13589" w="7112000">
                  <a:moveTo>
                    <a:pt x="0" y="0"/>
                  </a:moveTo>
                  <a:lnTo>
                    <a:pt x="7112000" y="0"/>
                  </a:lnTo>
                  <a:lnTo>
                    <a:pt x="711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6477000" y="4035742"/>
            <a:ext cx="5334000" cy="40643"/>
            <a:chOff x="0" y="0"/>
            <a:chExt cx="7112000" cy="541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112000" cy="54229"/>
            </a:xfrm>
            <a:custGeom>
              <a:avLst/>
              <a:gdLst/>
              <a:ahLst/>
              <a:cxnLst/>
              <a:rect r="r" b="b" t="t" l="l"/>
              <a:pathLst>
                <a:path h="54229" w="7112000">
                  <a:moveTo>
                    <a:pt x="0" y="0"/>
                  </a:moveTo>
                  <a:lnTo>
                    <a:pt x="7112000" y="0"/>
                  </a:lnTo>
                  <a:lnTo>
                    <a:pt x="7112000" y="54229"/>
                  </a:lnTo>
                  <a:lnTo>
                    <a:pt x="0" y="54229"/>
                  </a:lnTo>
                  <a:close/>
                </a:path>
              </a:pathLst>
            </a:custGeom>
            <a:solidFill>
              <a:srgbClr val="FBBF2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6477000" y="4035742"/>
            <a:ext cx="10163" cy="1592580"/>
            <a:chOff x="0" y="0"/>
            <a:chExt cx="13551" cy="21234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3589" cy="2123440"/>
            </a:xfrm>
            <a:custGeom>
              <a:avLst/>
              <a:gdLst/>
              <a:ahLst/>
              <a:cxnLst/>
              <a:rect r="r" b="b" t="t" l="l"/>
              <a:pathLst>
                <a:path h="2123440" w="13589">
                  <a:moveTo>
                    <a:pt x="0" y="0"/>
                  </a:moveTo>
                  <a:lnTo>
                    <a:pt x="13589" y="0"/>
                  </a:lnTo>
                  <a:lnTo>
                    <a:pt x="13589" y="2123440"/>
                  </a:lnTo>
                  <a:lnTo>
                    <a:pt x="0" y="2123440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1800837" y="4035742"/>
            <a:ext cx="10163" cy="1592580"/>
            <a:chOff x="0" y="0"/>
            <a:chExt cx="13551" cy="21234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3589" cy="2123440"/>
            </a:xfrm>
            <a:custGeom>
              <a:avLst/>
              <a:gdLst/>
              <a:ahLst/>
              <a:cxnLst/>
              <a:rect r="r" b="b" t="t" l="l"/>
              <a:pathLst>
                <a:path h="2123440" w="13589">
                  <a:moveTo>
                    <a:pt x="0" y="0"/>
                  </a:moveTo>
                  <a:lnTo>
                    <a:pt x="13589" y="0"/>
                  </a:lnTo>
                  <a:lnTo>
                    <a:pt x="13589" y="2123440"/>
                  </a:lnTo>
                  <a:lnTo>
                    <a:pt x="0" y="2123440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6741157" y="4406579"/>
            <a:ext cx="4951371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team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741157" y="4849178"/>
            <a:ext cx="1722001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FBBF24"/>
                </a:solidFill>
                <a:latin typeface="Noto Sans Kr"/>
                <a:ea typeface="Noto Sans Kr"/>
                <a:cs typeface="Noto Sans Kr"/>
                <a:sym typeface="Noto Sans Kr"/>
              </a:rPr>
              <a:t>team_manager + dept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741157" y="5125403"/>
            <a:ext cx="4951371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팀·부서 단위 공유 자산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1944350" y="4035742"/>
            <a:ext cx="152400" cy="1630680"/>
            <a:chOff x="0" y="0"/>
            <a:chExt cx="203200" cy="21742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03200" cy="2174240"/>
            </a:xfrm>
            <a:custGeom>
              <a:avLst/>
              <a:gdLst/>
              <a:ahLst/>
              <a:cxnLst/>
              <a:rect r="r" b="b" t="t" l="l"/>
              <a:pathLst>
                <a:path h="2174240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2174240"/>
                  </a:lnTo>
                  <a:lnTo>
                    <a:pt x="0" y="2174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22848" t="0" r="-1322848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9525"/>
              <a:ext cx="203200" cy="2164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99"/>
                </a:lnSpc>
              </a:pPr>
              <a:r>
                <a:rPr lang="en-US" b="true" sz="1999">
                  <a:solidFill>
                    <a:srgbClr val="FBBF24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›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2153900" y="4035742"/>
            <a:ext cx="5334000" cy="1592580"/>
            <a:chOff x="0" y="0"/>
            <a:chExt cx="7112000" cy="21234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12000" cy="2123440"/>
            </a:xfrm>
            <a:custGeom>
              <a:avLst/>
              <a:gdLst/>
              <a:ahLst/>
              <a:cxnLst/>
              <a:rect r="r" b="b" t="t" l="l"/>
              <a:pathLst>
                <a:path h="2123440" w="7112000">
                  <a:moveTo>
                    <a:pt x="0" y="177800"/>
                  </a:moveTo>
                  <a:cubicBezTo>
                    <a:pt x="0" y="79629"/>
                    <a:pt x="79629" y="0"/>
                    <a:pt x="177800" y="0"/>
                  </a:cubicBezTo>
                  <a:lnTo>
                    <a:pt x="6934200" y="0"/>
                  </a:lnTo>
                  <a:cubicBezTo>
                    <a:pt x="7032371" y="0"/>
                    <a:pt x="7112000" y="79629"/>
                    <a:pt x="7112000" y="177800"/>
                  </a:cubicBezTo>
                  <a:lnTo>
                    <a:pt x="7112000" y="1945640"/>
                  </a:lnTo>
                  <a:cubicBezTo>
                    <a:pt x="7112000" y="2043811"/>
                    <a:pt x="7032371" y="2123440"/>
                    <a:pt x="6934200" y="2123440"/>
                  </a:cubicBezTo>
                  <a:lnTo>
                    <a:pt x="177800" y="2123440"/>
                  </a:lnTo>
                  <a:cubicBezTo>
                    <a:pt x="79629" y="2123440"/>
                    <a:pt x="0" y="2043811"/>
                    <a:pt x="0" y="194564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2153900" y="5618159"/>
            <a:ext cx="5334000" cy="10163"/>
            <a:chOff x="0" y="0"/>
            <a:chExt cx="7112000" cy="1355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112000" cy="13589"/>
            </a:xfrm>
            <a:custGeom>
              <a:avLst/>
              <a:gdLst/>
              <a:ahLst/>
              <a:cxnLst/>
              <a:rect r="r" b="b" t="t" l="l"/>
              <a:pathLst>
                <a:path h="13589" w="7112000">
                  <a:moveTo>
                    <a:pt x="0" y="0"/>
                  </a:moveTo>
                  <a:lnTo>
                    <a:pt x="7112000" y="0"/>
                  </a:lnTo>
                  <a:lnTo>
                    <a:pt x="711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2153900" y="4035742"/>
            <a:ext cx="5334000" cy="40643"/>
            <a:chOff x="0" y="0"/>
            <a:chExt cx="7112000" cy="54191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112000" cy="54229"/>
            </a:xfrm>
            <a:custGeom>
              <a:avLst/>
              <a:gdLst/>
              <a:ahLst/>
              <a:cxnLst/>
              <a:rect r="r" b="b" t="t" l="l"/>
              <a:pathLst>
                <a:path h="54229" w="7112000">
                  <a:moveTo>
                    <a:pt x="0" y="0"/>
                  </a:moveTo>
                  <a:lnTo>
                    <a:pt x="7112000" y="0"/>
                  </a:lnTo>
                  <a:lnTo>
                    <a:pt x="7112000" y="54229"/>
                  </a:lnTo>
                  <a:lnTo>
                    <a:pt x="0" y="54229"/>
                  </a:lnTo>
                  <a:close/>
                </a:path>
              </a:pathLst>
            </a:custGeom>
            <a:solidFill>
              <a:srgbClr val="FBBF24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2153900" y="4035742"/>
            <a:ext cx="10163" cy="1592580"/>
            <a:chOff x="0" y="0"/>
            <a:chExt cx="13551" cy="21234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3589" cy="2123440"/>
            </a:xfrm>
            <a:custGeom>
              <a:avLst/>
              <a:gdLst/>
              <a:ahLst/>
              <a:cxnLst/>
              <a:rect r="r" b="b" t="t" l="l"/>
              <a:pathLst>
                <a:path h="2123440" w="13589">
                  <a:moveTo>
                    <a:pt x="0" y="0"/>
                  </a:moveTo>
                  <a:lnTo>
                    <a:pt x="13589" y="0"/>
                  </a:lnTo>
                  <a:lnTo>
                    <a:pt x="13589" y="2123440"/>
                  </a:lnTo>
                  <a:lnTo>
                    <a:pt x="0" y="2123440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7477737" y="4035742"/>
            <a:ext cx="10163" cy="1592580"/>
            <a:chOff x="0" y="0"/>
            <a:chExt cx="13551" cy="21234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3589" cy="2123440"/>
            </a:xfrm>
            <a:custGeom>
              <a:avLst/>
              <a:gdLst/>
              <a:ahLst/>
              <a:cxnLst/>
              <a:rect r="r" b="b" t="t" l="l"/>
              <a:pathLst>
                <a:path h="2123440" w="13589">
                  <a:moveTo>
                    <a:pt x="0" y="0"/>
                  </a:moveTo>
                  <a:lnTo>
                    <a:pt x="13589" y="0"/>
                  </a:lnTo>
                  <a:lnTo>
                    <a:pt x="13589" y="2123440"/>
                  </a:lnTo>
                  <a:lnTo>
                    <a:pt x="0" y="2123440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sp>
        <p:nvSpPr>
          <p:cNvPr name="TextBox 45" id="45"/>
          <p:cNvSpPr txBox="true"/>
          <p:nvPr/>
        </p:nvSpPr>
        <p:spPr>
          <a:xfrm rot="0">
            <a:off x="12418057" y="4406579"/>
            <a:ext cx="4951371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company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2418057" y="4849178"/>
            <a:ext cx="1499235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FBBF24"/>
                </a:solidFill>
                <a:latin typeface="Noto Sans Kr"/>
                <a:ea typeface="Noto Sans Kr"/>
                <a:cs typeface="Noto Sans Kr"/>
                <a:sym typeface="Noto Sans Kr"/>
              </a:rPr>
              <a:t>company_manager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2418057" y="5125403"/>
            <a:ext cx="4951371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전사 표준 자동화 자산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825503" y="5882326"/>
            <a:ext cx="439257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40">
                <a:solidFill>
                  <a:srgbClr val="64748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♻️ 5 STATE LIFECYCLE · SKILLSTATE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795023" y="6310312"/>
            <a:ext cx="2939577" cy="991867"/>
            <a:chOff x="0" y="0"/>
            <a:chExt cx="3919436" cy="1322489"/>
          </a:xfrm>
        </p:grpSpPr>
        <p:grpSp>
          <p:nvGrpSpPr>
            <p:cNvPr name="Group 50" id="50"/>
            <p:cNvGrpSpPr/>
            <p:nvPr/>
          </p:nvGrpSpPr>
          <p:grpSpPr>
            <a:xfrm rot="0">
              <a:off x="0" y="0"/>
              <a:ext cx="3919436" cy="1322489"/>
              <a:chOff x="0" y="0"/>
              <a:chExt cx="3919436" cy="1322489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3919347" cy="1322451"/>
              </a:xfrm>
              <a:custGeom>
                <a:avLst/>
                <a:gdLst/>
                <a:ahLst/>
                <a:cxnLst/>
                <a:rect r="r" b="b" t="t" l="l"/>
                <a:pathLst>
                  <a:path h="1322451" w="3919347">
                    <a:moveTo>
                      <a:pt x="0" y="141097"/>
                    </a:moveTo>
                    <a:cubicBezTo>
                      <a:pt x="0" y="63246"/>
                      <a:pt x="63246" y="0"/>
                      <a:pt x="141097" y="0"/>
                    </a:cubicBezTo>
                    <a:lnTo>
                      <a:pt x="3778250" y="0"/>
                    </a:lnTo>
                    <a:cubicBezTo>
                      <a:pt x="3856228" y="0"/>
                      <a:pt x="3919347" y="63246"/>
                      <a:pt x="3919347" y="141097"/>
                    </a:cubicBezTo>
                    <a:lnTo>
                      <a:pt x="3919347" y="1181354"/>
                    </a:lnTo>
                    <a:cubicBezTo>
                      <a:pt x="3919347" y="1259332"/>
                      <a:pt x="3856101" y="1322451"/>
                      <a:pt x="3778250" y="1322451"/>
                    </a:cubicBezTo>
                    <a:lnTo>
                      <a:pt x="141097" y="1322451"/>
                    </a:lnTo>
                    <a:cubicBezTo>
                      <a:pt x="63246" y="1322451"/>
                      <a:pt x="0" y="1259332"/>
                      <a:pt x="0" y="118135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0160" cap="sq">
                <a:solidFill>
                  <a:srgbClr val="EEF0F2"/>
                </a:solidFill>
                <a:prstDash val="solid"/>
                <a:miter/>
              </a:ln>
            </p:spPr>
          </p:sp>
        </p:grpSp>
        <p:sp>
          <p:nvSpPr>
            <p:cNvPr name="TextBox 52" id="52"/>
            <p:cNvSpPr txBox="true"/>
            <p:nvPr/>
          </p:nvSpPr>
          <p:spPr>
            <a:xfrm rot="0">
              <a:off x="126809" y="358991"/>
              <a:ext cx="3665804" cy="304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DRAFT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0">
              <a:off x="126809" y="787400"/>
              <a:ext cx="3665804" cy="215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lang="en-US" sz="1100" spc="44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초안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3807136" y="6668133"/>
            <a:ext cx="330101" cy="276225"/>
            <a:chOff x="0" y="0"/>
            <a:chExt cx="440134" cy="368300"/>
          </a:xfrm>
        </p:grpSpPr>
        <p:sp>
          <p:nvSpPr>
            <p:cNvPr name="TextBox 55" id="55"/>
            <p:cNvSpPr txBox="true"/>
            <p:nvPr/>
          </p:nvSpPr>
          <p:spPr>
            <a:xfrm rot="0">
              <a:off x="0" y="0"/>
              <a:ext cx="440134" cy="1481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sz="750" b="true">
                  <a:solidFill>
                    <a:srgbClr val="94A3B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submit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0">
              <a:off x="67667" y="127000"/>
              <a:ext cx="304800" cy="241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CBD5E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4209773" y="6310312"/>
            <a:ext cx="2939729" cy="991867"/>
            <a:chOff x="0" y="0"/>
            <a:chExt cx="3919639" cy="1322489"/>
          </a:xfrm>
        </p:grpSpPr>
        <p:grpSp>
          <p:nvGrpSpPr>
            <p:cNvPr name="Group 58" id="58"/>
            <p:cNvGrpSpPr/>
            <p:nvPr/>
          </p:nvGrpSpPr>
          <p:grpSpPr>
            <a:xfrm rot="0">
              <a:off x="0" y="0"/>
              <a:ext cx="3919639" cy="1322489"/>
              <a:chOff x="0" y="0"/>
              <a:chExt cx="3919639" cy="1322489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3919601" cy="1322451"/>
              </a:xfrm>
              <a:custGeom>
                <a:avLst/>
                <a:gdLst/>
                <a:ahLst/>
                <a:cxnLst/>
                <a:rect r="r" b="b" t="t" l="l"/>
                <a:pathLst>
                  <a:path h="1322451" w="3919601">
                    <a:moveTo>
                      <a:pt x="0" y="141097"/>
                    </a:moveTo>
                    <a:cubicBezTo>
                      <a:pt x="0" y="63246"/>
                      <a:pt x="63246" y="0"/>
                      <a:pt x="141097" y="0"/>
                    </a:cubicBezTo>
                    <a:lnTo>
                      <a:pt x="3778504" y="0"/>
                    </a:lnTo>
                    <a:cubicBezTo>
                      <a:pt x="3856482" y="0"/>
                      <a:pt x="3919601" y="63246"/>
                      <a:pt x="3919601" y="141097"/>
                    </a:cubicBezTo>
                    <a:lnTo>
                      <a:pt x="3919601" y="1181354"/>
                    </a:lnTo>
                    <a:cubicBezTo>
                      <a:pt x="3919601" y="1259332"/>
                      <a:pt x="3856355" y="1322451"/>
                      <a:pt x="3778504" y="1322451"/>
                    </a:cubicBezTo>
                    <a:lnTo>
                      <a:pt x="141097" y="1322451"/>
                    </a:lnTo>
                    <a:cubicBezTo>
                      <a:pt x="63246" y="1322451"/>
                      <a:pt x="0" y="1259332"/>
                      <a:pt x="0" y="118135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0160" cap="sq">
                <a:solidFill>
                  <a:srgbClr val="EEF0F2"/>
                </a:solidFill>
                <a:prstDash val="solid"/>
                <a:miter/>
              </a:ln>
            </p:spPr>
          </p:sp>
        </p:grpSp>
        <p:sp>
          <p:nvSpPr>
            <p:cNvPr name="TextBox 60" id="60"/>
            <p:cNvSpPr txBox="true"/>
            <p:nvPr/>
          </p:nvSpPr>
          <p:spPr>
            <a:xfrm rot="0">
              <a:off x="126822" y="358991"/>
              <a:ext cx="3666020" cy="304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REVIEW</a:t>
              </a:r>
            </a:p>
          </p:txBody>
        </p:sp>
        <p:sp>
          <p:nvSpPr>
            <p:cNvPr name="TextBox 61" id="61"/>
            <p:cNvSpPr txBox="true"/>
            <p:nvPr/>
          </p:nvSpPr>
          <p:spPr>
            <a:xfrm rot="0">
              <a:off x="126822" y="787400"/>
              <a:ext cx="3666020" cy="215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lang="en-US" sz="1100" spc="44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검토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7222038" y="6668133"/>
            <a:ext cx="390525" cy="276225"/>
            <a:chOff x="0" y="0"/>
            <a:chExt cx="520700" cy="368300"/>
          </a:xfrm>
        </p:grpSpPr>
        <p:sp>
          <p:nvSpPr>
            <p:cNvPr name="TextBox 63" id="63"/>
            <p:cNvSpPr txBox="true"/>
            <p:nvPr/>
          </p:nvSpPr>
          <p:spPr>
            <a:xfrm rot="0">
              <a:off x="0" y="0"/>
              <a:ext cx="520700" cy="1481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sz="750" b="true">
                  <a:solidFill>
                    <a:srgbClr val="94A3B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approve</a:t>
              </a:r>
            </a:p>
          </p:txBody>
        </p:sp>
        <p:sp>
          <p:nvSpPr>
            <p:cNvPr name="TextBox 64" id="64"/>
            <p:cNvSpPr txBox="true"/>
            <p:nvPr/>
          </p:nvSpPr>
          <p:spPr>
            <a:xfrm rot="0">
              <a:off x="107950" y="127000"/>
              <a:ext cx="304800" cy="241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CBD5E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7685099" y="6310312"/>
            <a:ext cx="2939577" cy="991867"/>
            <a:chOff x="0" y="0"/>
            <a:chExt cx="3919436" cy="1322489"/>
          </a:xfrm>
        </p:grpSpPr>
        <p:grpSp>
          <p:nvGrpSpPr>
            <p:cNvPr name="Group 66" id="66"/>
            <p:cNvGrpSpPr/>
            <p:nvPr/>
          </p:nvGrpSpPr>
          <p:grpSpPr>
            <a:xfrm rot="0">
              <a:off x="0" y="0"/>
              <a:ext cx="3919436" cy="1322489"/>
              <a:chOff x="0" y="0"/>
              <a:chExt cx="3919436" cy="1322489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3919347" cy="1322451"/>
              </a:xfrm>
              <a:custGeom>
                <a:avLst/>
                <a:gdLst/>
                <a:ahLst/>
                <a:cxnLst/>
                <a:rect r="r" b="b" t="t" l="l"/>
                <a:pathLst>
                  <a:path h="1322451" w="3919347">
                    <a:moveTo>
                      <a:pt x="0" y="141097"/>
                    </a:moveTo>
                    <a:cubicBezTo>
                      <a:pt x="0" y="63246"/>
                      <a:pt x="63246" y="0"/>
                      <a:pt x="141097" y="0"/>
                    </a:cubicBezTo>
                    <a:lnTo>
                      <a:pt x="3778250" y="0"/>
                    </a:lnTo>
                    <a:cubicBezTo>
                      <a:pt x="3856228" y="0"/>
                      <a:pt x="3919347" y="63246"/>
                      <a:pt x="3919347" y="141097"/>
                    </a:cubicBezTo>
                    <a:lnTo>
                      <a:pt x="3919347" y="1181354"/>
                    </a:lnTo>
                    <a:cubicBezTo>
                      <a:pt x="3919347" y="1259332"/>
                      <a:pt x="3856101" y="1322451"/>
                      <a:pt x="3778250" y="1322451"/>
                    </a:cubicBezTo>
                    <a:lnTo>
                      <a:pt x="141097" y="1322451"/>
                    </a:lnTo>
                    <a:cubicBezTo>
                      <a:pt x="63246" y="1322451"/>
                      <a:pt x="0" y="1259332"/>
                      <a:pt x="0" y="118135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0160" cap="sq">
                <a:solidFill>
                  <a:srgbClr val="EEF0F2"/>
                </a:solidFill>
                <a:prstDash val="solid"/>
                <a:miter/>
              </a:ln>
            </p:spPr>
          </p:sp>
        </p:grpSp>
        <p:sp>
          <p:nvSpPr>
            <p:cNvPr name="TextBox 68" id="68"/>
            <p:cNvSpPr txBox="true"/>
            <p:nvPr/>
          </p:nvSpPr>
          <p:spPr>
            <a:xfrm rot="0">
              <a:off x="126822" y="358991"/>
              <a:ext cx="3665804" cy="304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APPROVED</a:t>
              </a:r>
            </a:p>
          </p:txBody>
        </p:sp>
        <p:sp>
          <p:nvSpPr>
            <p:cNvPr name="TextBox 69" id="69"/>
            <p:cNvSpPr txBox="true"/>
            <p:nvPr/>
          </p:nvSpPr>
          <p:spPr>
            <a:xfrm rot="0">
              <a:off x="126822" y="787400"/>
              <a:ext cx="3665804" cy="215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lang="en-US" sz="1100" spc="44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승인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0697212" y="6668133"/>
            <a:ext cx="350441" cy="276225"/>
            <a:chOff x="0" y="0"/>
            <a:chExt cx="467254" cy="368300"/>
          </a:xfrm>
        </p:grpSpPr>
        <p:sp>
          <p:nvSpPr>
            <p:cNvPr name="TextBox 71" id="71"/>
            <p:cNvSpPr txBox="true"/>
            <p:nvPr/>
          </p:nvSpPr>
          <p:spPr>
            <a:xfrm rot="0">
              <a:off x="0" y="0"/>
              <a:ext cx="467254" cy="1481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sz="750" b="true">
                  <a:solidFill>
                    <a:srgbClr val="94A3B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publish</a:t>
              </a:r>
            </a:p>
          </p:txBody>
        </p:sp>
        <p:sp>
          <p:nvSpPr>
            <p:cNvPr name="TextBox 72" id="72"/>
            <p:cNvSpPr txBox="true"/>
            <p:nvPr/>
          </p:nvSpPr>
          <p:spPr>
            <a:xfrm rot="0">
              <a:off x="90137" y="127000"/>
              <a:ext cx="304800" cy="241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CBD5E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120188" y="6310312"/>
            <a:ext cx="2939729" cy="991867"/>
            <a:chOff x="0" y="0"/>
            <a:chExt cx="3919639" cy="1322489"/>
          </a:xfrm>
        </p:grpSpPr>
        <p:grpSp>
          <p:nvGrpSpPr>
            <p:cNvPr name="Group 74" id="74"/>
            <p:cNvGrpSpPr/>
            <p:nvPr/>
          </p:nvGrpSpPr>
          <p:grpSpPr>
            <a:xfrm rot="0">
              <a:off x="0" y="0"/>
              <a:ext cx="3919639" cy="1322489"/>
              <a:chOff x="0" y="0"/>
              <a:chExt cx="3919639" cy="1322489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3919601" cy="1322451"/>
              </a:xfrm>
              <a:custGeom>
                <a:avLst/>
                <a:gdLst/>
                <a:ahLst/>
                <a:cxnLst/>
                <a:rect r="r" b="b" t="t" l="l"/>
                <a:pathLst>
                  <a:path h="1322451" w="3919601">
                    <a:moveTo>
                      <a:pt x="0" y="141097"/>
                    </a:moveTo>
                    <a:cubicBezTo>
                      <a:pt x="0" y="63246"/>
                      <a:pt x="63246" y="0"/>
                      <a:pt x="141097" y="0"/>
                    </a:cubicBezTo>
                    <a:lnTo>
                      <a:pt x="3778504" y="0"/>
                    </a:lnTo>
                    <a:cubicBezTo>
                      <a:pt x="3856482" y="0"/>
                      <a:pt x="3919601" y="63246"/>
                      <a:pt x="3919601" y="141097"/>
                    </a:cubicBezTo>
                    <a:lnTo>
                      <a:pt x="3919601" y="1181354"/>
                    </a:lnTo>
                    <a:cubicBezTo>
                      <a:pt x="3919601" y="1259332"/>
                      <a:pt x="3856355" y="1322451"/>
                      <a:pt x="3778504" y="1322451"/>
                    </a:cubicBezTo>
                    <a:lnTo>
                      <a:pt x="141097" y="1322451"/>
                    </a:lnTo>
                    <a:cubicBezTo>
                      <a:pt x="63246" y="1322451"/>
                      <a:pt x="0" y="1259332"/>
                      <a:pt x="0" y="118135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0160" cap="sq">
                <a:solidFill>
                  <a:srgbClr val="EEF0F2"/>
                </a:solidFill>
                <a:prstDash val="solid"/>
                <a:miter/>
              </a:ln>
            </p:spPr>
          </p:sp>
        </p:grpSp>
        <p:sp>
          <p:nvSpPr>
            <p:cNvPr name="TextBox 76" id="76"/>
            <p:cNvSpPr txBox="true"/>
            <p:nvPr/>
          </p:nvSpPr>
          <p:spPr>
            <a:xfrm rot="0">
              <a:off x="126809" y="358991"/>
              <a:ext cx="3666020" cy="304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PUBLISHED</a:t>
              </a:r>
            </a:p>
          </p:txBody>
        </p:sp>
        <p:sp>
          <p:nvSpPr>
            <p:cNvPr name="TextBox 77" id="77"/>
            <p:cNvSpPr txBox="true"/>
            <p:nvPr/>
          </p:nvSpPr>
          <p:spPr>
            <a:xfrm rot="0">
              <a:off x="126809" y="787400"/>
              <a:ext cx="3666020" cy="215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lang="en-US" sz="1100" spc="44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게시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14132454" y="6668133"/>
            <a:ext cx="348258" cy="276225"/>
            <a:chOff x="0" y="0"/>
            <a:chExt cx="464344" cy="368300"/>
          </a:xfrm>
        </p:grpSpPr>
        <p:sp>
          <p:nvSpPr>
            <p:cNvPr name="TextBox 79" id="79"/>
            <p:cNvSpPr txBox="true"/>
            <p:nvPr/>
          </p:nvSpPr>
          <p:spPr>
            <a:xfrm rot="0">
              <a:off x="0" y="0"/>
              <a:ext cx="464344" cy="1481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sz="750" b="true">
                  <a:solidFill>
                    <a:srgbClr val="94A3B8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archive</a:t>
              </a:r>
            </a:p>
          </p:txBody>
        </p:sp>
        <p:sp>
          <p:nvSpPr>
            <p:cNvPr name="TextBox 80" id="80"/>
            <p:cNvSpPr txBox="true"/>
            <p:nvPr/>
          </p:nvSpPr>
          <p:spPr>
            <a:xfrm rot="0">
              <a:off x="86792" y="127000"/>
              <a:ext cx="304800" cy="241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CBD5E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→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4553248" y="6310312"/>
            <a:ext cx="2939729" cy="991867"/>
            <a:chOff x="0" y="0"/>
            <a:chExt cx="3919639" cy="1322489"/>
          </a:xfrm>
        </p:grpSpPr>
        <p:grpSp>
          <p:nvGrpSpPr>
            <p:cNvPr name="Group 82" id="82"/>
            <p:cNvGrpSpPr/>
            <p:nvPr/>
          </p:nvGrpSpPr>
          <p:grpSpPr>
            <a:xfrm rot="0">
              <a:off x="0" y="0"/>
              <a:ext cx="3919639" cy="1322489"/>
              <a:chOff x="0" y="0"/>
              <a:chExt cx="3919639" cy="1322489"/>
            </a:xfrm>
          </p:grpSpPr>
          <p:sp>
            <p:nvSpPr>
              <p:cNvPr name="Freeform 83" id="83"/>
              <p:cNvSpPr/>
              <p:nvPr/>
            </p:nvSpPr>
            <p:spPr>
              <a:xfrm flipH="false" flipV="false" rot="0">
                <a:off x="0" y="0"/>
                <a:ext cx="3919601" cy="1322451"/>
              </a:xfrm>
              <a:custGeom>
                <a:avLst/>
                <a:gdLst/>
                <a:ahLst/>
                <a:cxnLst/>
                <a:rect r="r" b="b" t="t" l="l"/>
                <a:pathLst>
                  <a:path h="1322451" w="3919601">
                    <a:moveTo>
                      <a:pt x="0" y="141097"/>
                    </a:moveTo>
                    <a:cubicBezTo>
                      <a:pt x="0" y="63246"/>
                      <a:pt x="63246" y="0"/>
                      <a:pt x="141097" y="0"/>
                    </a:cubicBezTo>
                    <a:lnTo>
                      <a:pt x="3778504" y="0"/>
                    </a:lnTo>
                    <a:cubicBezTo>
                      <a:pt x="3856482" y="0"/>
                      <a:pt x="3919601" y="63246"/>
                      <a:pt x="3919601" y="141097"/>
                    </a:cubicBezTo>
                    <a:lnTo>
                      <a:pt x="3919601" y="1181354"/>
                    </a:lnTo>
                    <a:cubicBezTo>
                      <a:pt x="3919601" y="1259332"/>
                      <a:pt x="3856355" y="1322451"/>
                      <a:pt x="3778504" y="1322451"/>
                    </a:cubicBezTo>
                    <a:lnTo>
                      <a:pt x="141097" y="1322451"/>
                    </a:lnTo>
                    <a:cubicBezTo>
                      <a:pt x="63246" y="1322451"/>
                      <a:pt x="0" y="1259332"/>
                      <a:pt x="0" y="118135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0160" cap="sq">
                <a:solidFill>
                  <a:srgbClr val="EEF0F2"/>
                </a:solidFill>
                <a:prstDash val="solid"/>
                <a:miter/>
              </a:ln>
            </p:spPr>
          </p:sp>
        </p:grpSp>
        <p:sp>
          <p:nvSpPr>
            <p:cNvPr name="TextBox 84" id="84"/>
            <p:cNvSpPr txBox="true"/>
            <p:nvPr/>
          </p:nvSpPr>
          <p:spPr>
            <a:xfrm rot="0">
              <a:off x="126809" y="358991"/>
              <a:ext cx="3666020" cy="304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0F172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ARCHIVED</a:t>
              </a:r>
            </a:p>
          </p:txBody>
        </p:sp>
        <p:sp>
          <p:nvSpPr>
            <p:cNvPr name="TextBox 85" id="85"/>
            <p:cNvSpPr txBox="true"/>
            <p:nvPr/>
          </p:nvSpPr>
          <p:spPr>
            <a:xfrm rot="0">
              <a:off x="126809" y="787400"/>
              <a:ext cx="3666020" cy="215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lang="en-US" sz="1100" spc="44">
                  <a:solidFill>
                    <a:srgbClr val="64748B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보관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795023" y="7520626"/>
            <a:ext cx="3627752" cy="550236"/>
            <a:chOff x="0" y="0"/>
            <a:chExt cx="4153116" cy="62992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4153154" cy="629920"/>
            </a:xfrm>
            <a:custGeom>
              <a:avLst/>
              <a:gdLst/>
              <a:ahLst/>
              <a:cxnLst/>
              <a:rect r="r" b="b" t="t" l="l"/>
              <a:pathLst>
                <a:path h="629920" w="4153154">
                  <a:moveTo>
                    <a:pt x="0" y="129794"/>
                  </a:moveTo>
                  <a:cubicBezTo>
                    <a:pt x="0" y="58166"/>
                    <a:pt x="58166" y="0"/>
                    <a:pt x="129794" y="0"/>
                  </a:cubicBezTo>
                  <a:lnTo>
                    <a:pt x="4023360" y="0"/>
                  </a:lnTo>
                  <a:cubicBezTo>
                    <a:pt x="4094988" y="0"/>
                    <a:pt x="4153154" y="58166"/>
                    <a:pt x="4153154" y="129794"/>
                  </a:cubicBezTo>
                  <a:lnTo>
                    <a:pt x="4153154" y="500126"/>
                  </a:lnTo>
                  <a:cubicBezTo>
                    <a:pt x="4153154" y="571754"/>
                    <a:pt x="4094988" y="629920"/>
                    <a:pt x="4023360" y="629920"/>
                  </a:cubicBezTo>
                  <a:lnTo>
                    <a:pt x="129794" y="629920"/>
                  </a:lnTo>
                  <a:cubicBezTo>
                    <a:pt x="58166" y="629920"/>
                    <a:pt x="0" y="571754"/>
                    <a:pt x="0" y="500126"/>
                  </a:cubicBezTo>
                  <a:close/>
                </a:path>
              </a:pathLst>
            </a:custGeom>
            <a:solidFill>
              <a:srgbClr val="FFFFFF"/>
            </a:solidFill>
            <a:ln w="10160" cap="sq">
              <a:solidFill>
                <a:srgbClr val="E2E8F0"/>
              </a:solidFill>
              <a:prstDash val="solid"/>
              <a:miter/>
            </a:ln>
          </p:spPr>
        </p:sp>
      </p:grpSp>
      <p:sp>
        <p:nvSpPr>
          <p:cNvPr name="TextBox 88" id="88"/>
          <p:cNvSpPr txBox="true"/>
          <p:nvPr/>
        </p:nvSpPr>
        <p:spPr>
          <a:xfrm rot="0">
            <a:off x="1042030" y="7705256"/>
            <a:ext cx="1323975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>
                <a:solidFill>
                  <a:srgbClr val="806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RBAC · fail-closed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2612133" y="7705256"/>
            <a:ext cx="14606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·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2798869" y="7705256"/>
            <a:ext cx="1465635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AuthorizationError</a:t>
            </a:r>
          </a:p>
        </p:txBody>
      </p:sp>
      <p:grpSp>
        <p:nvGrpSpPr>
          <p:cNvPr name="Group 91" id="91"/>
          <p:cNvGrpSpPr/>
          <p:nvPr/>
        </p:nvGrpSpPr>
        <p:grpSpPr>
          <a:xfrm rot="0">
            <a:off x="4555153" y="7520626"/>
            <a:ext cx="3313063" cy="550236"/>
            <a:chOff x="0" y="0"/>
            <a:chExt cx="3792855" cy="62992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92855" cy="629920"/>
            </a:xfrm>
            <a:custGeom>
              <a:avLst/>
              <a:gdLst/>
              <a:ahLst/>
              <a:cxnLst/>
              <a:rect r="r" b="b" t="t" l="l"/>
              <a:pathLst>
                <a:path h="629920" w="3792855">
                  <a:moveTo>
                    <a:pt x="0" y="129794"/>
                  </a:moveTo>
                  <a:cubicBezTo>
                    <a:pt x="0" y="58166"/>
                    <a:pt x="58166" y="0"/>
                    <a:pt x="129794" y="0"/>
                  </a:cubicBezTo>
                  <a:lnTo>
                    <a:pt x="3663061" y="0"/>
                  </a:lnTo>
                  <a:cubicBezTo>
                    <a:pt x="3734689" y="0"/>
                    <a:pt x="3792855" y="58166"/>
                    <a:pt x="3792855" y="129794"/>
                  </a:cubicBezTo>
                  <a:lnTo>
                    <a:pt x="3792855" y="500126"/>
                  </a:lnTo>
                  <a:cubicBezTo>
                    <a:pt x="3792855" y="571754"/>
                    <a:pt x="3734689" y="629920"/>
                    <a:pt x="3663061" y="629920"/>
                  </a:cubicBezTo>
                  <a:lnTo>
                    <a:pt x="129794" y="629920"/>
                  </a:lnTo>
                  <a:cubicBezTo>
                    <a:pt x="58166" y="629920"/>
                    <a:pt x="0" y="571754"/>
                    <a:pt x="0" y="500126"/>
                  </a:cubicBezTo>
                  <a:close/>
                </a:path>
              </a:pathLst>
            </a:custGeom>
            <a:solidFill>
              <a:srgbClr val="FFFFFF"/>
            </a:solidFill>
            <a:ln w="10160" cap="sq">
              <a:solidFill>
                <a:srgbClr val="E2E8F0"/>
              </a:solidFill>
              <a:prstDash val="solid"/>
              <a:miter/>
            </a:ln>
          </p:spPr>
        </p:sp>
      </p:grpSp>
      <p:sp>
        <p:nvSpPr>
          <p:cNvPr name="TextBox 93" id="93"/>
          <p:cNvSpPr txBox="true"/>
          <p:nvPr/>
        </p:nvSpPr>
        <p:spPr>
          <a:xfrm rot="0">
            <a:off x="4802160" y="7705256"/>
            <a:ext cx="1909551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>
                <a:solidFill>
                  <a:srgbClr val="806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ApprovalWorkflow 감사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6752392" y="7705256"/>
            <a:ext cx="987130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· ADR-0020</a:t>
            </a:r>
          </a:p>
        </p:txBody>
      </p:sp>
      <p:grpSp>
        <p:nvGrpSpPr>
          <p:cNvPr name="Group 95" id="95"/>
          <p:cNvGrpSpPr/>
          <p:nvPr/>
        </p:nvGrpSpPr>
        <p:grpSpPr>
          <a:xfrm rot="0">
            <a:off x="8000595" y="7520626"/>
            <a:ext cx="4055216" cy="550236"/>
            <a:chOff x="0" y="0"/>
            <a:chExt cx="4642485" cy="62992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642485" cy="629920"/>
            </a:xfrm>
            <a:custGeom>
              <a:avLst/>
              <a:gdLst/>
              <a:ahLst/>
              <a:cxnLst/>
              <a:rect r="r" b="b" t="t" l="l"/>
              <a:pathLst>
                <a:path h="629920" w="4642485">
                  <a:moveTo>
                    <a:pt x="0" y="129794"/>
                  </a:moveTo>
                  <a:cubicBezTo>
                    <a:pt x="0" y="58166"/>
                    <a:pt x="58166" y="0"/>
                    <a:pt x="129794" y="0"/>
                  </a:cubicBezTo>
                  <a:lnTo>
                    <a:pt x="4512691" y="0"/>
                  </a:lnTo>
                  <a:cubicBezTo>
                    <a:pt x="4584319" y="0"/>
                    <a:pt x="4642485" y="58166"/>
                    <a:pt x="4642485" y="129794"/>
                  </a:cubicBezTo>
                  <a:lnTo>
                    <a:pt x="4642485" y="500126"/>
                  </a:lnTo>
                  <a:cubicBezTo>
                    <a:pt x="4642485" y="571754"/>
                    <a:pt x="4584319" y="629920"/>
                    <a:pt x="4512691" y="629920"/>
                  </a:cubicBezTo>
                  <a:lnTo>
                    <a:pt x="129794" y="629920"/>
                  </a:lnTo>
                  <a:cubicBezTo>
                    <a:pt x="58166" y="629920"/>
                    <a:pt x="0" y="571754"/>
                    <a:pt x="0" y="500126"/>
                  </a:cubicBezTo>
                  <a:close/>
                </a:path>
              </a:pathLst>
            </a:custGeom>
            <a:solidFill>
              <a:srgbClr val="FFFFFF"/>
            </a:solidFill>
            <a:ln w="10160" cap="sq">
              <a:solidFill>
                <a:srgbClr val="E2E8F0"/>
              </a:solidFill>
              <a:prstDash val="solid"/>
              <a:miter/>
            </a:ln>
          </p:spPr>
        </p:sp>
      </p:grpSp>
      <p:sp>
        <p:nvSpPr>
          <p:cNvPr name="TextBox 97" id="97"/>
          <p:cNvSpPr txBox="true"/>
          <p:nvPr/>
        </p:nvSpPr>
        <p:spPr>
          <a:xfrm rot="0">
            <a:off x="8218027" y="7705256"/>
            <a:ext cx="2447407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벡터 검색 + scope/lifecycle 필터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10706103" y="7705256"/>
            <a:ext cx="119143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>
                <a:solidFill>
                  <a:srgbClr val="B07F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(+ BINDS 투영)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BBF2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10488687" y="511178"/>
            <a:ext cx="718852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REQ-013 박아름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787403" y="1111253"/>
            <a:ext cx="13103803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개인 자동화를 팀·전사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재사용 자산으로 확산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한 번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만든 자동화를 개인 → 팀 → 전사 범위로 안전하게 확산.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2127418" y="9608820"/>
            <a:ext cx="325484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⑤ Skills 마켓플레이스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10294513" y="9608820"/>
            <a:ext cx="719338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Marketplace</a:t>
            </a:r>
          </a:p>
        </p:txBody>
      </p:sp>
      <p:grpSp>
        <p:nvGrpSpPr>
          <p:cNvPr name="Group 106" id="106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108" id="108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31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/ 44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2180911" y="511178"/>
            <a:ext cx="3641408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FBBF2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⑤ </a:t>
            </a:r>
            <a:r>
              <a:rPr lang="en-US" b="true" sz="1650" spc="198">
                <a:solidFill>
                  <a:srgbClr val="7C8AA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마켓플레이스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6F5F2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00100" y="3753164"/>
            <a:ext cx="7696200" cy="3509648"/>
            <a:chOff x="0" y="0"/>
            <a:chExt cx="10261600" cy="467953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61600" cy="4679569"/>
            </a:xfrm>
            <a:custGeom>
              <a:avLst/>
              <a:gdLst/>
              <a:ahLst/>
              <a:cxnLst/>
              <a:rect r="r" b="b" t="t" l="l"/>
              <a:pathLst>
                <a:path h="4679569" w="10261600">
                  <a:moveTo>
                    <a:pt x="0" y="190500"/>
                  </a:moveTo>
                  <a:cubicBezTo>
                    <a:pt x="0" y="85344"/>
                    <a:pt x="85344" y="0"/>
                    <a:pt x="190500" y="0"/>
                  </a:cubicBezTo>
                  <a:lnTo>
                    <a:pt x="10071100" y="0"/>
                  </a:lnTo>
                  <a:cubicBezTo>
                    <a:pt x="10176256" y="0"/>
                    <a:pt x="10261600" y="85344"/>
                    <a:pt x="10261600" y="190500"/>
                  </a:cubicBezTo>
                  <a:lnTo>
                    <a:pt x="10261600" y="4489069"/>
                  </a:lnTo>
                  <a:cubicBezTo>
                    <a:pt x="10261600" y="4594225"/>
                    <a:pt x="10176256" y="4679569"/>
                    <a:pt x="10071100" y="4679569"/>
                  </a:cubicBezTo>
                  <a:lnTo>
                    <a:pt x="190500" y="4679569"/>
                  </a:lnTo>
                  <a:cubicBezTo>
                    <a:pt x="85344" y="4679569"/>
                    <a:pt x="0" y="4594225"/>
                    <a:pt x="0" y="448906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00100" y="7252649"/>
            <a:ext cx="7696200" cy="10163"/>
            <a:chOff x="0" y="0"/>
            <a:chExt cx="10261600" cy="1355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61600" cy="13589"/>
            </a:xfrm>
            <a:custGeom>
              <a:avLst/>
              <a:gdLst/>
              <a:ahLst/>
              <a:cxnLst/>
              <a:rect r="r" b="b" t="t" l="l"/>
              <a:pathLst>
                <a:path h="13589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3753164"/>
            <a:ext cx="7696200" cy="40643"/>
            <a:chOff x="0" y="0"/>
            <a:chExt cx="10261600" cy="5419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261600" cy="54229"/>
            </a:xfrm>
            <a:custGeom>
              <a:avLst/>
              <a:gdLst/>
              <a:ahLst/>
              <a:cxnLst/>
              <a:rect r="r" b="b" t="t" l="l"/>
              <a:pathLst>
                <a:path h="54229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54229"/>
                  </a:lnTo>
                  <a:lnTo>
                    <a:pt x="0" y="54229"/>
                  </a:lnTo>
                  <a:close/>
                </a:path>
              </a:pathLst>
            </a:custGeom>
            <a:solidFill>
              <a:srgbClr val="B07F0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486137" y="3753164"/>
            <a:ext cx="10163" cy="3509648"/>
            <a:chOff x="0" y="0"/>
            <a:chExt cx="13551" cy="467953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589" cy="4679569"/>
            </a:xfrm>
            <a:custGeom>
              <a:avLst/>
              <a:gdLst/>
              <a:ahLst/>
              <a:cxnLst/>
              <a:rect r="r" b="b" t="t" l="l"/>
              <a:pathLst>
                <a:path h="4679569" w="13589">
                  <a:moveTo>
                    <a:pt x="0" y="0"/>
                  </a:moveTo>
                  <a:lnTo>
                    <a:pt x="13589" y="0"/>
                  </a:lnTo>
                  <a:lnTo>
                    <a:pt x="13589" y="4679569"/>
                  </a:lnTo>
                  <a:lnTo>
                    <a:pt x="0" y="4679569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083307" y="3936044"/>
            <a:ext cx="734519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195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실행용 메타데이터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83307" y="4297994"/>
            <a:ext cx="7345194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🗄️ NodeDefinition · DB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83307" y="4745669"/>
            <a:ext cx="1990963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PostgreSQL · node_definitions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525412" y="5041897"/>
            <a:ext cx="1280890" cy="1051884"/>
            <a:chOff x="0" y="0"/>
            <a:chExt cx="1707853" cy="1402512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295127" y="0"/>
              <a:ext cx="1117600" cy="762000"/>
              <a:chOff x="0" y="0"/>
              <a:chExt cx="1117600" cy="7620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117600" cy="762000"/>
              </a:xfrm>
              <a:custGeom>
                <a:avLst/>
                <a:gdLst/>
                <a:ahLst/>
                <a:cxnLst/>
                <a:rect r="r" b="b" t="t" l="l"/>
                <a:pathLst>
                  <a:path h="762000" w="1117600">
                    <a:moveTo>
                      <a:pt x="0" y="152400"/>
                    </a:moveTo>
                    <a:cubicBezTo>
                      <a:pt x="0" y="68199"/>
                      <a:pt x="68199" y="0"/>
                      <a:pt x="152400" y="0"/>
                    </a:cubicBezTo>
                    <a:lnTo>
                      <a:pt x="965200" y="0"/>
                    </a:lnTo>
                    <a:cubicBezTo>
                      <a:pt x="1049401" y="0"/>
                      <a:pt x="1117600" y="68199"/>
                      <a:pt x="1117600" y="152400"/>
                    </a:cubicBezTo>
                    <a:lnTo>
                      <a:pt x="1117600" y="609600"/>
                    </a:lnTo>
                    <a:cubicBezTo>
                      <a:pt x="1117600" y="693801"/>
                      <a:pt x="1049401" y="762000"/>
                      <a:pt x="965200" y="762000"/>
                    </a:cubicBezTo>
                    <a:lnTo>
                      <a:pt x="152400" y="762000"/>
                    </a:lnTo>
                    <a:cubicBezTo>
                      <a:pt x="68199" y="762000"/>
                      <a:pt x="0" y="693801"/>
                      <a:pt x="0" y="609600"/>
                    </a:cubicBezTo>
                    <a:close/>
                  </a:path>
                </a:pathLst>
              </a:custGeom>
              <a:solidFill>
                <a:srgbClr val="FBBF24"/>
              </a:solidFill>
            </p:spPr>
          </p:sp>
        </p:grpSp>
        <p:sp>
          <p:nvSpPr>
            <p:cNvPr name="TextBox 18" id="18"/>
            <p:cNvSpPr txBox="true"/>
            <p:nvPr/>
          </p:nvSpPr>
          <p:spPr>
            <a:xfrm rot="0">
              <a:off x="278191" y="215900"/>
              <a:ext cx="1151471" cy="330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2-md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919912"/>
              <a:ext cx="1707853" cy="482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39"/>
                </a:lnSpc>
              </a:pPr>
              <a:r>
                <a:rPr lang="en-US" b="true" sz="1199" spc="47">
                  <a:solidFill>
                    <a:srgbClr val="64748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분기 저장 </a:t>
              </a:r>
            </a:p>
            <a:p>
              <a:pPr algn="ctr">
                <a:lnSpc>
                  <a:spcPts val="1439"/>
                </a:lnSpc>
              </a:pPr>
              <a:r>
                <a:rPr lang="en-US" b="true" sz="1199" spc="47">
                  <a:solidFill>
                    <a:srgbClr val="64748B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ADR-0024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791700" y="3753164"/>
            <a:ext cx="7696200" cy="3509648"/>
            <a:chOff x="0" y="0"/>
            <a:chExt cx="10261600" cy="467953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261600" cy="4679569"/>
            </a:xfrm>
            <a:custGeom>
              <a:avLst/>
              <a:gdLst/>
              <a:ahLst/>
              <a:cxnLst/>
              <a:rect r="r" b="b" t="t" l="l"/>
              <a:pathLst>
                <a:path h="4679569" w="10261600">
                  <a:moveTo>
                    <a:pt x="0" y="190500"/>
                  </a:moveTo>
                  <a:cubicBezTo>
                    <a:pt x="0" y="85344"/>
                    <a:pt x="85344" y="0"/>
                    <a:pt x="190500" y="0"/>
                  </a:cubicBezTo>
                  <a:lnTo>
                    <a:pt x="10071100" y="0"/>
                  </a:lnTo>
                  <a:cubicBezTo>
                    <a:pt x="10176256" y="0"/>
                    <a:pt x="10261600" y="85344"/>
                    <a:pt x="10261600" y="190500"/>
                  </a:cubicBezTo>
                  <a:lnTo>
                    <a:pt x="10261600" y="4489069"/>
                  </a:lnTo>
                  <a:cubicBezTo>
                    <a:pt x="10261600" y="4594225"/>
                    <a:pt x="10176256" y="4679569"/>
                    <a:pt x="10071100" y="4679569"/>
                  </a:cubicBezTo>
                  <a:lnTo>
                    <a:pt x="190500" y="4679569"/>
                  </a:lnTo>
                  <a:cubicBezTo>
                    <a:pt x="85344" y="4679569"/>
                    <a:pt x="0" y="4594225"/>
                    <a:pt x="0" y="448906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791700" y="7252649"/>
            <a:ext cx="7696200" cy="10163"/>
            <a:chOff x="0" y="0"/>
            <a:chExt cx="10261600" cy="1355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61600" cy="13589"/>
            </a:xfrm>
            <a:custGeom>
              <a:avLst/>
              <a:gdLst/>
              <a:ahLst/>
              <a:cxnLst/>
              <a:rect r="r" b="b" t="t" l="l"/>
              <a:pathLst>
                <a:path h="13589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9791700" y="3753164"/>
            <a:ext cx="7696200" cy="40643"/>
            <a:chOff x="0" y="0"/>
            <a:chExt cx="10261600" cy="5419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61600" cy="54229"/>
            </a:xfrm>
            <a:custGeom>
              <a:avLst/>
              <a:gdLst/>
              <a:ahLst/>
              <a:cxnLst/>
              <a:rect r="r" b="b" t="t" l="l"/>
              <a:pathLst>
                <a:path h="54229" w="10261600">
                  <a:moveTo>
                    <a:pt x="0" y="0"/>
                  </a:moveTo>
                  <a:lnTo>
                    <a:pt x="10261600" y="0"/>
                  </a:lnTo>
                  <a:lnTo>
                    <a:pt x="10261600" y="54229"/>
                  </a:lnTo>
                  <a:lnTo>
                    <a:pt x="0" y="54229"/>
                  </a:lnTo>
                  <a:close/>
                </a:path>
              </a:pathLst>
            </a:custGeom>
            <a:solidFill>
              <a:srgbClr val="FBBF24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791700" y="3753164"/>
            <a:ext cx="10163" cy="3509648"/>
            <a:chOff x="0" y="0"/>
            <a:chExt cx="13551" cy="467953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589" cy="4679569"/>
            </a:xfrm>
            <a:custGeom>
              <a:avLst/>
              <a:gdLst/>
              <a:ahLst/>
              <a:cxnLst/>
              <a:rect r="r" b="b" t="t" l="l"/>
              <a:pathLst>
                <a:path h="4679569" w="13589">
                  <a:moveTo>
                    <a:pt x="0" y="0"/>
                  </a:moveTo>
                  <a:lnTo>
                    <a:pt x="13589" y="0"/>
                  </a:lnTo>
                  <a:lnTo>
                    <a:pt x="13589" y="4679569"/>
                  </a:lnTo>
                  <a:lnTo>
                    <a:pt x="0" y="4679569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7477737" y="3753164"/>
            <a:ext cx="10163" cy="3509648"/>
            <a:chOff x="0" y="0"/>
            <a:chExt cx="13551" cy="4679531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3589" cy="4679569"/>
            </a:xfrm>
            <a:custGeom>
              <a:avLst/>
              <a:gdLst/>
              <a:ahLst/>
              <a:cxnLst/>
              <a:rect r="r" b="b" t="t" l="l"/>
              <a:pathLst>
                <a:path h="4679569" w="13589">
                  <a:moveTo>
                    <a:pt x="0" y="0"/>
                  </a:moveTo>
                  <a:lnTo>
                    <a:pt x="13589" y="0"/>
                  </a:lnTo>
                  <a:lnTo>
                    <a:pt x="13589" y="4679569"/>
                  </a:lnTo>
                  <a:lnTo>
                    <a:pt x="0" y="4679569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074907" y="3936044"/>
            <a:ext cx="734519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195">
                <a:solidFill>
                  <a:srgbClr val="B07F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LLM / 사용자용 지침서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074907" y="4297994"/>
            <a:ext cx="7345194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📄 2-md · GCS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074907" y="4745669"/>
            <a:ext cx="1546503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gs://{bucket}/skills/{id}/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0044427" y="5058089"/>
            <a:ext cx="7190737" cy="885825"/>
            <a:chOff x="0" y="0"/>
            <a:chExt cx="9587649" cy="11811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587738" cy="1181100"/>
            </a:xfrm>
            <a:custGeom>
              <a:avLst/>
              <a:gdLst/>
              <a:ahLst/>
              <a:cxnLst/>
              <a:rect r="r" b="b" t="t" l="l"/>
              <a:pathLst>
                <a:path h="1181100" w="9587738">
                  <a:moveTo>
                    <a:pt x="0" y="141351"/>
                  </a:moveTo>
                  <a:cubicBezTo>
                    <a:pt x="0" y="63246"/>
                    <a:pt x="63246" y="0"/>
                    <a:pt x="141351" y="0"/>
                  </a:cubicBezTo>
                  <a:lnTo>
                    <a:pt x="9446387" y="0"/>
                  </a:lnTo>
                  <a:cubicBezTo>
                    <a:pt x="9524492" y="0"/>
                    <a:pt x="9587738" y="63246"/>
                    <a:pt x="9587738" y="141351"/>
                  </a:cubicBezTo>
                  <a:lnTo>
                    <a:pt x="9587738" y="1039749"/>
                  </a:lnTo>
                  <a:cubicBezTo>
                    <a:pt x="9587738" y="1117854"/>
                    <a:pt x="9524492" y="1181100"/>
                    <a:pt x="9446387" y="1181100"/>
                  </a:cubicBezTo>
                  <a:lnTo>
                    <a:pt x="141351" y="1181100"/>
                  </a:lnTo>
                  <a:cubicBezTo>
                    <a:pt x="63246" y="1181100"/>
                    <a:pt x="0" y="1117854"/>
                    <a:pt x="0" y="1039749"/>
                  </a:cubicBezTo>
                  <a:close/>
                </a:path>
              </a:pathLst>
            </a:custGeom>
            <a:solidFill>
              <a:srgbClr val="FFFAEE"/>
            </a:solidFill>
            <a:ln w="10160" cap="sq">
              <a:solidFill>
                <a:srgbClr val="FFA50B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10256520" y="5289232"/>
            <a:ext cx="6971081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b="true" sz="1299">
                <a:solidFill>
                  <a:srgbClr val="B07F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SKILL.md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256520" y="5560381"/>
            <a:ext cx="6971081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frontmatter + body → 노드 </a:t>
            </a:r>
            <a:r>
              <a:rPr lang="en-US" sz="1200" b="true">
                <a:solidFill>
                  <a:srgbClr val="47556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실행 </a:t>
            </a:r>
            <a:r>
              <a:rPr lang="en-US" sz="12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시 주입 (execution_engine)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0044427" y="6067111"/>
            <a:ext cx="7190737" cy="885825"/>
            <a:chOff x="0" y="0"/>
            <a:chExt cx="9587649" cy="11811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9587738" cy="1181100"/>
            </a:xfrm>
            <a:custGeom>
              <a:avLst/>
              <a:gdLst/>
              <a:ahLst/>
              <a:cxnLst/>
              <a:rect r="r" b="b" t="t" l="l"/>
              <a:pathLst>
                <a:path h="1181100" w="9587738">
                  <a:moveTo>
                    <a:pt x="0" y="141351"/>
                  </a:moveTo>
                  <a:cubicBezTo>
                    <a:pt x="0" y="63246"/>
                    <a:pt x="63246" y="0"/>
                    <a:pt x="141351" y="0"/>
                  </a:cubicBezTo>
                  <a:lnTo>
                    <a:pt x="9446387" y="0"/>
                  </a:lnTo>
                  <a:cubicBezTo>
                    <a:pt x="9524492" y="0"/>
                    <a:pt x="9587738" y="63246"/>
                    <a:pt x="9587738" y="141351"/>
                  </a:cubicBezTo>
                  <a:lnTo>
                    <a:pt x="9587738" y="1039749"/>
                  </a:lnTo>
                  <a:cubicBezTo>
                    <a:pt x="9587738" y="1117854"/>
                    <a:pt x="9524492" y="1181100"/>
                    <a:pt x="9446387" y="1181100"/>
                  </a:cubicBezTo>
                  <a:lnTo>
                    <a:pt x="141351" y="1181100"/>
                  </a:lnTo>
                  <a:cubicBezTo>
                    <a:pt x="63246" y="1181100"/>
                    <a:pt x="0" y="1117854"/>
                    <a:pt x="0" y="1039749"/>
                  </a:cubicBezTo>
                  <a:close/>
                </a:path>
              </a:pathLst>
            </a:custGeom>
            <a:solidFill>
              <a:srgbClr val="FFFAEE"/>
            </a:solidFill>
            <a:ln w="10160" cap="sq">
              <a:solidFill>
                <a:srgbClr val="FFA50B"/>
              </a:solidFill>
              <a:prstDash val="solid"/>
              <a:miter/>
            </a:ln>
          </p:spPr>
        </p:sp>
      </p:grpSp>
      <p:sp>
        <p:nvSpPr>
          <p:cNvPr name="TextBox 39" id="39"/>
          <p:cNvSpPr txBox="true"/>
          <p:nvPr/>
        </p:nvSpPr>
        <p:spPr>
          <a:xfrm rot="0">
            <a:off x="10256520" y="6298244"/>
            <a:ext cx="6971081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b="true" sz="1299">
                <a:solidFill>
                  <a:srgbClr val="B07F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COMPOSER.md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256520" y="6569393"/>
            <a:ext cx="6971081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composer_instructions → 워크플로우 </a:t>
            </a:r>
            <a:r>
              <a:rPr lang="en-US" sz="1200" b="true">
                <a:solidFill>
                  <a:srgbClr val="47556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생성 </a:t>
            </a:r>
            <a:r>
              <a:rPr lang="en-US" sz="120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시 주입 (drafter)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795023" y="7486336"/>
            <a:ext cx="3962365" cy="494361"/>
            <a:chOff x="0" y="0"/>
            <a:chExt cx="5048885" cy="6299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048885" cy="629920"/>
            </a:xfrm>
            <a:custGeom>
              <a:avLst/>
              <a:gdLst/>
              <a:ahLst/>
              <a:cxnLst/>
              <a:rect r="r" b="b" t="t" l="l"/>
              <a:pathLst>
                <a:path h="629920" w="5048885">
                  <a:moveTo>
                    <a:pt x="0" y="129794"/>
                  </a:moveTo>
                  <a:cubicBezTo>
                    <a:pt x="0" y="58166"/>
                    <a:pt x="58166" y="0"/>
                    <a:pt x="129794" y="0"/>
                  </a:cubicBezTo>
                  <a:lnTo>
                    <a:pt x="4919091" y="0"/>
                  </a:lnTo>
                  <a:cubicBezTo>
                    <a:pt x="4990719" y="0"/>
                    <a:pt x="5048885" y="58166"/>
                    <a:pt x="5048885" y="129794"/>
                  </a:cubicBezTo>
                  <a:lnTo>
                    <a:pt x="5048885" y="500126"/>
                  </a:lnTo>
                  <a:cubicBezTo>
                    <a:pt x="5048885" y="571754"/>
                    <a:pt x="4990719" y="629920"/>
                    <a:pt x="4919091" y="629920"/>
                  </a:cubicBezTo>
                  <a:lnTo>
                    <a:pt x="129794" y="629920"/>
                  </a:lnTo>
                  <a:cubicBezTo>
                    <a:pt x="58166" y="629920"/>
                    <a:pt x="0" y="571754"/>
                    <a:pt x="0" y="500126"/>
                  </a:cubicBezTo>
                  <a:close/>
                </a:path>
              </a:pathLst>
            </a:custGeom>
            <a:solidFill>
              <a:srgbClr val="FFFFFF"/>
            </a:solidFill>
            <a:ln w="10160" cap="sq">
              <a:solidFill>
                <a:srgbClr val="E2E8F0"/>
              </a:solidFill>
              <a:prstDash val="solid"/>
              <a:miter/>
            </a:ln>
          </p:spPr>
        </p:sp>
      </p:grpSp>
      <p:sp>
        <p:nvSpPr>
          <p:cNvPr name="TextBox 43" id="43"/>
          <p:cNvSpPr txBox="true"/>
          <p:nvPr/>
        </p:nvSpPr>
        <p:spPr>
          <a:xfrm rot="0">
            <a:off x="1016948" y="7653339"/>
            <a:ext cx="598173" cy="169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0"/>
              </a:lnSpc>
            </a:pPr>
            <a:r>
              <a:rPr lang="en-US" b="true" sz="1216">
                <a:solidFill>
                  <a:srgbClr val="B07F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confirm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646700" y="7653339"/>
            <a:ext cx="3002796" cy="169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0"/>
              </a:lnSpc>
            </a:pPr>
            <a:r>
              <a:rPr lang="en-US" sz="1216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→ SKILL.md + COMPOSER.md GCS 저장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4876324" y="7486336"/>
            <a:ext cx="4915376" cy="494361"/>
            <a:chOff x="0" y="0"/>
            <a:chExt cx="6263221" cy="6299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263259" cy="629920"/>
            </a:xfrm>
            <a:custGeom>
              <a:avLst/>
              <a:gdLst/>
              <a:ahLst/>
              <a:cxnLst/>
              <a:rect r="r" b="b" t="t" l="l"/>
              <a:pathLst>
                <a:path h="629920" w="6263259">
                  <a:moveTo>
                    <a:pt x="0" y="129794"/>
                  </a:moveTo>
                  <a:cubicBezTo>
                    <a:pt x="0" y="58166"/>
                    <a:pt x="58166" y="0"/>
                    <a:pt x="129794" y="0"/>
                  </a:cubicBezTo>
                  <a:lnTo>
                    <a:pt x="6133465" y="0"/>
                  </a:lnTo>
                  <a:cubicBezTo>
                    <a:pt x="6205093" y="0"/>
                    <a:pt x="6263259" y="58166"/>
                    <a:pt x="6263259" y="129794"/>
                  </a:cubicBezTo>
                  <a:lnTo>
                    <a:pt x="6263259" y="500126"/>
                  </a:lnTo>
                  <a:cubicBezTo>
                    <a:pt x="6263259" y="571754"/>
                    <a:pt x="6205093" y="629920"/>
                    <a:pt x="6133465" y="629920"/>
                  </a:cubicBezTo>
                  <a:lnTo>
                    <a:pt x="129794" y="629920"/>
                  </a:lnTo>
                  <a:cubicBezTo>
                    <a:pt x="58166" y="629920"/>
                    <a:pt x="0" y="571754"/>
                    <a:pt x="0" y="500126"/>
                  </a:cubicBezTo>
                  <a:close/>
                </a:path>
              </a:pathLst>
            </a:custGeom>
            <a:solidFill>
              <a:srgbClr val="FFFFFF"/>
            </a:solidFill>
            <a:ln w="10160" cap="sq">
              <a:solidFill>
                <a:srgbClr val="E2E8F0"/>
              </a:solidFill>
              <a:prstDash val="solid"/>
              <a:miter/>
            </a:ln>
          </p:spPr>
        </p:sp>
      </p:grpSp>
      <p:sp>
        <p:nvSpPr>
          <p:cNvPr name="TextBox 47" id="47"/>
          <p:cNvSpPr txBox="true"/>
          <p:nvPr/>
        </p:nvSpPr>
        <p:spPr>
          <a:xfrm rot="0">
            <a:off x="5098258" y="7653339"/>
            <a:ext cx="568428" cy="169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0"/>
              </a:lnSpc>
            </a:pPr>
            <a:r>
              <a:rPr lang="en-US" b="true" sz="1216">
                <a:solidFill>
                  <a:srgbClr val="B07F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publish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710728" y="7653339"/>
            <a:ext cx="1775285" cy="169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0"/>
              </a:lnSpc>
            </a:pPr>
            <a:r>
              <a:rPr lang="en-US" sz="1216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→ 검색 임베딩 + 온톨로지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522552" y="7658322"/>
            <a:ext cx="1752859" cy="159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66"/>
              </a:lnSpc>
            </a:pPr>
            <a:r>
              <a:rPr lang="en-US" sz="1138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(:Skill)-[:BINDS]-&gt;(:Node)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311950" y="7653339"/>
            <a:ext cx="364123" cy="169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0"/>
              </a:lnSpc>
            </a:pPr>
            <a:r>
              <a:rPr lang="en-US" sz="1216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투영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2127418" y="9608820"/>
            <a:ext cx="325484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⑤ 이중 저장 · 2-md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294513" y="9608820"/>
            <a:ext cx="719338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Dual Storage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56" id="56"/>
          <p:cNvSpPr txBox="true"/>
          <p:nvPr/>
        </p:nvSpPr>
        <p:spPr>
          <a:xfrm rot="0">
            <a:off x="77216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FBBF2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488687" y="511178"/>
            <a:ext cx="718852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REQ-013 · 박아름 ADR-0017 · ADR-0024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787403" y="1111253"/>
            <a:ext cx="13103803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하나의 스킬, 두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종류의 지침서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787403" y="1726568"/>
            <a:ext cx="1721612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시스템이 실행할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메타 + LLM이 읽을 지침 — 분리 저장.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2180911" y="511178"/>
            <a:ext cx="3641408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FBBF2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⑤ </a:t>
            </a:r>
            <a:r>
              <a:rPr lang="en-US" b="true" sz="1650" spc="198">
                <a:solidFill>
                  <a:srgbClr val="7C8AA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마켓플레이스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083307" y="5413158"/>
            <a:ext cx="6636607" cy="1158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0669" indent="-140335" lvl="1">
              <a:lnSpc>
                <a:spcPts val="2339"/>
              </a:lnSpc>
              <a:buFont typeface="Arial"/>
              <a:buChar char="•"/>
            </a:pP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JSON Schema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(</a:t>
            </a:r>
            <a:r>
              <a:rPr lang="en-US" b="true" sz="1299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input / output</a:t>
            </a: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</a:p>
          <a:p>
            <a:pPr algn="l" marL="280669" indent="-140335" lvl="1">
              <a:lnSpc>
                <a:spcPts val="2339"/>
              </a:lnSpc>
              <a:buFont typeface="Arial"/>
              <a:buChar char="•"/>
            </a:pP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risk_level · node_type</a:t>
            </a:r>
          </a:p>
          <a:p>
            <a:pPr algn="l" marL="280669" indent="-140335" lvl="1">
              <a:lnSpc>
                <a:spcPts val="2339"/>
              </a:lnSpc>
              <a:buFont typeface="Arial"/>
              <a:buChar char="•"/>
            </a:pP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쿼리 · 승격 · 카탈로그 진입</a:t>
            </a:r>
          </a:p>
          <a:p>
            <a:pPr algn="l" marL="280669" indent="-140335" lvl="1">
              <a:lnSpc>
                <a:spcPts val="2339"/>
              </a:lnSpc>
              <a:buFont typeface="Arial"/>
              <a:buChar char="•"/>
            </a:pPr>
            <a:r>
              <a:rPr lang="en-US" sz="1299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ADR-0024: 게시 시 신규 생성 폐기 → </a:t>
            </a:r>
            <a:r>
              <a:rPr lang="en-US" b="true" sz="1299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검색 SSOT는 skill embedding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75692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32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80993" y="2317071"/>
            <a:ext cx="16726014" cy="9525"/>
            <a:chOff x="0" y="0"/>
            <a:chExt cx="22301352" cy="12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301327" cy="12700"/>
            </a:xfrm>
            <a:custGeom>
              <a:avLst/>
              <a:gdLst/>
              <a:ahLst/>
              <a:cxnLst/>
              <a:rect r="r" b="b" t="t" l="l"/>
              <a:pathLst>
                <a:path h="12700" w="22301327">
                  <a:moveTo>
                    <a:pt x="0" y="0"/>
                  </a:moveTo>
                  <a:lnTo>
                    <a:pt x="22301327" y="0"/>
                  </a:lnTo>
                  <a:lnTo>
                    <a:pt x="22301327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BDEE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80993" y="2322786"/>
            <a:ext cx="6773885" cy="2142944"/>
            <a:chOff x="0" y="0"/>
            <a:chExt cx="9031846" cy="285725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031859" cy="2857246"/>
            </a:xfrm>
            <a:custGeom>
              <a:avLst/>
              <a:gdLst/>
              <a:ahLst/>
              <a:cxnLst/>
              <a:rect r="r" b="b" t="t" l="l"/>
              <a:pathLst>
                <a:path h="2857246" w="9031859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8866759" y="0"/>
                  </a:lnTo>
                  <a:cubicBezTo>
                    <a:pt x="8957945" y="0"/>
                    <a:pt x="9031859" y="73914"/>
                    <a:pt x="9031859" y="165100"/>
                  </a:cubicBezTo>
                  <a:lnTo>
                    <a:pt x="9031859" y="2692146"/>
                  </a:lnTo>
                  <a:cubicBezTo>
                    <a:pt x="9031859" y="2783332"/>
                    <a:pt x="8957945" y="2857246"/>
                    <a:pt x="8866759" y="2857246"/>
                  </a:cubicBezTo>
                  <a:lnTo>
                    <a:pt x="165100" y="2857246"/>
                  </a:lnTo>
                  <a:cubicBezTo>
                    <a:pt x="73914" y="2857246"/>
                    <a:pt x="0" y="2783332"/>
                    <a:pt x="0" y="2692146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80993" y="4454300"/>
            <a:ext cx="6773885" cy="11430"/>
            <a:chOff x="0" y="0"/>
            <a:chExt cx="9031846" cy="152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031859" cy="15240"/>
            </a:xfrm>
            <a:custGeom>
              <a:avLst/>
              <a:gdLst/>
              <a:ahLst/>
              <a:cxnLst/>
              <a:rect r="r" b="b" t="t" l="l"/>
              <a:pathLst>
                <a:path h="15240" w="9031859">
                  <a:moveTo>
                    <a:pt x="0" y="0"/>
                  </a:moveTo>
                  <a:lnTo>
                    <a:pt x="9031859" y="0"/>
                  </a:lnTo>
                  <a:lnTo>
                    <a:pt x="9031859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80993" y="2322786"/>
            <a:ext cx="6773885" cy="11430"/>
            <a:chOff x="0" y="0"/>
            <a:chExt cx="9031846" cy="152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031859" cy="15240"/>
            </a:xfrm>
            <a:custGeom>
              <a:avLst/>
              <a:gdLst/>
              <a:ahLst/>
              <a:cxnLst/>
              <a:rect r="r" b="b" t="t" l="l"/>
              <a:pathLst>
                <a:path h="15240" w="9031859">
                  <a:moveTo>
                    <a:pt x="0" y="0"/>
                  </a:moveTo>
                  <a:lnTo>
                    <a:pt x="9031859" y="0"/>
                  </a:lnTo>
                  <a:lnTo>
                    <a:pt x="9031859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80993" y="2322786"/>
            <a:ext cx="47625" cy="2142944"/>
            <a:chOff x="0" y="0"/>
            <a:chExt cx="63500" cy="285725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" cy="2857246"/>
            </a:xfrm>
            <a:custGeom>
              <a:avLst/>
              <a:gdLst/>
              <a:ahLst/>
              <a:cxnLst/>
              <a:rect r="r" b="b" t="t" l="l"/>
              <a:pathLst>
                <a:path h="2857246" w="63500">
                  <a:moveTo>
                    <a:pt x="0" y="0"/>
                  </a:moveTo>
                  <a:lnTo>
                    <a:pt x="63500" y="0"/>
                  </a:lnTo>
                  <a:lnTo>
                    <a:pt x="63500" y="2857246"/>
                  </a:lnTo>
                  <a:lnTo>
                    <a:pt x="0" y="2857246"/>
                  </a:lnTo>
                  <a:close/>
                </a:path>
              </a:pathLst>
            </a:custGeom>
            <a:solidFill>
              <a:srgbClr val="7619C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543438" y="2322786"/>
            <a:ext cx="11430" cy="2142944"/>
            <a:chOff x="0" y="0"/>
            <a:chExt cx="15240" cy="285725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240" cy="2857246"/>
            </a:xfrm>
            <a:custGeom>
              <a:avLst/>
              <a:gdLst/>
              <a:ahLst/>
              <a:cxnLst/>
              <a:rect r="r" b="b" t="t" l="l"/>
              <a:pathLst>
                <a:path h="2857246" w="15240">
                  <a:moveTo>
                    <a:pt x="0" y="0"/>
                  </a:moveTo>
                  <a:lnTo>
                    <a:pt x="15240" y="0"/>
                  </a:lnTo>
                  <a:lnTo>
                    <a:pt x="15240" y="2857246"/>
                  </a:lnTo>
                  <a:lnTo>
                    <a:pt x="0" y="2857246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053351" y="2686641"/>
            <a:ext cx="123768" cy="123768"/>
            <a:chOff x="0" y="0"/>
            <a:chExt cx="165024" cy="16502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5100" cy="165100"/>
            </a:xfrm>
            <a:custGeom>
              <a:avLst/>
              <a:gdLst/>
              <a:ahLst/>
              <a:cxnLst/>
              <a:rect r="r" b="b" t="t" l="l"/>
              <a:pathLst>
                <a:path h="165100" w="165100">
                  <a:moveTo>
                    <a:pt x="0" y="82550"/>
                  </a:moveTo>
                  <a:cubicBezTo>
                    <a:pt x="0" y="36957"/>
                    <a:pt x="36957" y="0"/>
                    <a:pt x="82550" y="0"/>
                  </a:cubicBezTo>
                  <a:cubicBezTo>
                    <a:pt x="128143" y="0"/>
                    <a:pt x="165100" y="36957"/>
                    <a:pt x="165100" y="82550"/>
                  </a:cubicBezTo>
                  <a:cubicBezTo>
                    <a:pt x="165100" y="128143"/>
                    <a:pt x="128143" y="165100"/>
                    <a:pt x="82550" y="165100"/>
                  </a:cubicBezTo>
                  <a:cubicBezTo>
                    <a:pt x="36957" y="165100"/>
                    <a:pt x="0" y="128016"/>
                    <a:pt x="0" y="82550"/>
                  </a:cubicBezTo>
                  <a:close/>
                </a:path>
              </a:pathLst>
            </a:custGeom>
            <a:solidFill>
              <a:srgbClr val="7619C0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307163" y="2607259"/>
            <a:ext cx="1670609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b="true" sz="1875" spc="-18">
                <a:solidFill>
                  <a:srgbClr val="1B24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이전 방식의 문제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78744" y="3169234"/>
            <a:ext cx="6188469" cy="994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1575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사용자 패턴이 쌓일수록 무관한 정보까지 AI에게 </a:t>
            </a:r>
            <a:r>
              <a:rPr lang="en-US" sz="1575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통째로 전달 </a:t>
            </a:r>
          </a:p>
          <a:p>
            <a:pPr algn="l">
              <a:lnSpc>
                <a:spcPts val="2759"/>
              </a:lnSpc>
            </a:pPr>
            <a:r>
              <a:rPr lang="en-US" sz="1575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→ 엉뚱한 노드 선택과 토큰 낭비 </a:t>
            </a:r>
          </a:p>
          <a:p>
            <a:pPr algn="l">
              <a:lnSpc>
                <a:spcPts val="2759"/>
              </a:lnSpc>
            </a:pPr>
            <a:r>
              <a:rPr lang="en-US" sz="1575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("주간보고" 요청에도 메일·시트 패턴까지 다 주입)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780993" y="4637180"/>
            <a:ext cx="6773885" cy="2143125"/>
            <a:chOff x="0" y="0"/>
            <a:chExt cx="9031846" cy="28575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031859" cy="2857500"/>
            </a:xfrm>
            <a:custGeom>
              <a:avLst/>
              <a:gdLst/>
              <a:ahLst/>
              <a:cxnLst/>
              <a:rect r="r" b="b" t="t" l="l"/>
              <a:pathLst>
                <a:path h="2857500" w="9031859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8866759" y="0"/>
                  </a:lnTo>
                  <a:cubicBezTo>
                    <a:pt x="8957945" y="0"/>
                    <a:pt x="9031859" y="73914"/>
                    <a:pt x="9031859" y="165100"/>
                  </a:cubicBezTo>
                  <a:lnTo>
                    <a:pt x="9031859" y="2692400"/>
                  </a:lnTo>
                  <a:cubicBezTo>
                    <a:pt x="9031859" y="2783586"/>
                    <a:pt x="8957945" y="2857500"/>
                    <a:pt x="8866759" y="2857500"/>
                  </a:cubicBezTo>
                  <a:lnTo>
                    <a:pt x="165100" y="2857500"/>
                  </a:lnTo>
                  <a:cubicBezTo>
                    <a:pt x="73914" y="2857500"/>
                    <a:pt x="0" y="2783586"/>
                    <a:pt x="0" y="269240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780993" y="6768875"/>
            <a:ext cx="6773885" cy="11430"/>
            <a:chOff x="0" y="0"/>
            <a:chExt cx="9031846" cy="152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031859" cy="15240"/>
            </a:xfrm>
            <a:custGeom>
              <a:avLst/>
              <a:gdLst/>
              <a:ahLst/>
              <a:cxnLst/>
              <a:rect r="r" b="b" t="t" l="l"/>
              <a:pathLst>
                <a:path h="15240" w="9031859">
                  <a:moveTo>
                    <a:pt x="0" y="0"/>
                  </a:moveTo>
                  <a:lnTo>
                    <a:pt x="9031859" y="0"/>
                  </a:lnTo>
                  <a:lnTo>
                    <a:pt x="9031859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780993" y="4637180"/>
            <a:ext cx="6773885" cy="11430"/>
            <a:chOff x="0" y="0"/>
            <a:chExt cx="9031846" cy="15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031859" cy="15240"/>
            </a:xfrm>
            <a:custGeom>
              <a:avLst/>
              <a:gdLst/>
              <a:ahLst/>
              <a:cxnLst/>
              <a:rect r="r" b="b" t="t" l="l"/>
              <a:pathLst>
                <a:path h="15240" w="9031859">
                  <a:moveTo>
                    <a:pt x="0" y="0"/>
                  </a:moveTo>
                  <a:lnTo>
                    <a:pt x="9031859" y="0"/>
                  </a:lnTo>
                  <a:lnTo>
                    <a:pt x="9031859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780993" y="4637180"/>
            <a:ext cx="47625" cy="2143125"/>
            <a:chOff x="0" y="0"/>
            <a:chExt cx="63500" cy="28575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3500" cy="2857500"/>
            </a:xfrm>
            <a:custGeom>
              <a:avLst/>
              <a:gdLst/>
              <a:ahLst/>
              <a:cxnLst/>
              <a:rect r="r" b="b" t="t" l="l"/>
              <a:pathLst>
                <a:path h="2857500" w="63500">
                  <a:moveTo>
                    <a:pt x="0" y="0"/>
                  </a:moveTo>
                  <a:lnTo>
                    <a:pt x="63500" y="0"/>
                  </a:lnTo>
                  <a:lnTo>
                    <a:pt x="63500" y="2857500"/>
                  </a:lnTo>
                  <a:lnTo>
                    <a:pt x="0" y="28575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7543438" y="4637180"/>
            <a:ext cx="11430" cy="2143125"/>
            <a:chOff x="0" y="0"/>
            <a:chExt cx="15240" cy="28575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5240" cy="2857500"/>
            </a:xfrm>
            <a:custGeom>
              <a:avLst/>
              <a:gdLst/>
              <a:ahLst/>
              <a:cxnLst/>
              <a:rect r="r" b="b" t="t" l="l"/>
              <a:pathLst>
                <a:path h="2857500" w="15240">
                  <a:moveTo>
                    <a:pt x="0" y="0"/>
                  </a:moveTo>
                  <a:lnTo>
                    <a:pt x="15240" y="0"/>
                  </a:lnTo>
                  <a:lnTo>
                    <a:pt x="15240" y="2857500"/>
                  </a:lnTo>
                  <a:lnTo>
                    <a:pt x="0" y="285750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053351" y="5029610"/>
            <a:ext cx="123768" cy="123768"/>
            <a:chOff x="0" y="0"/>
            <a:chExt cx="165024" cy="16502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65100" cy="165100"/>
            </a:xfrm>
            <a:custGeom>
              <a:avLst/>
              <a:gdLst/>
              <a:ahLst/>
              <a:cxnLst/>
              <a:rect r="r" b="b" t="t" l="l"/>
              <a:pathLst>
                <a:path h="165100" w="165100">
                  <a:moveTo>
                    <a:pt x="0" y="82550"/>
                  </a:moveTo>
                  <a:cubicBezTo>
                    <a:pt x="0" y="36957"/>
                    <a:pt x="36957" y="0"/>
                    <a:pt x="82550" y="0"/>
                  </a:cubicBezTo>
                  <a:cubicBezTo>
                    <a:pt x="128143" y="0"/>
                    <a:pt x="165100" y="36957"/>
                    <a:pt x="165100" y="82550"/>
                  </a:cubicBezTo>
                  <a:cubicBezTo>
                    <a:pt x="165100" y="128143"/>
                    <a:pt x="128143" y="165100"/>
                    <a:pt x="82550" y="165100"/>
                  </a:cubicBezTo>
                  <a:cubicBezTo>
                    <a:pt x="36957" y="165100"/>
                    <a:pt x="0" y="128016"/>
                    <a:pt x="0" y="82550"/>
                  </a:cubicBez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307163" y="4924835"/>
            <a:ext cx="2663038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b="true" sz="1875" spc="-18">
                <a:solidFill>
                  <a:srgbClr val="1B24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바뀐 가치 — 평소 습관대로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78744" y="5486810"/>
            <a:ext cx="6188469" cy="994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1575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발화 의미와 가까운 패턴만 </a:t>
            </a:r>
            <a:r>
              <a:rPr lang="en-US" sz="1575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선별 주입</a:t>
            </a:r>
          </a:p>
          <a:p>
            <a:pPr algn="l">
              <a:lnSpc>
                <a:spcPts val="2759"/>
              </a:lnSpc>
            </a:pPr>
            <a:r>
              <a:rPr lang="en-US" sz="1575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매번 설정을 반복하지 않아도 본인 습관(요일·형식)대로 워크플로우를 </a:t>
            </a:r>
          </a:p>
          <a:p>
            <a:pPr algn="l">
              <a:lnSpc>
                <a:spcPts val="2759"/>
              </a:lnSpc>
            </a:pPr>
            <a:r>
              <a:rPr lang="en-US" sz="1575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받습니다.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780993" y="6951755"/>
            <a:ext cx="6773885" cy="2142944"/>
            <a:chOff x="0" y="0"/>
            <a:chExt cx="9031846" cy="285725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031859" cy="2857246"/>
            </a:xfrm>
            <a:custGeom>
              <a:avLst/>
              <a:gdLst/>
              <a:ahLst/>
              <a:cxnLst/>
              <a:rect r="r" b="b" t="t" l="l"/>
              <a:pathLst>
                <a:path h="2857246" w="9031859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8866759" y="0"/>
                  </a:lnTo>
                  <a:cubicBezTo>
                    <a:pt x="8957945" y="0"/>
                    <a:pt x="9031859" y="73914"/>
                    <a:pt x="9031859" y="165100"/>
                  </a:cubicBezTo>
                  <a:lnTo>
                    <a:pt x="9031859" y="2692146"/>
                  </a:lnTo>
                  <a:cubicBezTo>
                    <a:pt x="9031859" y="2783332"/>
                    <a:pt x="8957945" y="2857246"/>
                    <a:pt x="8866759" y="2857246"/>
                  </a:cubicBezTo>
                  <a:lnTo>
                    <a:pt x="165100" y="2857246"/>
                  </a:lnTo>
                  <a:cubicBezTo>
                    <a:pt x="73914" y="2857246"/>
                    <a:pt x="0" y="2783332"/>
                    <a:pt x="0" y="2692146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780993" y="6951755"/>
            <a:ext cx="6773885" cy="11430"/>
            <a:chOff x="0" y="0"/>
            <a:chExt cx="9031846" cy="152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9031859" cy="15240"/>
            </a:xfrm>
            <a:custGeom>
              <a:avLst/>
              <a:gdLst/>
              <a:ahLst/>
              <a:cxnLst/>
              <a:rect r="r" b="b" t="t" l="l"/>
              <a:pathLst>
                <a:path h="15240" w="9031859">
                  <a:moveTo>
                    <a:pt x="0" y="0"/>
                  </a:moveTo>
                  <a:lnTo>
                    <a:pt x="9031859" y="0"/>
                  </a:lnTo>
                  <a:lnTo>
                    <a:pt x="9031859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780993" y="6951755"/>
            <a:ext cx="47625" cy="2142944"/>
            <a:chOff x="0" y="0"/>
            <a:chExt cx="63500" cy="285725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3500" cy="2857246"/>
            </a:xfrm>
            <a:custGeom>
              <a:avLst/>
              <a:gdLst/>
              <a:ahLst/>
              <a:cxnLst/>
              <a:rect r="r" b="b" t="t" l="l"/>
              <a:pathLst>
                <a:path h="2857246" w="63500">
                  <a:moveTo>
                    <a:pt x="0" y="0"/>
                  </a:moveTo>
                  <a:lnTo>
                    <a:pt x="63500" y="0"/>
                  </a:lnTo>
                  <a:lnTo>
                    <a:pt x="63500" y="2857246"/>
                  </a:lnTo>
                  <a:lnTo>
                    <a:pt x="0" y="2857246"/>
                  </a:lnTo>
                  <a:close/>
                </a:path>
              </a:pathLst>
            </a:custGeom>
            <a:solidFill>
              <a:srgbClr val="B578E5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7543438" y="6951755"/>
            <a:ext cx="11430" cy="2142944"/>
            <a:chOff x="0" y="0"/>
            <a:chExt cx="15240" cy="2857259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5240" cy="2857246"/>
            </a:xfrm>
            <a:custGeom>
              <a:avLst/>
              <a:gdLst/>
              <a:ahLst/>
              <a:cxnLst/>
              <a:rect r="r" b="b" t="t" l="l"/>
              <a:pathLst>
                <a:path h="2857246" w="15240">
                  <a:moveTo>
                    <a:pt x="0" y="0"/>
                  </a:moveTo>
                  <a:lnTo>
                    <a:pt x="15240" y="0"/>
                  </a:lnTo>
                  <a:lnTo>
                    <a:pt x="15240" y="2857246"/>
                  </a:lnTo>
                  <a:lnTo>
                    <a:pt x="0" y="2857246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053351" y="7353710"/>
            <a:ext cx="123768" cy="123768"/>
            <a:chOff x="0" y="0"/>
            <a:chExt cx="165024" cy="16502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65100" cy="165100"/>
            </a:xfrm>
            <a:custGeom>
              <a:avLst/>
              <a:gdLst/>
              <a:ahLst/>
              <a:cxnLst/>
              <a:rect r="r" b="b" t="t" l="l"/>
              <a:pathLst>
                <a:path h="165100" w="165100">
                  <a:moveTo>
                    <a:pt x="0" y="82550"/>
                  </a:moveTo>
                  <a:cubicBezTo>
                    <a:pt x="0" y="36957"/>
                    <a:pt x="36957" y="0"/>
                    <a:pt x="82550" y="0"/>
                  </a:cubicBezTo>
                  <a:cubicBezTo>
                    <a:pt x="128143" y="0"/>
                    <a:pt x="165100" y="36957"/>
                    <a:pt x="165100" y="82550"/>
                  </a:cubicBezTo>
                  <a:cubicBezTo>
                    <a:pt x="165100" y="128143"/>
                    <a:pt x="128143" y="165100"/>
                    <a:pt x="82550" y="165100"/>
                  </a:cubicBezTo>
                  <a:cubicBezTo>
                    <a:pt x="36957" y="165100"/>
                    <a:pt x="0" y="128016"/>
                    <a:pt x="0" y="82550"/>
                  </a:cubicBezTo>
                  <a:close/>
                </a:path>
              </a:pathLst>
            </a:custGeom>
            <a:solidFill>
              <a:srgbClr val="B578E5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307163" y="7239410"/>
            <a:ext cx="2903277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b="true" sz="1875" spc="-18">
                <a:solidFill>
                  <a:srgbClr val="1B24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정답률은 그대로, 잡음만 제거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78744" y="7801385"/>
            <a:ext cx="6188469" cy="6515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1575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hit율 100% 유지 </a:t>
            </a:r>
            <a:r>
              <a:rPr lang="en-US" sz="1575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하면서 무관 패턴 주입을 5.8배 감소</a:t>
            </a:r>
          </a:p>
          <a:p>
            <a:pPr algn="l">
              <a:lnSpc>
                <a:spcPts val="2759"/>
              </a:lnSpc>
            </a:pPr>
            <a:r>
              <a:rPr lang="en-US" sz="1575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업무와 무관한 잡담은 완전히 차단 합니다.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7834913" y="2317071"/>
            <a:ext cx="9677819" cy="6712629"/>
            <a:chOff x="0" y="0"/>
            <a:chExt cx="12903759" cy="895017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2903708" cy="8950211"/>
            </a:xfrm>
            <a:custGeom>
              <a:avLst/>
              <a:gdLst/>
              <a:ahLst/>
              <a:cxnLst/>
              <a:rect r="r" b="b" t="t" l="l"/>
              <a:pathLst>
                <a:path h="8950211" w="12903708">
                  <a:moveTo>
                    <a:pt x="0" y="223567"/>
                  </a:moveTo>
                  <a:cubicBezTo>
                    <a:pt x="0" y="100138"/>
                    <a:pt x="91186" y="0"/>
                    <a:pt x="203581" y="0"/>
                  </a:cubicBezTo>
                  <a:lnTo>
                    <a:pt x="12700127" y="0"/>
                  </a:lnTo>
                  <a:cubicBezTo>
                    <a:pt x="12812522" y="0"/>
                    <a:pt x="12903708" y="100138"/>
                    <a:pt x="12903708" y="223567"/>
                  </a:cubicBezTo>
                  <a:lnTo>
                    <a:pt x="12903708" y="8726648"/>
                  </a:lnTo>
                  <a:cubicBezTo>
                    <a:pt x="12903708" y="8850076"/>
                    <a:pt x="12812522" y="8950211"/>
                    <a:pt x="12700127" y="8950211"/>
                  </a:cubicBezTo>
                  <a:lnTo>
                    <a:pt x="203581" y="8950211"/>
                  </a:lnTo>
                  <a:cubicBezTo>
                    <a:pt x="91186" y="8950210"/>
                    <a:pt x="0" y="8850076"/>
                    <a:pt x="0" y="87266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7E9EE"/>
              </a:solidFill>
              <a:prstDash val="solid"/>
              <a:miter/>
            </a:ln>
          </p:spPr>
        </p:sp>
      </p:grpSp>
      <p:sp>
        <p:nvSpPr>
          <p:cNvPr name="TextBox 46" id="46"/>
          <p:cNvSpPr txBox="true"/>
          <p:nvPr/>
        </p:nvSpPr>
        <p:spPr>
          <a:xfrm rot="0">
            <a:off x="8201244" y="2645359"/>
            <a:ext cx="921501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b="true" sz="1425" spc="171">
                <a:solidFill>
                  <a:srgbClr val="9CA3A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BEFORE / AFTER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8201244" y="2974867"/>
            <a:ext cx="9215018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37415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전체 덤프 방식 → RAG 선별 주입의 실측 비교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75841" y="3973918"/>
            <a:ext cx="4112838" cy="11430"/>
            <a:chOff x="0" y="0"/>
            <a:chExt cx="5483784" cy="152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483733" cy="15240"/>
            </a:xfrm>
            <a:custGeom>
              <a:avLst/>
              <a:gdLst/>
              <a:ahLst/>
              <a:cxnLst/>
              <a:rect r="r" b="b" t="t" l="l"/>
              <a:pathLst>
                <a:path h="15240" w="5483733">
                  <a:moveTo>
                    <a:pt x="0" y="0"/>
                  </a:moveTo>
                  <a:lnTo>
                    <a:pt x="5483733" y="0"/>
                  </a:lnTo>
                  <a:lnTo>
                    <a:pt x="5483733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DBDEE5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2288679" y="3967882"/>
            <a:ext cx="2773918" cy="11430"/>
            <a:chOff x="0" y="0"/>
            <a:chExt cx="3698558" cy="152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698494" cy="15240"/>
            </a:xfrm>
            <a:custGeom>
              <a:avLst/>
              <a:gdLst/>
              <a:ahLst/>
              <a:cxnLst/>
              <a:rect r="r" b="b" t="t" l="l"/>
              <a:pathLst>
                <a:path h="15240" w="3698494">
                  <a:moveTo>
                    <a:pt x="0" y="0"/>
                  </a:moveTo>
                  <a:lnTo>
                    <a:pt x="3698494" y="0"/>
                  </a:lnTo>
                  <a:lnTo>
                    <a:pt x="369849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DBDEE5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5062597" y="3961845"/>
            <a:ext cx="2109187" cy="11430"/>
            <a:chOff x="0" y="0"/>
            <a:chExt cx="2812250" cy="152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812288" cy="15240"/>
            </a:xfrm>
            <a:custGeom>
              <a:avLst/>
              <a:gdLst/>
              <a:ahLst/>
              <a:cxnLst/>
              <a:rect r="r" b="b" t="t" l="l"/>
              <a:pathLst>
                <a:path h="15240" w="2812288">
                  <a:moveTo>
                    <a:pt x="0" y="0"/>
                  </a:moveTo>
                  <a:lnTo>
                    <a:pt x="2812288" y="0"/>
                  </a:lnTo>
                  <a:lnTo>
                    <a:pt x="281228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DBDEE5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8309191" y="3472463"/>
            <a:ext cx="8767343" cy="518922"/>
            <a:chOff x="0" y="0"/>
            <a:chExt cx="11689791" cy="691896"/>
          </a:xfrm>
        </p:grpSpPr>
        <p:grpSp>
          <p:nvGrpSpPr>
            <p:cNvPr name="Group 55" id="55"/>
            <p:cNvGrpSpPr/>
            <p:nvPr/>
          </p:nvGrpSpPr>
          <p:grpSpPr>
            <a:xfrm rot="0">
              <a:off x="0" y="0"/>
              <a:ext cx="5292700" cy="691896"/>
              <a:chOff x="0" y="0"/>
              <a:chExt cx="5292700" cy="691896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5292693" cy="691896"/>
              </a:xfrm>
              <a:custGeom>
                <a:avLst/>
                <a:gdLst/>
                <a:ahLst/>
                <a:cxnLst/>
                <a:rect r="r" b="b" t="t" l="l"/>
                <a:pathLst>
                  <a:path h="691896" w="5292693">
                    <a:moveTo>
                      <a:pt x="0" y="0"/>
                    </a:moveTo>
                    <a:lnTo>
                      <a:pt x="5292693" y="0"/>
                    </a:lnTo>
                    <a:lnTo>
                      <a:pt x="5292693" y="691896"/>
                    </a:lnTo>
                    <a:lnTo>
                      <a:pt x="0" y="69189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2803" r="0" b="-75300"/>
                </a:stretch>
              </a:blipFill>
            </p:spPr>
          </p:sp>
          <p:sp>
            <p:nvSpPr>
              <p:cNvPr name="TextBox 57" id="57"/>
              <p:cNvSpPr txBox="true"/>
              <p:nvPr/>
            </p:nvSpPr>
            <p:spPr>
              <a:xfrm>
                <a:off x="0" y="-9525"/>
                <a:ext cx="5292700" cy="70142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620"/>
                  </a:lnSpc>
                </a:pPr>
                <a:r>
                  <a:rPr lang="en-US" b="true" sz="1350" spc="54">
                    <a:solidFill>
                      <a:srgbClr val="9CA3AF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지표</a:t>
                </a:r>
              </a:p>
            </p:txBody>
          </p:sp>
        </p:grpSp>
        <p:grpSp>
          <p:nvGrpSpPr>
            <p:cNvPr name="Group 58" id="58"/>
            <p:cNvGrpSpPr/>
            <p:nvPr/>
          </p:nvGrpSpPr>
          <p:grpSpPr>
            <a:xfrm rot="0">
              <a:off x="5428310" y="0"/>
              <a:ext cx="3453917" cy="691896"/>
              <a:chOff x="0" y="0"/>
              <a:chExt cx="3453917" cy="691896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3453913" cy="691896"/>
              </a:xfrm>
              <a:custGeom>
                <a:avLst/>
                <a:gdLst/>
                <a:ahLst/>
                <a:cxnLst/>
                <a:rect r="r" b="b" t="t" l="l"/>
                <a:pathLst>
                  <a:path h="691896" w="3453913">
                    <a:moveTo>
                      <a:pt x="0" y="0"/>
                    </a:moveTo>
                    <a:lnTo>
                      <a:pt x="3453913" y="0"/>
                    </a:lnTo>
                    <a:lnTo>
                      <a:pt x="3453913" y="691896"/>
                    </a:lnTo>
                    <a:lnTo>
                      <a:pt x="0" y="69189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71020" r="0" b="-23516"/>
                </a:stretch>
              </a:blipFill>
            </p:spPr>
          </p:sp>
          <p:sp>
            <p:nvSpPr>
              <p:cNvPr name="TextBox 60" id="60"/>
              <p:cNvSpPr txBox="true"/>
              <p:nvPr/>
            </p:nvSpPr>
            <p:spPr>
              <a:xfrm>
                <a:off x="0" y="-9525"/>
                <a:ext cx="3453917" cy="70142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620"/>
                  </a:lnSpc>
                </a:pPr>
                <a:r>
                  <a:rPr lang="en-US" b="true" sz="1350" spc="54">
                    <a:solidFill>
                      <a:srgbClr val="9CA3AF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BEFORE · 전체덤프</a:t>
                </a:r>
              </a:p>
            </p:txBody>
          </p:sp>
        </p:grpSp>
        <p:grpSp>
          <p:nvGrpSpPr>
            <p:cNvPr name="Group 61" id="61"/>
            <p:cNvGrpSpPr/>
            <p:nvPr/>
          </p:nvGrpSpPr>
          <p:grpSpPr>
            <a:xfrm rot="0">
              <a:off x="9131541" y="0"/>
              <a:ext cx="2558250" cy="691896"/>
              <a:chOff x="0" y="0"/>
              <a:chExt cx="2558250" cy="691896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2558256" cy="691896"/>
              </a:xfrm>
              <a:custGeom>
                <a:avLst/>
                <a:gdLst/>
                <a:ahLst/>
                <a:cxnLst/>
                <a:rect r="r" b="b" t="t" l="l"/>
                <a:pathLst>
                  <a:path h="691896" w="2558256">
                    <a:moveTo>
                      <a:pt x="0" y="0"/>
                    </a:moveTo>
                    <a:lnTo>
                      <a:pt x="2558256" y="0"/>
                    </a:lnTo>
                    <a:lnTo>
                      <a:pt x="2558256" y="691896"/>
                    </a:lnTo>
                    <a:lnTo>
                      <a:pt x="0" y="69189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45796" r="0" b="1706"/>
                </a:stretch>
              </a:blipFill>
            </p:spPr>
          </p:sp>
          <p:sp>
            <p:nvSpPr>
              <p:cNvPr name="TextBox 63" id="63"/>
              <p:cNvSpPr txBox="true"/>
              <p:nvPr/>
            </p:nvSpPr>
            <p:spPr>
              <a:xfrm>
                <a:off x="0" y="-9525"/>
                <a:ext cx="2558250" cy="70142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620"/>
                  </a:lnSpc>
                </a:pPr>
                <a:r>
                  <a:rPr lang="en-US" b="true" sz="1350" spc="54">
                    <a:solidFill>
                      <a:srgbClr val="9CA3AF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AFTER · RAG</a:t>
                </a:r>
              </a:p>
            </p:txBody>
          </p:sp>
        </p:grpSp>
      </p:grpSp>
      <p:grpSp>
        <p:nvGrpSpPr>
          <p:cNvPr name="Group 64" id="64"/>
          <p:cNvGrpSpPr/>
          <p:nvPr/>
        </p:nvGrpSpPr>
        <p:grpSpPr>
          <a:xfrm rot="0">
            <a:off x="8175841" y="4602997"/>
            <a:ext cx="4112838" cy="11430"/>
            <a:chOff x="0" y="0"/>
            <a:chExt cx="5483784" cy="152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3733" cy="15240"/>
            </a:xfrm>
            <a:custGeom>
              <a:avLst/>
              <a:gdLst/>
              <a:ahLst/>
              <a:cxnLst/>
              <a:rect r="r" b="b" t="t" l="l"/>
              <a:pathLst>
                <a:path h="15240" w="5483733">
                  <a:moveTo>
                    <a:pt x="0" y="0"/>
                  </a:moveTo>
                  <a:lnTo>
                    <a:pt x="5483733" y="0"/>
                  </a:lnTo>
                  <a:lnTo>
                    <a:pt x="5483733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12288679" y="4596960"/>
            <a:ext cx="2773918" cy="11430"/>
            <a:chOff x="0" y="0"/>
            <a:chExt cx="3698558" cy="152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3698494" cy="15240"/>
            </a:xfrm>
            <a:custGeom>
              <a:avLst/>
              <a:gdLst/>
              <a:ahLst/>
              <a:cxnLst/>
              <a:rect r="r" b="b" t="t" l="l"/>
              <a:pathLst>
                <a:path h="15240" w="3698494">
                  <a:moveTo>
                    <a:pt x="0" y="0"/>
                  </a:moveTo>
                  <a:lnTo>
                    <a:pt x="3698494" y="0"/>
                  </a:lnTo>
                  <a:lnTo>
                    <a:pt x="369849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5062597" y="4590924"/>
            <a:ext cx="2109187" cy="11430"/>
            <a:chOff x="0" y="0"/>
            <a:chExt cx="2812250" cy="152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812288" cy="15240"/>
            </a:xfrm>
            <a:custGeom>
              <a:avLst/>
              <a:gdLst/>
              <a:ahLst/>
              <a:cxnLst/>
              <a:rect r="r" b="b" t="t" l="l"/>
              <a:pathLst>
                <a:path h="15240" w="2812288">
                  <a:moveTo>
                    <a:pt x="0" y="0"/>
                  </a:moveTo>
                  <a:lnTo>
                    <a:pt x="2812288" y="0"/>
                  </a:lnTo>
                  <a:lnTo>
                    <a:pt x="281228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8309191" y="3955809"/>
            <a:ext cx="6661671" cy="664654"/>
            <a:chOff x="0" y="0"/>
            <a:chExt cx="8882228" cy="886206"/>
          </a:xfrm>
        </p:grpSpPr>
        <p:grpSp>
          <p:nvGrpSpPr>
            <p:cNvPr name="Group 71" id="71"/>
            <p:cNvGrpSpPr/>
            <p:nvPr/>
          </p:nvGrpSpPr>
          <p:grpSpPr>
            <a:xfrm rot="0">
              <a:off x="0" y="0"/>
              <a:ext cx="5292700" cy="886206"/>
              <a:chOff x="0" y="0"/>
              <a:chExt cx="5292700" cy="886206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5292693" cy="886206"/>
              </a:xfrm>
              <a:custGeom>
                <a:avLst/>
                <a:gdLst/>
                <a:ahLst/>
                <a:cxnLst/>
                <a:rect r="r" b="b" t="t" l="l"/>
                <a:pathLst>
                  <a:path h="886206" w="5292693">
                    <a:moveTo>
                      <a:pt x="0" y="0"/>
                    </a:moveTo>
                    <a:lnTo>
                      <a:pt x="5292693" y="0"/>
                    </a:lnTo>
                    <a:lnTo>
                      <a:pt x="5292693" y="886206"/>
                    </a:lnTo>
                    <a:lnTo>
                      <a:pt x="0" y="88620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9428" r="0" b="-43312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0"/>
                <a:ext cx="529270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1E2A3A"/>
                    </a:solidFill>
                    <a:latin typeface="Noto Sans Kr Bold"/>
                    <a:ea typeface="Noto Sans Kr Bold"/>
                    <a:cs typeface="Noto Sans Kr Bold"/>
                    <a:sym typeface="Noto Sans Kr Bold"/>
                  </a:rPr>
                  <a:t>hit율 (정답 진입)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5428310" y="0"/>
              <a:ext cx="3453917" cy="886206"/>
              <a:chOff x="0" y="0"/>
              <a:chExt cx="3453917" cy="886206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3453913" cy="886206"/>
              </a:xfrm>
              <a:custGeom>
                <a:avLst/>
                <a:gdLst/>
                <a:ahLst/>
                <a:cxnLst/>
                <a:rect r="r" b="b" t="t" l="l"/>
                <a:pathLst>
                  <a:path h="886206" w="3453913">
                    <a:moveTo>
                      <a:pt x="0" y="0"/>
                    </a:moveTo>
                    <a:lnTo>
                      <a:pt x="3453913" y="0"/>
                    </a:lnTo>
                    <a:lnTo>
                      <a:pt x="3453913" y="886206"/>
                    </a:lnTo>
                    <a:lnTo>
                      <a:pt x="0" y="88620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48999" r="0" b="-2883"/>
                </a:stretch>
              </a:blip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0"/>
                <a:ext cx="3453917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070"/>
                  </a:lnSpc>
                </a:pPr>
                <a:r>
                  <a:rPr lang="en-US" sz="1725">
                    <a:solidFill>
                      <a:srgbClr val="9CA3A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100%</a:t>
                </a:r>
              </a:p>
            </p:txBody>
          </p:sp>
        </p:grpSp>
      </p:grpSp>
      <p:grpSp>
        <p:nvGrpSpPr>
          <p:cNvPr name="Group 77" id="77"/>
          <p:cNvGrpSpPr/>
          <p:nvPr/>
        </p:nvGrpSpPr>
        <p:grpSpPr>
          <a:xfrm rot="0">
            <a:off x="15157847" y="3955809"/>
            <a:ext cx="1918687" cy="664654"/>
            <a:chOff x="0" y="0"/>
            <a:chExt cx="2558250" cy="88620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558256" cy="886206"/>
            </a:xfrm>
            <a:custGeom>
              <a:avLst/>
              <a:gdLst/>
              <a:ahLst/>
              <a:cxnLst/>
              <a:rect r="r" b="b" t="t" l="l"/>
              <a:pathLst>
                <a:path h="886206" w="2558256">
                  <a:moveTo>
                    <a:pt x="0" y="0"/>
                  </a:moveTo>
                  <a:lnTo>
                    <a:pt x="2558256" y="0"/>
                  </a:lnTo>
                  <a:lnTo>
                    <a:pt x="2558256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306" r="0" b="16809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0"/>
              <a:ext cx="255825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b="true" sz="1725">
                  <a:solidFill>
                    <a:srgbClr val="7C3DF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100%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8175841" y="5232075"/>
            <a:ext cx="4112838" cy="11430"/>
            <a:chOff x="0" y="0"/>
            <a:chExt cx="5483784" cy="1524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5483733" cy="15240"/>
            </a:xfrm>
            <a:custGeom>
              <a:avLst/>
              <a:gdLst/>
              <a:ahLst/>
              <a:cxnLst/>
              <a:rect r="r" b="b" t="t" l="l"/>
              <a:pathLst>
                <a:path h="15240" w="5483733">
                  <a:moveTo>
                    <a:pt x="0" y="0"/>
                  </a:moveTo>
                  <a:lnTo>
                    <a:pt x="5483733" y="0"/>
                  </a:lnTo>
                  <a:lnTo>
                    <a:pt x="5483733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12288679" y="5226039"/>
            <a:ext cx="2773918" cy="11430"/>
            <a:chOff x="0" y="0"/>
            <a:chExt cx="3698558" cy="1524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698494" cy="15240"/>
            </a:xfrm>
            <a:custGeom>
              <a:avLst/>
              <a:gdLst/>
              <a:ahLst/>
              <a:cxnLst/>
              <a:rect r="r" b="b" t="t" l="l"/>
              <a:pathLst>
                <a:path h="15240" w="3698494">
                  <a:moveTo>
                    <a:pt x="0" y="0"/>
                  </a:moveTo>
                  <a:lnTo>
                    <a:pt x="3698494" y="0"/>
                  </a:lnTo>
                  <a:lnTo>
                    <a:pt x="369849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84" id="84"/>
          <p:cNvGrpSpPr/>
          <p:nvPr/>
        </p:nvGrpSpPr>
        <p:grpSpPr>
          <a:xfrm rot="0">
            <a:off x="15062597" y="5220002"/>
            <a:ext cx="2109187" cy="11430"/>
            <a:chOff x="0" y="0"/>
            <a:chExt cx="2812250" cy="1524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2812288" cy="15240"/>
            </a:xfrm>
            <a:custGeom>
              <a:avLst/>
              <a:gdLst/>
              <a:ahLst/>
              <a:cxnLst/>
              <a:rect r="r" b="b" t="t" l="l"/>
              <a:pathLst>
                <a:path h="15240" w="2812288">
                  <a:moveTo>
                    <a:pt x="0" y="0"/>
                  </a:moveTo>
                  <a:lnTo>
                    <a:pt x="2812288" y="0"/>
                  </a:lnTo>
                  <a:lnTo>
                    <a:pt x="281228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8309191" y="4584887"/>
            <a:ext cx="3969525" cy="664654"/>
            <a:chOff x="0" y="0"/>
            <a:chExt cx="5292700" cy="886206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5292693" cy="886206"/>
            </a:xfrm>
            <a:custGeom>
              <a:avLst/>
              <a:gdLst/>
              <a:ahLst/>
              <a:cxnLst/>
              <a:rect r="r" b="b" t="t" l="l"/>
              <a:pathLst>
                <a:path h="886206" w="5292693">
                  <a:moveTo>
                    <a:pt x="0" y="0"/>
                  </a:moveTo>
                  <a:lnTo>
                    <a:pt x="5292693" y="0"/>
                  </a:lnTo>
                  <a:lnTo>
                    <a:pt x="5292693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428" r="0" b="-43312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0"/>
              <a:ext cx="529270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1E2A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평균 노이즈 (무관 주입 수)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2380424" y="4584887"/>
            <a:ext cx="2590438" cy="664654"/>
            <a:chOff x="0" y="0"/>
            <a:chExt cx="3453917" cy="886206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3453913" cy="886206"/>
            </a:xfrm>
            <a:custGeom>
              <a:avLst/>
              <a:gdLst/>
              <a:ahLst/>
              <a:cxnLst/>
              <a:rect r="r" b="b" t="t" l="l"/>
              <a:pathLst>
                <a:path h="886206" w="3453913">
                  <a:moveTo>
                    <a:pt x="0" y="0"/>
                  </a:moveTo>
                  <a:lnTo>
                    <a:pt x="3453913" y="0"/>
                  </a:lnTo>
                  <a:lnTo>
                    <a:pt x="3453913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999" r="0" b="-2883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0"/>
              <a:ext cx="3453917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4.83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15157847" y="4584887"/>
            <a:ext cx="1918687" cy="664654"/>
            <a:chOff x="0" y="0"/>
            <a:chExt cx="2558250" cy="886206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558256" cy="886206"/>
            </a:xfrm>
            <a:custGeom>
              <a:avLst/>
              <a:gdLst/>
              <a:ahLst/>
              <a:cxnLst/>
              <a:rect r="r" b="b" t="t" l="l"/>
              <a:pathLst>
                <a:path h="886206" w="2558256">
                  <a:moveTo>
                    <a:pt x="0" y="0"/>
                  </a:moveTo>
                  <a:lnTo>
                    <a:pt x="2558256" y="0"/>
                  </a:lnTo>
                  <a:lnTo>
                    <a:pt x="2558256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306" r="0" b="16809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0"/>
              <a:ext cx="255825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b="true" sz="1725">
                  <a:solidFill>
                    <a:srgbClr val="7C3DF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0.83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8175841" y="5861154"/>
            <a:ext cx="4112838" cy="11430"/>
            <a:chOff x="0" y="0"/>
            <a:chExt cx="5483784" cy="1524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5483733" cy="15240"/>
            </a:xfrm>
            <a:custGeom>
              <a:avLst/>
              <a:gdLst/>
              <a:ahLst/>
              <a:cxnLst/>
              <a:rect r="r" b="b" t="t" l="l"/>
              <a:pathLst>
                <a:path h="15240" w="5483733">
                  <a:moveTo>
                    <a:pt x="0" y="0"/>
                  </a:moveTo>
                  <a:lnTo>
                    <a:pt x="5483733" y="0"/>
                  </a:lnTo>
                  <a:lnTo>
                    <a:pt x="5483733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288679" y="5855118"/>
            <a:ext cx="2773918" cy="11430"/>
            <a:chOff x="0" y="0"/>
            <a:chExt cx="3698558" cy="152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3698494" cy="15240"/>
            </a:xfrm>
            <a:custGeom>
              <a:avLst/>
              <a:gdLst/>
              <a:ahLst/>
              <a:cxnLst/>
              <a:rect r="r" b="b" t="t" l="l"/>
              <a:pathLst>
                <a:path h="15240" w="3698494">
                  <a:moveTo>
                    <a:pt x="0" y="0"/>
                  </a:moveTo>
                  <a:lnTo>
                    <a:pt x="3698494" y="0"/>
                  </a:lnTo>
                  <a:lnTo>
                    <a:pt x="369849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5062597" y="5849081"/>
            <a:ext cx="2109187" cy="11430"/>
            <a:chOff x="0" y="0"/>
            <a:chExt cx="2812250" cy="152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2812288" cy="15240"/>
            </a:xfrm>
            <a:custGeom>
              <a:avLst/>
              <a:gdLst/>
              <a:ahLst/>
              <a:cxnLst/>
              <a:rect r="r" b="b" t="t" l="l"/>
              <a:pathLst>
                <a:path h="15240" w="2812288">
                  <a:moveTo>
                    <a:pt x="0" y="0"/>
                  </a:moveTo>
                  <a:lnTo>
                    <a:pt x="2812288" y="0"/>
                  </a:lnTo>
                  <a:lnTo>
                    <a:pt x="281228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8309191" y="5213966"/>
            <a:ext cx="3969525" cy="664654"/>
            <a:chOff x="0" y="0"/>
            <a:chExt cx="5292700" cy="886206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292693" cy="886206"/>
            </a:xfrm>
            <a:custGeom>
              <a:avLst/>
              <a:gdLst/>
              <a:ahLst/>
              <a:cxnLst/>
              <a:rect r="r" b="b" t="t" l="l"/>
              <a:pathLst>
                <a:path h="886206" w="5292693">
                  <a:moveTo>
                    <a:pt x="0" y="0"/>
                  </a:moveTo>
                  <a:lnTo>
                    <a:pt x="5292693" y="0"/>
                  </a:lnTo>
                  <a:lnTo>
                    <a:pt x="5292693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428" r="0" b="-43312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0"/>
              <a:ext cx="529270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1E2A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잡담("점심") 반환</a:t>
              </a:r>
            </a:p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12380424" y="5213966"/>
            <a:ext cx="2590438" cy="664654"/>
            <a:chOff x="0" y="0"/>
            <a:chExt cx="3453917" cy="88620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3453913" cy="886206"/>
            </a:xfrm>
            <a:custGeom>
              <a:avLst/>
              <a:gdLst/>
              <a:ahLst/>
              <a:cxnLst/>
              <a:rect r="r" b="b" t="t" l="l"/>
              <a:pathLst>
                <a:path h="886206" w="3453913">
                  <a:moveTo>
                    <a:pt x="0" y="0"/>
                  </a:moveTo>
                  <a:lnTo>
                    <a:pt x="3453913" y="0"/>
                  </a:lnTo>
                  <a:lnTo>
                    <a:pt x="3453913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999" r="0" b="-2883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0"/>
              <a:ext cx="3453917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6개 전량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15157847" y="5213966"/>
            <a:ext cx="1918687" cy="664654"/>
            <a:chOff x="0" y="0"/>
            <a:chExt cx="2558250" cy="886206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2558256" cy="886206"/>
            </a:xfrm>
            <a:custGeom>
              <a:avLst/>
              <a:gdLst/>
              <a:ahLst/>
              <a:cxnLst/>
              <a:rect r="r" b="b" t="t" l="l"/>
              <a:pathLst>
                <a:path h="886206" w="2558256">
                  <a:moveTo>
                    <a:pt x="0" y="0"/>
                  </a:moveTo>
                  <a:lnTo>
                    <a:pt x="2558256" y="0"/>
                  </a:lnTo>
                  <a:lnTo>
                    <a:pt x="2558256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306" r="0" b="16809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0"/>
              <a:ext cx="255825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b="true" sz="1725">
                  <a:solidFill>
                    <a:srgbClr val="7C3DF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∅ 차단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8309191" y="5843045"/>
            <a:ext cx="3969525" cy="664654"/>
            <a:chOff x="0" y="0"/>
            <a:chExt cx="5292700" cy="886206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5292693" cy="886206"/>
            </a:xfrm>
            <a:custGeom>
              <a:avLst/>
              <a:gdLst/>
              <a:ahLst/>
              <a:cxnLst/>
              <a:rect r="r" b="b" t="t" l="l"/>
              <a:pathLst>
                <a:path h="886206" w="5292693">
                  <a:moveTo>
                    <a:pt x="0" y="0"/>
                  </a:moveTo>
                  <a:lnTo>
                    <a:pt x="5292693" y="0"/>
                  </a:lnTo>
                  <a:lnTo>
                    <a:pt x="5292693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8999" r="0" b="-43742"/>
              </a:stretch>
            </a:blipFill>
          </p:spPr>
        </p:sp>
        <p:sp>
          <p:nvSpPr>
            <p:cNvPr name="TextBox 112" id="112"/>
            <p:cNvSpPr txBox="true"/>
            <p:nvPr/>
          </p:nvSpPr>
          <p:spPr>
            <a:xfrm>
              <a:off x="0" y="0"/>
              <a:ext cx="529270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1E2A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정답·잡담 분리 마진</a:t>
              </a:r>
            </a:p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12380424" y="5843045"/>
            <a:ext cx="2590438" cy="664654"/>
            <a:chOff x="0" y="0"/>
            <a:chExt cx="3453917" cy="886206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3453913" cy="886206"/>
            </a:xfrm>
            <a:custGeom>
              <a:avLst/>
              <a:gdLst/>
              <a:ahLst/>
              <a:cxnLst/>
              <a:rect r="r" b="b" t="t" l="l"/>
              <a:pathLst>
                <a:path h="886206" w="3453913">
                  <a:moveTo>
                    <a:pt x="0" y="0"/>
                  </a:moveTo>
                  <a:lnTo>
                    <a:pt x="3453913" y="0"/>
                  </a:lnTo>
                  <a:lnTo>
                    <a:pt x="3453913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69" r="0" b="-3313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0"/>
              <a:ext cx="3453917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—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5157847" y="5843045"/>
            <a:ext cx="1918687" cy="664654"/>
            <a:chOff x="0" y="0"/>
            <a:chExt cx="2558250" cy="886206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558256" cy="886206"/>
            </a:xfrm>
            <a:custGeom>
              <a:avLst/>
              <a:gdLst/>
              <a:ahLst/>
              <a:cxnLst/>
              <a:rect r="r" b="b" t="t" l="l"/>
              <a:pathLst>
                <a:path h="886206" w="2558256">
                  <a:moveTo>
                    <a:pt x="0" y="0"/>
                  </a:moveTo>
                  <a:lnTo>
                    <a:pt x="2558256" y="0"/>
                  </a:lnTo>
                  <a:lnTo>
                    <a:pt x="2558256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876" r="0" b="16379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0"/>
              <a:ext cx="2558250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b="true" sz="1725">
                  <a:solidFill>
                    <a:srgbClr val="7C3DFE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+0.181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8170126" y="6851814"/>
            <a:ext cx="9007373" cy="883682"/>
            <a:chOff x="0" y="0"/>
            <a:chExt cx="12009831" cy="1178242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12009882" cy="1178179"/>
            </a:xfrm>
            <a:custGeom>
              <a:avLst/>
              <a:gdLst/>
              <a:ahLst/>
              <a:cxnLst/>
              <a:rect r="r" b="b" t="t" l="l"/>
              <a:pathLst>
                <a:path h="1178179" w="12009882">
                  <a:moveTo>
                    <a:pt x="0" y="167259"/>
                  </a:moveTo>
                  <a:cubicBezTo>
                    <a:pt x="0" y="74930"/>
                    <a:pt x="74930" y="0"/>
                    <a:pt x="167259" y="0"/>
                  </a:cubicBezTo>
                  <a:lnTo>
                    <a:pt x="11842623" y="0"/>
                  </a:lnTo>
                  <a:cubicBezTo>
                    <a:pt x="11934952" y="0"/>
                    <a:pt x="12009882" y="74930"/>
                    <a:pt x="12009882" y="167259"/>
                  </a:cubicBezTo>
                  <a:lnTo>
                    <a:pt x="12009882" y="1010920"/>
                  </a:lnTo>
                  <a:cubicBezTo>
                    <a:pt x="12009882" y="1103249"/>
                    <a:pt x="11934952" y="1178179"/>
                    <a:pt x="11842623" y="1178179"/>
                  </a:cubicBezTo>
                  <a:lnTo>
                    <a:pt x="167259" y="1178179"/>
                  </a:lnTo>
                  <a:cubicBezTo>
                    <a:pt x="74930" y="1178306"/>
                    <a:pt x="0" y="1103376"/>
                    <a:pt x="0" y="1010920"/>
                  </a:cubicBezTo>
                  <a:close/>
                </a:path>
              </a:pathLst>
            </a:custGeom>
            <a:solidFill>
              <a:srgbClr val="F7EEF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TextBox 121" id="121"/>
          <p:cNvSpPr txBox="true"/>
          <p:nvPr/>
        </p:nvSpPr>
        <p:spPr>
          <a:xfrm rot="0">
            <a:off x="8460200" y="7169829"/>
            <a:ext cx="1035348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-16">
                <a:solidFill>
                  <a:srgbClr val="7619C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평균 노이즈</a:t>
            </a:r>
          </a:p>
        </p:txBody>
      </p:sp>
      <p:sp>
        <p:nvSpPr>
          <p:cNvPr name="TextBox 122" id="122"/>
          <p:cNvSpPr txBox="true"/>
          <p:nvPr/>
        </p:nvSpPr>
        <p:spPr>
          <a:xfrm rot="0">
            <a:off x="11246625" y="7007904"/>
            <a:ext cx="268659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b="true" sz="3900" spc="-78">
                <a:solidFill>
                  <a:srgbClr val="7C3DF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4.83 → 0.83</a:t>
            </a:r>
          </a:p>
        </p:txBody>
      </p:sp>
      <p:grpSp>
        <p:nvGrpSpPr>
          <p:cNvPr name="Group 123" id="123"/>
          <p:cNvGrpSpPr/>
          <p:nvPr/>
        </p:nvGrpSpPr>
        <p:grpSpPr>
          <a:xfrm rot="0">
            <a:off x="15684103" y="7040409"/>
            <a:ext cx="1228725" cy="506492"/>
            <a:chOff x="0" y="0"/>
            <a:chExt cx="1638300" cy="67532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1638300" cy="675386"/>
            </a:xfrm>
            <a:custGeom>
              <a:avLst/>
              <a:gdLst/>
              <a:ahLst/>
              <a:cxnLst/>
              <a:rect r="r" b="b" t="t" l="l"/>
              <a:pathLst>
                <a:path h="675386" w="1638300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lnTo>
                    <a:pt x="1524000" y="0"/>
                  </a:lnTo>
                  <a:cubicBezTo>
                    <a:pt x="1587119" y="0"/>
                    <a:pt x="1638300" y="51181"/>
                    <a:pt x="1638300" y="114300"/>
                  </a:cubicBezTo>
                  <a:lnTo>
                    <a:pt x="1638300" y="561086"/>
                  </a:lnTo>
                  <a:cubicBezTo>
                    <a:pt x="1638300" y="624205"/>
                    <a:pt x="1587119" y="675386"/>
                    <a:pt x="1524000" y="675386"/>
                  </a:cubicBezTo>
                  <a:lnTo>
                    <a:pt x="114300" y="675386"/>
                  </a:lnTo>
                  <a:cubicBezTo>
                    <a:pt x="51181" y="675386"/>
                    <a:pt x="0" y="624205"/>
                    <a:pt x="0" y="561086"/>
                  </a:cubicBezTo>
                  <a:close/>
                </a:path>
              </a:pathLst>
            </a:custGeom>
            <a:solidFill>
              <a:srgbClr val="7619C0"/>
            </a:solidFill>
          </p:spPr>
        </p:sp>
      </p:grpSp>
      <p:sp>
        <p:nvSpPr>
          <p:cNvPr name="TextBox 125" id="125"/>
          <p:cNvSpPr txBox="true"/>
          <p:nvPr/>
        </p:nvSpPr>
        <p:spPr>
          <a:xfrm rot="0">
            <a:off x="15861906" y="7146017"/>
            <a:ext cx="949328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▼ 5.8×</a:t>
            </a:r>
          </a:p>
        </p:txBody>
      </p:sp>
      <p:sp>
        <p:nvSpPr>
          <p:cNvPr name="TextBox 126" id="126"/>
          <p:cNvSpPr txBox="true"/>
          <p:nvPr/>
        </p:nvSpPr>
        <p:spPr>
          <a:xfrm rot="0">
            <a:off x="8201244" y="8002195"/>
            <a:ext cx="897054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275" spc="12">
                <a:solidFill>
                  <a:srgbClr val="9CA3AF"/>
                </a:solidFill>
                <a:latin typeface="Noto Sans Kr"/>
                <a:ea typeface="Noto Sans Kr"/>
                <a:cs typeface="Noto Sans Kr"/>
                <a:sym typeface="Noto Sans Kr"/>
              </a:rPr>
              <a:t>측정 : 6종 페르소나 코퍼스 · 7개 발화(업무 6 + 잡담 1) · BGE-M3 768차원 </a:t>
            </a:r>
          </a:p>
          <a:p>
            <a:pPr algn="l">
              <a:lnSpc>
                <a:spcPts val="2295"/>
              </a:lnSpc>
            </a:pPr>
            <a:r>
              <a:rPr lang="en-US" sz="1275" spc="12">
                <a:solidFill>
                  <a:srgbClr val="9CA3A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 : 라이브(실 GCS+Modal) ≡ 오프라인 골든 소수점까지 일치 · recall 0.32s/발화 · 골든 스냅샷 CI 회귀 10건 통과</a:t>
            </a:r>
          </a:p>
        </p:txBody>
      </p:sp>
      <p:sp>
        <p:nvSpPr>
          <p:cNvPr name="TextBox 127" id="127"/>
          <p:cNvSpPr txBox="true"/>
          <p:nvPr/>
        </p:nvSpPr>
        <p:spPr>
          <a:xfrm rot="0">
            <a:off x="780993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7619C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128" id="128"/>
          <p:cNvSpPr txBox="true"/>
          <p:nvPr/>
        </p:nvSpPr>
        <p:spPr>
          <a:xfrm rot="0">
            <a:off x="10337471" y="511178"/>
            <a:ext cx="718852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REQ-005 · 이가원</a:t>
            </a:r>
          </a:p>
        </p:txBody>
      </p:sp>
      <p:sp>
        <p:nvSpPr>
          <p:cNvPr name="TextBox 129" id="129"/>
          <p:cNvSpPr txBox="true"/>
          <p:nvPr/>
        </p:nvSpPr>
        <p:spPr>
          <a:xfrm rot="0">
            <a:off x="2180911" y="511178"/>
            <a:ext cx="3641408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7619C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⑥</a:t>
            </a:r>
            <a:r>
              <a:rPr lang="en-US" b="true" sz="1650" spc="198">
                <a:solidFill>
                  <a:srgbClr val="FBBF2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Personalization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787403" y="1111253"/>
            <a:ext cx="13103803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GCS 개인화 RAG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— 노이즈 5.8배 절감</a:t>
            </a:r>
          </a:p>
        </p:txBody>
      </p:sp>
      <p:sp>
        <p:nvSpPr>
          <p:cNvPr name="TextBox 131" id="131"/>
          <p:cNvSpPr txBox="true"/>
          <p:nvPr/>
        </p:nvSpPr>
        <p:spPr>
          <a:xfrm rot="0">
            <a:off x="787403" y="1726568"/>
            <a:ext cx="9163464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쌓인 패턴을 통째로 넘기던 방식 →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발화와 관련된 것만 골라 주입</a:t>
            </a:r>
          </a:p>
        </p:txBody>
      </p:sp>
      <p:sp>
        <p:nvSpPr>
          <p:cNvPr name="TextBox 132" id="132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133" id="133"/>
          <p:cNvSpPr txBox="true"/>
          <p:nvPr/>
        </p:nvSpPr>
        <p:spPr>
          <a:xfrm rot="0">
            <a:off x="2127418" y="9608820"/>
            <a:ext cx="325484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⑥ Personalization</a:t>
            </a:r>
          </a:p>
        </p:txBody>
      </p:sp>
      <p:sp>
        <p:nvSpPr>
          <p:cNvPr name="TextBox 134" id="134"/>
          <p:cNvSpPr txBox="true"/>
          <p:nvPr/>
        </p:nvSpPr>
        <p:spPr>
          <a:xfrm rot="0">
            <a:off x="10313620" y="9608820"/>
            <a:ext cx="719338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Personalization</a:t>
            </a:r>
          </a:p>
        </p:txBody>
      </p:sp>
      <p:grpSp>
        <p:nvGrpSpPr>
          <p:cNvPr name="Group 135" id="135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sp>
        <p:nvSpPr>
          <p:cNvPr name="TextBox 137" id="137"/>
          <p:cNvSpPr txBox="true"/>
          <p:nvPr/>
        </p:nvSpPr>
        <p:spPr>
          <a:xfrm rot="0">
            <a:off x="77216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33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80993" y="2317071"/>
            <a:ext cx="16726014" cy="9525"/>
            <a:chOff x="0" y="0"/>
            <a:chExt cx="22301352" cy="127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301327" cy="12700"/>
            </a:xfrm>
            <a:custGeom>
              <a:avLst/>
              <a:gdLst/>
              <a:ahLst/>
              <a:cxnLst/>
              <a:rect r="r" b="b" t="t" l="l"/>
              <a:pathLst>
                <a:path h="12700" w="22301327">
                  <a:moveTo>
                    <a:pt x="0" y="0"/>
                  </a:moveTo>
                  <a:lnTo>
                    <a:pt x="22301327" y="0"/>
                  </a:lnTo>
                  <a:lnTo>
                    <a:pt x="22301327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BDEE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75278" y="2568359"/>
            <a:ext cx="8708946" cy="6461341"/>
            <a:chOff x="0" y="0"/>
            <a:chExt cx="11611928" cy="861512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611864" cy="8615097"/>
            </a:xfrm>
            <a:custGeom>
              <a:avLst/>
              <a:gdLst/>
              <a:ahLst/>
              <a:cxnLst/>
              <a:rect r="r" b="b" t="t" l="l"/>
              <a:pathLst>
                <a:path h="8615097" w="11611864">
                  <a:moveTo>
                    <a:pt x="0" y="193796"/>
                  </a:moveTo>
                  <a:cubicBezTo>
                    <a:pt x="0" y="86736"/>
                    <a:pt x="91059" y="0"/>
                    <a:pt x="203454" y="0"/>
                  </a:cubicBezTo>
                  <a:lnTo>
                    <a:pt x="11408410" y="0"/>
                  </a:lnTo>
                  <a:cubicBezTo>
                    <a:pt x="11520805" y="0"/>
                    <a:pt x="11611864" y="86736"/>
                    <a:pt x="11611864" y="193796"/>
                  </a:cubicBezTo>
                  <a:lnTo>
                    <a:pt x="11611864" y="8421301"/>
                  </a:lnTo>
                  <a:cubicBezTo>
                    <a:pt x="11611864" y="8528360"/>
                    <a:pt x="11520805" y="8615097"/>
                    <a:pt x="11408410" y="8615097"/>
                  </a:cubicBezTo>
                  <a:lnTo>
                    <a:pt x="203454" y="8615097"/>
                  </a:lnTo>
                  <a:cubicBezTo>
                    <a:pt x="91059" y="8615097"/>
                    <a:pt x="0" y="8528360"/>
                    <a:pt x="0" y="8421301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7E9EE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097099" y="4349848"/>
            <a:ext cx="2597106" cy="11430"/>
            <a:chOff x="0" y="0"/>
            <a:chExt cx="3462807" cy="152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462782" cy="15240"/>
            </a:xfrm>
            <a:custGeom>
              <a:avLst/>
              <a:gdLst/>
              <a:ahLst/>
              <a:cxnLst/>
              <a:rect r="r" b="b" t="t" l="l"/>
              <a:pathLst>
                <a:path h="15240" w="3462782">
                  <a:moveTo>
                    <a:pt x="0" y="0"/>
                  </a:moveTo>
                  <a:lnTo>
                    <a:pt x="3462782" y="0"/>
                  </a:lnTo>
                  <a:lnTo>
                    <a:pt x="3462782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DBDEE5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49499" y="3809648"/>
            <a:ext cx="1185110" cy="518922"/>
            <a:chOff x="0" y="0"/>
            <a:chExt cx="1580147" cy="6918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80151" cy="691896"/>
            </a:xfrm>
            <a:custGeom>
              <a:avLst/>
              <a:gdLst/>
              <a:ahLst/>
              <a:cxnLst/>
              <a:rect r="r" b="b" t="t" l="l"/>
              <a:pathLst>
                <a:path h="691896" w="1580151">
                  <a:moveTo>
                    <a:pt x="0" y="0"/>
                  </a:moveTo>
                  <a:lnTo>
                    <a:pt x="1580151" y="0"/>
                  </a:lnTo>
                  <a:lnTo>
                    <a:pt x="1580151" y="691896"/>
                  </a:lnTo>
                  <a:lnTo>
                    <a:pt x="0" y="691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774" r="-99999" b="-1522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580147" cy="701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54">
                  <a:solidFill>
                    <a:srgbClr val="9CA3A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MIN_SCORE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694214" y="4349848"/>
            <a:ext cx="1688249" cy="11430"/>
            <a:chOff x="0" y="0"/>
            <a:chExt cx="2250999" cy="152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50948" cy="15240"/>
            </a:xfrm>
            <a:custGeom>
              <a:avLst/>
              <a:gdLst/>
              <a:ahLst/>
              <a:cxnLst/>
              <a:rect r="r" b="b" t="t" l="l"/>
              <a:pathLst>
                <a:path h="15240" w="2250948">
                  <a:moveTo>
                    <a:pt x="0" y="0"/>
                  </a:moveTo>
                  <a:lnTo>
                    <a:pt x="2250948" y="0"/>
                  </a:lnTo>
                  <a:lnTo>
                    <a:pt x="225094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DBDEE5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3808514" y="3809648"/>
            <a:ext cx="1459649" cy="518922"/>
            <a:chOff x="0" y="0"/>
            <a:chExt cx="1946199" cy="69189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946196" cy="691896"/>
            </a:xfrm>
            <a:custGeom>
              <a:avLst/>
              <a:gdLst/>
              <a:ahLst/>
              <a:cxnLst/>
              <a:rect r="r" b="b" t="t" l="l"/>
              <a:pathLst>
                <a:path h="691896" w="1946196">
                  <a:moveTo>
                    <a:pt x="0" y="0"/>
                  </a:moveTo>
                  <a:lnTo>
                    <a:pt x="1946196" y="0"/>
                  </a:lnTo>
                  <a:lnTo>
                    <a:pt x="1946196" y="691896"/>
                  </a:lnTo>
                  <a:lnTo>
                    <a:pt x="0" y="691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583" r="0" b="1896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1946199" cy="701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b="true" sz="1350" spc="54">
                  <a:solidFill>
                    <a:srgbClr val="9CA3A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HIT율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5382454" y="4349848"/>
            <a:ext cx="1523409" cy="11430"/>
            <a:chOff x="0" y="0"/>
            <a:chExt cx="2031213" cy="152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031238" cy="15240"/>
            </a:xfrm>
            <a:custGeom>
              <a:avLst/>
              <a:gdLst/>
              <a:ahLst/>
              <a:cxnLst/>
              <a:rect r="r" b="b" t="t" l="l"/>
              <a:pathLst>
                <a:path h="15240" w="2031238">
                  <a:moveTo>
                    <a:pt x="0" y="0"/>
                  </a:moveTo>
                  <a:lnTo>
                    <a:pt x="2031238" y="0"/>
                  </a:lnTo>
                  <a:lnTo>
                    <a:pt x="203123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DBDEE5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5496754" y="3809648"/>
            <a:ext cx="1294809" cy="518922"/>
            <a:chOff x="0" y="0"/>
            <a:chExt cx="1726413" cy="69189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6407" cy="691896"/>
            </a:xfrm>
            <a:custGeom>
              <a:avLst/>
              <a:gdLst/>
              <a:ahLst/>
              <a:cxnLst/>
              <a:rect r="r" b="b" t="t" l="l"/>
              <a:pathLst>
                <a:path h="691896" w="1726407">
                  <a:moveTo>
                    <a:pt x="0" y="0"/>
                  </a:moveTo>
                  <a:lnTo>
                    <a:pt x="1726407" y="0"/>
                  </a:lnTo>
                  <a:lnTo>
                    <a:pt x="1726407" y="691896"/>
                  </a:lnTo>
                  <a:lnTo>
                    <a:pt x="0" y="691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393" r="0" b="25155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1726413" cy="701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b="true" sz="1350" spc="54">
                  <a:solidFill>
                    <a:srgbClr val="9CA3A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노이즈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905863" y="4349848"/>
            <a:ext cx="2256530" cy="11430"/>
            <a:chOff x="0" y="0"/>
            <a:chExt cx="3008706" cy="152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008757" cy="15240"/>
            </a:xfrm>
            <a:custGeom>
              <a:avLst/>
              <a:gdLst/>
              <a:ahLst/>
              <a:cxnLst/>
              <a:rect r="r" b="b" t="t" l="l"/>
              <a:pathLst>
                <a:path h="15240" w="3008757">
                  <a:moveTo>
                    <a:pt x="0" y="0"/>
                  </a:moveTo>
                  <a:lnTo>
                    <a:pt x="3008757" y="0"/>
                  </a:lnTo>
                  <a:lnTo>
                    <a:pt x="300875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DBDEE5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7020163" y="3809648"/>
            <a:ext cx="2027930" cy="518922"/>
            <a:chOff x="0" y="0"/>
            <a:chExt cx="2703906" cy="69189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703909" cy="691896"/>
            </a:xfrm>
            <a:custGeom>
              <a:avLst/>
              <a:gdLst/>
              <a:ahLst/>
              <a:cxnLst/>
              <a:rect r="r" b="b" t="t" l="l"/>
              <a:pathLst>
                <a:path h="691896" w="2703909">
                  <a:moveTo>
                    <a:pt x="0" y="0"/>
                  </a:moveTo>
                  <a:lnTo>
                    <a:pt x="2703909" y="0"/>
                  </a:lnTo>
                  <a:lnTo>
                    <a:pt x="2703909" y="691896"/>
                  </a:lnTo>
                  <a:lnTo>
                    <a:pt x="0" y="691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21" r="0" b="-2372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2703906" cy="701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b="true" sz="1350" spc="54">
                  <a:solidFill>
                    <a:srgbClr val="9CA3AF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잡담 게이트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97099" y="4926835"/>
            <a:ext cx="2597106" cy="11430"/>
            <a:chOff x="0" y="0"/>
            <a:chExt cx="3462807" cy="152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462782" cy="15240"/>
            </a:xfrm>
            <a:custGeom>
              <a:avLst/>
              <a:gdLst/>
              <a:ahLst/>
              <a:cxnLst/>
              <a:rect r="r" b="b" t="t" l="l"/>
              <a:pathLst>
                <a:path h="15240" w="3462782">
                  <a:moveTo>
                    <a:pt x="0" y="0"/>
                  </a:moveTo>
                  <a:lnTo>
                    <a:pt x="3462782" y="0"/>
                  </a:lnTo>
                  <a:lnTo>
                    <a:pt x="3462782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49499" y="4328570"/>
            <a:ext cx="417538" cy="664654"/>
            <a:chOff x="0" y="0"/>
            <a:chExt cx="556717" cy="88620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56721" cy="886206"/>
            </a:xfrm>
            <a:custGeom>
              <a:avLst/>
              <a:gdLst/>
              <a:ahLst/>
              <a:cxnLst/>
              <a:rect r="r" b="b" t="t" l="l"/>
              <a:pathLst>
                <a:path h="886206" w="556721">
                  <a:moveTo>
                    <a:pt x="0" y="0"/>
                  </a:moveTo>
                  <a:lnTo>
                    <a:pt x="556721" y="0"/>
                  </a:lnTo>
                  <a:lnTo>
                    <a:pt x="556721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561" r="-467661" b="359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556717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1E2A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0.3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3694214" y="4947790"/>
            <a:ext cx="1688249" cy="11430"/>
            <a:chOff x="0" y="0"/>
            <a:chExt cx="2250999" cy="15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50948" cy="15240"/>
            </a:xfrm>
            <a:custGeom>
              <a:avLst/>
              <a:gdLst/>
              <a:ahLst/>
              <a:cxnLst/>
              <a:rect r="r" b="b" t="t" l="l"/>
              <a:pathLst>
                <a:path h="15240" w="2250948">
                  <a:moveTo>
                    <a:pt x="0" y="0"/>
                  </a:moveTo>
                  <a:lnTo>
                    <a:pt x="2250948" y="0"/>
                  </a:lnTo>
                  <a:lnTo>
                    <a:pt x="225094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3808514" y="4308758"/>
            <a:ext cx="1459649" cy="664654"/>
            <a:chOff x="0" y="0"/>
            <a:chExt cx="1946199" cy="88620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946196" cy="886206"/>
            </a:xfrm>
            <a:custGeom>
              <a:avLst/>
              <a:gdLst/>
              <a:ahLst/>
              <a:cxnLst/>
              <a:rect r="r" b="b" t="t" l="l"/>
              <a:pathLst>
                <a:path h="886206" w="1946196">
                  <a:moveTo>
                    <a:pt x="0" y="0"/>
                  </a:moveTo>
                  <a:lnTo>
                    <a:pt x="1946196" y="0"/>
                  </a:lnTo>
                  <a:lnTo>
                    <a:pt x="1946196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67" r="0" b="30284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1946199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1E2A3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100%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5382454" y="4947790"/>
            <a:ext cx="1523409" cy="11430"/>
            <a:chOff x="0" y="0"/>
            <a:chExt cx="2031213" cy="152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031238" cy="15240"/>
            </a:xfrm>
            <a:custGeom>
              <a:avLst/>
              <a:gdLst/>
              <a:ahLst/>
              <a:cxnLst/>
              <a:rect r="r" b="b" t="t" l="l"/>
              <a:pathLst>
                <a:path h="15240" w="2031238">
                  <a:moveTo>
                    <a:pt x="0" y="0"/>
                  </a:moveTo>
                  <a:lnTo>
                    <a:pt x="2031238" y="0"/>
                  </a:lnTo>
                  <a:lnTo>
                    <a:pt x="203123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5496754" y="4349848"/>
            <a:ext cx="1294809" cy="664654"/>
            <a:chOff x="0" y="0"/>
            <a:chExt cx="1726413" cy="88620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726407" cy="886206"/>
            </a:xfrm>
            <a:custGeom>
              <a:avLst/>
              <a:gdLst/>
              <a:ahLst/>
              <a:cxnLst/>
              <a:rect r="r" b="b" t="t" l="l"/>
              <a:pathLst>
                <a:path h="886206" w="1726407">
                  <a:moveTo>
                    <a:pt x="0" y="0"/>
                  </a:moveTo>
                  <a:lnTo>
                    <a:pt x="1726407" y="0"/>
                  </a:lnTo>
                  <a:lnTo>
                    <a:pt x="1726407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34" r="0" b="35117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1726413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1E2A3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1.83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905863" y="4947790"/>
            <a:ext cx="2256530" cy="11430"/>
            <a:chOff x="0" y="0"/>
            <a:chExt cx="3008706" cy="152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008757" cy="15240"/>
            </a:xfrm>
            <a:custGeom>
              <a:avLst/>
              <a:gdLst/>
              <a:ahLst/>
              <a:cxnLst/>
              <a:rect r="r" b="b" t="t" l="l"/>
              <a:pathLst>
                <a:path h="15240" w="3008757">
                  <a:moveTo>
                    <a:pt x="0" y="0"/>
                  </a:moveTo>
                  <a:lnTo>
                    <a:pt x="3008757" y="0"/>
                  </a:lnTo>
                  <a:lnTo>
                    <a:pt x="300875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7020163" y="4325107"/>
            <a:ext cx="2027930" cy="664654"/>
            <a:chOff x="0" y="0"/>
            <a:chExt cx="2703906" cy="88620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703909" cy="886206"/>
            </a:xfrm>
            <a:custGeom>
              <a:avLst/>
              <a:gdLst/>
              <a:ahLst/>
              <a:cxnLst/>
              <a:rect r="r" b="b" t="t" l="l"/>
              <a:pathLst>
                <a:path h="886206" w="2703909">
                  <a:moveTo>
                    <a:pt x="0" y="0"/>
                  </a:moveTo>
                  <a:lnTo>
                    <a:pt x="2703909" y="0"/>
                  </a:lnTo>
                  <a:lnTo>
                    <a:pt x="2703909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26" r="0" b="13625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2703906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DE4343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❌ </a:t>
              </a:r>
              <a:r>
                <a:rPr lang="en-US" sz="1725" b="true">
                  <a:solidFill>
                    <a:srgbClr val="F8717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뚫림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097099" y="5545722"/>
            <a:ext cx="2597106" cy="11430"/>
            <a:chOff x="0" y="0"/>
            <a:chExt cx="3462807" cy="152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462782" cy="15240"/>
            </a:xfrm>
            <a:custGeom>
              <a:avLst/>
              <a:gdLst/>
              <a:ahLst/>
              <a:cxnLst/>
              <a:rect r="r" b="b" t="t" l="l"/>
              <a:pathLst>
                <a:path h="15240" w="3462782">
                  <a:moveTo>
                    <a:pt x="0" y="0"/>
                  </a:moveTo>
                  <a:lnTo>
                    <a:pt x="3462782" y="0"/>
                  </a:lnTo>
                  <a:lnTo>
                    <a:pt x="3462782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249499" y="4846606"/>
            <a:ext cx="711165" cy="805796"/>
            <a:chOff x="0" y="0"/>
            <a:chExt cx="948220" cy="1074395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948224" cy="1074395"/>
            </a:xfrm>
            <a:custGeom>
              <a:avLst/>
              <a:gdLst/>
              <a:ahLst/>
              <a:cxnLst/>
              <a:rect r="r" b="b" t="t" l="l"/>
              <a:pathLst>
                <a:path h="1074395" w="948224">
                  <a:moveTo>
                    <a:pt x="0" y="0"/>
                  </a:moveTo>
                  <a:lnTo>
                    <a:pt x="948224" y="0"/>
                  </a:lnTo>
                  <a:lnTo>
                    <a:pt x="948224" y="1074395"/>
                  </a:lnTo>
                  <a:lnTo>
                    <a:pt x="0" y="10743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106" r="-233285" b="20477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948220" cy="10743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1E2A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0.4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3694214" y="5545722"/>
            <a:ext cx="1688249" cy="11430"/>
            <a:chOff x="0" y="0"/>
            <a:chExt cx="2250999" cy="152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250948" cy="15240"/>
            </a:xfrm>
            <a:custGeom>
              <a:avLst/>
              <a:gdLst/>
              <a:ahLst/>
              <a:cxnLst/>
              <a:rect r="r" b="b" t="t" l="l"/>
              <a:pathLst>
                <a:path h="15240" w="2250948">
                  <a:moveTo>
                    <a:pt x="0" y="0"/>
                  </a:moveTo>
                  <a:lnTo>
                    <a:pt x="2250948" y="0"/>
                  </a:lnTo>
                  <a:lnTo>
                    <a:pt x="225094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3827983" y="4926835"/>
            <a:ext cx="1459649" cy="664654"/>
            <a:chOff x="0" y="0"/>
            <a:chExt cx="1946199" cy="88620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946196" cy="886206"/>
            </a:xfrm>
            <a:custGeom>
              <a:avLst/>
              <a:gdLst/>
              <a:ahLst/>
              <a:cxnLst/>
              <a:rect r="r" b="b" t="t" l="l"/>
              <a:pathLst>
                <a:path h="886206" w="1946196">
                  <a:moveTo>
                    <a:pt x="0" y="0"/>
                  </a:moveTo>
                  <a:lnTo>
                    <a:pt x="1946196" y="0"/>
                  </a:lnTo>
                  <a:lnTo>
                    <a:pt x="1946196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67" r="0" b="30284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1946199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1E2A3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100%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5382454" y="5545722"/>
            <a:ext cx="1523409" cy="11430"/>
            <a:chOff x="0" y="0"/>
            <a:chExt cx="2031213" cy="152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031238" cy="15240"/>
            </a:xfrm>
            <a:custGeom>
              <a:avLst/>
              <a:gdLst/>
              <a:ahLst/>
              <a:cxnLst/>
              <a:rect r="r" b="b" t="t" l="l"/>
              <a:pathLst>
                <a:path h="15240" w="2031238">
                  <a:moveTo>
                    <a:pt x="0" y="0"/>
                  </a:moveTo>
                  <a:lnTo>
                    <a:pt x="2031238" y="0"/>
                  </a:lnTo>
                  <a:lnTo>
                    <a:pt x="203123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5496754" y="4959220"/>
            <a:ext cx="1294809" cy="664654"/>
            <a:chOff x="0" y="0"/>
            <a:chExt cx="1726413" cy="88620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726407" cy="886206"/>
            </a:xfrm>
            <a:custGeom>
              <a:avLst/>
              <a:gdLst/>
              <a:ahLst/>
              <a:cxnLst/>
              <a:rect r="r" b="b" t="t" l="l"/>
              <a:pathLst>
                <a:path h="886206" w="1726407">
                  <a:moveTo>
                    <a:pt x="0" y="0"/>
                  </a:moveTo>
                  <a:lnTo>
                    <a:pt x="1726407" y="0"/>
                  </a:lnTo>
                  <a:lnTo>
                    <a:pt x="1726407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34" r="0" b="35117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1726413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1E2A3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1.83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6905863" y="5545722"/>
            <a:ext cx="2256530" cy="11430"/>
            <a:chOff x="0" y="0"/>
            <a:chExt cx="3008706" cy="152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008757" cy="15240"/>
            </a:xfrm>
            <a:custGeom>
              <a:avLst/>
              <a:gdLst/>
              <a:ahLst/>
              <a:cxnLst/>
              <a:rect r="r" b="b" t="t" l="l"/>
              <a:pathLst>
                <a:path h="15240" w="3008757">
                  <a:moveTo>
                    <a:pt x="0" y="0"/>
                  </a:moveTo>
                  <a:lnTo>
                    <a:pt x="3008757" y="0"/>
                  </a:lnTo>
                  <a:lnTo>
                    <a:pt x="300875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7020163" y="4959220"/>
            <a:ext cx="2027930" cy="664654"/>
            <a:chOff x="0" y="0"/>
            <a:chExt cx="2703906" cy="886206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703909" cy="886206"/>
            </a:xfrm>
            <a:custGeom>
              <a:avLst/>
              <a:gdLst/>
              <a:ahLst/>
              <a:cxnLst/>
              <a:rect r="r" b="b" t="t" l="l"/>
              <a:pathLst>
                <a:path h="886206" w="2703909">
                  <a:moveTo>
                    <a:pt x="0" y="0"/>
                  </a:moveTo>
                  <a:lnTo>
                    <a:pt x="2703909" y="0"/>
                  </a:lnTo>
                  <a:lnTo>
                    <a:pt x="2703909" y="886206"/>
                  </a:lnTo>
                  <a:lnTo>
                    <a:pt x="0" y="886206"/>
                  </a:lnTo>
                  <a:close/>
                </a:path>
              </a:pathLst>
            </a:custGeom>
            <a:solidFill>
              <a:srgbClr val="0369A1">
                <a:alpha val="0"/>
              </a:srgbClr>
            </a:solid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2703906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0369A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✓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136056" y="5680977"/>
            <a:ext cx="2558158" cy="588965"/>
            <a:chOff x="0" y="0"/>
            <a:chExt cx="3462807" cy="7972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3462782" cy="797179"/>
            </a:xfrm>
            <a:custGeom>
              <a:avLst/>
              <a:gdLst/>
              <a:ahLst/>
              <a:cxnLst/>
              <a:rect r="r" b="b" t="t" l="l"/>
              <a:pathLst>
                <a:path h="797179" w="3462782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lnTo>
                    <a:pt x="3348482" y="0"/>
                  </a:lnTo>
                  <a:cubicBezTo>
                    <a:pt x="3411601" y="0"/>
                    <a:pt x="3462782" y="51181"/>
                    <a:pt x="3462782" y="114300"/>
                  </a:cubicBezTo>
                  <a:lnTo>
                    <a:pt x="3462782" y="682879"/>
                  </a:lnTo>
                  <a:cubicBezTo>
                    <a:pt x="3462782" y="745998"/>
                    <a:pt x="3411601" y="797179"/>
                    <a:pt x="3348482" y="797179"/>
                  </a:cubicBezTo>
                  <a:lnTo>
                    <a:pt x="114300" y="797179"/>
                  </a:lnTo>
                  <a:cubicBezTo>
                    <a:pt x="51181" y="797179"/>
                    <a:pt x="0" y="745998"/>
                    <a:pt x="0" y="682879"/>
                  </a:cubicBezTo>
                  <a:close/>
                </a:path>
              </a:pathLst>
            </a:custGeom>
            <a:solidFill>
              <a:srgbClr val="F7EEFF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249499" y="5647615"/>
            <a:ext cx="417538" cy="664654"/>
            <a:chOff x="0" y="0"/>
            <a:chExt cx="556717" cy="886206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556721" cy="886206"/>
            </a:xfrm>
            <a:custGeom>
              <a:avLst/>
              <a:gdLst/>
              <a:ahLst/>
              <a:cxnLst/>
              <a:rect r="r" b="b" t="t" l="l"/>
              <a:pathLst>
                <a:path h="886206" w="556721">
                  <a:moveTo>
                    <a:pt x="0" y="0"/>
                  </a:moveTo>
                  <a:lnTo>
                    <a:pt x="556721" y="0"/>
                  </a:lnTo>
                  <a:lnTo>
                    <a:pt x="556721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561" r="-467661" b="3590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0"/>
              <a:ext cx="556717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0369A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0.5     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3694214" y="5680977"/>
            <a:ext cx="1688249" cy="597932"/>
            <a:chOff x="0" y="0"/>
            <a:chExt cx="2250999" cy="797242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250948" cy="797306"/>
            </a:xfrm>
            <a:custGeom>
              <a:avLst/>
              <a:gdLst/>
              <a:ahLst/>
              <a:cxnLst/>
              <a:rect r="r" b="b" t="t" l="l"/>
              <a:pathLst>
                <a:path h="797306" w="2250948">
                  <a:moveTo>
                    <a:pt x="0" y="0"/>
                  </a:moveTo>
                  <a:lnTo>
                    <a:pt x="2250948" y="0"/>
                  </a:lnTo>
                  <a:lnTo>
                    <a:pt x="2250948" y="797306"/>
                  </a:lnTo>
                  <a:lnTo>
                    <a:pt x="0" y="797306"/>
                  </a:lnTo>
                  <a:close/>
                </a:path>
              </a:pathLst>
            </a:custGeom>
            <a:solidFill>
              <a:srgbClr val="F7EEFF"/>
            </a:solid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3808514" y="5618064"/>
            <a:ext cx="1459649" cy="664654"/>
            <a:chOff x="0" y="0"/>
            <a:chExt cx="1946199" cy="886206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1946196" cy="886206"/>
            </a:xfrm>
            <a:custGeom>
              <a:avLst/>
              <a:gdLst/>
              <a:ahLst/>
              <a:cxnLst/>
              <a:rect r="r" b="b" t="t" l="l"/>
              <a:pathLst>
                <a:path h="886206" w="1946196">
                  <a:moveTo>
                    <a:pt x="0" y="0"/>
                  </a:moveTo>
                  <a:lnTo>
                    <a:pt x="1946196" y="0"/>
                  </a:lnTo>
                  <a:lnTo>
                    <a:pt x="1946196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67" r="0" b="3028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0"/>
              <a:ext cx="1946199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1E2A3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100%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5382454" y="5680977"/>
            <a:ext cx="1523409" cy="597932"/>
            <a:chOff x="0" y="0"/>
            <a:chExt cx="2031213" cy="797242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2031238" cy="797306"/>
            </a:xfrm>
            <a:custGeom>
              <a:avLst/>
              <a:gdLst/>
              <a:ahLst/>
              <a:cxnLst/>
              <a:rect r="r" b="b" t="t" l="l"/>
              <a:pathLst>
                <a:path h="797306" w="2031238">
                  <a:moveTo>
                    <a:pt x="0" y="0"/>
                  </a:moveTo>
                  <a:lnTo>
                    <a:pt x="2031238" y="0"/>
                  </a:lnTo>
                  <a:lnTo>
                    <a:pt x="2031238" y="797306"/>
                  </a:lnTo>
                  <a:lnTo>
                    <a:pt x="0" y="797306"/>
                  </a:lnTo>
                  <a:close/>
                </a:path>
              </a:pathLst>
            </a:custGeom>
            <a:solidFill>
              <a:srgbClr val="F7EEFF"/>
            </a:solid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5496754" y="5633399"/>
            <a:ext cx="1294809" cy="664654"/>
            <a:chOff x="0" y="0"/>
            <a:chExt cx="1726413" cy="886206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726407" cy="886206"/>
            </a:xfrm>
            <a:custGeom>
              <a:avLst/>
              <a:gdLst/>
              <a:ahLst/>
              <a:cxnLst/>
              <a:rect r="r" b="b" t="t" l="l"/>
              <a:pathLst>
                <a:path h="886206" w="1726407">
                  <a:moveTo>
                    <a:pt x="0" y="0"/>
                  </a:moveTo>
                  <a:lnTo>
                    <a:pt x="1726407" y="0"/>
                  </a:lnTo>
                  <a:lnTo>
                    <a:pt x="1726407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34" r="0" b="35117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0"/>
              <a:ext cx="1726413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1E2A3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0.83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6905863" y="5680977"/>
            <a:ext cx="2256530" cy="597932"/>
            <a:chOff x="0" y="0"/>
            <a:chExt cx="3008706" cy="79724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008757" cy="797306"/>
            </a:xfrm>
            <a:custGeom>
              <a:avLst/>
              <a:gdLst/>
              <a:ahLst/>
              <a:cxnLst/>
              <a:rect r="r" b="b" t="t" l="l"/>
              <a:pathLst>
                <a:path h="797306" w="3008757">
                  <a:moveTo>
                    <a:pt x="0" y="0"/>
                  </a:moveTo>
                  <a:lnTo>
                    <a:pt x="3008757" y="0"/>
                  </a:lnTo>
                  <a:lnTo>
                    <a:pt x="3008757" y="797306"/>
                  </a:lnTo>
                  <a:lnTo>
                    <a:pt x="0" y="797306"/>
                  </a:lnTo>
                  <a:close/>
                </a:path>
              </a:pathLst>
            </a:custGeom>
            <a:solidFill>
              <a:srgbClr val="F7EEFF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7020163" y="5647615"/>
            <a:ext cx="2027930" cy="664654"/>
            <a:chOff x="0" y="0"/>
            <a:chExt cx="2703906" cy="886206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703909" cy="886206"/>
            </a:xfrm>
            <a:custGeom>
              <a:avLst/>
              <a:gdLst/>
              <a:ahLst/>
              <a:cxnLst/>
              <a:rect r="r" b="b" t="t" l="l"/>
              <a:pathLst>
                <a:path h="886206" w="2703909">
                  <a:moveTo>
                    <a:pt x="0" y="0"/>
                  </a:moveTo>
                  <a:lnTo>
                    <a:pt x="2703909" y="0"/>
                  </a:lnTo>
                  <a:lnTo>
                    <a:pt x="2703909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26" r="0" b="13625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0"/>
              <a:ext cx="2703906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0369A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✓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097099" y="6941658"/>
            <a:ext cx="2597106" cy="11430"/>
            <a:chOff x="0" y="0"/>
            <a:chExt cx="3462807" cy="1524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462782" cy="15240"/>
            </a:xfrm>
            <a:custGeom>
              <a:avLst/>
              <a:gdLst/>
              <a:ahLst/>
              <a:cxnLst/>
              <a:rect r="r" b="b" t="t" l="l"/>
              <a:pathLst>
                <a:path h="15240" w="3462782">
                  <a:moveTo>
                    <a:pt x="0" y="0"/>
                  </a:moveTo>
                  <a:lnTo>
                    <a:pt x="3462782" y="0"/>
                  </a:lnTo>
                  <a:lnTo>
                    <a:pt x="3462782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1249499" y="6288434"/>
            <a:ext cx="417538" cy="664654"/>
            <a:chOff x="0" y="0"/>
            <a:chExt cx="556717" cy="886206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556721" cy="886206"/>
            </a:xfrm>
            <a:custGeom>
              <a:avLst/>
              <a:gdLst/>
              <a:ahLst/>
              <a:cxnLst/>
              <a:rect r="r" b="b" t="t" l="l"/>
              <a:pathLst>
                <a:path h="886206" w="556721">
                  <a:moveTo>
                    <a:pt x="0" y="0"/>
                  </a:moveTo>
                  <a:lnTo>
                    <a:pt x="556721" y="0"/>
                  </a:lnTo>
                  <a:lnTo>
                    <a:pt x="556721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561" r="-467661" b="359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0"/>
              <a:ext cx="556717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1E2A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0.6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3694214" y="6935943"/>
            <a:ext cx="1688249" cy="11430"/>
            <a:chOff x="0" y="0"/>
            <a:chExt cx="2250999" cy="1524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250948" cy="15240"/>
            </a:xfrm>
            <a:custGeom>
              <a:avLst/>
              <a:gdLst/>
              <a:ahLst/>
              <a:cxnLst/>
              <a:rect r="r" b="b" t="t" l="l"/>
              <a:pathLst>
                <a:path h="15240" w="2250948">
                  <a:moveTo>
                    <a:pt x="0" y="0"/>
                  </a:moveTo>
                  <a:lnTo>
                    <a:pt x="2250948" y="0"/>
                  </a:lnTo>
                  <a:lnTo>
                    <a:pt x="225094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3808514" y="6288434"/>
            <a:ext cx="1459649" cy="664654"/>
            <a:chOff x="0" y="0"/>
            <a:chExt cx="1946199" cy="886206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1946196" cy="886206"/>
            </a:xfrm>
            <a:custGeom>
              <a:avLst/>
              <a:gdLst/>
              <a:ahLst/>
              <a:cxnLst/>
              <a:rect r="r" b="b" t="t" l="l"/>
              <a:pathLst>
                <a:path h="886206" w="1946196">
                  <a:moveTo>
                    <a:pt x="0" y="0"/>
                  </a:moveTo>
                  <a:lnTo>
                    <a:pt x="1946196" y="0"/>
                  </a:lnTo>
                  <a:lnTo>
                    <a:pt x="1946196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67" r="0" b="30284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0"/>
              <a:ext cx="1946199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50%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5382454" y="6933371"/>
            <a:ext cx="1523409" cy="11430"/>
            <a:chOff x="0" y="0"/>
            <a:chExt cx="2031213" cy="1524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031238" cy="15240"/>
            </a:xfrm>
            <a:custGeom>
              <a:avLst/>
              <a:gdLst/>
              <a:ahLst/>
              <a:cxnLst/>
              <a:rect r="r" b="b" t="t" l="l"/>
              <a:pathLst>
                <a:path h="15240" w="2031238">
                  <a:moveTo>
                    <a:pt x="0" y="0"/>
                  </a:moveTo>
                  <a:lnTo>
                    <a:pt x="2031238" y="0"/>
                  </a:lnTo>
                  <a:lnTo>
                    <a:pt x="203123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98" id="98"/>
          <p:cNvGrpSpPr/>
          <p:nvPr/>
        </p:nvGrpSpPr>
        <p:grpSpPr>
          <a:xfrm rot="0">
            <a:off x="5496754" y="6288434"/>
            <a:ext cx="1294809" cy="664654"/>
            <a:chOff x="0" y="0"/>
            <a:chExt cx="1726413" cy="886206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726407" cy="886206"/>
            </a:xfrm>
            <a:custGeom>
              <a:avLst/>
              <a:gdLst/>
              <a:ahLst/>
              <a:cxnLst/>
              <a:rect r="r" b="b" t="t" l="l"/>
              <a:pathLst>
                <a:path h="886206" w="1726407">
                  <a:moveTo>
                    <a:pt x="0" y="0"/>
                  </a:moveTo>
                  <a:lnTo>
                    <a:pt x="1726407" y="0"/>
                  </a:lnTo>
                  <a:lnTo>
                    <a:pt x="1726407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34" r="0" b="35117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0"/>
              <a:ext cx="1726413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1E2A3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0.17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6905863" y="6931395"/>
            <a:ext cx="2256530" cy="11430"/>
            <a:chOff x="0" y="0"/>
            <a:chExt cx="3008706" cy="152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008757" cy="15240"/>
            </a:xfrm>
            <a:custGeom>
              <a:avLst/>
              <a:gdLst/>
              <a:ahLst/>
              <a:cxnLst/>
              <a:rect r="r" b="b" t="t" l="l"/>
              <a:pathLst>
                <a:path h="15240" w="3008757">
                  <a:moveTo>
                    <a:pt x="0" y="0"/>
                  </a:moveTo>
                  <a:lnTo>
                    <a:pt x="3008757" y="0"/>
                  </a:lnTo>
                  <a:lnTo>
                    <a:pt x="300875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7020163" y="6288434"/>
            <a:ext cx="2027930" cy="664654"/>
            <a:chOff x="0" y="0"/>
            <a:chExt cx="2703906" cy="886206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2703909" cy="886206"/>
            </a:xfrm>
            <a:custGeom>
              <a:avLst/>
              <a:gdLst/>
              <a:ahLst/>
              <a:cxnLst/>
              <a:rect r="r" b="b" t="t" l="l"/>
              <a:pathLst>
                <a:path h="886206" w="2703909">
                  <a:moveTo>
                    <a:pt x="0" y="0"/>
                  </a:moveTo>
                  <a:lnTo>
                    <a:pt x="2703909" y="0"/>
                  </a:lnTo>
                  <a:lnTo>
                    <a:pt x="2703909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26" r="0" b="13625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0"/>
              <a:ext cx="2703906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0369A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✓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249499" y="6886356"/>
            <a:ext cx="417538" cy="664655"/>
            <a:chOff x="0" y="0"/>
            <a:chExt cx="556717" cy="886206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556721" cy="886206"/>
            </a:xfrm>
            <a:custGeom>
              <a:avLst/>
              <a:gdLst/>
              <a:ahLst/>
              <a:cxnLst/>
              <a:rect r="r" b="b" t="t" l="l"/>
              <a:pathLst>
                <a:path h="886206" w="556721">
                  <a:moveTo>
                    <a:pt x="0" y="0"/>
                  </a:moveTo>
                  <a:lnTo>
                    <a:pt x="556721" y="0"/>
                  </a:lnTo>
                  <a:lnTo>
                    <a:pt x="556721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131" r="-467661" b="3160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0"/>
              <a:ext cx="556717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1E2A3A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0.7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3808514" y="6886356"/>
            <a:ext cx="1459649" cy="664655"/>
            <a:chOff x="0" y="0"/>
            <a:chExt cx="1946199" cy="886206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1946196" cy="886206"/>
            </a:xfrm>
            <a:custGeom>
              <a:avLst/>
              <a:gdLst/>
              <a:ahLst/>
              <a:cxnLst/>
              <a:rect r="r" b="b" t="t" l="l"/>
              <a:pathLst>
                <a:path h="886206" w="1946196">
                  <a:moveTo>
                    <a:pt x="0" y="0"/>
                  </a:moveTo>
                  <a:lnTo>
                    <a:pt x="1946196" y="0"/>
                  </a:lnTo>
                  <a:lnTo>
                    <a:pt x="1946196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37" r="0" b="29855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0"/>
              <a:ext cx="1946199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9CA3A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17%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5496754" y="6886356"/>
            <a:ext cx="1294809" cy="664655"/>
            <a:chOff x="0" y="0"/>
            <a:chExt cx="1726413" cy="886206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726407" cy="886206"/>
            </a:xfrm>
            <a:custGeom>
              <a:avLst/>
              <a:gdLst/>
              <a:ahLst/>
              <a:cxnLst/>
              <a:rect r="r" b="b" t="t" l="l"/>
              <a:pathLst>
                <a:path h="886206" w="1726407">
                  <a:moveTo>
                    <a:pt x="0" y="0"/>
                  </a:moveTo>
                  <a:lnTo>
                    <a:pt x="1726407" y="0"/>
                  </a:lnTo>
                  <a:lnTo>
                    <a:pt x="1726407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604" r="0" b="34687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0"/>
              <a:ext cx="1726413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>
                  <a:solidFill>
                    <a:srgbClr val="1E2A3A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0.00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7020163" y="6886356"/>
            <a:ext cx="2027930" cy="664655"/>
            <a:chOff x="0" y="0"/>
            <a:chExt cx="2703906" cy="88620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703909" cy="886206"/>
            </a:xfrm>
            <a:custGeom>
              <a:avLst/>
              <a:gdLst/>
              <a:ahLst/>
              <a:cxnLst/>
              <a:rect r="r" b="b" t="t" l="l"/>
              <a:pathLst>
                <a:path h="886206" w="2703909">
                  <a:moveTo>
                    <a:pt x="0" y="0"/>
                  </a:moveTo>
                  <a:lnTo>
                    <a:pt x="2703909" y="0"/>
                  </a:lnTo>
                  <a:lnTo>
                    <a:pt x="2703909" y="886206"/>
                  </a:lnTo>
                  <a:lnTo>
                    <a:pt x="0" y="8862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097" r="0" b="13195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0"/>
              <a:ext cx="2703906" cy="8862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0369A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✓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097099" y="7829788"/>
            <a:ext cx="95193" cy="95193"/>
            <a:chOff x="0" y="0"/>
            <a:chExt cx="126924" cy="126924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127000" cy="127000"/>
            </a:xfrm>
            <a:custGeom>
              <a:avLst/>
              <a:gdLst/>
              <a:ahLst/>
              <a:cxnLst/>
              <a:rect r="r" b="b" t="t" l="l"/>
              <a:pathLst>
                <a:path h="127000" w="127000">
                  <a:moveTo>
                    <a:pt x="0" y="63500"/>
                  </a:moveTo>
                  <a:cubicBezTo>
                    <a:pt x="0" y="28448"/>
                    <a:pt x="28448" y="0"/>
                    <a:pt x="63500" y="0"/>
                  </a:cubicBezTo>
                  <a:cubicBezTo>
                    <a:pt x="98552" y="0"/>
                    <a:pt x="127000" y="28448"/>
                    <a:pt x="127000" y="63500"/>
                  </a:cubicBezTo>
                  <a:cubicBezTo>
                    <a:pt x="127000" y="98552"/>
                    <a:pt x="98552" y="127000"/>
                    <a:pt x="63500" y="127000"/>
                  </a:cubicBezTo>
                  <a:cubicBezTo>
                    <a:pt x="28448" y="127000"/>
                    <a:pt x="0" y="98552"/>
                    <a:pt x="0" y="63500"/>
                  </a:cubicBezTo>
                  <a:close/>
                </a:path>
              </a:pathLst>
            </a:custGeom>
            <a:solidFill>
              <a:srgbClr val="F87171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097099" y="8220189"/>
            <a:ext cx="95193" cy="95193"/>
            <a:chOff x="0" y="0"/>
            <a:chExt cx="126924" cy="126924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127000" cy="127000"/>
            </a:xfrm>
            <a:custGeom>
              <a:avLst/>
              <a:gdLst/>
              <a:ahLst/>
              <a:cxnLst/>
              <a:rect r="r" b="b" t="t" l="l"/>
              <a:pathLst>
                <a:path h="127000" w="127000">
                  <a:moveTo>
                    <a:pt x="0" y="63500"/>
                  </a:moveTo>
                  <a:cubicBezTo>
                    <a:pt x="0" y="28448"/>
                    <a:pt x="28448" y="0"/>
                    <a:pt x="63500" y="0"/>
                  </a:cubicBezTo>
                  <a:cubicBezTo>
                    <a:pt x="98552" y="0"/>
                    <a:pt x="127000" y="28448"/>
                    <a:pt x="127000" y="63500"/>
                  </a:cubicBezTo>
                  <a:cubicBezTo>
                    <a:pt x="127000" y="98552"/>
                    <a:pt x="98552" y="127000"/>
                    <a:pt x="63500" y="127000"/>
                  </a:cubicBezTo>
                  <a:cubicBezTo>
                    <a:pt x="28448" y="127000"/>
                    <a:pt x="0" y="98552"/>
                    <a:pt x="0" y="63500"/>
                  </a:cubicBezTo>
                  <a:close/>
                </a:path>
              </a:pathLst>
            </a:custGeom>
            <a:solidFill>
              <a:srgbClr val="0369A1"/>
            </a:solid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1097099" y="8610600"/>
            <a:ext cx="95193" cy="95193"/>
            <a:chOff x="0" y="0"/>
            <a:chExt cx="126924" cy="126924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127000" cy="127000"/>
            </a:xfrm>
            <a:custGeom>
              <a:avLst/>
              <a:gdLst/>
              <a:ahLst/>
              <a:cxnLst/>
              <a:rect r="r" b="b" t="t" l="l"/>
              <a:pathLst>
                <a:path h="127000" w="127000">
                  <a:moveTo>
                    <a:pt x="0" y="63500"/>
                  </a:moveTo>
                  <a:cubicBezTo>
                    <a:pt x="0" y="28448"/>
                    <a:pt x="28448" y="0"/>
                    <a:pt x="63500" y="0"/>
                  </a:cubicBezTo>
                  <a:cubicBezTo>
                    <a:pt x="98552" y="0"/>
                    <a:pt x="127000" y="28448"/>
                    <a:pt x="127000" y="63500"/>
                  </a:cubicBezTo>
                  <a:cubicBezTo>
                    <a:pt x="127000" y="98552"/>
                    <a:pt x="98552" y="127000"/>
                    <a:pt x="63500" y="127000"/>
                  </a:cubicBezTo>
                  <a:cubicBezTo>
                    <a:pt x="28448" y="127000"/>
                    <a:pt x="0" y="98552"/>
                    <a:pt x="0" y="63500"/>
                  </a:cubicBezTo>
                  <a:close/>
                </a:path>
              </a:pathLst>
            </a:custGeom>
            <a:solidFill>
              <a:srgbClr val="F87171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9758543" y="2568359"/>
            <a:ext cx="7754179" cy="3477930"/>
            <a:chOff x="0" y="0"/>
            <a:chExt cx="10338905" cy="4637240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10338943" cy="4637278"/>
            </a:xfrm>
            <a:custGeom>
              <a:avLst/>
              <a:gdLst/>
              <a:ahLst/>
              <a:cxnLst/>
              <a:rect r="r" b="b" t="t" l="l"/>
              <a:pathLst>
                <a:path h="4637278" w="10338943">
                  <a:moveTo>
                    <a:pt x="0" y="203835"/>
                  </a:moveTo>
                  <a:cubicBezTo>
                    <a:pt x="0" y="91313"/>
                    <a:pt x="91313" y="0"/>
                    <a:pt x="203835" y="0"/>
                  </a:cubicBezTo>
                  <a:lnTo>
                    <a:pt x="10135108" y="0"/>
                  </a:lnTo>
                  <a:cubicBezTo>
                    <a:pt x="10247630" y="0"/>
                    <a:pt x="10338943" y="91313"/>
                    <a:pt x="10338943" y="203835"/>
                  </a:cubicBezTo>
                  <a:lnTo>
                    <a:pt x="10338943" y="4433443"/>
                  </a:lnTo>
                  <a:cubicBezTo>
                    <a:pt x="10338943" y="4545965"/>
                    <a:pt x="10247630" y="4637278"/>
                    <a:pt x="10135108" y="4637278"/>
                  </a:cubicBezTo>
                  <a:lnTo>
                    <a:pt x="203835" y="4637278"/>
                  </a:lnTo>
                  <a:cubicBezTo>
                    <a:pt x="91313" y="4637278"/>
                    <a:pt x="0" y="4545965"/>
                    <a:pt x="0" y="4433443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7E9EE"/>
              </a:solidFill>
              <a:prstDash val="solid"/>
              <a:miter/>
            </a:ln>
          </p:spPr>
        </p:sp>
      </p:grpSp>
      <p:grpSp>
        <p:nvGrpSpPr>
          <p:cNvPr name="Group 126" id="126"/>
          <p:cNvGrpSpPr/>
          <p:nvPr/>
        </p:nvGrpSpPr>
        <p:grpSpPr>
          <a:xfrm rot="0">
            <a:off x="10061438" y="4832933"/>
            <a:ext cx="7148389" cy="9525"/>
            <a:chOff x="0" y="0"/>
            <a:chExt cx="9531185" cy="1270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9531223" cy="12700"/>
            </a:xfrm>
            <a:custGeom>
              <a:avLst/>
              <a:gdLst/>
              <a:ahLst/>
              <a:cxnLst/>
              <a:rect r="r" b="b" t="t" l="l"/>
              <a:pathLst>
                <a:path h="12700" w="9531223">
                  <a:moveTo>
                    <a:pt x="0" y="0"/>
                  </a:moveTo>
                  <a:lnTo>
                    <a:pt x="9531223" y="0"/>
                  </a:lnTo>
                  <a:lnTo>
                    <a:pt x="9531223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E7E9EE"/>
            </a:solid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9758543" y="6244352"/>
            <a:ext cx="3787616" cy="2785348"/>
            <a:chOff x="0" y="0"/>
            <a:chExt cx="5050155" cy="3713797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5050155" cy="3713786"/>
            </a:xfrm>
            <a:custGeom>
              <a:avLst/>
              <a:gdLst/>
              <a:ahLst/>
              <a:cxnLst/>
              <a:rect r="r" b="b" t="t" l="l"/>
              <a:pathLst>
                <a:path h="3713786" w="5050155">
                  <a:moveTo>
                    <a:pt x="0" y="159945"/>
                  </a:moveTo>
                  <a:cubicBezTo>
                    <a:pt x="0" y="71605"/>
                    <a:pt x="79883" y="0"/>
                    <a:pt x="178435" y="0"/>
                  </a:cubicBezTo>
                  <a:lnTo>
                    <a:pt x="4871720" y="0"/>
                  </a:lnTo>
                  <a:cubicBezTo>
                    <a:pt x="4970272" y="0"/>
                    <a:pt x="5050155" y="71605"/>
                    <a:pt x="5050155" y="159945"/>
                  </a:cubicBezTo>
                  <a:lnTo>
                    <a:pt x="5050155" y="3553842"/>
                  </a:lnTo>
                  <a:cubicBezTo>
                    <a:pt x="5050155" y="3642181"/>
                    <a:pt x="4970272" y="3713786"/>
                    <a:pt x="4871720" y="3713786"/>
                  </a:cubicBezTo>
                  <a:lnTo>
                    <a:pt x="178435" y="3713786"/>
                  </a:lnTo>
                  <a:cubicBezTo>
                    <a:pt x="79883" y="3713786"/>
                    <a:pt x="0" y="3642181"/>
                    <a:pt x="0" y="3553842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7E9EE"/>
              </a:solidFill>
              <a:prstDash val="solid"/>
              <a:miter/>
            </a:ln>
          </p:spPr>
        </p:sp>
      </p:grpSp>
      <p:grpSp>
        <p:nvGrpSpPr>
          <p:cNvPr name="Group 130" id="130"/>
          <p:cNvGrpSpPr/>
          <p:nvPr/>
        </p:nvGrpSpPr>
        <p:grpSpPr>
          <a:xfrm rot="0">
            <a:off x="9985172" y="6451883"/>
            <a:ext cx="3434372" cy="610172"/>
            <a:chOff x="0" y="0"/>
            <a:chExt cx="4579163" cy="813562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4579167" cy="813562"/>
            </a:xfrm>
            <a:custGeom>
              <a:avLst/>
              <a:gdLst/>
              <a:ahLst/>
              <a:cxnLst/>
              <a:rect r="r" b="b" t="t" l="l"/>
              <a:pathLst>
                <a:path h="813562" w="4579167">
                  <a:moveTo>
                    <a:pt x="0" y="0"/>
                  </a:moveTo>
                  <a:lnTo>
                    <a:pt x="4579167" y="0"/>
                  </a:lnTo>
                  <a:lnTo>
                    <a:pt x="4579167" y="813562"/>
                  </a:lnTo>
                  <a:lnTo>
                    <a:pt x="0" y="81356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134" r="0" b="-36209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9525"/>
              <a:ext cx="4579163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-16">
                  <a:solidFill>
                    <a:srgbClr val="0369A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top_k = 3인 이유</a:t>
              </a:r>
            </a:p>
          </p:txBody>
        </p:sp>
      </p:grpSp>
      <p:grpSp>
        <p:nvGrpSpPr>
          <p:cNvPr name="Group 133" id="133"/>
          <p:cNvGrpSpPr/>
          <p:nvPr/>
        </p:nvGrpSpPr>
        <p:grpSpPr>
          <a:xfrm rot="0">
            <a:off x="13725106" y="6244352"/>
            <a:ext cx="3787616" cy="2785348"/>
            <a:chOff x="0" y="0"/>
            <a:chExt cx="5050155" cy="3713797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5050155" cy="3713786"/>
            </a:xfrm>
            <a:custGeom>
              <a:avLst/>
              <a:gdLst/>
              <a:ahLst/>
              <a:cxnLst/>
              <a:rect r="r" b="b" t="t" l="l"/>
              <a:pathLst>
                <a:path h="3713786" w="5050155">
                  <a:moveTo>
                    <a:pt x="0" y="159945"/>
                  </a:moveTo>
                  <a:cubicBezTo>
                    <a:pt x="0" y="71605"/>
                    <a:pt x="79883" y="0"/>
                    <a:pt x="178435" y="0"/>
                  </a:cubicBezTo>
                  <a:lnTo>
                    <a:pt x="4871720" y="0"/>
                  </a:lnTo>
                  <a:cubicBezTo>
                    <a:pt x="4970272" y="0"/>
                    <a:pt x="5050155" y="71605"/>
                    <a:pt x="5050155" y="159945"/>
                  </a:cubicBezTo>
                  <a:lnTo>
                    <a:pt x="5050155" y="3553842"/>
                  </a:lnTo>
                  <a:cubicBezTo>
                    <a:pt x="5050155" y="3642181"/>
                    <a:pt x="4970272" y="3713786"/>
                    <a:pt x="4871720" y="3713786"/>
                  </a:cubicBezTo>
                  <a:lnTo>
                    <a:pt x="178435" y="3713786"/>
                  </a:lnTo>
                  <a:cubicBezTo>
                    <a:pt x="79883" y="3713786"/>
                    <a:pt x="0" y="3642181"/>
                    <a:pt x="0" y="3553842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7E9EE"/>
              </a:solidFill>
              <a:prstDash val="solid"/>
              <a:miter/>
            </a:ln>
          </p:spPr>
        </p:sp>
      </p:grpSp>
      <p:grpSp>
        <p:nvGrpSpPr>
          <p:cNvPr name="Group 135" id="135"/>
          <p:cNvGrpSpPr/>
          <p:nvPr/>
        </p:nvGrpSpPr>
        <p:grpSpPr>
          <a:xfrm rot="0">
            <a:off x="13951744" y="6451883"/>
            <a:ext cx="3434372" cy="610172"/>
            <a:chOff x="0" y="0"/>
            <a:chExt cx="4579163" cy="813562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4579167" cy="813562"/>
            </a:xfrm>
            <a:custGeom>
              <a:avLst/>
              <a:gdLst/>
              <a:ahLst/>
              <a:cxnLst/>
              <a:rect r="r" b="b" t="t" l="l"/>
              <a:pathLst>
                <a:path h="813562" w="4579167">
                  <a:moveTo>
                    <a:pt x="0" y="0"/>
                  </a:moveTo>
                  <a:lnTo>
                    <a:pt x="4579167" y="0"/>
                  </a:lnTo>
                  <a:lnTo>
                    <a:pt x="4579167" y="813562"/>
                  </a:lnTo>
                  <a:lnTo>
                    <a:pt x="0" y="813562"/>
                  </a:lnTo>
                  <a:close/>
                </a:path>
              </a:pathLst>
            </a:custGeom>
            <a:solidFill>
              <a:srgbClr val="F87171">
                <a:alpha val="0"/>
              </a:srgbClr>
            </a:solidFill>
          </p:spPr>
        </p:sp>
        <p:sp>
          <p:nvSpPr>
            <p:cNvPr name="TextBox 137" id="137"/>
            <p:cNvSpPr txBox="true"/>
            <p:nvPr/>
          </p:nvSpPr>
          <p:spPr>
            <a:xfrm>
              <a:off x="0" y="9525"/>
              <a:ext cx="4579163" cy="8040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-16">
                  <a:solidFill>
                    <a:srgbClr val="F87171"/>
                  </a:solidFill>
                  <a:latin typeface="Noto Sans Kr Bold"/>
                  <a:ea typeface="Noto Sans Kr Bold"/>
                  <a:cs typeface="Noto Sans Kr Bold"/>
                  <a:sym typeface="Noto Sans Kr Bold"/>
                </a:rPr>
                <a:t>한계</a:t>
              </a:r>
            </a:p>
          </p:txBody>
        </p:sp>
      </p:grpSp>
      <p:grpSp>
        <p:nvGrpSpPr>
          <p:cNvPr name="Group 138" id="138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140" id="140"/>
          <p:cNvGrpSpPr/>
          <p:nvPr/>
        </p:nvGrpSpPr>
        <p:grpSpPr>
          <a:xfrm rot="0">
            <a:off x="9758543" y="6253298"/>
            <a:ext cx="3787616" cy="71910"/>
            <a:chOff x="0" y="0"/>
            <a:chExt cx="775693" cy="14727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775693" cy="14727"/>
            </a:xfrm>
            <a:custGeom>
              <a:avLst/>
              <a:gdLst/>
              <a:ahLst/>
              <a:cxnLst/>
              <a:rect r="r" b="b" t="t" l="l"/>
              <a:pathLst>
                <a:path h="14727" w="775693">
                  <a:moveTo>
                    <a:pt x="4791" y="0"/>
                  </a:moveTo>
                  <a:lnTo>
                    <a:pt x="770902" y="0"/>
                  </a:lnTo>
                  <a:cubicBezTo>
                    <a:pt x="772173" y="0"/>
                    <a:pt x="773391" y="505"/>
                    <a:pt x="774290" y="1403"/>
                  </a:cubicBezTo>
                  <a:cubicBezTo>
                    <a:pt x="775188" y="2302"/>
                    <a:pt x="775693" y="3520"/>
                    <a:pt x="775693" y="4791"/>
                  </a:cubicBezTo>
                  <a:lnTo>
                    <a:pt x="775693" y="9936"/>
                  </a:lnTo>
                  <a:cubicBezTo>
                    <a:pt x="775693" y="11207"/>
                    <a:pt x="775188" y="12425"/>
                    <a:pt x="774290" y="13324"/>
                  </a:cubicBezTo>
                  <a:cubicBezTo>
                    <a:pt x="773391" y="14222"/>
                    <a:pt x="772173" y="14727"/>
                    <a:pt x="770902" y="14727"/>
                  </a:cubicBezTo>
                  <a:lnTo>
                    <a:pt x="4791" y="14727"/>
                  </a:lnTo>
                  <a:cubicBezTo>
                    <a:pt x="3520" y="14727"/>
                    <a:pt x="2302" y="14222"/>
                    <a:pt x="1403" y="13324"/>
                  </a:cubicBezTo>
                  <a:cubicBezTo>
                    <a:pt x="505" y="12425"/>
                    <a:pt x="0" y="11207"/>
                    <a:pt x="0" y="9936"/>
                  </a:cubicBezTo>
                  <a:lnTo>
                    <a:pt x="0" y="4791"/>
                  </a:lnTo>
                  <a:cubicBezTo>
                    <a:pt x="0" y="3520"/>
                    <a:pt x="505" y="2302"/>
                    <a:pt x="1403" y="1403"/>
                  </a:cubicBezTo>
                  <a:cubicBezTo>
                    <a:pt x="2302" y="505"/>
                    <a:pt x="3520" y="0"/>
                    <a:pt x="4791" y="0"/>
                  </a:cubicBezTo>
                  <a:close/>
                </a:path>
              </a:pathLst>
            </a:custGeom>
            <a:solidFill>
              <a:srgbClr val="0369A1"/>
            </a:solidFill>
          </p:spPr>
        </p:sp>
        <p:sp>
          <p:nvSpPr>
            <p:cNvPr name="TextBox 142" id="142"/>
            <p:cNvSpPr txBox="true"/>
            <p:nvPr/>
          </p:nvSpPr>
          <p:spPr>
            <a:xfrm>
              <a:off x="0" y="0"/>
              <a:ext cx="775693" cy="147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143" id="143"/>
          <p:cNvGrpSpPr/>
          <p:nvPr/>
        </p:nvGrpSpPr>
        <p:grpSpPr>
          <a:xfrm rot="0">
            <a:off x="13725106" y="6253298"/>
            <a:ext cx="3787616" cy="71910"/>
            <a:chOff x="0" y="0"/>
            <a:chExt cx="775693" cy="14727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775693" cy="14727"/>
            </a:xfrm>
            <a:custGeom>
              <a:avLst/>
              <a:gdLst/>
              <a:ahLst/>
              <a:cxnLst/>
              <a:rect r="r" b="b" t="t" l="l"/>
              <a:pathLst>
                <a:path h="14727" w="775693">
                  <a:moveTo>
                    <a:pt x="4791" y="0"/>
                  </a:moveTo>
                  <a:lnTo>
                    <a:pt x="770902" y="0"/>
                  </a:lnTo>
                  <a:cubicBezTo>
                    <a:pt x="772173" y="0"/>
                    <a:pt x="773391" y="505"/>
                    <a:pt x="774290" y="1403"/>
                  </a:cubicBezTo>
                  <a:cubicBezTo>
                    <a:pt x="775188" y="2302"/>
                    <a:pt x="775693" y="3520"/>
                    <a:pt x="775693" y="4791"/>
                  </a:cubicBezTo>
                  <a:lnTo>
                    <a:pt x="775693" y="9936"/>
                  </a:lnTo>
                  <a:cubicBezTo>
                    <a:pt x="775693" y="11207"/>
                    <a:pt x="775188" y="12425"/>
                    <a:pt x="774290" y="13324"/>
                  </a:cubicBezTo>
                  <a:cubicBezTo>
                    <a:pt x="773391" y="14222"/>
                    <a:pt x="772173" y="14727"/>
                    <a:pt x="770902" y="14727"/>
                  </a:cubicBezTo>
                  <a:lnTo>
                    <a:pt x="4791" y="14727"/>
                  </a:lnTo>
                  <a:cubicBezTo>
                    <a:pt x="3520" y="14727"/>
                    <a:pt x="2302" y="14222"/>
                    <a:pt x="1403" y="13324"/>
                  </a:cubicBezTo>
                  <a:cubicBezTo>
                    <a:pt x="505" y="12425"/>
                    <a:pt x="0" y="11207"/>
                    <a:pt x="0" y="9936"/>
                  </a:cubicBezTo>
                  <a:lnTo>
                    <a:pt x="0" y="4791"/>
                  </a:lnTo>
                  <a:cubicBezTo>
                    <a:pt x="0" y="3520"/>
                    <a:pt x="505" y="2302"/>
                    <a:pt x="1403" y="1403"/>
                  </a:cubicBezTo>
                  <a:cubicBezTo>
                    <a:pt x="2302" y="505"/>
                    <a:pt x="3520" y="0"/>
                    <a:pt x="4791" y="0"/>
                  </a:cubicBezTo>
                  <a:close/>
                </a:path>
              </a:pathLst>
            </a:custGeom>
            <a:solidFill>
              <a:srgbClr val="F87171"/>
            </a:solid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0"/>
              <a:ext cx="775693" cy="147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966811" y="5789031"/>
            <a:ext cx="578521" cy="381824"/>
            <a:chOff x="0" y="0"/>
            <a:chExt cx="635000" cy="419100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635000" cy="419100"/>
            </a:xfrm>
            <a:custGeom>
              <a:avLst/>
              <a:gdLst/>
              <a:ahLst/>
              <a:cxnLst/>
              <a:rect r="r" b="b" t="t" l="l"/>
              <a:pathLst>
                <a:path h="419100" w="635000">
                  <a:moveTo>
                    <a:pt x="104549" y="0"/>
                  </a:moveTo>
                  <a:lnTo>
                    <a:pt x="530451" y="0"/>
                  </a:lnTo>
                  <a:cubicBezTo>
                    <a:pt x="558179" y="0"/>
                    <a:pt x="584772" y="11015"/>
                    <a:pt x="604378" y="30622"/>
                  </a:cubicBezTo>
                  <a:cubicBezTo>
                    <a:pt x="623985" y="50228"/>
                    <a:pt x="635000" y="76821"/>
                    <a:pt x="635000" y="104549"/>
                  </a:cubicBezTo>
                  <a:lnTo>
                    <a:pt x="635000" y="314551"/>
                  </a:lnTo>
                  <a:cubicBezTo>
                    <a:pt x="635000" y="342279"/>
                    <a:pt x="623985" y="368872"/>
                    <a:pt x="604378" y="388478"/>
                  </a:cubicBezTo>
                  <a:cubicBezTo>
                    <a:pt x="584772" y="408085"/>
                    <a:pt x="558179" y="419100"/>
                    <a:pt x="530451" y="419100"/>
                  </a:cubicBezTo>
                  <a:lnTo>
                    <a:pt x="104549" y="419100"/>
                  </a:lnTo>
                  <a:cubicBezTo>
                    <a:pt x="76821" y="419100"/>
                    <a:pt x="50228" y="408085"/>
                    <a:pt x="30622" y="388478"/>
                  </a:cubicBezTo>
                  <a:cubicBezTo>
                    <a:pt x="11015" y="368872"/>
                    <a:pt x="0" y="342279"/>
                    <a:pt x="0" y="314551"/>
                  </a:cubicBezTo>
                  <a:lnTo>
                    <a:pt x="0" y="104549"/>
                  </a:lnTo>
                  <a:cubicBezTo>
                    <a:pt x="0" y="76821"/>
                    <a:pt x="11015" y="50228"/>
                    <a:pt x="30622" y="30622"/>
                  </a:cubicBezTo>
                  <a:cubicBezTo>
                    <a:pt x="50228" y="11015"/>
                    <a:pt x="76821" y="0"/>
                    <a:pt x="104549" y="0"/>
                  </a:cubicBezTo>
                  <a:close/>
                </a:path>
              </a:pathLst>
            </a:custGeom>
            <a:solidFill>
              <a:srgbClr val="8C52FF"/>
            </a:solidFill>
          </p:spPr>
        </p:sp>
        <p:sp>
          <p:nvSpPr>
            <p:cNvPr name="TextBox 148" id="148"/>
            <p:cNvSpPr txBox="true"/>
            <p:nvPr/>
          </p:nvSpPr>
          <p:spPr>
            <a:xfrm>
              <a:off x="0" y="-9525"/>
              <a:ext cx="635000" cy="4286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20"/>
                </a:lnSpc>
              </a:pPr>
            </a:p>
          </p:txBody>
        </p:sp>
      </p:grpSp>
      <p:sp>
        <p:nvSpPr>
          <p:cNvPr name="TextBox 149" id="149"/>
          <p:cNvSpPr txBox="true"/>
          <p:nvPr/>
        </p:nvSpPr>
        <p:spPr>
          <a:xfrm rot="0">
            <a:off x="1122502" y="2896648"/>
            <a:ext cx="8256451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b="true" sz="1425" spc="171">
                <a:solidFill>
                  <a:srgbClr val="9CA3A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MIN_SCORE SWEEP · TOP_K = 3 고정</a:t>
            </a:r>
          </a:p>
        </p:txBody>
      </p:sp>
      <p:sp>
        <p:nvSpPr>
          <p:cNvPr name="TextBox 150" id="150"/>
          <p:cNvSpPr txBox="true"/>
          <p:nvPr/>
        </p:nvSpPr>
        <p:spPr>
          <a:xfrm rot="0">
            <a:off x="1122502" y="3226156"/>
            <a:ext cx="8256451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37415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게이트 값을 0.3→0.7로 올리며 정답·잡담 거동을 실측</a:t>
            </a:r>
          </a:p>
        </p:txBody>
      </p:sp>
      <p:sp>
        <p:nvSpPr>
          <p:cNvPr name="TextBox 151" id="151"/>
          <p:cNvSpPr txBox="true"/>
          <p:nvPr/>
        </p:nvSpPr>
        <p:spPr>
          <a:xfrm rot="0">
            <a:off x="1341453" y="7712431"/>
            <a:ext cx="8030928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 b="true">
                <a:solidFill>
                  <a:srgbClr val="F8717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0.3↓ 금지 </a:t>
            </a:r>
            <a:r>
              <a:rPr lang="en-US" sz="150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— 잡담에도 패턴이 새어 들어감</a:t>
            </a:r>
          </a:p>
        </p:txBody>
      </p:sp>
      <p:sp>
        <p:nvSpPr>
          <p:cNvPr name="TextBox 152" id="152"/>
          <p:cNvSpPr txBox="true"/>
          <p:nvPr/>
        </p:nvSpPr>
        <p:spPr>
          <a:xfrm rot="0">
            <a:off x="1341453" y="8102832"/>
            <a:ext cx="8030928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 b="true">
                <a:solidFill>
                  <a:srgbClr val="0369A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0.4~0.5 안전대</a:t>
            </a:r>
            <a:r>
              <a:rPr lang="en-US" sz="1500" b="true">
                <a:solidFill>
                  <a:srgbClr val="8F1EA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sz="150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— 정답 100% + 잡담 차단 동시 충족</a:t>
            </a:r>
          </a:p>
        </p:txBody>
      </p:sp>
      <p:sp>
        <p:nvSpPr>
          <p:cNvPr name="TextBox 153" id="153"/>
          <p:cNvSpPr txBox="true"/>
          <p:nvPr/>
        </p:nvSpPr>
        <p:spPr>
          <a:xfrm rot="0">
            <a:off x="1341453" y="8493242"/>
            <a:ext cx="8030928" cy="289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500" b="true">
                <a:solidFill>
                  <a:srgbClr val="F8717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0.6↑ 정답 손실 </a:t>
            </a:r>
            <a:r>
              <a:rPr lang="en-US" sz="150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— hit율 50%→17% 급락</a:t>
            </a:r>
          </a:p>
        </p:txBody>
      </p:sp>
      <p:sp>
        <p:nvSpPr>
          <p:cNvPr name="TextBox 154" id="154"/>
          <p:cNvSpPr txBox="true"/>
          <p:nvPr/>
        </p:nvSpPr>
        <p:spPr>
          <a:xfrm rot="0">
            <a:off x="10086832" y="2858433"/>
            <a:ext cx="7312047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b="true" sz="1425" spc="171">
                <a:solidFill>
                  <a:srgbClr val="9CA3A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SEPARATION DISTRIBUTION</a:t>
            </a:r>
          </a:p>
        </p:txBody>
      </p:sp>
      <p:sp>
        <p:nvSpPr>
          <p:cNvPr name="TextBox 155" id="155"/>
          <p:cNvSpPr txBox="true"/>
          <p:nvPr/>
        </p:nvSpPr>
        <p:spPr>
          <a:xfrm rot="0">
            <a:off x="10086832" y="3401358"/>
            <a:ext cx="436422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정답(primary) 최저</a:t>
            </a:r>
          </a:p>
        </p:txBody>
      </p:sp>
      <p:sp>
        <p:nvSpPr>
          <p:cNvPr name="TextBox 156" id="156"/>
          <p:cNvSpPr txBox="true"/>
          <p:nvPr/>
        </p:nvSpPr>
        <p:spPr>
          <a:xfrm rot="0">
            <a:off x="14468513" y="3382308"/>
            <a:ext cx="639585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b="true" sz="1800">
                <a:solidFill>
                  <a:srgbClr val="6B46C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0.553</a:t>
            </a:r>
          </a:p>
        </p:txBody>
      </p:sp>
      <p:sp>
        <p:nvSpPr>
          <p:cNvPr name="TextBox 157" id="157"/>
          <p:cNvSpPr txBox="true"/>
          <p:nvPr/>
        </p:nvSpPr>
        <p:spPr>
          <a:xfrm rot="0">
            <a:off x="15254145" y="3425171"/>
            <a:ext cx="193027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>
                <a:solidFill>
                  <a:srgbClr val="9CA3AF"/>
                </a:solidFill>
                <a:latin typeface="Noto Sans Kr"/>
                <a:ea typeface="Noto Sans Kr"/>
                <a:cs typeface="Noto Sans Kr"/>
                <a:sym typeface="Noto Sans Kr"/>
              </a:rPr>
              <a:t>doc_tool_hwp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086832" y="3884900"/>
            <a:ext cx="436422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정답(primary) 최고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14468513" y="3865850"/>
            <a:ext cx="639585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b="true" sz="1800">
                <a:solidFill>
                  <a:srgbClr val="6B46C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0.754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15254145" y="3908712"/>
            <a:ext cx="193027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>
                <a:solidFill>
                  <a:srgbClr val="9CA3AF"/>
                </a:solidFill>
                <a:latin typeface="Noto Sans Kr"/>
                <a:ea typeface="Noto Sans Kr"/>
                <a:cs typeface="Noto Sans Kr"/>
                <a:sym typeface="Noto Sans Kr"/>
              </a:rPr>
              <a:t>meeting_notes_notion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0086842" y="4368441"/>
            <a:ext cx="436422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잡담(distractor) 최고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68523" y="4349391"/>
            <a:ext cx="639585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b="true" sz="1800">
                <a:solidFill>
                  <a:srgbClr val="F8717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0.372</a:t>
            </a:r>
          </a:p>
        </p:txBody>
      </p:sp>
      <p:sp>
        <p:nvSpPr>
          <p:cNvPr name="TextBox 163" id="163"/>
          <p:cNvSpPr txBox="true"/>
          <p:nvPr/>
        </p:nvSpPr>
        <p:spPr>
          <a:xfrm rot="0">
            <a:off x="16365407" y="4370822"/>
            <a:ext cx="15761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>
                <a:solidFill>
                  <a:srgbClr val="9CA3AF"/>
                </a:solidFill>
                <a:latin typeface="Noto Sans Kr"/>
                <a:ea typeface="Noto Sans Kr"/>
                <a:cs typeface="Noto Sans Kr"/>
                <a:sym typeface="Noto Sans Kr"/>
              </a:rPr>
              <a:t>—</a:t>
            </a:r>
          </a:p>
        </p:txBody>
      </p:sp>
      <p:sp>
        <p:nvSpPr>
          <p:cNvPr name="TextBox 164" id="164"/>
          <p:cNvSpPr txBox="true"/>
          <p:nvPr/>
        </p:nvSpPr>
        <p:spPr>
          <a:xfrm rot="0">
            <a:off x="10086832" y="5092636"/>
            <a:ext cx="409694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1B24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분리 마진</a:t>
            </a:r>
          </a:p>
        </p:txBody>
      </p:sp>
      <p:sp>
        <p:nvSpPr>
          <p:cNvPr name="TextBox 165" id="165"/>
          <p:cNvSpPr txBox="true"/>
          <p:nvPr/>
        </p:nvSpPr>
        <p:spPr>
          <a:xfrm rot="0">
            <a:off x="14285214" y="5059299"/>
            <a:ext cx="899084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b="true" sz="2100">
                <a:solidFill>
                  <a:srgbClr val="8F1EA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+0.181</a:t>
            </a:r>
          </a:p>
        </p:txBody>
      </p:sp>
      <p:sp>
        <p:nvSpPr>
          <p:cNvPr name="TextBox 166" id="166"/>
          <p:cNvSpPr txBox="true"/>
          <p:nvPr/>
        </p:nvSpPr>
        <p:spPr>
          <a:xfrm rot="0">
            <a:off x="9872386" y="5589842"/>
            <a:ext cx="7312047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>
                <a:solidFill>
                  <a:srgbClr val="9CA3AF"/>
                </a:solidFill>
                <a:latin typeface="Noto Sans Kr"/>
                <a:ea typeface="Noto Sans Kr"/>
                <a:cs typeface="Noto Sans Kr"/>
                <a:sym typeface="Noto Sans Kr"/>
              </a:rPr>
              <a:t>← 게이트 0.5가 이 골(0.372 ↔ 0.553)을 통과</a:t>
            </a:r>
          </a:p>
        </p:txBody>
      </p:sp>
      <p:sp>
        <p:nvSpPr>
          <p:cNvPr name="TextBox 167" id="167"/>
          <p:cNvSpPr txBox="true"/>
          <p:nvPr/>
        </p:nvSpPr>
        <p:spPr>
          <a:xfrm rot="0">
            <a:off x="10010575" y="7029931"/>
            <a:ext cx="3383575" cy="17552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9"/>
              </a:lnSpc>
            </a:pPr>
            <a:r>
              <a:rPr lang="en-US" sz="135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"보고서 만들어줘" 실측 순위 → 1위 비정답 </a:t>
            </a:r>
            <a:r>
              <a:rPr lang="en-US" sz="1350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(0.608)</a:t>
            </a:r>
            <a:r>
              <a:rPr lang="en-US" sz="135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, 2위 정답</a:t>
            </a:r>
            <a:r>
              <a:rPr lang="en-US" sz="1350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(0.553)</a:t>
            </a:r>
            <a:r>
              <a:rPr lang="en-US" sz="135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, 3위 비정답 </a:t>
            </a:r>
            <a:r>
              <a:rPr lang="en-US" sz="1350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(0.548)</a:t>
            </a:r>
          </a:p>
          <a:p>
            <a:pPr algn="l">
              <a:lnSpc>
                <a:spcPts val="2349"/>
              </a:lnSpc>
            </a:pPr>
          </a:p>
          <a:p>
            <a:pPr algn="l">
              <a:lnSpc>
                <a:spcPts val="2349"/>
              </a:lnSpc>
            </a:pPr>
            <a:r>
              <a:rPr lang="en-US" sz="1350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top_k=1이면 정답이 잘리고 </a:t>
            </a:r>
            <a:r>
              <a:rPr lang="en-US" sz="135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, top_k=2는 3위와 간격 0.005로 취약 → </a:t>
            </a:r>
            <a:r>
              <a:rPr lang="en-US" sz="1350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3으로 안전마진 확보</a:t>
            </a:r>
          </a:p>
        </p:txBody>
      </p:sp>
      <p:sp>
        <p:nvSpPr>
          <p:cNvPr name="TextBox 168" id="168"/>
          <p:cNvSpPr txBox="true"/>
          <p:nvPr/>
        </p:nvSpPr>
        <p:spPr>
          <a:xfrm rot="0">
            <a:off x="13977147" y="7029931"/>
            <a:ext cx="3383575" cy="17552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9"/>
              </a:lnSpc>
            </a:pPr>
            <a:r>
              <a:rPr lang="en-US" sz="135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정답 최저</a:t>
            </a:r>
            <a:r>
              <a:rPr lang="en-US" sz="1350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(0.553)</a:t>
            </a:r>
            <a:r>
              <a:rPr lang="en-US" sz="135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와 게이트</a:t>
            </a:r>
            <a:r>
              <a:rPr lang="en-US" sz="1350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(0.5) </a:t>
            </a:r>
            <a:r>
              <a:rPr lang="en-US" sz="135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헤드룸이 </a:t>
            </a:r>
          </a:p>
          <a:p>
            <a:pPr algn="l">
              <a:lnSpc>
                <a:spcPts val="2349"/>
              </a:lnSpc>
            </a:pPr>
            <a:r>
              <a:rPr lang="en-US" sz="1350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+ 0.053로 얇음</a:t>
            </a:r>
            <a:r>
              <a:rPr lang="en-US" sz="1350">
                <a:solidFill>
                  <a:srgbClr val="1E2A3A"/>
                </a:solidFill>
                <a:latin typeface="Noto Sans Kr"/>
                <a:ea typeface="Noto Sans Kr"/>
                <a:cs typeface="Noto Sans Kr"/>
                <a:sym typeface="Noto Sans Kr"/>
              </a:rPr>
              <a:t>.</a:t>
            </a:r>
          </a:p>
          <a:p>
            <a:pPr algn="l">
              <a:lnSpc>
                <a:spcPts val="2349"/>
              </a:lnSpc>
            </a:pPr>
          </a:p>
          <a:p>
            <a:pPr algn="l">
              <a:lnSpc>
                <a:spcPts val="2349"/>
              </a:lnSpc>
            </a:pPr>
          </a:p>
          <a:p>
            <a:pPr algn="l">
              <a:lnSpc>
                <a:spcPts val="2349"/>
              </a:lnSpc>
            </a:pPr>
            <a:r>
              <a:rPr lang="en-US" sz="135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코퍼스가 크게 늘면 일부 약한 정답이 걸릴 수 </a:t>
            </a:r>
          </a:p>
          <a:p>
            <a:pPr algn="l">
              <a:lnSpc>
                <a:spcPts val="2349"/>
              </a:lnSpc>
            </a:pPr>
            <a:r>
              <a:rPr lang="en-US" sz="135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있어 </a:t>
            </a:r>
            <a:r>
              <a:rPr lang="en-US" sz="1350" b="true">
                <a:solidFill>
                  <a:srgbClr val="1E2A3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재측정 트리거</a:t>
            </a:r>
            <a:r>
              <a:rPr lang="en-US" sz="1350">
                <a:solidFill>
                  <a:srgbClr val="374151"/>
                </a:solidFill>
                <a:latin typeface="Noto Sans Kr"/>
                <a:ea typeface="Noto Sans Kr"/>
                <a:cs typeface="Noto Sans Kr"/>
                <a:sym typeface="Noto Sans Kr"/>
              </a:rPr>
              <a:t>로 보존</a:t>
            </a:r>
          </a:p>
        </p:txBody>
      </p:sp>
      <p:sp>
        <p:nvSpPr>
          <p:cNvPr name="TextBox 169" id="169"/>
          <p:cNvSpPr txBox="true"/>
          <p:nvPr/>
        </p:nvSpPr>
        <p:spPr>
          <a:xfrm rot="0">
            <a:off x="762000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7619C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170" id="170"/>
          <p:cNvSpPr txBox="true"/>
          <p:nvPr/>
        </p:nvSpPr>
        <p:spPr>
          <a:xfrm rot="0">
            <a:off x="10337471" y="511178"/>
            <a:ext cx="718852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REQ-005 · 이가원</a:t>
            </a:r>
          </a:p>
        </p:txBody>
      </p:sp>
      <p:sp>
        <p:nvSpPr>
          <p:cNvPr name="TextBox 171" id="171"/>
          <p:cNvSpPr txBox="true"/>
          <p:nvPr/>
        </p:nvSpPr>
        <p:spPr>
          <a:xfrm rot="0">
            <a:off x="2180911" y="511178"/>
            <a:ext cx="3641408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7619C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⑥</a:t>
            </a:r>
            <a:r>
              <a:rPr lang="en-US" b="true" sz="1650" spc="198">
                <a:solidFill>
                  <a:srgbClr val="FBBF2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Personalization</a:t>
            </a:r>
          </a:p>
        </p:txBody>
      </p:sp>
      <p:sp>
        <p:nvSpPr>
          <p:cNvPr name="TextBox 172" id="172"/>
          <p:cNvSpPr txBox="true"/>
          <p:nvPr/>
        </p:nvSpPr>
        <p:spPr>
          <a:xfrm rot="0">
            <a:off x="787403" y="1111253"/>
            <a:ext cx="13103803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데이터로 정한 운영값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— min_score 0.5 · top_k 3</a:t>
            </a:r>
          </a:p>
        </p:txBody>
      </p:sp>
      <p:sp>
        <p:nvSpPr>
          <p:cNvPr name="TextBox 173" id="173"/>
          <p:cNvSpPr txBox="true"/>
          <p:nvPr/>
        </p:nvSpPr>
        <p:spPr>
          <a:xfrm rot="0">
            <a:off x="787403" y="1726568"/>
            <a:ext cx="9163464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정답을 놓치지 않으면서 잡담은 거르는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"안전대"를 실측으로 탐색</a:t>
            </a:r>
          </a:p>
        </p:txBody>
      </p:sp>
      <p:sp>
        <p:nvSpPr>
          <p:cNvPr name="TextBox 174" id="174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175" id="175"/>
          <p:cNvSpPr txBox="true"/>
          <p:nvPr/>
        </p:nvSpPr>
        <p:spPr>
          <a:xfrm rot="0">
            <a:off x="2127418" y="9608820"/>
            <a:ext cx="325484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⑥ Personalization</a:t>
            </a:r>
          </a:p>
        </p:txBody>
      </p:sp>
      <p:sp>
        <p:nvSpPr>
          <p:cNvPr name="TextBox 176" id="176"/>
          <p:cNvSpPr txBox="true"/>
          <p:nvPr/>
        </p:nvSpPr>
        <p:spPr>
          <a:xfrm rot="0">
            <a:off x="10313620" y="9608820"/>
            <a:ext cx="719338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Personalization</a:t>
            </a:r>
          </a:p>
        </p:txBody>
      </p:sp>
      <p:sp>
        <p:nvSpPr>
          <p:cNvPr name="TextBox 177" id="177"/>
          <p:cNvSpPr txBox="true"/>
          <p:nvPr/>
        </p:nvSpPr>
        <p:spPr>
          <a:xfrm rot="0">
            <a:off x="780993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34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  <p:sp>
        <p:nvSpPr>
          <p:cNvPr name="TextBox 178" id="178"/>
          <p:cNvSpPr txBox="true"/>
          <p:nvPr/>
        </p:nvSpPr>
        <p:spPr>
          <a:xfrm rot="0">
            <a:off x="2019462" y="5870405"/>
            <a:ext cx="473219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  <a:spcBef>
                <a:spcPct val="0"/>
              </a:spcBef>
            </a:pPr>
            <a:r>
              <a:rPr lang="en-US" b="true" sz="1350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운영값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87403" y="2637287"/>
            <a:ext cx="8256899" cy="5548370"/>
            <a:chOff x="0" y="0"/>
            <a:chExt cx="11009198" cy="739782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09090" cy="7397827"/>
            </a:xfrm>
            <a:custGeom>
              <a:avLst/>
              <a:gdLst/>
              <a:ahLst/>
              <a:cxnLst/>
              <a:rect r="r" b="b" t="t" l="l"/>
              <a:pathLst>
                <a:path h="7397827" w="11009090">
                  <a:moveTo>
                    <a:pt x="0" y="304195"/>
                  </a:moveTo>
                  <a:cubicBezTo>
                    <a:pt x="0" y="136162"/>
                    <a:pt x="136548" y="0"/>
                    <a:pt x="305059" y="0"/>
                  </a:cubicBezTo>
                  <a:lnTo>
                    <a:pt x="10704030" y="0"/>
                  </a:lnTo>
                  <a:cubicBezTo>
                    <a:pt x="10872542" y="0"/>
                    <a:pt x="11009090" y="136162"/>
                    <a:pt x="11009090" y="304195"/>
                  </a:cubicBezTo>
                  <a:lnTo>
                    <a:pt x="11009090" y="7093631"/>
                  </a:lnTo>
                  <a:cubicBezTo>
                    <a:pt x="11009090" y="7261665"/>
                    <a:pt x="10872542" y="7397827"/>
                    <a:pt x="10704030" y="7397827"/>
                  </a:cubicBezTo>
                  <a:lnTo>
                    <a:pt x="305059" y="7397827"/>
                  </a:lnTo>
                  <a:cubicBezTo>
                    <a:pt x="136548" y="7397827"/>
                    <a:pt x="0" y="7261665"/>
                    <a:pt x="0" y="7093631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769620" y="2637287"/>
            <a:ext cx="8281035" cy="457200"/>
            <a:chOff x="0" y="0"/>
            <a:chExt cx="11041380" cy="609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041380" cy="609600"/>
            </a:xfrm>
            <a:custGeom>
              <a:avLst/>
              <a:gdLst/>
              <a:ahLst/>
              <a:cxnLst/>
              <a:rect r="r" b="b" t="t" l="l"/>
              <a:pathLst>
                <a:path h="609600" w="11041380">
                  <a:moveTo>
                    <a:pt x="63500" y="0"/>
                  </a:moveTo>
                  <a:lnTo>
                    <a:pt x="10977880" y="0"/>
                  </a:lnTo>
                  <a:cubicBezTo>
                    <a:pt x="11012950" y="0"/>
                    <a:pt x="11041380" y="28430"/>
                    <a:pt x="11041380" y="63500"/>
                  </a:cubicBezTo>
                  <a:lnTo>
                    <a:pt x="11041380" y="546100"/>
                  </a:lnTo>
                  <a:cubicBezTo>
                    <a:pt x="11041380" y="562941"/>
                    <a:pt x="11034690" y="579093"/>
                    <a:pt x="11022781" y="591001"/>
                  </a:cubicBezTo>
                  <a:cubicBezTo>
                    <a:pt x="11010873" y="602910"/>
                    <a:pt x="10994722" y="609600"/>
                    <a:pt x="10977880" y="609600"/>
                  </a:cubicBezTo>
                  <a:lnTo>
                    <a:pt x="63500" y="609600"/>
                  </a:lnTo>
                  <a:cubicBezTo>
                    <a:pt x="28430" y="609600"/>
                    <a:pt x="0" y="581170"/>
                    <a:pt x="0" y="5461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FDF2F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769620" y="3086867"/>
            <a:ext cx="8281035" cy="9525"/>
            <a:chOff x="0" y="0"/>
            <a:chExt cx="11041380" cy="12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41380" cy="12700"/>
            </a:xfrm>
            <a:custGeom>
              <a:avLst/>
              <a:gdLst/>
              <a:ahLst/>
              <a:cxnLst/>
              <a:rect r="r" b="b" t="t" l="l"/>
              <a:pathLst>
                <a:path h="12700" w="11041380">
                  <a:moveTo>
                    <a:pt x="0" y="0"/>
                  </a:moveTo>
                  <a:lnTo>
                    <a:pt x="11041380" y="0"/>
                  </a:lnTo>
                  <a:lnTo>
                    <a:pt x="1104138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ECACA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41070" y="2726822"/>
            <a:ext cx="490538" cy="278130"/>
            <a:chOff x="0" y="0"/>
            <a:chExt cx="654050" cy="370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54050" cy="370840"/>
            </a:xfrm>
            <a:custGeom>
              <a:avLst/>
              <a:gdLst/>
              <a:ahLst/>
              <a:cxnLst/>
              <a:rect r="r" b="b" t="t" l="l"/>
              <a:pathLst>
                <a:path h="370840" w="654050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lnTo>
                    <a:pt x="577850" y="0"/>
                  </a:lnTo>
                  <a:cubicBezTo>
                    <a:pt x="619887" y="0"/>
                    <a:pt x="654050" y="34163"/>
                    <a:pt x="654050" y="76200"/>
                  </a:cubicBezTo>
                  <a:lnTo>
                    <a:pt x="654050" y="294640"/>
                  </a:lnTo>
                  <a:cubicBezTo>
                    <a:pt x="654050" y="336677"/>
                    <a:pt x="619887" y="370840"/>
                    <a:pt x="577850" y="370840"/>
                  </a:cubicBezTo>
                  <a:lnTo>
                    <a:pt x="76200" y="370840"/>
                  </a:lnTo>
                  <a:cubicBezTo>
                    <a:pt x="34163" y="370840"/>
                    <a:pt x="0" y="336677"/>
                    <a:pt x="0" y="294640"/>
                  </a:cubicBezTo>
                  <a:close/>
                </a:path>
              </a:pathLst>
            </a:custGeom>
            <a:solidFill>
              <a:srgbClr val="64748B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69620" y="7701786"/>
            <a:ext cx="8281035" cy="483870"/>
            <a:chOff x="0" y="0"/>
            <a:chExt cx="11041380" cy="6451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041380" cy="645160"/>
            </a:xfrm>
            <a:custGeom>
              <a:avLst/>
              <a:gdLst/>
              <a:ahLst/>
              <a:cxnLst/>
              <a:rect r="r" b="b" t="t" l="l"/>
              <a:pathLst>
                <a:path h="645160" w="11041380">
                  <a:moveTo>
                    <a:pt x="63500" y="0"/>
                  </a:moveTo>
                  <a:lnTo>
                    <a:pt x="10977880" y="0"/>
                  </a:lnTo>
                  <a:cubicBezTo>
                    <a:pt x="11012950" y="0"/>
                    <a:pt x="11041380" y="28430"/>
                    <a:pt x="11041380" y="63500"/>
                  </a:cubicBezTo>
                  <a:lnTo>
                    <a:pt x="11041380" y="581660"/>
                  </a:lnTo>
                  <a:cubicBezTo>
                    <a:pt x="11041380" y="598501"/>
                    <a:pt x="11034690" y="614653"/>
                    <a:pt x="11022781" y="626561"/>
                  </a:cubicBezTo>
                  <a:cubicBezTo>
                    <a:pt x="11010873" y="638470"/>
                    <a:pt x="10994722" y="645160"/>
                    <a:pt x="10977880" y="645160"/>
                  </a:cubicBezTo>
                  <a:lnTo>
                    <a:pt x="63500" y="645160"/>
                  </a:lnTo>
                  <a:cubicBezTo>
                    <a:pt x="28430" y="645160"/>
                    <a:pt x="0" y="616730"/>
                    <a:pt x="0" y="58166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FDF2F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9237345" y="2656080"/>
            <a:ext cx="8256899" cy="5529577"/>
            <a:chOff x="0" y="0"/>
            <a:chExt cx="11009198" cy="737276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009090" cy="7372769"/>
            </a:xfrm>
            <a:custGeom>
              <a:avLst/>
              <a:gdLst/>
              <a:ahLst/>
              <a:cxnLst/>
              <a:rect r="r" b="b" t="t" l="l"/>
              <a:pathLst>
                <a:path h="7372769" w="11009090">
                  <a:moveTo>
                    <a:pt x="0" y="303165"/>
                  </a:moveTo>
                  <a:cubicBezTo>
                    <a:pt x="0" y="135700"/>
                    <a:pt x="136548" y="0"/>
                    <a:pt x="305059" y="0"/>
                  </a:cubicBezTo>
                  <a:lnTo>
                    <a:pt x="10704030" y="0"/>
                  </a:lnTo>
                  <a:cubicBezTo>
                    <a:pt x="10872542" y="0"/>
                    <a:pt x="11009090" y="135700"/>
                    <a:pt x="11009090" y="303165"/>
                  </a:cubicBezTo>
                  <a:lnTo>
                    <a:pt x="11009090" y="7069604"/>
                  </a:lnTo>
                  <a:cubicBezTo>
                    <a:pt x="11009090" y="7237069"/>
                    <a:pt x="10872542" y="7372769"/>
                    <a:pt x="10704030" y="7372769"/>
                  </a:cubicBezTo>
                  <a:lnTo>
                    <a:pt x="305059" y="7372769"/>
                  </a:lnTo>
                  <a:cubicBezTo>
                    <a:pt x="136548" y="7372769"/>
                    <a:pt x="0" y="7237069"/>
                    <a:pt x="0" y="7069604"/>
                  </a:cubicBezTo>
                  <a:close/>
                </a:path>
              </a:pathLst>
            </a:custGeom>
            <a:solidFill>
              <a:srgbClr val="FFFFFF"/>
            </a:solidFill>
            <a:ln w="7620" cap="sq">
              <a:solidFill>
                <a:srgbClr val="EEF0F2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9237345" y="2637287"/>
            <a:ext cx="8281035" cy="457200"/>
            <a:chOff x="0" y="0"/>
            <a:chExt cx="11041380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041380" cy="609600"/>
            </a:xfrm>
            <a:custGeom>
              <a:avLst/>
              <a:gdLst/>
              <a:ahLst/>
              <a:cxnLst/>
              <a:rect r="r" b="b" t="t" l="l"/>
              <a:pathLst>
                <a:path h="609600" w="11041380">
                  <a:moveTo>
                    <a:pt x="63500" y="0"/>
                  </a:moveTo>
                  <a:lnTo>
                    <a:pt x="10977880" y="0"/>
                  </a:lnTo>
                  <a:cubicBezTo>
                    <a:pt x="11012950" y="0"/>
                    <a:pt x="11041380" y="28430"/>
                    <a:pt x="11041380" y="63500"/>
                  </a:cubicBezTo>
                  <a:lnTo>
                    <a:pt x="11041380" y="546100"/>
                  </a:lnTo>
                  <a:cubicBezTo>
                    <a:pt x="11041380" y="562941"/>
                    <a:pt x="11034690" y="579093"/>
                    <a:pt x="11022781" y="591001"/>
                  </a:cubicBezTo>
                  <a:cubicBezTo>
                    <a:pt x="11010873" y="602910"/>
                    <a:pt x="10994722" y="609600"/>
                    <a:pt x="10977880" y="609600"/>
                  </a:cubicBezTo>
                  <a:lnTo>
                    <a:pt x="63500" y="609600"/>
                  </a:lnTo>
                  <a:cubicBezTo>
                    <a:pt x="28430" y="609600"/>
                    <a:pt x="0" y="581170"/>
                    <a:pt x="0" y="54610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F5F2FD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9237345" y="3086867"/>
            <a:ext cx="8281035" cy="9525"/>
            <a:chOff x="0" y="0"/>
            <a:chExt cx="11041380" cy="127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41380" cy="12700"/>
            </a:xfrm>
            <a:custGeom>
              <a:avLst/>
              <a:gdLst/>
              <a:ahLst/>
              <a:cxnLst/>
              <a:rect r="r" b="b" t="t" l="l"/>
              <a:pathLst>
                <a:path h="12700" w="11041380">
                  <a:moveTo>
                    <a:pt x="0" y="0"/>
                  </a:moveTo>
                  <a:lnTo>
                    <a:pt x="11041380" y="0"/>
                  </a:lnTo>
                  <a:lnTo>
                    <a:pt x="1104138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DD6FE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408795" y="2726822"/>
            <a:ext cx="424463" cy="278130"/>
            <a:chOff x="0" y="0"/>
            <a:chExt cx="565950" cy="370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65912" cy="370840"/>
            </a:xfrm>
            <a:custGeom>
              <a:avLst/>
              <a:gdLst/>
              <a:ahLst/>
              <a:cxnLst/>
              <a:rect r="r" b="b" t="t" l="l"/>
              <a:pathLst>
                <a:path h="370840" w="565912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lnTo>
                    <a:pt x="489712" y="0"/>
                  </a:lnTo>
                  <a:cubicBezTo>
                    <a:pt x="531749" y="0"/>
                    <a:pt x="565912" y="34163"/>
                    <a:pt x="565912" y="76200"/>
                  </a:cubicBezTo>
                  <a:lnTo>
                    <a:pt x="565912" y="294640"/>
                  </a:lnTo>
                  <a:cubicBezTo>
                    <a:pt x="565912" y="336677"/>
                    <a:pt x="531749" y="370840"/>
                    <a:pt x="489712" y="370840"/>
                  </a:cubicBezTo>
                  <a:lnTo>
                    <a:pt x="76200" y="370840"/>
                  </a:lnTo>
                  <a:cubicBezTo>
                    <a:pt x="34163" y="370840"/>
                    <a:pt x="0" y="336677"/>
                    <a:pt x="0" y="294640"/>
                  </a:cubicBezTo>
                  <a:close/>
                </a:path>
              </a:pathLst>
            </a:custGeom>
            <a:solidFill>
              <a:srgbClr val="7619C0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9237345" y="7701786"/>
            <a:ext cx="8281035" cy="483870"/>
            <a:chOff x="0" y="0"/>
            <a:chExt cx="11041380" cy="6451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1041380" cy="645160"/>
            </a:xfrm>
            <a:custGeom>
              <a:avLst/>
              <a:gdLst/>
              <a:ahLst/>
              <a:cxnLst/>
              <a:rect r="r" b="b" t="t" l="l"/>
              <a:pathLst>
                <a:path h="645160" w="11041380">
                  <a:moveTo>
                    <a:pt x="63500" y="0"/>
                  </a:moveTo>
                  <a:lnTo>
                    <a:pt x="10977880" y="0"/>
                  </a:lnTo>
                  <a:cubicBezTo>
                    <a:pt x="11012950" y="0"/>
                    <a:pt x="11041380" y="28430"/>
                    <a:pt x="11041380" y="63500"/>
                  </a:cubicBezTo>
                  <a:lnTo>
                    <a:pt x="11041380" y="581660"/>
                  </a:lnTo>
                  <a:cubicBezTo>
                    <a:pt x="11041380" y="598501"/>
                    <a:pt x="11034690" y="614653"/>
                    <a:pt x="11022781" y="626561"/>
                  </a:cubicBezTo>
                  <a:cubicBezTo>
                    <a:pt x="11010873" y="638470"/>
                    <a:pt x="10994722" y="645160"/>
                    <a:pt x="10977880" y="645160"/>
                  </a:cubicBezTo>
                  <a:lnTo>
                    <a:pt x="63500" y="645160"/>
                  </a:lnTo>
                  <a:cubicBezTo>
                    <a:pt x="28430" y="645160"/>
                    <a:pt x="0" y="616730"/>
                    <a:pt x="0" y="581660"/>
                  </a:cubicBezTo>
                  <a:lnTo>
                    <a:pt x="0" y="63500"/>
                  </a:ln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F5F2FD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762000" y="8636253"/>
            <a:ext cx="16764000" cy="521970"/>
            <a:chOff x="0" y="0"/>
            <a:chExt cx="22352000" cy="6959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2352000" cy="695960"/>
            </a:xfrm>
            <a:custGeom>
              <a:avLst/>
              <a:gdLst/>
              <a:ahLst/>
              <a:cxnLst/>
              <a:rect r="r" b="b" t="t" l="l"/>
              <a:pathLst>
                <a:path h="695960" w="22352000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22199600" y="0"/>
                  </a:lnTo>
                  <a:cubicBezTo>
                    <a:pt x="22283801" y="0"/>
                    <a:pt x="22352000" y="68199"/>
                    <a:pt x="22352000" y="152400"/>
                  </a:cubicBezTo>
                  <a:lnTo>
                    <a:pt x="22352000" y="543560"/>
                  </a:lnTo>
                  <a:cubicBezTo>
                    <a:pt x="22352000" y="627761"/>
                    <a:pt x="22283801" y="695960"/>
                    <a:pt x="22199600" y="695960"/>
                  </a:cubicBezTo>
                  <a:lnTo>
                    <a:pt x="152400" y="695960"/>
                  </a:lnTo>
                  <a:cubicBezTo>
                    <a:pt x="68199" y="695960"/>
                    <a:pt x="0" y="627761"/>
                    <a:pt x="0" y="54356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64237" y="3486917"/>
            <a:ext cx="8103232" cy="2632081"/>
            <a:chOff x="0" y="0"/>
            <a:chExt cx="10804309" cy="350944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192151" cy="3509441"/>
            </a:xfrm>
            <a:custGeom>
              <a:avLst/>
              <a:gdLst/>
              <a:ahLst/>
              <a:cxnLst/>
              <a:rect r="r" b="b" t="t" l="l"/>
              <a:pathLst>
                <a:path h="3509441" w="5192151">
                  <a:moveTo>
                    <a:pt x="0" y="0"/>
                  </a:moveTo>
                  <a:lnTo>
                    <a:pt x="5192151" y="0"/>
                  </a:lnTo>
                  <a:lnTo>
                    <a:pt x="5192151" y="3509441"/>
                  </a:lnTo>
                  <a:lnTo>
                    <a:pt x="0" y="35094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-84625"/>
              </a:stretch>
            </a:blip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5192151" y="139030"/>
              <a:ext cx="5612158" cy="3231381"/>
            </a:xfrm>
            <a:custGeom>
              <a:avLst/>
              <a:gdLst/>
              <a:ahLst/>
              <a:cxnLst/>
              <a:rect r="r" b="b" t="t" l="l"/>
              <a:pathLst>
                <a:path h="3231381" w="5612158">
                  <a:moveTo>
                    <a:pt x="0" y="0"/>
                  </a:moveTo>
                  <a:lnTo>
                    <a:pt x="5612158" y="0"/>
                  </a:lnTo>
                  <a:lnTo>
                    <a:pt x="5612158" y="3231381"/>
                  </a:lnTo>
                  <a:lnTo>
                    <a:pt x="0" y="32313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16732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62000" y="9315450"/>
            <a:ext cx="16764000" cy="10163"/>
            <a:chOff x="0" y="0"/>
            <a:chExt cx="22352000" cy="1355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352000" cy="13589"/>
            </a:xfrm>
            <a:custGeom>
              <a:avLst/>
              <a:gdLst/>
              <a:ahLst/>
              <a:cxnLst/>
              <a:rect r="r" b="b" t="t" l="l"/>
              <a:pathLst>
                <a:path h="13589" w="22352000">
                  <a:moveTo>
                    <a:pt x="0" y="0"/>
                  </a:moveTo>
                  <a:lnTo>
                    <a:pt x="22352000" y="0"/>
                  </a:lnTo>
                  <a:lnTo>
                    <a:pt x="22352000" y="13589"/>
                  </a:lnTo>
                  <a:lnTo>
                    <a:pt x="0" y="13589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367518" y="3245970"/>
            <a:ext cx="3739089" cy="3865267"/>
            <a:chOff x="0" y="0"/>
            <a:chExt cx="4985452" cy="515368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985452" cy="1357394"/>
            </a:xfrm>
            <a:custGeom>
              <a:avLst/>
              <a:gdLst/>
              <a:ahLst/>
              <a:cxnLst/>
              <a:rect r="r" b="b" t="t" l="l"/>
              <a:pathLst>
                <a:path h="1357394" w="4985452">
                  <a:moveTo>
                    <a:pt x="0" y="0"/>
                  </a:moveTo>
                  <a:lnTo>
                    <a:pt x="4985452" y="0"/>
                  </a:lnTo>
                  <a:lnTo>
                    <a:pt x="4985452" y="1357394"/>
                  </a:lnTo>
                  <a:lnTo>
                    <a:pt x="0" y="13573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1376165"/>
              <a:ext cx="4985452" cy="3777523"/>
            </a:xfrm>
            <a:custGeom>
              <a:avLst/>
              <a:gdLst/>
              <a:ahLst/>
              <a:cxnLst/>
              <a:rect r="r" b="b" t="t" l="l"/>
              <a:pathLst>
                <a:path h="3777523" w="4985452">
                  <a:moveTo>
                    <a:pt x="0" y="0"/>
                  </a:moveTo>
                  <a:lnTo>
                    <a:pt x="4985452" y="0"/>
                  </a:lnTo>
                  <a:lnTo>
                    <a:pt x="4985452" y="3777524"/>
                  </a:lnTo>
                  <a:lnTo>
                    <a:pt x="0" y="37775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Freeform 32" id="32"/>
          <p:cNvSpPr/>
          <p:nvPr/>
        </p:nvSpPr>
        <p:spPr>
          <a:xfrm flipH="false" flipV="false" rot="0">
            <a:off x="13106608" y="3743256"/>
            <a:ext cx="4257463" cy="2961713"/>
          </a:xfrm>
          <a:custGeom>
            <a:avLst/>
            <a:gdLst/>
            <a:ahLst/>
            <a:cxnLst/>
            <a:rect r="r" b="b" t="t" l="l"/>
            <a:pathLst>
              <a:path h="2961713" w="4257463">
                <a:moveTo>
                  <a:pt x="0" y="0"/>
                </a:moveTo>
                <a:lnTo>
                  <a:pt x="4257462" y="0"/>
                </a:lnTo>
                <a:lnTo>
                  <a:pt x="4257462" y="2961713"/>
                </a:lnTo>
                <a:lnTo>
                  <a:pt x="0" y="2961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9785071" y="7786245"/>
            <a:ext cx="7170422" cy="27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8"/>
              </a:lnSpc>
            </a:pPr>
            <a:r>
              <a:rPr lang="en-US" sz="1350" b="true">
                <a:solidFill>
                  <a:srgbClr val="8F1EA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spreadsheet_id = flowit01 </a:t>
            </a:r>
            <a:r>
              <a:rPr lang="en-US" sz="1350">
                <a:solidFill>
                  <a:srgbClr val="737373"/>
                </a:solidFill>
                <a:latin typeface="Noto Sans Kr"/>
                <a:ea typeface="Noto Sans Kr"/>
                <a:cs typeface="Noto Sans Kr"/>
                <a:sym typeface="Noto Sans Kr"/>
              </a:rPr>
              <a:t>(사용자 패턴값) </a:t>
            </a:r>
            <a:r>
              <a:rPr lang="en-US" sz="1350">
                <a:solidFill>
                  <a:srgbClr val="8F1EAE"/>
                </a:solidFill>
                <a:latin typeface="Noto Sans Kr"/>
                <a:ea typeface="Noto Sans Kr"/>
                <a:cs typeface="Noto Sans Kr"/>
                <a:sym typeface="Noto Sans Kr"/>
              </a:rPr>
              <a:t>→ AI 자동 충전, 경고 없음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23618" y="2775399"/>
            <a:ext cx="325441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OFF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542736" y="2756349"/>
            <a:ext cx="163084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b="true" sz="1350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corpus 없음 · 대조군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47423" y="7849110"/>
            <a:ext cx="27473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🔴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17346" y="7795770"/>
            <a:ext cx="6138682" cy="231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6"/>
              </a:lnSpc>
            </a:pPr>
            <a:r>
              <a:rPr lang="en-US" sz="1200" b="true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spreadsheet_id = YOUR_SPREADSHEET_ID</a:t>
            </a:r>
            <a:r>
              <a:rPr lang="en-US" sz="1200" b="true">
                <a:solidFill>
                  <a:srgbClr val="73737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sz="1200">
                <a:solidFill>
                  <a:srgbClr val="737373"/>
                </a:solidFill>
                <a:latin typeface="Noto Sans Kr"/>
                <a:ea typeface="Noto Sans Kr"/>
                <a:cs typeface="Noto Sans Kr"/>
                <a:sym typeface="Noto Sans Kr"/>
              </a:rPr>
              <a:t>(임의 placeholder) </a:t>
            </a:r>
            <a:r>
              <a:rPr lang="en-US" sz="1200">
                <a:solidFill>
                  <a:srgbClr val="EC4899"/>
                </a:solidFill>
                <a:latin typeface="Noto Sans Kr"/>
                <a:ea typeface="Noto Sans Kr"/>
                <a:cs typeface="Noto Sans Kr"/>
                <a:sym typeface="Noto Sans Kr"/>
              </a:rPr>
              <a:t>→ “다시 확인” 경고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491348" y="2775399"/>
            <a:ext cx="259356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944376" y="2756349"/>
            <a:ext cx="1573454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b="true" sz="1350">
                <a:solidFill>
                  <a:srgbClr val="8F1EA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패턴 주입 · 자동 충전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415148" y="7849110"/>
            <a:ext cx="27473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🟢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96953" y="8782938"/>
            <a:ext cx="135437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같은 발화인데 —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2459279" y="8792463"/>
            <a:ext cx="12564475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OFF는 </a:t>
            </a:r>
            <a:r>
              <a:rPr lang="en-US" sz="1425">
                <a:solidFill>
                  <a:srgbClr val="FCA5A5"/>
                </a:solidFill>
                <a:latin typeface="Noto Sans Kr"/>
                <a:ea typeface="Noto Sans Kr"/>
                <a:cs typeface="Noto Sans Kr"/>
                <a:sym typeface="Noto Sans Kr"/>
              </a:rPr>
              <a:t>YOUR_SPREADSHEET_ID</a:t>
            </a:r>
            <a:r>
              <a:rPr lang="en-US" sz="1425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(빈 placeholder·경고), ON은 </a:t>
            </a:r>
            <a:r>
              <a:rPr lang="en-US" sz="1425">
                <a:solidFill>
                  <a:srgbClr val="C4B5FD"/>
                </a:solidFill>
                <a:latin typeface="Noto Sans Kr"/>
                <a:ea typeface="Noto Sans Kr"/>
                <a:cs typeface="Noto Sans Kr"/>
                <a:sym typeface="Noto Sans Kr"/>
              </a:rPr>
              <a:t>flowit01</a:t>
            </a:r>
            <a:r>
              <a:rPr lang="en-US" sz="1425">
                <a:solidFill>
                  <a:srgbClr val="CBD5E1"/>
                </a:solidFill>
                <a:latin typeface="Noto Sans Kr"/>
                <a:ea typeface="Noto Sans Kr"/>
                <a:cs typeface="Noto Sans Kr"/>
                <a:sym typeface="Noto Sans Kr"/>
              </a:rPr>
              <a:t>(과거 패턴에서 회수한 실제 값). </a:t>
            </a:r>
            <a:r>
              <a:rPr lang="en-US" sz="1425" b="true">
                <a:solidFill>
                  <a:srgbClr val="FFFF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별도로 말 안 한 값도 사용자 습관대로 자동으로 채운다.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62000" y="511178"/>
            <a:ext cx="114840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297">
                <a:solidFill>
                  <a:srgbClr val="8F1EA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04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0337471" y="511178"/>
            <a:ext cx="718852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80"/>
              </a:lnSpc>
            </a:pPr>
            <a:r>
              <a:rPr lang="en-US" b="true" sz="1650" spc="231">
                <a:solidFill>
                  <a:srgbClr val="A6A6A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REQ-005 · 이가원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2180911" y="511178"/>
            <a:ext cx="3641408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198">
                <a:solidFill>
                  <a:srgbClr val="7619C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⑥</a:t>
            </a:r>
            <a:r>
              <a:rPr lang="en-US" b="true" sz="1650" spc="198">
                <a:solidFill>
                  <a:srgbClr val="FBBF2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b="true" sz="1650" spc="198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Personalization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787403" y="1111253"/>
            <a:ext cx="13103803" cy="557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개인화 주입 A/B</a:t>
            </a:r>
            <a:r>
              <a:rPr lang="en-US" b="true" sz="3450" spc="-69">
                <a:solidFill>
                  <a:srgbClr val="0F172A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 — 같은 발화, 파라미터를 사용자 값으로 채운다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787403" y="1726568"/>
            <a:ext cx="1616808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personal_RAG OFF는 임의 placeholder라 경고 / ON은 사용자</a:t>
            </a:r>
            <a:r>
              <a:rPr lang="en-US" sz="165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 패턴값으로 채워 경고 없음. · 동일 발화 “매주 월요일 9시에 광고 시트를 읽어서 요약하고 Slack으로 보내줘”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937547" y="9608820"/>
            <a:ext cx="8191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CBD5E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|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2127418" y="9608820"/>
            <a:ext cx="325484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⑥ Personalization · 개인화 주입 A/B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0300856" y="9608820"/>
            <a:ext cx="719338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Part 04 — Personalization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62000" y="9608820"/>
            <a:ext cx="91011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35 </a:t>
            </a:r>
            <a:r>
              <a:rPr lang="en-US" b="true" sz="1500" spc="270">
                <a:solidFill>
                  <a:srgbClr val="0F172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92203" y="3933296"/>
            <a:ext cx="1646932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2100" spc="630">
                <a:solidFill>
                  <a:srgbClr val="EA580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05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92203" y="4423220"/>
            <a:ext cx="6311652" cy="1290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06"/>
              </a:lnSpc>
            </a:pPr>
            <a:r>
              <a:rPr lang="en-US" b="true" sz="8100" spc="-202">
                <a:solidFill>
                  <a:srgbClr val="F6F4EE"/>
                </a:solidFill>
                <a:latin typeface="Noto Sans Kr Ultra-Bold"/>
                <a:ea typeface="Noto Sans Kr Ultra-Bold"/>
                <a:cs typeface="Noto Sans Kr Ultra-Bold"/>
                <a:sym typeface="Noto Sans Kr Ultra-Bold"/>
              </a:rPr>
              <a:t>실제 동작 흐름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92203" y="5822971"/>
            <a:ext cx="15962836" cy="530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2700">
                <a:solidFill>
                  <a:srgbClr val="B5BFCC"/>
                </a:solidFill>
                <a:latin typeface="Noto Sans Kr"/>
                <a:ea typeface="Noto Sans Kr"/>
                <a:cs typeface="Noto Sans Kr"/>
                <a:sym typeface="Noto Sans Kr"/>
              </a:rPr>
              <a:t>E2E 시퀀스 · LLM Supervisor · Tool-Calling 파이프라인 · SSE 프레임 매핑 · HITL Gate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25503" y="9707880"/>
            <a:ext cx="59686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spc="6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36/ 44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>
  <p:cSld>
    <p:bg>
      <p:bgPr>
        <a:solidFill>
          <a:srgbClr val="F6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37235" y="1741113"/>
            <a:ext cx="3173616" cy="2365115"/>
            <a:chOff x="0" y="0"/>
            <a:chExt cx="4231488" cy="3153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3411596" y="1968379"/>
            <a:ext cx="337004" cy="171450"/>
            <a:chOff x="0" y="0"/>
            <a:chExt cx="449339" cy="228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49326" cy="228600"/>
            </a:xfrm>
            <a:custGeom>
              <a:avLst/>
              <a:gdLst/>
              <a:ahLst/>
              <a:cxnLst/>
              <a:rect r="r" b="b" t="t" l="l"/>
              <a:pathLst>
                <a:path h="228600" w="449326">
                  <a:moveTo>
                    <a:pt x="0" y="63500"/>
                  </a:moveTo>
                  <a:cubicBezTo>
                    <a:pt x="0" y="28448"/>
                    <a:pt x="28448" y="0"/>
                    <a:pt x="63500" y="0"/>
                  </a:cubicBezTo>
                  <a:lnTo>
                    <a:pt x="385826" y="0"/>
                  </a:lnTo>
                  <a:cubicBezTo>
                    <a:pt x="420878" y="0"/>
                    <a:pt x="449326" y="28448"/>
                    <a:pt x="449326" y="63500"/>
                  </a:cubicBezTo>
                  <a:lnTo>
                    <a:pt x="449326" y="165100"/>
                  </a:lnTo>
                  <a:cubicBezTo>
                    <a:pt x="449326" y="200152"/>
                    <a:pt x="420878" y="228600"/>
                    <a:pt x="385826" y="228600"/>
                  </a:cubicBezTo>
                  <a:lnTo>
                    <a:pt x="63500" y="228600"/>
                  </a:lnTo>
                  <a:cubicBezTo>
                    <a:pt x="28448" y="228600"/>
                    <a:pt x="0" y="200152"/>
                    <a:pt x="0" y="165100"/>
                  </a:cubicBezTo>
                  <a:close/>
                </a:path>
              </a:pathLst>
            </a:custGeom>
            <a:solidFill>
              <a:srgbClr val="FCEFE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20115" y="3614918"/>
            <a:ext cx="2807856" cy="327546"/>
            <a:chOff x="0" y="0"/>
            <a:chExt cx="3743808" cy="43672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743833" cy="436753"/>
            </a:xfrm>
            <a:custGeom>
              <a:avLst/>
              <a:gdLst/>
              <a:ahLst/>
              <a:cxnLst/>
              <a:rect r="r" b="b" t="t" l="l"/>
              <a:pathLst>
                <a:path h="436753" w="3743833">
                  <a:moveTo>
                    <a:pt x="0" y="105283"/>
                  </a:moveTo>
                  <a:cubicBezTo>
                    <a:pt x="0" y="47117"/>
                    <a:pt x="47117" y="0"/>
                    <a:pt x="105283" y="0"/>
                  </a:cubicBezTo>
                  <a:lnTo>
                    <a:pt x="3638550" y="0"/>
                  </a:lnTo>
                  <a:cubicBezTo>
                    <a:pt x="3696716" y="0"/>
                    <a:pt x="3743833" y="47117"/>
                    <a:pt x="3743833" y="105283"/>
                  </a:cubicBezTo>
                  <a:lnTo>
                    <a:pt x="3743833" y="331470"/>
                  </a:lnTo>
                  <a:cubicBezTo>
                    <a:pt x="3743833" y="389636"/>
                    <a:pt x="3696716" y="436753"/>
                    <a:pt x="3638550" y="436753"/>
                  </a:cubicBezTo>
                  <a:lnTo>
                    <a:pt x="105283" y="436753"/>
                  </a:lnTo>
                  <a:cubicBezTo>
                    <a:pt x="47117" y="436753"/>
                    <a:pt x="0" y="389636"/>
                    <a:pt x="0" y="331470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EF0FE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737235" y="4209097"/>
            <a:ext cx="3173616" cy="2365115"/>
            <a:chOff x="0" y="0"/>
            <a:chExt cx="4231488" cy="31534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951233" y="6100198"/>
            <a:ext cx="1223303" cy="316453"/>
            <a:chOff x="0" y="0"/>
            <a:chExt cx="1432319" cy="37052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32306" cy="370459"/>
            </a:xfrm>
            <a:custGeom>
              <a:avLst/>
              <a:gdLst/>
              <a:ahLst/>
              <a:cxnLst/>
              <a:rect r="r" b="b" t="t" l="l"/>
              <a:pathLst>
                <a:path h="370459" w="1432306">
                  <a:moveTo>
                    <a:pt x="0" y="92710"/>
                  </a:moveTo>
                  <a:cubicBezTo>
                    <a:pt x="0" y="41529"/>
                    <a:pt x="41529" y="0"/>
                    <a:pt x="92710" y="0"/>
                  </a:cubicBezTo>
                  <a:lnTo>
                    <a:pt x="1339596" y="0"/>
                  </a:lnTo>
                  <a:cubicBezTo>
                    <a:pt x="1390777" y="0"/>
                    <a:pt x="1432306" y="41529"/>
                    <a:pt x="1432306" y="92710"/>
                  </a:cubicBezTo>
                  <a:lnTo>
                    <a:pt x="1432306" y="277749"/>
                  </a:lnTo>
                  <a:cubicBezTo>
                    <a:pt x="1432306" y="328930"/>
                    <a:pt x="1390777" y="370459"/>
                    <a:pt x="1339596" y="370459"/>
                  </a:cubicBezTo>
                  <a:lnTo>
                    <a:pt x="92710" y="370459"/>
                  </a:lnTo>
                  <a:cubicBezTo>
                    <a:pt x="41529" y="370459"/>
                    <a:pt x="0" y="328930"/>
                    <a:pt x="0" y="277749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EF0FE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737235" y="6677082"/>
            <a:ext cx="3173616" cy="2365115"/>
            <a:chOff x="0" y="0"/>
            <a:chExt cx="4231488" cy="315348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14B8A6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3313727" y="6904358"/>
            <a:ext cx="369684" cy="171450"/>
            <a:chOff x="0" y="0"/>
            <a:chExt cx="492912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92887" cy="228600"/>
            </a:xfrm>
            <a:custGeom>
              <a:avLst/>
              <a:gdLst/>
              <a:ahLst/>
              <a:cxnLst/>
              <a:rect r="r" b="b" t="t" l="l"/>
              <a:pathLst>
                <a:path h="228600" w="492887">
                  <a:moveTo>
                    <a:pt x="0" y="63500"/>
                  </a:moveTo>
                  <a:cubicBezTo>
                    <a:pt x="0" y="28448"/>
                    <a:pt x="28448" y="0"/>
                    <a:pt x="63500" y="0"/>
                  </a:cubicBezTo>
                  <a:lnTo>
                    <a:pt x="429387" y="0"/>
                  </a:lnTo>
                  <a:cubicBezTo>
                    <a:pt x="464439" y="0"/>
                    <a:pt x="492887" y="28448"/>
                    <a:pt x="492887" y="63500"/>
                  </a:cubicBezTo>
                  <a:lnTo>
                    <a:pt x="492887" y="165100"/>
                  </a:lnTo>
                  <a:cubicBezTo>
                    <a:pt x="492887" y="200152"/>
                    <a:pt x="464439" y="228600"/>
                    <a:pt x="429387" y="228600"/>
                  </a:cubicBezTo>
                  <a:lnTo>
                    <a:pt x="63500" y="228600"/>
                  </a:lnTo>
                  <a:cubicBezTo>
                    <a:pt x="28448" y="228600"/>
                    <a:pt x="0" y="200152"/>
                    <a:pt x="0" y="165100"/>
                  </a:cubicBezTo>
                  <a:close/>
                </a:path>
              </a:pathLst>
            </a:custGeom>
            <a:solidFill>
              <a:srgbClr val="EAF7F0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20115" y="8550888"/>
            <a:ext cx="2807856" cy="327546"/>
            <a:chOff x="0" y="0"/>
            <a:chExt cx="3743808" cy="43672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43833" cy="436753"/>
            </a:xfrm>
            <a:custGeom>
              <a:avLst/>
              <a:gdLst/>
              <a:ahLst/>
              <a:cxnLst/>
              <a:rect r="r" b="b" t="t" l="l"/>
              <a:pathLst>
                <a:path h="436753" w="3743833">
                  <a:moveTo>
                    <a:pt x="0" y="105283"/>
                  </a:moveTo>
                  <a:cubicBezTo>
                    <a:pt x="0" y="47117"/>
                    <a:pt x="47117" y="0"/>
                    <a:pt x="105283" y="0"/>
                  </a:cubicBezTo>
                  <a:lnTo>
                    <a:pt x="3638550" y="0"/>
                  </a:lnTo>
                  <a:cubicBezTo>
                    <a:pt x="3696716" y="0"/>
                    <a:pt x="3743833" y="47117"/>
                    <a:pt x="3743833" y="105283"/>
                  </a:cubicBezTo>
                  <a:lnTo>
                    <a:pt x="3743833" y="331470"/>
                  </a:lnTo>
                  <a:cubicBezTo>
                    <a:pt x="3743833" y="389636"/>
                    <a:pt x="3696716" y="436753"/>
                    <a:pt x="3638550" y="436753"/>
                  </a:cubicBezTo>
                  <a:lnTo>
                    <a:pt x="105283" y="436753"/>
                  </a:lnTo>
                  <a:cubicBezTo>
                    <a:pt x="47117" y="436753"/>
                    <a:pt x="0" y="389636"/>
                    <a:pt x="0" y="331470"/>
                  </a:cubicBezTo>
                  <a:close/>
                </a:path>
              </a:pathLst>
            </a:custGeom>
            <a:solidFill>
              <a:srgbClr val="F6FBF8"/>
            </a:solidFill>
            <a:ln w="11430" cap="sq">
              <a:solidFill>
                <a:srgbClr val="D6ECE0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4089797" y="1741113"/>
            <a:ext cx="13460968" cy="7301093"/>
            <a:chOff x="0" y="0"/>
            <a:chExt cx="17947958" cy="9734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948021" cy="9734804"/>
            </a:xfrm>
            <a:custGeom>
              <a:avLst/>
              <a:gdLst/>
              <a:ahLst/>
              <a:cxnLst/>
              <a:rect r="r" b="b" t="t" l="l"/>
              <a:pathLst>
                <a:path h="9734804" w="17948021">
                  <a:moveTo>
                    <a:pt x="0" y="203581"/>
                  </a:moveTo>
                  <a:cubicBezTo>
                    <a:pt x="0" y="91186"/>
                    <a:pt x="91186" y="0"/>
                    <a:pt x="203581" y="0"/>
                  </a:cubicBezTo>
                  <a:lnTo>
                    <a:pt x="17744439" y="0"/>
                  </a:lnTo>
                  <a:cubicBezTo>
                    <a:pt x="17856834" y="0"/>
                    <a:pt x="17948021" y="91186"/>
                    <a:pt x="17948021" y="203581"/>
                  </a:cubicBezTo>
                  <a:lnTo>
                    <a:pt x="17948021" y="9531223"/>
                  </a:lnTo>
                  <a:cubicBezTo>
                    <a:pt x="17948021" y="9643618"/>
                    <a:pt x="17856834" y="9734804"/>
                    <a:pt x="17744439" y="9734804"/>
                  </a:cubicBezTo>
                  <a:lnTo>
                    <a:pt x="203581" y="9734804"/>
                  </a:lnTo>
                  <a:cubicBezTo>
                    <a:pt x="91186" y="9734804"/>
                    <a:pt x="0" y="9643618"/>
                    <a:pt x="0" y="9531223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D9D9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5640353" y="2575322"/>
            <a:ext cx="14288" cy="6278280"/>
            <a:chOff x="0" y="0"/>
            <a:chExt cx="19050" cy="83710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EF0FE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226743" y="2575322"/>
            <a:ext cx="14288" cy="6278280"/>
            <a:chOff x="0" y="0"/>
            <a:chExt cx="19050" cy="8371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EF0FE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7764575" y="2356371"/>
            <a:ext cx="924334" cy="347435"/>
            <a:chOff x="0" y="0"/>
            <a:chExt cx="1054176" cy="3962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54227" cy="396240"/>
            </a:xfrm>
            <a:custGeom>
              <a:avLst/>
              <a:gdLst/>
              <a:ahLst/>
              <a:cxnLst/>
              <a:rect r="r" b="b" t="t" l="l"/>
              <a:pathLst>
                <a:path h="396240" w="1054227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948563" y="0"/>
                  </a:lnTo>
                  <a:cubicBezTo>
                    <a:pt x="1006983" y="0"/>
                    <a:pt x="1054227" y="47371"/>
                    <a:pt x="1054227" y="105664"/>
                  </a:cubicBezTo>
                  <a:lnTo>
                    <a:pt x="1054227" y="290576"/>
                  </a:lnTo>
                  <a:cubicBezTo>
                    <a:pt x="1054227" y="348996"/>
                    <a:pt x="1006856" y="396240"/>
                    <a:pt x="948563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D9D9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0812961" y="2575322"/>
            <a:ext cx="14288" cy="6278280"/>
            <a:chOff x="0" y="0"/>
            <a:chExt cx="19050" cy="83710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EF0F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0300471" y="2356371"/>
            <a:ext cx="1024979" cy="347435"/>
            <a:chOff x="0" y="0"/>
            <a:chExt cx="1168959" cy="3962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68908" cy="396240"/>
            </a:xfrm>
            <a:custGeom>
              <a:avLst/>
              <a:gdLst/>
              <a:ahLst/>
              <a:cxnLst/>
              <a:rect r="r" b="b" t="t" l="l"/>
              <a:pathLst>
                <a:path h="396240" w="1168908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1063244" y="0"/>
                  </a:lnTo>
                  <a:cubicBezTo>
                    <a:pt x="1121664" y="0"/>
                    <a:pt x="1168908" y="47371"/>
                    <a:pt x="1168908" y="105664"/>
                  </a:cubicBezTo>
                  <a:lnTo>
                    <a:pt x="1168908" y="290576"/>
                  </a:lnTo>
                  <a:cubicBezTo>
                    <a:pt x="1168908" y="348996"/>
                    <a:pt x="1121537" y="396240"/>
                    <a:pt x="1063244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D9D9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3399351" y="2575322"/>
            <a:ext cx="14288" cy="6278280"/>
            <a:chOff x="0" y="0"/>
            <a:chExt cx="19050" cy="83710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EF0FE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2805407" y="2356371"/>
            <a:ext cx="1183240" cy="347435"/>
            <a:chOff x="0" y="0"/>
            <a:chExt cx="1349451" cy="3962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349502" cy="396240"/>
            </a:xfrm>
            <a:custGeom>
              <a:avLst/>
              <a:gdLst/>
              <a:ahLst/>
              <a:cxnLst/>
              <a:rect r="r" b="b" t="t" l="l"/>
              <a:pathLst>
                <a:path h="396240" w="1349502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1243838" y="0"/>
                  </a:lnTo>
                  <a:cubicBezTo>
                    <a:pt x="1302258" y="0"/>
                    <a:pt x="1349502" y="47371"/>
                    <a:pt x="1349502" y="105664"/>
                  </a:cubicBezTo>
                  <a:lnTo>
                    <a:pt x="1349502" y="290576"/>
                  </a:lnTo>
                  <a:cubicBezTo>
                    <a:pt x="1349502" y="348996"/>
                    <a:pt x="1302131" y="396240"/>
                    <a:pt x="1243838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4F46E5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1848976" y="4453052"/>
            <a:ext cx="4925435" cy="3464357"/>
            <a:chOff x="0" y="0"/>
            <a:chExt cx="6567246" cy="461914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567297" cy="4619244"/>
            </a:xfrm>
            <a:custGeom>
              <a:avLst/>
              <a:gdLst/>
              <a:ahLst/>
              <a:cxnLst/>
              <a:rect r="r" b="b" t="t" l="l"/>
              <a:pathLst>
                <a:path h="4619244" w="6567297">
                  <a:moveTo>
                    <a:pt x="0" y="140208"/>
                  </a:moveTo>
                  <a:cubicBezTo>
                    <a:pt x="0" y="62738"/>
                    <a:pt x="62738" y="0"/>
                    <a:pt x="140208" y="0"/>
                  </a:cubicBezTo>
                  <a:lnTo>
                    <a:pt x="6427089" y="0"/>
                  </a:lnTo>
                  <a:cubicBezTo>
                    <a:pt x="6504432" y="0"/>
                    <a:pt x="6567297" y="62738"/>
                    <a:pt x="6567297" y="140208"/>
                  </a:cubicBezTo>
                  <a:lnTo>
                    <a:pt x="6567297" y="4479036"/>
                  </a:lnTo>
                  <a:cubicBezTo>
                    <a:pt x="6567297" y="4556379"/>
                    <a:pt x="6504559" y="4619244"/>
                    <a:pt x="6427089" y="4619244"/>
                  </a:cubicBezTo>
                  <a:lnTo>
                    <a:pt x="140208" y="4619244"/>
                  </a:lnTo>
                  <a:cubicBezTo>
                    <a:pt x="62738" y="4619117"/>
                    <a:pt x="0" y="4556379"/>
                    <a:pt x="0" y="4479036"/>
                  </a:cubicBezTo>
                  <a:close/>
                </a:path>
              </a:pathLst>
            </a:custGeom>
            <a:solidFill>
              <a:srgbClr val="4338CA">
                <a:alpha val="0"/>
              </a:srgbClr>
            </a:solidFill>
            <a:ln w="19050" cap="sq">
              <a:solidFill>
                <a:srgbClr val="C8CCF7"/>
              </a:solidFill>
              <a:prstDash val="sysDot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15985750" y="2575322"/>
            <a:ext cx="14288" cy="6278280"/>
            <a:chOff x="0" y="0"/>
            <a:chExt cx="19050" cy="83710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EF0FE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5467877" y="2356371"/>
            <a:ext cx="1050034" cy="347435"/>
            <a:chOff x="0" y="0"/>
            <a:chExt cx="1197534" cy="3962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97483" cy="396240"/>
            </a:xfrm>
            <a:custGeom>
              <a:avLst/>
              <a:gdLst/>
              <a:ahLst/>
              <a:cxnLst/>
              <a:rect r="r" b="b" t="t" l="l"/>
              <a:pathLst>
                <a:path h="396240" w="1197483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1091819" y="0"/>
                  </a:lnTo>
                  <a:cubicBezTo>
                    <a:pt x="1150239" y="0"/>
                    <a:pt x="1197483" y="47371"/>
                    <a:pt x="1197483" y="105664"/>
                  </a:cubicBezTo>
                  <a:lnTo>
                    <a:pt x="1197483" y="290576"/>
                  </a:lnTo>
                  <a:cubicBezTo>
                    <a:pt x="1197483" y="348996"/>
                    <a:pt x="1150112" y="396240"/>
                    <a:pt x="1091819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D9D9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1999357" y="4384472"/>
            <a:ext cx="2429056" cy="114300"/>
            <a:chOff x="0" y="0"/>
            <a:chExt cx="3238741" cy="1524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238754" cy="152400"/>
            </a:xfrm>
            <a:custGeom>
              <a:avLst/>
              <a:gdLst/>
              <a:ahLst/>
              <a:cxnLst/>
              <a:rect r="r" b="b" t="t" l="l"/>
              <a:pathLst>
                <a:path h="152400" w="3238754">
                  <a:moveTo>
                    <a:pt x="0" y="0"/>
                  </a:moveTo>
                  <a:lnTo>
                    <a:pt x="3238754" y="0"/>
                  </a:lnTo>
                  <a:lnTo>
                    <a:pt x="323875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5647487" y="3189865"/>
            <a:ext cx="2586218" cy="11430"/>
            <a:chOff x="0" y="0"/>
            <a:chExt cx="3448291" cy="152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448304" cy="15240"/>
            </a:xfrm>
            <a:custGeom>
              <a:avLst/>
              <a:gdLst/>
              <a:ahLst/>
              <a:cxnLst/>
              <a:rect r="r" b="b" t="t" l="l"/>
              <a:pathLst>
                <a:path h="15240" w="3448304">
                  <a:moveTo>
                    <a:pt x="0" y="0"/>
                  </a:moveTo>
                  <a:lnTo>
                    <a:pt x="3448304" y="0"/>
                  </a:lnTo>
                  <a:lnTo>
                    <a:pt x="344830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8163163" y="3153785"/>
            <a:ext cx="80010" cy="91440"/>
            <a:chOff x="0" y="0"/>
            <a:chExt cx="106680" cy="1219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8233886" y="4236244"/>
            <a:ext cx="2586218" cy="11430"/>
            <a:chOff x="0" y="0"/>
            <a:chExt cx="3448291" cy="152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448304" cy="15240"/>
            </a:xfrm>
            <a:custGeom>
              <a:avLst/>
              <a:gdLst/>
              <a:ahLst/>
              <a:cxnLst/>
              <a:rect r="r" b="b" t="t" l="l"/>
              <a:pathLst>
                <a:path h="15240" w="3448304">
                  <a:moveTo>
                    <a:pt x="0" y="0"/>
                  </a:moveTo>
                  <a:lnTo>
                    <a:pt x="3448304" y="0"/>
                  </a:lnTo>
                  <a:lnTo>
                    <a:pt x="344830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4338CA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0749553" y="4200163"/>
            <a:ext cx="80010" cy="91440"/>
            <a:chOff x="0" y="0"/>
            <a:chExt cx="106680" cy="1219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4338CA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0820276" y="5282622"/>
            <a:ext cx="2586218" cy="11430"/>
            <a:chOff x="0" y="0"/>
            <a:chExt cx="3448291" cy="152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448304" cy="15240"/>
            </a:xfrm>
            <a:custGeom>
              <a:avLst/>
              <a:gdLst/>
              <a:ahLst/>
              <a:cxnLst/>
              <a:rect r="r" b="b" t="t" l="l"/>
              <a:pathLst>
                <a:path h="15240" w="3448304">
                  <a:moveTo>
                    <a:pt x="0" y="0"/>
                  </a:moveTo>
                  <a:lnTo>
                    <a:pt x="3448304" y="0"/>
                  </a:lnTo>
                  <a:lnTo>
                    <a:pt x="344830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3335952" y="5246551"/>
            <a:ext cx="80010" cy="91440"/>
            <a:chOff x="0" y="0"/>
            <a:chExt cx="106680" cy="12192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3406495" y="6329001"/>
            <a:ext cx="2586218" cy="11430"/>
            <a:chOff x="0" y="0"/>
            <a:chExt cx="3448291" cy="152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448304" cy="15240"/>
            </a:xfrm>
            <a:custGeom>
              <a:avLst/>
              <a:gdLst/>
              <a:ahLst/>
              <a:cxnLst/>
              <a:rect r="r" b="b" t="t" l="l"/>
              <a:pathLst>
                <a:path h="15240" w="3448304">
                  <a:moveTo>
                    <a:pt x="0" y="0"/>
                  </a:moveTo>
                  <a:lnTo>
                    <a:pt x="3448304" y="0"/>
                  </a:lnTo>
                  <a:lnTo>
                    <a:pt x="344830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4338CA"/>
            </a:solid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5922171" y="6292929"/>
            <a:ext cx="80010" cy="91440"/>
            <a:chOff x="0" y="0"/>
            <a:chExt cx="106680" cy="12192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4338CA"/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3406495" y="7375388"/>
            <a:ext cx="2586218" cy="11430"/>
            <a:chOff x="0" y="0"/>
            <a:chExt cx="3448291" cy="152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448304" cy="15240"/>
            </a:xfrm>
            <a:custGeom>
              <a:avLst/>
              <a:gdLst/>
              <a:ahLst/>
              <a:cxnLst/>
              <a:rect r="r" b="b" t="t" l="l"/>
              <a:pathLst>
                <a:path h="15240" w="3448304">
                  <a:moveTo>
                    <a:pt x="0" y="0"/>
                  </a:moveTo>
                  <a:lnTo>
                    <a:pt x="3448304" y="0"/>
                  </a:lnTo>
                  <a:lnTo>
                    <a:pt x="344830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4338CA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13397027" y="7339308"/>
            <a:ext cx="80010" cy="91440"/>
            <a:chOff x="0" y="0"/>
            <a:chExt cx="106680" cy="12192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4338CA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8233886" y="8421767"/>
            <a:ext cx="5172608" cy="11430"/>
            <a:chOff x="0" y="0"/>
            <a:chExt cx="6896811" cy="152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6896862" cy="15240"/>
            </a:xfrm>
            <a:custGeom>
              <a:avLst/>
              <a:gdLst/>
              <a:ahLst/>
              <a:cxnLst/>
              <a:rect r="r" b="b" t="t" l="l"/>
              <a:pathLst>
                <a:path h="15240" w="6896862">
                  <a:moveTo>
                    <a:pt x="0" y="0"/>
                  </a:moveTo>
                  <a:lnTo>
                    <a:pt x="6896862" y="0"/>
                  </a:lnTo>
                  <a:lnTo>
                    <a:pt x="6896862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8224418" y="8385686"/>
            <a:ext cx="80010" cy="91440"/>
            <a:chOff x="0" y="0"/>
            <a:chExt cx="106680" cy="12192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737235" y="9154535"/>
            <a:ext cx="16813530" cy="482918"/>
            <a:chOff x="0" y="0"/>
            <a:chExt cx="22418040" cy="64389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2418041" cy="643890"/>
            </a:xfrm>
            <a:custGeom>
              <a:avLst/>
              <a:gdLst/>
              <a:ahLst/>
              <a:cxnLst/>
              <a:rect r="r" b="b" t="t" l="l"/>
              <a:pathLst>
                <a:path h="643890" w="22418041">
                  <a:moveTo>
                    <a:pt x="0" y="156083"/>
                  </a:moveTo>
                  <a:cubicBezTo>
                    <a:pt x="0" y="69850"/>
                    <a:pt x="69850" y="0"/>
                    <a:pt x="156083" y="0"/>
                  </a:cubicBezTo>
                  <a:lnTo>
                    <a:pt x="22261957" y="0"/>
                  </a:lnTo>
                  <a:cubicBezTo>
                    <a:pt x="22348191" y="0"/>
                    <a:pt x="22418041" y="69850"/>
                    <a:pt x="22418041" y="156083"/>
                  </a:cubicBezTo>
                  <a:lnTo>
                    <a:pt x="22418041" y="487807"/>
                  </a:lnTo>
                  <a:cubicBezTo>
                    <a:pt x="22418041" y="574040"/>
                    <a:pt x="22348191" y="643890"/>
                    <a:pt x="22261957" y="643890"/>
                  </a:cubicBezTo>
                  <a:lnTo>
                    <a:pt x="156083" y="643890"/>
                  </a:lnTo>
                  <a:cubicBezTo>
                    <a:pt x="69850" y="643890"/>
                    <a:pt x="0" y="574040"/>
                    <a:pt x="0" y="487807"/>
                  </a:cubicBezTo>
                  <a:close/>
                </a:path>
              </a:pathLst>
            </a:custGeom>
            <a:solidFill>
              <a:srgbClr val="FBFBFD"/>
            </a:solidFill>
            <a:ln w="11430" cap="sq">
              <a:solidFill>
                <a:srgbClr val="E5F0FB"/>
              </a:solidFill>
              <a:prstDash val="solid"/>
              <a:miter/>
            </a:ln>
          </p:spPr>
        </p:sp>
      </p:grpSp>
      <p:sp>
        <p:nvSpPr>
          <p:cNvPr name="TextBox 68" id="68"/>
          <p:cNvSpPr txBox="true"/>
          <p:nvPr/>
        </p:nvSpPr>
        <p:spPr>
          <a:xfrm rot="0">
            <a:off x="768353" y="561403"/>
            <a:ext cx="117720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363">
                <a:solidFill>
                  <a:srgbClr val="1E3A8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05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1793081" y="551183"/>
            <a:ext cx="9525" cy="152343"/>
            <a:chOff x="0" y="0"/>
            <a:chExt cx="12700" cy="203124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12700" cy="203073"/>
            </a:xfrm>
            <a:custGeom>
              <a:avLst/>
              <a:gdLst/>
              <a:ahLst/>
              <a:cxnLst/>
              <a:rect r="r" b="b" t="t" l="l"/>
              <a:pathLst>
                <a:path h="203073" w="12700">
                  <a:moveTo>
                    <a:pt x="0" y="0"/>
                  </a:moveTo>
                  <a:lnTo>
                    <a:pt x="12700" y="0"/>
                  </a:lnTo>
                  <a:lnTo>
                    <a:pt x="12700" y="203073"/>
                  </a:lnTo>
                  <a:lnTo>
                    <a:pt x="0" y="203073"/>
                  </a:lnTo>
                  <a:close/>
                </a:path>
              </a:pathLst>
            </a:custGeom>
            <a:solidFill>
              <a:srgbClr val="D2D2CC"/>
            </a:solidFill>
          </p:spPr>
        </p:sp>
      </p:grpSp>
      <p:sp>
        <p:nvSpPr>
          <p:cNvPr name="TextBox 71" id="71"/>
          <p:cNvSpPr txBox="true"/>
          <p:nvPr/>
        </p:nvSpPr>
        <p:spPr>
          <a:xfrm rot="0">
            <a:off x="15253516" y="551183"/>
            <a:ext cx="2325824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330">
                <a:solidFill>
                  <a:srgbClr val="A8ADB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시스템 아키텍처 명세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68353" y="855916"/>
            <a:ext cx="6996222" cy="5356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47"/>
              </a:lnSpc>
            </a:pPr>
            <a:r>
              <a:rPr lang="en-US" b="true" sz="3450" spc="-51">
                <a:solidFill>
                  <a:srgbClr val="16161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전체 시스템 동작 흐름 </a:t>
            </a:r>
            <a:r>
              <a:rPr lang="en-US" b="true" sz="3450" spc="-51">
                <a:solidFill>
                  <a:srgbClr val="2563E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— End-to-End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768353" y="1400747"/>
            <a:ext cx="5615962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사용자 메시지 입력부터 워크플로우 실행 완료까지의 전체 시퀀스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951233" y="1958854"/>
            <a:ext cx="2271821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3982F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STEP 01 — CLIENT TO API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3474116" y="2004363"/>
            <a:ext cx="189345" cy="109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9"/>
              </a:lnSpc>
            </a:pPr>
            <a:r>
              <a:rPr lang="en-US" sz="799" b="true">
                <a:solidFill>
                  <a:srgbClr val="9A3412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SSE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951233" y="2774013"/>
            <a:ext cx="2060972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사용자 요청 → API Server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067314" y="3733600"/>
            <a:ext cx="578810" cy="109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9"/>
              </a:lnSpc>
            </a:pPr>
            <a:r>
              <a:rPr lang="en-US" b="true" sz="799" spc="47">
                <a:solidFill>
                  <a:srgbClr val="94A3B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ENDPOINT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2443201" y="3707254"/>
            <a:ext cx="1156097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b="true" sz="999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POST /ai/compose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951233" y="4403979"/>
            <a:ext cx="1795030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3982F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STEP 02 — ROUTING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51233" y="5082159"/>
            <a:ext cx="2328646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Orchestrator → Sub-Agent</a:t>
            </a:r>
          </a:p>
        </p:txBody>
      </p:sp>
      <p:grpSp>
        <p:nvGrpSpPr>
          <p:cNvPr name="Group 81" id="81"/>
          <p:cNvGrpSpPr/>
          <p:nvPr/>
        </p:nvGrpSpPr>
        <p:grpSpPr>
          <a:xfrm rot="0">
            <a:off x="951233" y="5669445"/>
            <a:ext cx="1223303" cy="316453"/>
            <a:chOff x="0" y="0"/>
            <a:chExt cx="1432319" cy="37052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1432306" cy="370459"/>
            </a:xfrm>
            <a:custGeom>
              <a:avLst/>
              <a:gdLst/>
              <a:ahLst/>
              <a:cxnLst/>
              <a:rect r="r" b="b" t="t" l="l"/>
              <a:pathLst>
                <a:path h="370459" w="1432306">
                  <a:moveTo>
                    <a:pt x="0" y="92710"/>
                  </a:moveTo>
                  <a:cubicBezTo>
                    <a:pt x="0" y="41529"/>
                    <a:pt x="41529" y="0"/>
                    <a:pt x="92710" y="0"/>
                  </a:cubicBezTo>
                  <a:lnTo>
                    <a:pt x="1339596" y="0"/>
                  </a:lnTo>
                  <a:cubicBezTo>
                    <a:pt x="1390777" y="0"/>
                    <a:pt x="1432306" y="41529"/>
                    <a:pt x="1432306" y="92710"/>
                  </a:cubicBezTo>
                  <a:lnTo>
                    <a:pt x="1432306" y="277749"/>
                  </a:lnTo>
                  <a:cubicBezTo>
                    <a:pt x="1432306" y="328930"/>
                    <a:pt x="1390777" y="370459"/>
                    <a:pt x="1339596" y="370459"/>
                  </a:cubicBezTo>
                  <a:lnTo>
                    <a:pt x="92710" y="370459"/>
                  </a:lnTo>
                  <a:cubicBezTo>
                    <a:pt x="41529" y="370459"/>
                    <a:pt x="0" y="328930"/>
                    <a:pt x="0" y="277749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EF0FE"/>
              </a:solidFill>
              <a:prstDash val="solid"/>
              <a:miter/>
            </a:ln>
          </p:spPr>
        </p:sp>
      </p:grpSp>
      <p:sp>
        <p:nvSpPr>
          <p:cNvPr name="TextBox 83" id="83"/>
          <p:cNvSpPr txBox="true"/>
          <p:nvPr/>
        </p:nvSpPr>
        <p:spPr>
          <a:xfrm rot="0">
            <a:off x="1067314" y="5756234"/>
            <a:ext cx="638608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true">
                <a:solidFill>
                  <a:srgbClr val="3F465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Composer</a:t>
            </a:r>
          </a:p>
        </p:txBody>
      </p:sp>
      <p:grpSp>
        <p:nvGrpSpPr>
          <p:cNvPr name="Group 84" id="84"/>
          <p:cNvGrpSpPr/>
          <p:nvPr/>
        </p:nvGrpSpPr>
        <p:grpSpPr>
          <a:xfrm rot="0">
            <a:off x="2504668" y="5669445"/>
            <a:ext cx="1223303" cy="316453"/>
            <a:chOff x="0" y="0"/>
            <a:chExt cx="1432319" cy="370522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432306" cy="370459"/>
            </a:xfrm>
            <a:custGeom>
              <a:avLst/>
              <a:gdLst/>
              <a:ahLst/>
              <a:cxnLst/>
              <a:rect r="r" b="b" t="t" l="l"/>
              <a:pathLst>
                <a:path h="370459" w="1432306">
                  <a:moveTo>
                    <a:pt x="0" y="92710"/>
                  </a:moveTo>
                  <a:cubicBezTo>
                    <a:pt x="0" y="41529"/>
                    <a:pt x="41529" y="0"/>
                    <a:pt x="92710" y="0"/>
                  </a:cubicBezTo>
                  <a:lnTo>
                    <a:pt x="1339596" y="0"/>
                  </a:lnTo>
                  <a:cubicBezTo>
                    <a:pt x="1390777" y="0"/>
                    <a:pt x="1432306" y="41529"/>
                    <a:pt x="1432306" y="92710"/>
                  </a:cubicBezTo>
                  <a:lnTo>
                    <a:pt x="1432306" y="277749"/>
                  </a:lnTo>
                  <a:cubicBezTo>
                    <a:pt x="1432306" y="328930"/>
                    <a:pt x="1390777" y="370459"/>
                    <a:pt x="1339596" y="370459"/>
                  </a:cubicBezTo>
                  <a:lnTo>
                    <a:pt x="92710" y="370459"/>
                  </a:lnTo>
                  <a:cubicBezTo>
                    <a:pt x="41529" y="370459"/>
                    <a:pt x="0" y="328930"/>
                    <a:pt x="0" y="277749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EF0FE"/>
              </a:solidFill>
              <a:prstDash val="solid"/>
              <a:miter/>
            </a:ln>
          </p:spPr>
        </p:sp>
      </p:grpSp>
      <p:sp>
        <p:nvSpPr>
          <p:cNvPr name="TextBox 86" id="86"/>
          <p:cNvSpPr txBox="true"/>
          <p:nvPr/>
        </p:nvSpPr>
        <p:spPr>
          <a:xfrm rot="0">
            <a:off x="2606262" y="5756234"/>
            <a:ext cx="829974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true">
                <a:solidFill>
                  <a:srgbClr val="3F465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Skills Builder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1067314" y="6175172"/>
            <a:ext cx="984214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true">
                <a:solidFill>
                  <a:srgbClr val="3F465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Personalization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951233" y="6894833"/>
            <a:ext cx="199548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10B98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STEP 03 — EXECUTION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3382201" y="6935579"/>
            <a:ext cx="232736" cy="109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9"/>
              </a:lnSpc>
            </a:pPr>
            <a:r>
              <a:rPr lang="en-US" sz="799" b="true">
                <a:solidFill>
                  <a:srgbClr val="15643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HITL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951233" y="7709992"/>
            <a:ext cx="1912685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14532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승인 → 병렬 실행 → 결과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1067314" y="8669579"/>
            <a:ext cx="653148" cy="107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"/>
              </a:lnSpc>
            </a:pPr>
            <a:r>
              <a:rPr lang="en-US" b="true" sz="787" spc="47">
                <a:solidFill>
                  <a:srgbClr val="86B79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SCHEDULER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2280138" y="8643223"/>
            <a:ext cx="1334799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0"/>
              </a:lnSpc>
            </a:pPr>
            <a:r>
              <a:rPr lang="en-US" sz="975" b="true">
                <a:solidFill>
                  <a:srgbClr val="15643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TopologicalScheduler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4379871" y="1977962"/>
            <a:ext cx="2701095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0"/>
              </a:lnSpc>
            </a:pPr>
            <a:r>
              <a:rPr lang="en-US" b="true" sz="1300" spc="168">
                <a:solidFill>
                  <a:srgbClr val="10B98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E2E EXECUTION SEQUENCE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7459061" y="2001774"/>
            <a:ext cx="2163690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>
                <a:solidFill>
                  <a:srgbClr val="A8ADB4"/>
                </a:solidFill>
                <a:latin typeface="Noto Sans Kr"/>
                <a:ea typeface="Noto Sans Kr"/>
                <a:cs typeface="Noto Sans Kr"/>
                <a:sym typeface="Noto Sans Kr"/>
              </a:rPr>
              <a:t>생명주기별 에이전트 간 비동기 소통 구조</a:t>
            </a:r>
          </a:p>
        </p:txBody>
      </p:sp>
      <p:grpSp>
        <p:nvGrpSpPr>
          <p:cNvPr name="Group 95" id="95"/>
          <p:cNvGrpSpPr/>
          <p:nvPr/>
        </p:nvGrpSpPr>
        <p:grpSpPr>
          <a:xfrm rot="0">
            <a:off x="5298969" y="2356371"/>
            <a:ext cx="682766" cy="347435"/>
            <a:chOff x="0" y="0"/>
            <a:chExt cx="778675" cy="39624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778637" cy="396240"/>
            </a:xfrm>
            <a:custGeom>
              <a:avLst/>
              <a:gdLst/>
              <a:ahLst/>
              <a:cxnLst/>
              <a:rect r="r" b="b" t="t" l="l"/>
              <a:pathLst>
                <a:path h="396240" w="778637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672973" y="0"/>
                  </a:lnTo>
                  <a:cubicBezTo>
                    <a:pt x="731393" y="0"/>
                    <a:pt x="778637" y="47371"/>
                    <a:pt x="778637" y="105664"/>
                  </a:cubicBezTo>
                  <a:lnTo>
                    <a:pt x="778637" y="290576"/>
                  </a:lnTo>
                  <a:cubicBezTo>
                    <a:pt x="778637" y="348996"/>
                    <a:pt x="731266" y="396240"/>
                    <a:pt x="672973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D9D9"/>
              </a:solidFill>
              <a:prstDash val="solid"/>
              <a:miter/>
            </a:ln>
          </p:spPr>
        </p:sp>
      </p:grpSp>
      <p:sp>
        <p:nvSpPr>
          <p:cNvPr name="TextBox 97" id="97"/>
          <p:cNvSpPr txBox="true"/>
          <p:nvPr/>
        </p:nvSpPr>
        <p:spPr>
          <a:xfrm rot="0">
            <a:off x="5429991" y="2439601"/>
            <a:ext cx="420724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사용자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7892285" y="2439601"/>
            <a:ext cx="697490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Frontend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10420217" y="2439601"/>
            <a:ext cx="78548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API Server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12910602" y="2439601"/>
            <a:ext cx="97284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Orchestrator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15609166" y="2439601"/>
            <a:ext cx="78602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Sub-Agent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13995404" y="4339647"/>
            <a:ext cx="1926767" cy="192462"/>
            <a:chOff x="0" y="0"/>
            <a:chExt cx="1188995" cy="118767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188995" cy="118767"/>
            </a:xfrm>
            <a:custGeom>
              <a:avLst/>
              <a:gdLst/>
              <a:ahLst/>
              <a:cxnLst/>
              <a:rect r="r" b="b" t="t" l="l"/>
              <a:pathLst>
                <a:path h="118767" w="1188995">
                  <a:moveTo>
                    <a:pt x="59384" y="0"/>
                  </a:moveTo>
                  <a:lnTo>
                    <a:pt x="1129611" y="0"/>
                  </a:lnTo>
                  <a:cubicBezTo>
                    <a:pt x="1145361" y="0"/>
                    <a:pt x="1160465" y="6256"/>
                    <a:pt x="1171602" y="17393"/>
                  </a:cubicBezTo>
                  <a:cubicBezTo>
                    <a:pt x="1182738" y="28530"/>
                    <a:pt x="1188995" y="43634"/>
                    <a:pt x="1188995" y="59384"/>
                  </a:cubicBezTo>
                  <a:lnTo>
                    <a:pt x="1188995" y="59384"/>
                  </a:lnTo>
                  <a:cubicBezTo>
                    <a:pt x="1188995" y="75133"/>
                    <a:pt x="1182738" y="90237"/>
                    <a:pt x="1171602" y="101374"/>
                  </a:cubicBezTo>
                  <a:cubicBezTo>
                    <a:pt x="1160465" y="112511"/>
                    <a:pt x="1145361" y="118767"/>
                    <a:pt x="1129611" y="118767"/>
                  </a:cubicBezTo>
                  <a:lnTo>
                    <a:pt x="59384" y="118767"/>
                  </a:lnTo>
                  <a:cubicBezTo>
                    <a:pt x="43634" y="118767"/>
                    <a:pt x="28530" y="112511"/>
                    <a:pt x="17393" y="101374"/>
                  </a:cubicBezTo>
                  <a:cubicBezTo>
                    <a:pt x="6256" y="90237"/>
                    <a:pt x="0" y="75133"/>
                    <a:pt x="0" y="59384"/>
                  </a:cubicBezTo>
                  <a:lnTo>
                    <a:pt x="0" y="59384"/>
                  </a:lnTo>
                  <a:cubicBezTo>
                    <a:pt x="0" y="43634"/>
                    <a:pt x="6256" y="28530"/>
                    <a:pt x="17393" y="17393"/>
                  </a:cubicBezTo>
                  <a:cubicBezTo>
                    <a:pt x="28530" y="6256"/>
                    <a:pt x="43634" y="0"/>
                    <a:pt x="5938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0"/>
              <a:ext cx="1188995" cy="1187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sp>
        <p:nvSpPr>
          <p:cNvPr name="TextBox 105" id="105"/>
          <p:cNvSpPr txBox="true"/>
          <p:nvPr/>
        </p:nvSpPr>
        <p:spPr>
          <a:xfrm rot="0">
            <a:off x="12074612" y="4351134"/>
            <a:ext cx="384755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96">
                <a:solidFill>
                  <a:srgbClr val="3B82F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ORCHESTRATE LOOP · load → intent → relay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6304045" y="2974038"/>
            <a:ext cx="1273103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73737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1. 자연어 메시지 입력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8589775" y="4025265"/>
            <a:ext cx="1822414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2. POST /ai/compose · SSE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11246695" y="5062538"/>
            <a:ext cx="1655835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737373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3. relay (AgentProtocol)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13855451" y="6094209"/>
            <a:ext cx="1688306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4. 위임 relay(AgentState)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13720640" y="7177383"/>
            <a:ext cx="1957929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↩ 5. SSE 프레임 + state_delta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9357183" y="8184109"/>
            <a:ext cx="2926015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1E8E5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↩ 6. SSE 실시간 스트림 프레임 (pass-through)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989266" y="9263758"/>
            <a:ext cx="222322" cy="236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9"/>
              </a:lnSpc>
            </a:pPr>
            <a:r>
              <a:rPr lang="en-US" sz="1275">
                <a:solidFill>
                  <a:srgbClr val="434A54"/>
                </a:solidFill>
                <a:latin typeface="Noto Sans Kr"/>
                <a:ea typeface="Noto Sans Kr"/>
                <a:cs typeface="Noto Sans Kr"/>
                <a:sym typeface="Noto Sans Kr"/>
              </a:rPr>
              <a:t>💡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1316279" y="9254233"/>
            <a:ext cx="14227478" cy="254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3"/>
              </a:lnSpc>
            </a:pPr>
            <a:r>
              <a:rPr lang="en-US" sz="1299" b="true">
                <a:solidFill>
                  <a:srgbClr val="1E3A8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핵심  -  </a:t>
            </a:r>
            <a:r>
              <a:rPr lang="en-US" sz="1299">
                <a:solidFill>
                  <a:srgbClr val="1E3A8A"/>
                </a:solidFill>
                <a:latin typeface="Noto Sans Kr"/>
                <a:ea typeface="Noto Sans Kr"/>
                <a:cs typeface="Noto Sans Kr"/>
                <a:sym typeface="Noto Sans Kr"/>
              </a:rPr>
              <a:t>Next.js를 프록시로 두어 AI 엔진의 SSE 프레임을 실시간 중계하고, Orchestrator는 의도에 따라 Composer · Skills Builder를 동적 위임한다. 그래프 DB(Neo4j)는 노드 조합 그라운딩에 쓰인다.</a:t>
            </a:r>
          </a:p>
        </p:txBody>
      </p:sp>
      <p:sp>
        <p:nvSpPr>
          <p:cNvPr name="TextBox 114" id="114"/>
          <p:cNvSpPr txBox="true"/>
          <p:nvPr/>
        </p:nvSpPr>
        <p:spPr>
          <a:xfrm rot="0">
            <a:off x="768353" y="9752333"/>
            <a:ext cx="242125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37</a:t>
            </a:r>
            <a:r>
              <a:rPr lang="en-US" sz="1500" b="true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/ 44</a:t>
            </a:r>
            <a:r>
              <a:rPr lang="en-US" sz="1500">
                <a:solidFill>
                  <a:srgbClr val="A8ADB4"/>
                </a:solidFill>
                <a:latin typeface="Noto Sans Kr"/>
                <a:ea typeface="Noto Sans Kr"/>
                <a:cs typeface="Noto Sans Kr"/>
                <a:sym typeface="Noto Sans Kr"/>
              </a:rPr>
              <a:t> 전체 시스템 동작 흐름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15650527" y="9752333"/>
            <a:ext cx="192881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69">
                <a:solidFill>
                  <a:srgbClr val="A8ADB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5 — FLOW</a:t>
            </a:r>
          </a:p>
        </p:txBody>
      </p:sp>
      <p:sp>
        <p:nvSpPr>
          <p:cNvPr name="TextBox 116" id="116"/>
          <p:cNvSpPr txBox="true"/>
          <p:nvPr/>
        </p:nvSpPr>
        <p:spPr>
          <a:xfrm rot="0">
            <a:off x="2423141" y="561403"/>
            <a:ext cx="132408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49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실제 동작 흐름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>
  <p:cSld>
    <p:bg>
      <p:bgPr>
        <a:solidFill>
          <a:srgbClr val="F6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8353" y="539753"/>
            <a:ext cx="117720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363">
                <a:solidFill>
                  <a:srgbClr val="1E3A8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05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793081" y="529533"/>
            <a:ext cx="9525" cy="152343"/>
            <a:chOff x="0" y="0"/>
            <a:chExt cx="12700" cy="20312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700" cy="203073"/>
            </a:xfrm>
            <a:custGeom>
              <a:avLst/>
              <a:gdLst/>
              <a:ahLst/>
              <a:cxnLst/>
              <a:rect r="r" b="b" t="t" l="l"/>
              <a:pathLst>
                <a:path h="203073" w="12700">
                  <a:moveTo>
                    <a:pt x="0" y="0"/>
                  </a:moveTo>
                  <a:lnTo>
                    <a:pt x="12700" y="0"/>
                  </a:lnTo>
                  <a:lnTo>
                    <a:pt x="12700" y="203073"/>
                  </a:lnTo>
                  <a:lnTo>
                    <a:pt x="0" y="203073"/>
                  </a:lnTo>
                  <a:close/>
                </a:path>
              </a:pathLst>
            </a:custGeom>
            <a:solidFill>
              <a:srgbClr val="D2D2C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423141" y="539753"/>
            <a:ext cx="132408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49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실제 동작 흐름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250551" y="551183"/>
            <a:ext cx="232878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330">
                <a:solidFill>
                  <a:srgbClr val="A8ADB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시스템 아키텍처 명세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8353" y="855916"/>
            <a:ext cx="7716322" cy="5356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47"/>
              </a:lnSpc>
            </a:pPr>
            <a:r>
              <a:rPr lang="en-US" b="true" sz="3450" spc="-51">
                <a:solidFill>
                  <a:srgbClr val="16161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Main Orchestrator </a:t>
            </a:r>
            <a:r>
              <a:rPr lang="en-US" b="true" sz="3450" spc="-51">
                <a:solidFill>
                  <a:srgbClr val="2563E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— Supervisor 패턴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4089797" y="1741113"/>
            <a:ext cx="13460968" cy="7301093"/>
            <a:chOff x="0" y="0"/>
            <a:chExt cx="17947958" cy="973479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948021" cy="9734804"/>
            </a:xfrm>
            <a:custGeom>
              <a:avLst/>
              <a:gdLst/>
              <a:ahLst/>
              <a:cxnLst/>
              <a:rect r="r" b="b" t="t" l="l"/>
              <a:pathLst>
                <a:path h="9734804" w="17948021">
                  <a:moveTo>
                    <a:pt x="0" y="203581"/>
                  </a:moveTo>
                  <a:cubicBezTo>
                    <a:pt x="0" y="91186"/>
                    <a:pt x="91186" y="0"/>
                    <a:pt x="203581" y="0"/>
                  </a:cubicBezTo>
                  <a:lnTo>
                    <a:pt x="17744439" y="0"/>
                  </a:lnTo>
                  <a:cubicBezTo>
                    <a:pt x="17856834" y="0"/>
                    <a:pt x="17948021" y="91186"/>
                    <a:pt x="17948021" y="203581"/>
                  </a:cubicBezTo>
                  <a:lnTo>
                    <a:pt x="17948021" y="9531223"/>
                  </a:lnTo>
                  <a:cubicBezTo>
                    <a:pt x="17948021" y="9643618"/>
                    <a:pt x="17856834" y="9734804"/>
                    <a:pt x="17744439" y="9734804"/>
                  </a:cubicBezTo>
                  <a:lnTo>
                    <a:pt x="203581" y="9734804"/>
                  </a:lnTo>
                  <a:cubicBezTo>
                    <a:pt x="91186" y="9734804"/>
                    <a:pt x="0" y="9643618"/>
                    <a:pt x="0" y="9531223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768353" y="1400747"/>
            <a:ext cx="7056402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LLM Supervisor가 Sub-Agent를 호출하고, 결과를 받아 계속 / 중단을 제어한다.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737235" y="1741113"/>
            <a:ext cx="3173616" cy="2365115"/>
            <a:chOff x="0" y="0"/>
            <a:chExt cx="4231488" cy="315348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951233" y="1926527"/>
            <a:ext cx="99124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BC3FD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결정형 라우팅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1233" y="2750801"/>
            <a:ext cx="1487632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399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LLM 없이 재현 가능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51233" y="3446126"/>
            <a:ext cx="2829516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의도 분석만 LLM, </a:t>
            </a:r>
          </a:p>
          <a:p>
            <a:pPr algn="l">
              <a:lnSpc>
                <a:spcPts val="1739"/>
              </a:lnSpc>
            </a:pP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라우팅·제어는 순수 함수 </a:t>
            </a:r>
            <a:r>
              <a:rPr lang="en-US" sz="999" b="true">
                <a:solidFill>
                  <a:srgbClr val="0369A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route / recovery_target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737235" y="4209097"/>
            <a:ext cx="3173616" cy="2365115"/>
            <a:chOff x="0" y="0"/>
            <a:chExt cx="4231488" cy="315348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951233" y="4394521"/>
            <a:ext cx="2205903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199" spc="120">
                <a:solidFill>
                  <a:srgbClr val="BC3FD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STATE-MEDIATED 핸드오프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51233" y="5218786"/>
            <a:ext cx="1080763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399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직접 통신 없음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51233" y="5914111"/>
            <a:ext cx="2829516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999" b="true">
                <a:solidFill>
                  <a:srgbClr val="0369A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selected_skill_id</a:t>
            </a:r>
            <a:r>
              <a:rPr lang="en-US" sz="999">
                <a:solidFill>
                  <a:srgbClr val="C2410C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를 AgentState에 write </a:t>
            </a:r>
          </a:p>
          <a:p>
            <a:pPr algn="l">
              <a:lnSpc>
                <a:spcPts val="1739"/>
              </a:lnSpc>
            </a:pP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→ 다음 hop이 read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37235" y="6677082"/>
            <a:ext cx="3173616" cy="2365115"/>
            <a:chOff x="0" y="0"/>
            <a:chExt cx="4231488" cy="315348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951233" y="6862505"/>
            <a:ext cx="1310120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BC3FD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무한루프 3중 방어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51233" y="7233980"/>
            <a:ext cx="1080763" cy="348100"/>
            <a:chOff x="0" y="0"/>
            <a:chExt cx="1150379" cy="37052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150366" cy="370459"/>
            </a:xfrm>
            <a:custGeom>
              <a:avLst/>
              <a:gdLst/>
              <a:ahLst/>
              <a:cxnLst/>
              <a:rect r="r" b="b" t="t" l="l"/>
              <a:pathLst>
                <a:path h="370459" w="1150366">
                  <a:moveTo>
                    <a:pt x="0" y="92710"/>
                  </a:moveTo>
                  <a:cubicBezTo>
                    <a:pt x="0" y="41529"/>
                    <a:pt x="41529" y="0"/>
                    <a:pt x="92710" y="0"/>
                  </a:cubicBezTo>
                  <a:lnTo>
                    <a:pt x="1057656" y="0"/>
                  </a:lnTo>
                  <a:cubicBezTo>
                    <a:pt x="1108837" y="0"/>
                    <a:pt x="1150366" y="41529"/>
                    <a:pt x="1150366" y="92710"/>
                  </a:cubicBezTo>
                  <a:lnTo>
                    <a:pt x="1150366" y="277749"/>
                  </a:lnTo>
                  <a:cubicBezTo>
                    <a:pt x="1150366" y="328930"/>
                    <a:pt x="1108837" y="370459"/>
                    <a:pt x="1057656" y="370459"/>
                  </a:cubicBezTo>
                  <a:lnTo>
                    <a:pt x="92710" y="370459"/>
                  </a:lnTo>
                  <a:cubicBezTo>
                    <a:pt x="41529" y="370459"/>
                    <a:pt x="0" y="328930"/>
                    <a:pt x="0" y="277749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5F0FB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100428" y="7329230"/>
            <a:ext cx="809625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>
                <a:solidFill>
                  <a:srgbClr val="0369A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MAX_HOPS 8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379871" y="1977962"/>
            <a:ext cx="2892461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0"/>
              </a:lnSpc>
            </a:pPr>
            <a:r>
              <a:rPr lang="en-US" b="true" sz="1300" spc="168">
                <a:solidFill>
                  <a:srgbClr val="8F1EA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SUPERVISOR CONTROL LOOP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587377" y="1977962"/>
            <a:ext cx="2093119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>
                <a:solidFill>
                  <a:srgbClr val="A8ADB4"/>
                </a:solidFill>
                <a:latin typeface="Noto Sans Kr"/>
                <a:ea typeface="Noto Sans Kr"/>
                <a:cs typeface="Noto Sans Kr"/>
                <a:sym typeface="Noto Sans Kr"/>
              </a:rPr>
              <a:t>state 매개 핸드오프 · 결정형 제어 판단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5963783" y="2575322"/>
            <a:ext cx="14288" cy="6278280"/>
            <a:chOff x="0" y="0"/>
            <a:chExt cx="19050" cy="83710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5F0FB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5357477" y="2356371"/>
            <a:ext cx="1196314" cy="351274"/>
            <a:chOff x="0" y="0"/>
            <a:chExt cx="1349451" cy="396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349502" cy="396240"/>
            </a:xfrm>
            <a:custGeom>
              <a:avLst/>
              <a:gdLst/>
              <a:ahLst/>
              <a:cxnLst/>
              <a:rect r="r" b="b" t="t" l="l"/>
              <a:pathLst>
                <a:path h="396240" w="1349502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1243838" y="0"/>
                  </a:lnTo>
                  <a:cubicBezTo>
                    <a:pt x="1302258" y="0"/>
                    <a:pt x="1349502" y="47371"/>
                    <a:pt x="1349502" y="105664"/>
                  </a:cubicBezTo>
                  <a:lnTo>
                    <a:pt x="1349502" y="290576"/>
                  </a:lnTo>
                  <a:cubicBezTo>
                    <a:pt x="1349502" y="348996"/>
                    <a:pt x="1302131" y="396240"/>
                    <a:pt x="1243838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7EEF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5469209" y="2433523"/>
            <a:ext cx="97284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Orchestrator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196683" y="2575322"/>
            <a:ext cx="14288" cy="6278280"/>
            <a:chOff x="0" y="0"/>
            <a:chExt cx="19050" cy="83710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5F0FB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8828137" y="2356371"/>
            <a:ext cx="770315" cy="351274"/>
            <a:chOff x="0" y="0"/>
            <a:chExt cx="868921" cy="3962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68934" cy="396240"/>
            </a:xfrm>
            <a:custGeom>
              <a:avLst/>
              <a:gdLst/>
              <a:ahLst/>
              <a:cxnLst/>
              <a:rect r="r" b="b" t="t" l="l"/>
              <a:pathLst>
                <a:path h="396240" w="868934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763270" y="0"/>
                  </a:lnTo>
                  <a:cubicBezTo>
                    <a:pt x="821690" y="0"/>
                    <a:pt x="868934" y="47371"/>
                    <a:pt x="868934" y="105664"/>
                  </a:cubicBezTo>
                  <a:lnTo>
                    <a:pt x="868934" y="290576"/>
                  </a:lnTo>
                  <a:cubicBezTo>
                    <a:pt x="868934" y="348996"/>
                    <a:pt x="821563" y="396240"/>
                    <a:pt x="763270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C8CCF7"/>
              </a:solidFill>
              <a:prstDash val="solid"/>
              <a:miter/>
            </a:ln>
          </p:spPr>
        </p:sp>
      </p:grpSp>
      <p:sp>
        <p:nvSpPr>
          <p:cNvPr name="TextBox 38" id="38"/>
          <p:cNvSpPr txBox="true"/>
          <p:nvPr/>
        </p:nvSpPr>
        <p:spPr>
          <a:xfrm rot="0">
            <a:off x="8945948" y="2433523"/>
            <a:ext cx="515757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Router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2429592" y="2575322"/>
            <a:ext cx="14288" cy="6278280"/>
            <a:chOff x="0" y="0"/>
            <a:chExt cx="19050" cy="83710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5F0FB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83473" y="2348374"/>
            <a:ext cx="1092238" cy="351274"/>
            <a:chOff x="0" y="0"/>
            <a:chExt cx="1232052" cy="3962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232027" cy="396240"/>
            </a:xfrm>
            <a:custGeom>
              <a:avLst/>
              <a:gdLst/>
              <a:ahLst/>
              <a:cxnLst/>
              <a:rect r="r" b="b" t="t" l="l"/>
              <a:pathLst>
                <a:path h="396240" w="1232027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1126363" y="0"/>
                  </a:lnTo>
                  <a:cubicBezTo>
                    <a:pt x="1184783" y="0"/>
                    <a:pt x="1232027" y="47371"/>
                    <a:pt x="1232027" y="105664"/>
                  </a:cubicBezTo>
                  <a:lnTo>
                    <a:pt x="1232027" y="290576"/>
                  </a:lnTo>
                  <a:cubicBezTo>
                    <a:pt x="1232027" y="348996"/>
                    <a:pt x="1184656" y="396240"/>
                    <a:pt x="1126363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43" id="43"/>
          <p:cNvSpPr txBox="true"/>
          <p:nvPr/>
        </p:nvSpPr>
        <p:spPr>
          <a:xfrm rot="0">
            <a:off x="12006706" y="2414473"/>
            <a:ext cx="841122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AgentState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4865961" y="4955257"/>
            <a:ext cx="11908450" cy="3778329"/>
            <a:chOff x="0" y="0"/>
            <a:chExt cx="15877934" cy="503777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5878048" cy="5037836"/>
            </a:xfrm>
            <a:custGeom>
              <a:avLst/>
              <a:gdLst/>
              <a:ahLst/>
              <a:cxnLst/>
              <a:rect r="r" b="b" t="t" l="l"/>
              <a:pathLst>
                <a:path h="5037836" w="15878048">
                  <a:moveTo>
                    <a:pt x="0" y="152908"/>
                  </a:moveTo>
                  <a:cubicBezTo>
                    <a:pt x="0" y="68453"/>
                    <a:pt x="68453" y="0"/>
                    <a:pt x="152908" y="0"/>
                  </a:cubicBezTo>
                  <a:lnTo>
                    <a:pt x="15725139" y="0"/>
                  </a:lnTo>
                  <a:cubicBezTo>
                    <a:pt x="15809595" y="0"/>
                    <a:pt x="15878048" y="68453"/>
                    <a:pt x="15878048" y="152908"/>
                  </a:cubicBezTo>
                  <a:lnTo>
                    <a:pt x="15878048" y="4884928"/>
                  </a:lnTo>
                  <a:cubicBezTo>
                    <a:pt x="15878048" y="4969383"/>
                    <a:pt x="15809595" y="5037836"/>
                    <a:pt x="15725139" y="5037836"/>
                  </a:cubicBezTo>
                  <a:lnTo>
                    <a:pt x="152908" y="5037836"/>
                  </a:lnTo>
                  <a:cubicBezTo>
                    <a:pt x="68453" y="5037709"/>
                    <a:pt x="0" y="4969383"/>
                    <a:pt x="0" y="4884928"/>
                  </a:cubicBezTo>
                  <a:close/>
                </a:path>
              </a:pathLst>
            </a:custGeom>
            <a:solidFill>
              <a:srgbClr val="2563EB">
                <a:alpha val="0"/>
              </a:srgbClr>
            </a:solidFill>
            <a:ln w="19050" cap="sq">
              <a:solidFill>
                <a:srgbClr val="2563EB">
                  <a:alpha val="49804"/>
                </a:srgbClr>
              </a:solidFill>
              <a:prstDash val="sysDot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15662491" y="2575322"/>
            <a:ext cx="14288" cy="6278280"/>
            <a:chOff x="0" y="0"/>
            <a:chExt cx="19050" cy="83710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5F0FB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5131673" y="2329324"/>
            <a:ext cx="1061636" cy="351274"/>
            <a:chOff x="0" y="0"/>
            <a:chExt cx="1197534" cy="3962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97483" cy="396240"/>
            </a:xfrm>
            <a:custGeom>
              <a:avLst/>
              <a:gdLst/>
              <a:ahLst/>
              <a:cxnLst/>
              <a:rect r="r" b="b" t="t" l="l"/>
              <a:pathLst>
                <a:path h="396240" w="1197483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1091819" y="0"/>
                  </a:lnTo>
                  <a:cubicBezTo>
                    <a:pt x="1150239" y="0"/>
                    <a:pt x="1197483" y="47371"/>
                    <a:pt x="1197483" y="105664"/>
                  </a:cubicBezTo>
                  <a:lnTo>
                    <a:pt x="1197483" y="290576"/>
                  </a:lnTo>
                  <a:cubicBezTo>
                    <a:pt x="1197483" y="348996"/>
                    <a:pt x="1150112" y="396240"/>
                    <a:pt x="1091819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0E7FF"/>
              </a:solidFill>
              <a:prstDash val="solid"/>
              <a:miter/>
            </a:ln>
          </p:spPr>
        </p:sp>
      </p:grpSp>
      <p:sp>
        <p:nvSpPr>
          <p:cNvPr name="TextBox 50" id="50"/>
          <p:cNvSpPr txBox="true"/>
          <p:nvPr/>
        </p:nvSpPr>
        <p:spPr>
          <a:xfrm rot="0">
            <a:off x="15283764" y="2414473"/>
            <a:ext cx="78602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Sub-Agent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5035448" y="4886677"/>
            <a:ext cx="1754505" cy="114300"/>
            <a:chOff x="0" y="0"/>
            <a:chExt cx="2339340" cy="1524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339340" cy="152400"/>
            </a:xfrm>
            <a:custGeom>
              <a:avLst/>
              <a:gdLst/>
              <a:ahLst/>
              <a:cxnLst/>
              <a:rect r="r" b="b" t="t" l="l"/>
              <a:pathLst>
                <a:path h="152400" w="2339340">
                  <a:moveTo>
                    <a:pt x="0" y="0"/>
                  </a:moveTo>
                  <a:lnTo>
                    <a:pt x="2339340" y="0"/>
                  </a:lnTo>
                  <a:lnTo>
                    <a:pt x="2339340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5091104" y="4857593"/>
            <a:ext cx="2641564" cy="182466"/>
            <a:chOff x="0" y="0"/>
            <a:chExt cx="1188995" cy="8213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188995" cy="82130"/>
            </a:xfrm>
            <a:custGeom>
              <a:avLst/>
              <a:gdLst/>
              <a:ahLst/>
              <a:cxnLst/>
              <a:rect r="r" b="b" t="t" l="l"/>
              <a:pathLst>
                <a:path h="82130" w="1188995">
                  <a:moveTo>
                    <a:pt x="41065" y="0"/>
                  </a:moveTo>
                  <a:lnTo>
                    <a:pt x="1147930" y="0"/>
                  </a:lnTo>
                  <a:cubicBezTo>
                    <a:pt x="1158821" y="0"/>
                    <a:pt x="1169266" y="4326"/>
                    <a:pt x="1176967" y="12028"/>
                  </a:cubicBezTo>
                  <a:cubicBezTo>
                    <a:pt x="1184668" y="19729"/>
                    <a:pt x="1188995" y="30174"/>
                    <a:pt x="1188995" y="41065"/>
                  </a:cubicBezTo>
                  <a:lnTo>
                    <a:pt x="1188995" y="41065"/>
                  </a:lnTo>
                  <a:cubicBezTo>
                    <a:pt x="1188995" y="63744"/>
                    <a:pt x="1170609" y="82130"/>
                    <a:pt x="1147930" y="82130"/>
                  </a:cubicBezTo>
                  <a:lnTo>
                    <a:pt x="41065" y="82130"/>
                  </a:lnTo>
                  <a:cubicBezTo>
                    <a:pt x="30174" y="82130"/>
                    <a:pt x="19729" y="77803"/>
                    <a:pt x="12028" y="70102"/>
                  </a:cubicBezTo>
                  <a:cubicBezTo>
                    <a:pt x="4326" y="62401"/>
                    <a:pt x="0" y="51956"/>
                    <a:pt x="0" y="41065"/>
                  </a:cubicBezTo>
                  <a:lnTo>
                    <a:pt x="0" y="41065"/>
                  </a:lnTo>
                  <a:cubicBezTo>
                    <a:pt x="0" y="30174"/>
                    <a:pt x="4326" y="19729"/>
                    <a:pt x="12028" y="12028"/>
                  </a:cubicBezTo>
                  <a:cubicBezTo>
                    <a:pt x="19729" y="4326"/>
                    <a:pt x="30174" y="0"/>
                    <a:pt x="4106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1188995" cy="821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5091104" y="4864770"/>
            <a:ext cx="2641564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96">
                <a:solidFill>
                  <a:srgbClr val="8F1EA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제어 루프 · hops &lt; MAX_HOPS(8)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6690079" y="3008728"/>
            <a:ext cx="1794597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1. make_plan(recipe_key)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5970927" y="3294517"/>
            <a:ext cx="3232899" cy="11430"/>
            <a:chOff x="0" y="0"/>
            <a:chExt cx="4310532" cy="152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310507" cy="15240"/>
            </a:xfrm>
            <a:custGeom>
              <a:avLst/>
              <a:gdLst/>
              <a:ahLst/>
              <a:cxnLst/>
              <a:rect r="r" b="b" t="t" l="l"/>
              <a:pathLst>
                <a:path h="15240" w="4310507">
                  <a:moveTo>
                    <a:pt x="0" y="0"/>
                  </a:moveTo>
                  <a:lnTo>
                    <a:pt x="4310507" y="0"/>
                  </a:lnTo>
                  <a:lnTo>
                    <a:pt x="431050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2563EB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9133284" y="3258445"/>
            <a:ext cx="80010" cy="91440"/>
            <a:chOff x="0" y="0"/>
            <a:chExt cx="106680" cy="12192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2563EB"/>
            </a:solid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6630331" y="4292860"/>
            <a:ext cx="1914092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sz="1099" b="true">
                <a:solidFill>
                  <a:srgbClr val="5B647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↩ 2. RoutePlan (forward 큐)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5970927" y="4550035"/>
            <a:ext cx="3232899" cy="11430"/>
            <a:chOff x="0" y="0"/>
            <a:chExt cx="4310532" cy="1524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310507" cy="15240"/>
            </a:xfrm>
            <a:custGeom>
              <a:avLst/>
              <a:gdLst/>
              <a:ahLst/>
              <a:cxnLst/>
              <a:rect r="r" b="b" t="t" l="l"/>
              <a:pathLst>
                <a:path h="15240" w="4310507">
                  <a:moveTo>
                    <a:pt x="0" y="0"/>
                  </a:moveTo>
                  <a:lnTo>
                    <a:pt x="4310507" y="0"/>
                  </a:lnTo>
                  <a:lnTo>
                    <a:pt x="431050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5961459" y="4513955"/>
            <a:ext cx="80010" cy="91440"/>
            <a:chOff x="0" y="0"/>
            <a:chExt cx="106680" cy="12192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sp>
        <p:nvSpPr>
          <p:cNvPr name="TextBox 67" id="67"/>
          <p:cNvSpPr txBox="true"/>
          <p:nvPr/>
        </p:nvSpPr>
        <p:spPr>
          <a:xfrm rot="0">
            <a:off x="9893879" y="5552537"/>
            <a:ext cx="1852612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3. relay(AgentState) — 위임</a:t>
            </a:r>
          </a:p>
        </p:txBody>
      </p:sp>
      <p:grpSp>
        <p:nvGrpSpPr>
          <p:cNvPr name="Group 68" id="68"/>
          <p:cNvGrpSpPr/>
          <p:nvPr/>
        </p:nvGrpSpPr>
        <p:grpSpPr>
          <a:xfrm rot="0">
            <a:off x="5970927" y="5805726"/>
            <a:ext cx="9698707" cy="11430"/>
            <a:chOff x="0" y="0"/>
            <a:chExt cx="12931610" cy="152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2931648" cy="15240"/>
            </a:xfrm>
            <a:custGeom>
              <a:avLst/>
              <a:gdLst/>
              <a:ahLst/>
              <a:cxnLst/>
              <a:rect r="r" b="b" t="t" l="l"/>
              <a:pathLst>
                <a:path h="15240" w="12931648">
                  <a:moveTo>
                    <a:pt x="0" y="0"/>
                  </a:moveTo>
                  <a:lnTo>
                    <a:pt x="12931648" y="0"/>
                  </a:lnTo>
                  <a:lnTo>
                    <a:pt x="12931648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15599093" y="5769654"/>
            <a:ext cx="80010" cy="91440"/>
            <a:chOff x="0" y="0"/>
            <a:chExt cx="106680" cy="12192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sp>
        <p:nvSpPr>
          <p:cNvPr name="TextBox 72" id="72"/>
          <p:cNvSpPr txBox="true"/>
          <p:nvPr/>
        </p:nvSpPr>
        <p:spPr>
          <a:xfrm rot="0">
            <a:off x="13428648" y="6791068"/>
            <a:ext cx="1249074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sz="1099" b="true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4. state_delta 기록</a:t>
            </a:r>
          </a:p>
        </p:txBody>
      </p:sp>
      <p:grpSp>
        <p:nvGrpSpPr>
          <p:cNvPr name="Group 73" id="73"/>
          <p:cNvGrpSpPr/>
          <p:nvPr/>
        </p:nvGrpSpPr>
        <p:grpSpPr>
          <a:xfrm rot="0">
            <a:off x="12436735" y="7071065"/>
            <a:ext cx="3232899" cy="11430"/>
            <a:chOff x="0" y="0"/>
            <a:chExt cx="4310532" cy="1524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4310507" cy="15240"/>
            </a:xfrm>
            <a:custGeom>
              <a:avLst/>
              <a:gdLst/>
              <a:ahLst/>
              <a:cxnLst/>
              <a:rect r="r" b="b" t="t" l="l"/>
              <a:pathLst>
                <a:path h="15240" w="4310507">
                  <a:moveTo>
                    <a:pt x="0" y="0"/>
                  </a:moveTo>
                  <a:lnTo>
                    <a:pt x="4310507" y="0"/>
                  </a:lnTo>
                  <a:lnTo>
                    <a:pt x="431050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2563EB"/>
            </a:solidFill>
          </p:spPr>
        </p:sp>
      </p:grpSp>
      <p:grpSp>
        <p:nvGrpSpPr>
          <p:cNvPr name="Group 75" id="75"/>
          <p:cNvGrpSpPr/>
          <p:nvPr/>
        </p:nvGrpSpPr>
        <p:grpSpPr>
          <a:xfrm rot="0">
            <a:off x="12427268" y="7025345"/>
            <a:ext cx="80010" cy="91440"/>
            <a:chOff x="0" y="0"/>
            <a:chExt cx="106680" cy="12192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2563EB"/>
            </a:solidFill>
          </p:spPr>
        </p:sp>
      </p:grpSp>
      <p:sp>
        <p:nvSpPr>
          <p:cNvPr name="TextBox 77" id="77"/>
          <p:cNvSpPr txBox="true"/>
          <p:nvPr/>
        </p:nvSpPr>
        <p:spPr>
          <a:xfrm rot="0">
            <a:off x="7936403" y="8056874"/>
            <a:ext cx="2553782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4F46E5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↩ 5. 회귀 → 제어 판단 (advance / retry)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5970927" y="8332470"/>
            <a:ext cx="6465808" cy="22860"/>
            <a:chOff x="0" y="0"/>
            <a:chExt cx="8621078" cy="3048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8621014" cy="30480"/>
            </a:xfrm>
            <a:custGeom>
              <a:avLst/>
              <a:gdLst/>
              <a:ahLst/>
              <a:cxnLst/>
              <a:rect r="r" b="b" t="t" l="l"/>
              <a:pathLst>
                <a:path h="30480" w="8621014">
                  <a:moveTo>
                    <a:pt x="0" y="0"/>
                  </a:moveTo>
                  <a:lnTo>
                    <a:pt x="8621014" y="0"/>
                  </a:lnTo>
                  <a:lnTo>
                    <a:pt x="8621014" y="30480"/>
                  </a:lnTo>
                  <a:lnTo>
                    <a:pt x="0" y="30480"/>
                  </a:lnTo>
                  <a:close/>
                </a:path>
              </a:pathLst>
            </a:custGeom>
            <a:solidFill>
              <a:srgbClr val="2563EB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5961459" y="8286750"/>
            <a:ext cx="91440" cy="114300"/>
            <a:chOff x="0" y="0"/>
            <a:chExt cx="121920" cy="15240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21920" cy="152400"/>
            </a:xfrm>
            <a:custGeom>
              <a:avLst/>
              <a:gdLst/>
              <a:ahLst/>
              <a:cxnLst/>
              <a:rect r="r" b="b" t="t" l="l"/>
              <a:pathLst>
                <a:path h="152400" w="121920">
                  <a:moveTo>
                    <a:pt x="0" y="0"/>
                  </a:moveTo>
                  <a:lnTo>
                    <a:pt x="121920" y="0"/>
                  </a:lnTo>
                  <a:lnTo>
                    <a:pt x="121920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2563EB"/>
            </a:solid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737235" y="9154535"/>
            <a:ext cx="16813530" cy="482918"/>
            <a:chOff x="0" y="0"/>
            <a:chExt cx="22418040" cy="64389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22418041" cy="643890"/>
            </a:xfrm>
            <a:custGeom>
              <a:avLst/>
              <a:gdLst/>
              <a:ahLst/>
              <a:cxnLst/>
              <a:rect r="r" b="b" t="t" l="l"/>
              <a:pathLst>
                <a:path h="643890" w="22418041">
                  <a:moveTo>
                    <a:pt x="0" y="156083"/>
                  </a:moveTo>
                  <a:cubicBezTo>
                    <a:pt x="0" y="69850"/>
                    <a:pt x="69850" y="0"/>
                    <a:pt x="156083" y="0"/>
                  </a:cubicBezTo>
                  <a:lnTo>
                    <a:pt x="22261957" y="0"/>
                  </a:lnTo>
                  <a:cubicBezTo>
                    <a:pt x="22348191" y="0"/>
                    <a:pt x="22418041" y="69850"/>
                    <a:pt x="22418041" y="156083"/>
                  </a:cubicBezTo>
                  <a:lnTo>
                    <a:pt x="22418041" y="487807"/>
                  </a:lnTo>
                  <a:cubicBezTo>
                    <a:pt x="22418041" y="574040"/>
                    <a:pt x="22348191" y="643890"/>
                    <a:pt x="22261957" y="643890"/>
                  </a:cubicBezTo>
                  <a:lnTo>
                    <a:pt x="156083" y="643890"/>
                  </a:lnTo>
                  <a:cubicBezTo>
                    <a:pt x="69850" y="643890"/>
                    <a:pt x="0" y="574040"/>
                    <a:pt x="0" y="487807"/>
                  </a:cubicBezTo>
                  <a:close/>
                </a:path>
              </a:pathLst>
            </a:custGeom>
            <a:solidFill>
              <a:srgbClr val="F5F2FD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TextBox 84" id="84"/>
          <p:cNvSpPr txBox="true"/>
          <p:nvPr/>
        </p:nvSpPr>
        <p:spPr>
          <a:xfrm rot="0">
            <a:off x="989266" y="9263758"/>
            <a:ext cx="222322" cy="236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9"/>
              </a:lnSpc>
            </a:pPr>
            <a:r>
              <a:rPr lang="en-US" sz="1275">
                <a:solidFill>
                  <a:srgbClr val="434A54"/>
                </a:solidFill>
                <a:latin typeface="Noto Sans Kr"/>
                <a:ea typeface="Noto Sans Kr"/>
                <a:cs typeface="Noto Sans Kr"/>
                <a:sym typeface="Noto Sans Kr"/>
              </a:rPr>
              <a:t>💡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316279" y="9254233"/>
            <a:ext cx="14282814" cy="254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3"/>
              </a:lnSpc>
            </a:pPr>
            <a:r>
              <a:rPr lang="en-US" sz="1299" b="true">
                <a:solidFill>
                  <a:srgbClr val="1E3A8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Supervisor 패턴  -  </a:t>
            </a:r>
            <a:r>
              <a:rPr lang="en-US" sz="1299">
                <a:solidFill>
                  <a:srgbClr val="1E3A8A"/>
                </a:solidFill>
                <a:latin typeface="Noto Sans Kr"/>
                <a:ea typeface="Noto Sans Kr"/>
                <a:cs typeface="Noto Sans Kr"/>
                <a:sym typeface="Noto Sans Kr"/>
              </a:rPr>
              <a:t>Sub-Agent는 AgentState에 결과만 쓰고, '다음에 무엇을 할지'는 Orchestrator가 단독으로 결정한다. 성공 → 다음 스텝, 연결 실패 → 재시도 ×1, 자체 오류 → Composer 보정 ×1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768353" y="9752333"/>
            <a:ext cx="3352264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38 </a:t>
            </a:r>
            <a:r>
              <a:rPr lang="en-US" sz="1500" b="true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 </a:t>
            </a:r>
            <a:r>
              <a:rPr lang="en-US" sz="1500">
                <a:solidFill>
                  <a:srgbClr val="A8ADB4"/>
                </a:solidFill>
                <a:latin typeface="Noto Sans Kr"/>
                <a:ea typeface="Noto Sans Kr"/>
                <a:cs typeface="Noto Sans Kr"/>
                <a:sym typeface="Noto Sans Kr"/>
              </a:rPr>
              <a:t>ǀ Orchestrator Supervisor 패턴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15621952" y="9752333"/>
            <a:ext cx="192881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69">
                <a:solidFill>
                  <a:srgbClr val="A8ADB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5 — FLOW</a:t>
            </a:r>
          </a:p>
        </p:txBody>
      </p:sp>
      <p:grpSp>
        <p:nvGrpSpPr>
          <p:cNvPr name="Group 88" id="88"/>
          <p:cNvGrpSpPr/>
          <p:nvPr/>
        </p:nvGrpSpPr>
        <p:grpSpPr>
          <a:xfrm rot="0">
            <a:off x="951233" y="7838949"/>
            <a:ext cx="1080763" cy="348100"/>
            <a:chOff x="0" y="0"/>
            <a:chExt cx="1150379" cy="370522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150366" cy="370459"/>
            </a:xfrm>
            <a:custGeom>
              <a:avLst/>
              <a:gdLst/>
              <a:ahLst/>
              <a:cxnLst/>
              <a:rect r="r" b="b" t="t" l="l"/>
              <a:pathLst>
                <a:path h="370459" w="1150366">
                  <a:moveTo>
                    <a:pt x="0" y="92710"/>
                  </a:moveTo>
                  <a:cubicBezTo>
                    <a:pt x="0" y="41529"/>
                    <a:pt x="41529" y="0"/>
                    <a:pt x="92710" y="0"/>
                  </a:cubicBezTo>
                  <a:lnTo>
                    <a:pt x="1057656" y="0"/>
                  </a:lnTo>
                  <a:cubicBezTo>
                    <a:pt x="1108837" y="0"/>
                    <a:pt x="1150366" y="41529"/>
                    <a:pt x="1150366" y="92710"/>
                  </a:cubicBezTo>
                  <a:lnTo>
                    <a:pt x="1150366" y="277749"/>
                  </a:lnTo>
                  <a:cubicBezTo>
                    <a:pt x="1150366" y="328930"/>
                    <a:pt x="1108837" y="370459"/>
                    <a:pt x="1057656" y="370459"/>
                  </a:cubicBezTo>
                  <a:lnTo>
                    <a:pt x="92710" y="370459"/>
                  </a:lnTo>
                  <a:cubicBezTo>
                    <a:pt x="41529" y="370459"/>
                    <a:pt x="0" y="328930"/>
                    <a:pt x="0" y="277749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5F0FB"/>
              </a:solidFill>
              <a:prstDash val="solid"/>
              <a:miter/>
            </a:ln>
          </p:spPr>
        </p:sp>
      </p:grpSp>
      <p:sp>
        <p:nvSpPr>
          <p:cNvPr name="TextBox 90" id="90"/>
          <p:cNvSpPr txBox="true"/>
          <p:nvPr/>
        </p:nvSpPr>
        <p:spPr>
          <a:xfrm rot="0">
            <a:off x="1100428" y="7920349"/>
            <a:ext cx="640448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>
                <a:solidFill>
                  <a:srgbClr val="0369A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RETRIES 1</a:t>
            </a:r>
          </a:p>
        </p:txBody>
      </p:sp>
      <p:grpSp>
        <p:nvGrpSpPr>
          <p:cNvPr name="Group 91" id="91"/>
          <p:cNvGrpSpPr/>
          <p:nvPr/>
        </p:nvGrpSpPr>
        <p:grpSpPr>
          <a:xfrm rot="0">
            <a:off x="951233" y="8444224"/>
            <a:ext cx="1080763" cy="348100"/>
            <a:chOff x="0" y="0"/>
            <a:chExt cx="1150379" cy="37052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150366" cy="370459"/>
            </a:xfrm>
            <a:custGeom>
              <a:avLst/>
              <a:gdLst/>
              <a:ahLst/>
              <a:cxnLst/>
              <a:rect r="r" b="b" t="t" l="l"/>
              <a:pathLst>
                <a:path h="370459" w="1150366">
                  <a:moveTo>
                    <a:pt x="0" y="92710"/>
                  </a:moveTo>
                  <a:cubicBezTo>
                    <a:pt x="0" y="41529"/>
                    <a:pt x="41529" y="0"/>
                    <a:pt x="92710" y="0"/>
                  </a:cubicBezTo>
                  <a:lnTo>
                    <a:pt x="1057656" y="0"/>
                  </a:lnTo>
                  <a:cubicBezTo>
                    <a:pt x="1108837" y="0"/>
                    <a:pt x="1150366" y="41529"/>
                    <a:pt x="1150366" y="92710"/>
                  </a:cubicBezTo>
                  <a:lnTo>
                    <a:pt x="1150366" y="277749"/>
                  </a:lnTo>
                  <a:cubicBezTo>
                    <a:pt x="1150366" y="328930"/>
                    <a:pt x="1108837" y="370459"/>
                    <a:pt x="1057656" y="370459"/>
                  </a:cubicBezTo>
                  <a:lnTo>
                    <a:pt x="92710" y="370459"/>
                  </a:lnTo>
                  <a:cubicBezTo>
                    <a:pt x="41529" y="370459"/>
                    <a:pt x="0" y="328930"/>
                    <a:pt x="0" y="277749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5F0FB"/>
              </a:solidFill>
              <a:prstDash val="solid"/>
              <a:miter/>
            </a:ln>
          </p:spPr>
        </p:sp>
      </p:grpSp>
      <p:sp>
        <p:nvSpPr>
          <p:cNvPr name="TextBox 93" id="93"/>
          <p:cNvSpPr txBox="true"/>
          <p:nvPr/>
        </p:nvSpPr>
        <p:spPr>
          <a:xfrm rot="0">
            <a:off x="1100428" y="8529949"/>
            <a:ext cx="460988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>
                <a:solidFill>
                  <a:srgbClr val="0369A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보정 1회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>
  <p:cSld>
    <p:bg>
      <p:bgPr>
        <a:solidFill>
          <a:srgbClr val="F6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09563" y="388563"/>
            <a:ext cx="9525" cy="152343"/>
            <a:chOff x="0" y="0"/>
            <a:chExt cx="12700" cy="2031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700" cy="203073"/>
            </a:xfrm>
            <a:custGeom>
              <a:avLst/>
              <a:gdLst/>
              <a:ahLst/>
              <a:cxnLst/>
              <a:rect r="r" b="b" t="t" l="l"/>
              <a:pathLst>
                <a:path h="203073" w="12700">
                  <a:moveTo>
                    <a:pt x="0" y="0"/>
                  </a:moveTo>
                  <a:lnTo>
                    <a:pt x="12700" y="0"/>
                  </a:lnTo>
                  <a:lnTo>
                    <a:pt x="12700" y="203073"/>
                  </a:lnTo>
                  <a:lnTo>
                    <a:pt x="0" y="203073"/>
                  </a:lnTo>
                  <a:close/>
                </a:path>
              </a:pathLst>
            </a:custGeom>
            <a:solidFill>
              <a:srgbClr val="D2D2CC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5246960" y="551183"/>
            <a:ext cx="2346928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330">
                <a:solidFill>
                  <a:srgbClr val="A8ADB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시스템 아키텍처 명세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68353" y="855916"/>
            <a:ext cx="7017869" cy="5356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47"/>
              </a:lnSpc>
            </a:pPr>
            <a:r>
              <a:rPr lang="en-US" b="true" sz="3450" spc="-51">
                <a:solidFill>
                  <a:srgbClr val="16161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Workflow Composer </a:t>
            </a:r>
            <a:r>
              <a:rPr lang="en-US" b="true" sz="3450" spc="-51">
                <a:solidFill>
                  <a:srgbClr val="2563E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— 생성 시퀀스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68353" y="1400747"/>
            <a:ext cx="462590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고정 DAG로 노드를 조합 · 검증 · 확정하는 내부 흐름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37235" y="1741113"/>
            <a:ext cx="3173616" cy="2365115"/>
            <a:chOff x="0" y="0"/>
            <a:chExt cx="4231488" cy="315348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951233" y="1926526"/>
            <a:ext cx="99124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전처리 게이트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51233" y="2840460"/>
            <a:ext cx="122634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위험 · 권한 차단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51233" y="3496627"/>
            <a:ext cx="2829516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999" b="true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compress</a:t>
            </a:r>
            <a:r>
              <a:rPr lang="en-US" sz="999" b="true">
                <a:solidFill>
                  <a:srgbClr val="C2410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턴 압축 → </a:t>
            </a:r>
          </a:p>
          <a:p>
            <a:pPr algn="l">
              <a:lnSpc>
                <a:spcPts val="1739"/>
              </a:lnSpc>
            </a:pPr>
            <a:r>
              <a:rPr lang="en-US" sz="999" b="true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security </a:t>
            </a: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패턴·권한 pre-screen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37235" y="4209097"/>
            <a:ext cx="3173616" cy="2365115"/>
            <a:chOff x="0" y="0"/>
            <a:chExt cx="4231488" cy="315348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951233" y="4394521"/>
            <a:ext cx="1049265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노드 후보 강화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51233" y="5218786"/>
            <a:ext cx="143253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검색 + GraphRAG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51233" y="5876011"/>
            <a:ext cx="2829516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의미검색 + 구조노드 + </a:t>
            </a:r>
            <a:r>
              <a:rPr lang="en-US" sz="999" b="true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CAN_FOLLOW</a:t>
            </a:r>
            <a:r>
              <a:rPr lang="en-US" sz="999">
                <a:solidFill>
                  <a:srgbClr val="4338CA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</a:t>
            </a:r>
          </a:p>
          <a:p>
            <a:pPr algn="l">
              <a:lnSpc>
                <a:spcPts val="1739"/>
              </a:lnSpc>
            </a:pP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+ 개인 패턴 RAG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737235" y="6677082"/>
            <a:ext cx="3173616" cy="2365115"/>
            <a:chOff x="0" y="0"/>
            <a:chExt cx="4231488" cy="315348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951233" y="6862505"/>
            <a:ext cx="127158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품질 루프 · HITL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045371" y="7422829"/>
            <a:ext cx="948603" cy="399472"/>
            <a:chOff x="0" y="0"/>
            <a:chExt cx="807479" cy="34004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07466" cy="340106"/>
            </a:xfrm>
            <a:custGeom>
              <a:avLst/>
              <a:gdLst/>
              <a:ahLst/>
              <a:cxnLst/>
              <a:rect r="r" b="b" t="t" l="l"/>
              <a:pathLst>
                <a:path h="340106" w="807466">
                  <a:moveTo>
                    <a:pt x="0" y="93091"/>
                  </a:moveTo>
                  <a:cubicBezTo>
                    <a:pt x="0" y="41656"/>
                    <a:pt x="41656" y="0"/>
                    <a:pt x="93091" y="0"/>
                  </a:cubicBezTo>
                  <a:lnTo>
                    <a:pt x="714375" y="0"/>
                  </a:lnTo>
                  <a:cubicBezTo>
                    <a:pt x="765810" y="0"/>
                    <a:pt x="807466" y="41656"/>
                    <a:pt x="807466" y="93091"/>
                  </a:cubicBezTo>
                  <a:lnTo>
                    <a:pt x="807466" y="247015"/>
                  </a:lnTo>
                  <a:cubicBezTo>
                    <a:pt x="807466" y="298450"/>
                    <a:pt x="765810" y="340106"/>
                    <a:pt x="714375" y="340106"/>
                  </a:cubicBezTo>
                  <a:lnTo>
                    <a:pt x="93091" y="340106"/>
                  </a:lnTo>
                  <a:cubicBezTo>
                    <a:pt x="41656" y="340106"/>
                    <a:pt x="0" y="298323"/>
                    <a:pt x="0" y="247015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CECE7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270399" y="7536841"/>
            <a:ext cx="510886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validate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4089797" y="1741113"/>
            <a:ext cx="13460968" cy="7301093"/>
            <a:chOff x="0" y="0"/>
            <a:chExt cx="17947958" cy="97347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7948021" cy="9734804"/>
            </a:xfrm>
            <a:custGeom>
              <a:avLst/>
              <a:gdLst/>
              <a:ahLst/>
              <a:cxnLst/>
              <a:rect r="r" b="b" t="t" l="l"/>
              <a:pathLst>
                <a:path h="9734804" w="17948021">
                  <a:moveTo>
                    <a:pt x="0" y="203581"/>
                  </a:moveTo>
                  <a:cubicBezTo>
                    <a:pt x="0" y="91186"/>
                    <a:pt x="91186" y="0"/>
                    <a:pt x="203581" y="0"/>
                  </a:cubicBezTo>
                  <a:lnTo>
                    <a:pt x="17744439" y="0"/>
                  </a:lnTo>
                  <a:cubicBezTo>
                    <a:pt x="17856834" y="0"/>
                    <a:pt x="17948021" y="91186"/>
                    <a:pt x="17948021" y="203581"/>
                  </a:cubicBezTo>
                  <a:lnTo>
                    <a:pt x="17948021" y="9531223"/>
                  </a:lnTo>
                  <a:cubicBezTo>
                    <a:pt x="17948021" y="9643618"/>
                    <a:pt x="17856834" y="9734804"/>
                    <a:pt x="17744439" y="9734804"/>
                  </a:cubicBezTo>
                  <a:lnTo>
                    <a:pt x="203581" y="9734804"/>
                  </a:lnTo>
                  <a:cubicBezTo>
                    <a:pt x="91186" y="9734804"/>
                    <a:pt x="0" y="9643618"/>
                    <a:pt x="0" y="9531223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sp>
        <p:nvSpPr>
          <p:cNvPr name="TextBox 25" id="25"/>
          <p:cNvSpPr txBox="true"/>
          <p:nvPr/>
        </p:nvSpPr>
        <p:spPr>
          <a:xfrm rot="0">
            <a:off x="4379871" y="1977971"/>
            <a:ext cx="3353882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0"/>
              </a:lnSpc>
            </a:pPr>
            <a:r>
              <a:rPr lang="en-US" b="true" sz="1300" spc="168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COMPOSER FIXED DAG SEQUENCE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200479" y="1977971"/>
            <a:ext cx="1798060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>
                <a:solidFill>
                  <a:srgbClr val="A8ADB4"/>
                </a:solidFill>
                <a:latin typeface="Noto Sans Kr"/>
                <a:ea typeface="Noto Sans Kr"/>
                <a:cs typeface="Noto Sans Kr"/>
                <a:sym typeface="Noto Sans Kr"/>
              </a:rPr>
              <a:t>검색 → 초안 → 검증 → 확정 저장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5963783" y="2575322"/>
            <a:ext cx="14288" cy="6278280"/>
            <a:chOff x="0" y="0"/>
            <a:chExt cx="19050" cy="8371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CECE7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5345071" y="2356371"/>
            <a:ext cx="1251713" cy="367541"/>
            <a:chOff x="0" y="0"/>
            <a:chExt cx="1349451" cy="396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349502" cy="396240"/>
            </a:xfrm>
            <a:custGeom>
              <a:avLst/>
              <a:gdLst/>
              <a:ahLst/>
              <a:cxnLst/>
              <a:rect r="r" b="b" t="t" l="l"/>
              <a:pathLst>
                <a:path h="396240" w="1349502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1243838" y="0"/>
                  </a:lnTo>
                  <a:cubicBezTo>
                    <a:pt x="1302258" y="0"/>
                    <a:pt x="1349502" y="47371"/>
                    <a:pt x="1349502" y="105664"/>
                  </a:cubicBezTo>
                  <a:lnTo>
                    <a:pt x="1349502" y="290576"/>
                  </a:lnTo>
                  <a:cubicBezTo>
                    <a:pt x="1349502" y="348996"/>
                    <a:pt x="1302131" y="396240"/>
                    <a:pt x="1243838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D9D9D9"/>
              </a:solidFill>
              <a:prstDash val="solid"/>
              <a:miter/>
            </a:ln>
          </p:spPr>
        </p:sp>
      </p:grpSp>
      <p:sp>
        <p:nvSpPr>
          <p:cNvPr name="TextBox 31" id="31"/>
          <p:cNvSpPr txBox="true"/>
          <p:nvPr/>
        </p:nvSpPr>
        <p:spPr>
          <a:xfrm rot="0">
            <a:off x="5484503" y="2449654"/>
            <a:ext cx="97284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Orchestrator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196683" y="2575322"/>
            <a:ext cx="14288" cy="6278280"/>
            <a:chOff x="0" y="0"/>
            <a:chExt cx="19050" cy="83710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CECE7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8666539" y="2356371"/>
            <a:ext cx="1074575" cy="367541"/>
            <a:chOff x="0" y="0"/>
            <a:chExt cx="1158481" cy="3962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158494" cy="396240"/>
            </a:xfrm>
            <a:custGeom>
              <a:avLst/>
              <a:gdLst/>
              <a:ahLst/>
              <a:cxnLst/>
              <a:rect r="r" b="b" t="t" l="l"/>
              <a:pathLst>
                <a:path h="396240" w="1158494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1052830" y="0"/>
                  </a:lnTo>
                  <a:cubicBezTo>
                    <a:pt x="1111250" y="0"/>
                    <a:pt x="1158494" y="47371"/>
                    <a:pt x="1158494" y="105664"/>
                  </a:cubicBezTo>
                  <a:lnTo>
                    <a:pt x="1158494" y="290576"/>
                  </a:lnTo>
                  <a:cubicBezTo>
                    <a:pt x="1158494" y="348996"/>
                    <a:pt x="1111123" y="396240"/>
                    <a:pt x="1052830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8820608" y="2449654"/>
            <a:ext cx="76643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Composer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7193575" y="4515745"/>
            <a:ext cx="5959850" cy="1518047"/>
            <a:chOff x="0" y="0"/>
            <a:chExt cx="7946466" cy="202406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946390" cy="2023999"/>
            </a:xfrm>
            <a:custGeom>
              <a:avLst/>
              <a:gdLst/>
              <a:ahLst/>
              <a:cxnLst/>
              <a:rect r="r" b="b" t="t" l="l"/>
              <a:pathLst>
                <a:path h="2023999" w="7946390">
                  <a:moveTo>
                    <a:pt x="0" y="140716"/>
                  </a:moveTo>
                  <a:cubicBezTo>
                    <a:pt x="0" y="62992"/>
                    <a:pt x="62992" y="0"/>
                    <a:pt x="140716" y="0"/>
                  </a:cubicBezTo>
                  <a:lnTo>
                    <a:pt x="7805674" y="0"/>
                  </a:lnTo>
                  <a:cubicBezTo>
                    <a:pt x="7883398" y="0"/>
                    <a:pt x="7946390" y="62992"/>
                    <a:pt x="7946390" y="140716"/>
                  </a:cubicBezTo>
                  <a:lnTo>
                    <a:pt x="7946390" y="1883283"/>
                  </a:lnTo>
                  <a:cubicBezTo>
                    <a:pt x="7946390" y="1961007"/>
                    <a:pt x="7883398" y="2023999"/>
                    <a:pt x="7805674" y="2023999"/>
                  </a:cubicBezTo>
                  <a:lnTo>
                    <a:pt x="140716" y="2023999"/>
                  </a:lnTo>
                  <a:cubicBezTo>
                    <a:pt x="62992" y="2024126"/>
                    <a:pt x="0" y="1961007"/>
                    <a:pt x="0" y="1883283"/>
                  </a:cubicBezTo>
                  <a:close/>
                </a:path>
              </a:pathLst>
            </a:custGeom>
            <a:solidFill>
              <a:srgbClr val="EC4899">
                <a:alpha val="0"/>
              </a:srgbClr>
            </a:solidFill>
            <a:ln w="9525" cap="sq">
              <a:solidFill>
                <a:srgbClr val="FF66C4"/>
              </a:solidFill>
              <a:prstDash val="sysDot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429592" y="2575322"/>
            <a:ext cx="14288" cy="6278280"/>
            <a:chOff x="0" y="0"/>
            <a:chExt cx="19050" cy="83710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CECE7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961145" y="2356371"/>
            <a:ext cx="970097" cy="367541"/>
            <a:chOff x="0" y="0"/>
            <a:chExt cx="1045845" cy="3962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45845" cy="396240"/>
            </a:xfrm>
            <a:custGeom>
              <a:avLst/>
              <a:gdLst/>
              <a:ahLst/>
              <a:cxnLst/>
              <a:rect r="r" b="b" t="t" l="l"/>
              <a:pathLst>
                <a:path h="396240" w="1045845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940181" y="0"/>
                  </a:lnTo>
                  <a:cubicBezTo>
                    <a:pt x="998601" y="0"/>
                    <a:pt x="1045845" y="47371"/>
                    <a:pt x="1045845" y="105664"/>
                  </a:cubicBezTo>
                  <a:lnTo>
                    <a:pt x="1045845" y="290576"/>
                  </a:lnTo>
                  <a:cubicBezTo>
                    <a:pt x="1045845" y="348996"/>
                    <a:pt x="998474" y="396240"/>
                    <a:pt x="940181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D9D9D9"/>
              </a:solidFill>
              <a:prstDash val="solid"/>
              <a:miter/>
            </a:ln>
          </p:spPr>
        </p:sp>
      </p:grpSp>
      <p:sp>
        <p:nvSpPr>
          <p:cNvPr name="TextBox 43" id="43"/>
          <p:cNvSpPr txBox="true"/>
          <p:nvPr/>
        </p:nvSpPr>
        <p:spPr>
          <a:xfrm rot="0">
            <a:off x="12109084" y="2449654"/>
            <a:ext cx="674219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GraphDB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5662491" y="2575322"/>
            <a:ext cx="14288" cy="6278280"/>
            <a:chOff x="0" y="0"/>
            <a:chExt cx="19050" cy="83710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CECE7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5078895" y="2356371"/>
            <a:ext cx="1181480" cy="367541"/>
            <a:chOff x="0" y="0"/>
            <a:chExt cx="1273734" cy="3962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273683" cy="396240"/>
            </a:xfrm>
            <a:custGeom>
              <a:avLst/>
              <a:gdLst/>
              <a:ahLst/>
              <a:cxnLst/>
              <a:rect r="r" b="b" t="t" l="l"/>
              <a:pathLst>
                <a:path h="396240" w="1273683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1168019" y="0"/>
                  </a:lnTo>
                  <a:cubicBezTo>
                    <a:pt x="1226439" y="0"/>
                    <a:pt x="1273683" y="47371"/>
                    <a:pt x="1273683" y="105664"/>
                  </a:cubicBezTo>
                  <a:lnTo>
                    <a:pt x="1273683" y="290576"/>
                  </a:lnTo>
                  <a:cubicBezTo>
                    <a:pt x="1273683" y="348996"/>
                    <a:pt x="1226312" y="396240"/>
                    <a:pt x="1168019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D9D9D9"/>
              </a:solidFill>
              <a:prstDash val="solid"/>
              <a:miter/>
            </a:ln>
          </p:spPr>
        </p:sp>
      </p:grpSp>
      <p:sp>
        <p:nvSpPr>
          <p:cNvPr name="TextBox 48" id="48"/>
          <p:cNvSpPr txBox="true"/>
          <p:nvPr/>
        </p:nvSpPr>
        <p:spPr>
          <a:xfrm rot="0">
            <a:off x="15237435" y="2449654"/>
            <a:ext cx="883336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PostgreSQL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7343956" y="4447165"/>
            <a:ext cx="1074239" cy="114300"/>
            <a:chOff x="0" y="0"/>
            <a:chExt cx="1432319" cy="1524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432306" cy="152400"/>
            </a:xfrm>
            <a:custGeom>
              <a:avLst/>
              <a:gdLst/>
              <a:ahLst/>
              <a:cxnLst/>
              <a:rect r="r" b="b" t="t" l="l"/>
              <a:pathLst>
                <a:path h="152400" w="1432306">
                  <a:moveTo>
                    <a:pt x="0" y="0"/>
                  </a:moveTo>
                  <a:lnTo>
                    <a:pt x="1432306" y="0"/>
                  </a:lnTo>
                  <a:lnTo>
                    <a:pt x="1432306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7307597" y="4408084"/>
            <a:ext cx="1791912" cy="192462"/>
            <a:chOff x="0" y="0"/>
            <a:chExt cx="1105777" cy="118767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105777" cy="118767"/>
            </a:xfrm>
            <a:custGeom>
              <a:avLst/>
              <a:gdLst/>
              <a:ahLst/>
              <a:cxnLst/>
              <a:rect r="r" b="b" t="t" l="l"/>
              <a:pathLst>
                <a:path h="118767" w="1105777">
                  <a:moveTo>
                    <a:pt x="59384" y="0"/>
                  </a:moveTo>
                  <a:lnTo>
                    <a:pt x="1046393" y="0"/>
                  </a:lnTo>
                  <a:cubicBezTo>
                    <a:pt x="1062143" y="0"/>
                    <a:pt x="1077247" y="6256"/>
                    <a:pt x="1088384" y="17393"/>
                  </a:cubicBezTo>
                  <a:cubicBezTo>
                    <a:pt x="1099520" y="28530"/>
                    <a:pt x="1105777" y="43634"/>
                    <a:pt x="1105777" y="59384"/>
                  </a:cubicBezTo>
                  <a:lnTo>
                    <a:pt x="1105777" y="59384"/>
                  </a:lnTo>
                  <a:cubicBezTo>
                    <a:pt x="1105777" y="75133"/>
                    <a:pt x="1099520" y="90237"/>
                    <a:pt x="1088384" y="101374"/>
                  </a:cubicBezTo>
                  <a:cubicBezTo>
                    <a:pt x="1077247" y="112511"/>
                    <a:pt x="1062143" y="118767"/>
                    <a:pt x="1046393" y="118767"/>
                  </a:cubicBezTo>
                  <a:lnTo>
                    <a:pt x="59384" y="118767"/>
                  </a:lnTo>
                  <a:cubicBezTo>
                    <a:pt x="43634" y="118767"/>
                    <a:pt x="28530" y="112511"/>
                    <a:pt x="17393" y="101374"/>
                  </a:cubicBezTo>
                  <a:cubicBezTo>
                    <a:pt x="6256" y="90237"/>
                    <a:pt x="0" y="75133"/>
                    <a:pt x="0" y="59384"/>
                  </a:cubicBezTo>
                  <a:lnTo>
                    <a:pt x="0" y="59384"/>
                  </a:lnTo>
                  <a:cubicBezTo>
                    <a:pt x="0" y="43634"/>
                    <a:pt x="6256" y="28530"/>
                    <a:pt x="17393" y="17393"/>
                  </a:cubicBezTo>
                  <a:cubicBezTo>
                    <a:pt x="28530" y="6256"/>
                    <a:pt x="43634" y="0"/>
                    <a:pt x="5938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1105777" cy="1187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7367528" y="4394521"/>
            <a:ext cx="1646851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96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품질 루프 · retry ≤ 3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386632" y="2962037"/>
            <a:ext cx="2401491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sz="1099" b="true">
                <a:solidFill>
                  <a:srgbClr val="5B647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1. relay(AgentState) — draft/refine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5970927" y="3189865"/>
            <a:ext cx="3232899" cy="11430"/>
            <a:chOff x="0" y="0"/>
            <a:chExt cx="4310532" cy="152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310507" cy="15240"/>
            </a:xfrm>
            <a:custGeom>
              <a:avLst/>
              <a:gdLst/>
              <a:ahLst/>
              <a:cxnLst/>
              <a:rect r="r" b="b" t="t" l="l"/>
              <a:pathLst>
                <a:path h="15240" w="4310507">
                  <a:moveTo>
                    <a:pt x="0" y="0"/>
                  </a:moveTo>
                  <a:lnTo>
                    <a:pt x="4310507" y="0"/>
                  </a:lnTo>
                  <a:lnTo>
                    <a:pt x="431050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9133284" y="3153785"/>
            <a:ext cx="80010" cy="91440"/>
            <a:chOff x="0" y="0"/>
            <a:chExt cx="106680" cy="12192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sp>
        <p:nvSpPr>
          <p:cNvPr name="TextBox 60" id="60"/>
          <p:cNvSpPr txBox="true"/>
          <p:nvPr/>
        </p:nvSpPr>
        <p:spPr>
          <a:xfrm rot="0">
            <a:off x="9983646" y="4025265"/>
            <a:ext cx="1673261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FF505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2. search_nodes 의미검색</a:t>
            </a:r>
          </a:p>
        </p:txBody>
      </p:sp>
      <p:grpSp>
        <p:nvGrpSpPr>
          <p:cNvPr name="Group 61" id="61"/>
          <p:cNvGrpSpPr/>
          <p:nvPr/>
        </p:nvGrpSpPr>
        <p:grpSpPr>
          <a:xfrm rot="0">
            <a:off x="9203827" y="4236244"/>
            <a:ext cx="3232899" cy="11430"/>
            <a:chOff x="0" y="0"/>
            <a:chExt cx="4310532" cy="152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310507" cy="15240"/>
            </a:xfrm>
            <a:custGeom>
              <a:avLst/>
              <a:gdLst/>
              <a:ahLst/>
              <a:cxnLst/>
              <a:rect r="r" b="b" t="t" l="l"/>
              <a:pathLst>
                <a:path h="15240" w="4310507">
                  <a:moveTo>
                    <a:pt x="0" y="0"/>
                  </a:moveTo>
                  <a:lnTo>
                    <a:pt x="4310507" y="0"/>
                  </a:lnTo>
                  <a:lnTo>
                    <a:pt x="431050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FF5050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2366184" y="4200173"/>
            <a:ext cx="80010" cy="91440"/>
            <a:chOff x="0" y="0"/>
            <a:chExt cx="106680" cy="1219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FF5050"/>
            </a:solidFill>
          </p:spPr>
        </p:sp>
      </p:grpSp>
      <p:sp>
        <p:nvSpPr>
          <p:cNvPr name="TextBox 65" id="65"/>
          <p:cNvSpPr txBox="true"/>
          <p:nvPr/>
        </p:nvSpPr>
        <p:spPr>
          <a:xfrm rot="0">
            <a:off x="9824702" y="5084626"/>
            <a:ext cx="1991158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sz="1099" b="true">
                <a:solidFill>
                  <a:srgbClr val="5B647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↩ 3. 노드 후보 + CAN_FOLLOW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9203827" y="5282622"/>
            <a:ext cx="3232899" cy="11430"/>
            <a:chOff x="0" y="0"/>
            <a:chExt cx="4310532" cy="152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310507" cy="15240"/>
            </a:xfrm>
            <a:custGeom>
              <a:avLst/>
              <a:gdLst/>
              <a:ahLst/>
              <a:cxnLst/>
              <a:rect r="r" b="b" t="t" l="l"/>
              <a:pathLst>
                <a:path h="15240" w="4310507">
                  <a:moveTo>
                    <a:pt x="0" y="0"/>
                  </a:moveTo>
                  <a:lnTo>
                    <a:pt x="4310507" y="0"/>
                  </a:lnTo>
                  <a:lnTo>
                    <a:pt x="431050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9194359" y="5246551"/>
            <a:ext cx="80010" cy="91440"/>
            <a:chOff x="0" y="0"/>
            <a:chExt cx="106680" cy="1219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94A3B8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9283837" y="6188735"/>
            <a:ext cx="2373080" cy="388783"/>
            <a:chOff x="0" y="0"/>
            <a:chExt cx="2572702" cy="421488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572766" cy="421513"/>
            </a:xfrm>
            <a:custGeom>
              <a:avLst/>
              <a:gdLst/>
              <a:ahLst/>
              <a:cxnLst/>
              <a:rect r="r" b="b" t="t" l="l"/>
              <a:pathLst>
                <a:path h="421513" w="2572766">
                  <a:moveTo>
                    <a:pt x="0" y="118618"/>
                  </a:moveTo>
                  <a:cubicBezTo>
                    <a:pt x="0" y="53086"/>
                    <a:pt x="53086" y="0"/>
                    <a:pt x="118618" y="0"/>
                  </a:cubicBezTo>
                  <a:lnTo>
                    <a:pt x="2454148" y="0"/>
                  </a:lnTo>
                  <a:cubicBezTo>
                    <a:pt x="2519680" y="0"/>
                    <a:pt x="2572766" y="53086"/>
                    <a:pt x="2572766" y="118618"/>
                  </a:cubicBezTo>
                  <a:lnTo>
                    <a:pt x="2572766" y="302895"/>
                  </a:lnTo>
                  <a:cubicBezTo>
                    <a:pt x="2572766" y="368427"/>
                    <a:pt x="2519680" y="421513"/>
                    <a:pt x="2454148" y="421513"/>
                  </a:cubicBezTo>
                  <a:lnTo>
                    <a:pt x="118618" y="421513"/>
                  </a:lnTo>
                  <a:cubicBezTo>
                    <a:pt x="53086" y="421513"/>
                    <a:pt x="0" y="368427"/>
                    <a:pt x="0" y="302895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FF99D8"/>
              </a:solidFill>
              <a:prstDash val="solid"/>
              <a:miter/>
            </a:ln>
          </p:spPr>
        </p:sp>
      </p:grpSp>
      <p:sp>
        <p:nvSpPr>
          <p:cNvPr name="TextBox 72" id="72"/>
          <p:cNvSpPr txBox="true"/>
          <p:nvPr/>
        </p:nvSpPr>
        <p:spPr>
          <a:xfrm rot="0">
            <a:off x="9500829" y="6311690"/>
            <a:ext cx="1939095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true">
                <a:solidFill>
                  <a:srgbClr val="EC4899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↻ 4. draft → validate → qa ≥ 8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1466312" y="7177383"/>
            <a:ext cx="1940827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4764F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5. promote · save_workflow</a:t>
            </a:r>
          </a:p>
        </p:txBody>
      </p:sp>
      <p:grpSp>
        <p:nvGrpSpPr>
          <p:cNvPr name="Group 74" id="74"/>
          <p:cNvGrpSpPr/>
          <p:nvPr/>
        </p:nvGrpSpPr>
        <p:grpSpPr>
          <a:xfrm rot="0">
            <a:off x="9203827" y="7375388"/>
            <a:ext cx="6465808" cy="11430"/>
            <a:chOff x="0" y="0"/>
            <a:chExt cx="8621078" cy="152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621014" cy="15240"/>
            </a:xfrm>
            <a:custGeom>
              <a:avLst/>
              <a:gdLst/>
              <a:ahLst/>
              <a:cxnLst/>
              <a:rect r="r" b="b" t="t" l="l"/>
              <a:pathLst>
                <a:path h="15240" w="8621014">
                  <a:moveTo>
                    <a:pt x="0" y="0"/>
                  </a:moveTo>
                  <a:lnTo>
                    <a:pt x="8621014" y="0"/>
                  </a:lnTo>
                  <a:lnTo>
                    <a:pt x="862101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3B82F6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5599093" y="7339308"/>
            <a:ext cx="80010" cy="91440"/>
            <a:chOff x="0" y="0"/>
            <a:chExt cx="106680" cy="12192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3B82F6"/>
            </a:solidFill>
          </p:spPr>
        </p:sp>
      </p:grpSp>
      <p:sp>
        <p:nvSpPr>
          <p:cNvPr name="TextBox 78" id="78"/>
          <p:cNvSpPr txBox="true"/>
          <p:nvPr/>
        </p:nvSpPr>
        <p:spPr>
          <a:xfrm rot="0">
            <a:off x="6558514" y="8223761"/>
            <a:ext cx="2057725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4764F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↩ 6. explain → confirm (HITL)</a:t>
            </a:r>
          </a:p>
        </p:txBody>
      </p:sp>
      <p:grpSp>
        <p:nvGrpSpPr>
          <p:cNvPr name="Group 79" id="79"/>
          <p:cNvGrpSpPr/>
          <p:nvPr/>
        </p:nvGrpSpPr>
        <p:grpSpPr>
          <a:xfrm rot="0">
            <a:off x="5970927" y="8421767"/>
            <a:ext cx="3232899" cy="11430"/>
            <a:chOff x="0" y="0"/>
            <a:chExt cx="4310532" cy="152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4310507" cy="15240"/>
            </a:xfrm>
            <a:custGeom>
              <a:avLst/>
              <a:gdLst/>
              <a:ahLst/>
              <a:cxnLst/>
              <a:rect r="r" b="b" t="t" l="l"/>
              <a:pathLst>
                <a:path h="15240" w="4310507">
                  <a:moveTo>
                    <a:pt x="0" y="0"/>
                  </a:moveTo>
                  <a:lnTo>
                    <a:pt x="4310507" y="0"/>
                  </a:lnTo>
                  <a:lnTo>
                    <a:pt x="431050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3B82F6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5961459" y="8385686"/>
            <a:ext cx="80010" cy="91440"/>
            <a:chOff x="0" y="0"/>
            <a:chExt cx="106680" cy="12192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3B82F6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737235" y="9154535"/>
            <a:ext cx="16813530" cy="482918"/>
            <a:chOff x="0" y="0"/>
            <a:chExt cx="22418040" cy="64389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2418041" cy="643890"/>
            </a:xfrm>
            <a:custGeom>
              <a:avLst/>
              <a:gdLst/>
              <a:ahLst/>
              <a:cxnLst/>
              <a:rect r="r" b="b" t="t" l="l"/>
              <a:pathLst>
                <a:path h="643890" w="22418041">
                  <a:moveTo>
                    <a:pt x="0" y="156083"/>
                  </a:moveTo>
                  <a:cubicBezTo>
                    <a:pt x="0" y="69850"/>
                    <a:pt x="69850" y="0"/>
                    <a:pt x="156083" y="0"/>
                  </a:cubicBezTo>
                  <a:lnTo>
                    <a:pt x="22261957" y="0"/>
                  </a:lnTo>
                  <a:cubicBezTo>
                    <a:pt x="22348191" y="0"/>
                    <a:pt x="22418041" y="69850"/>
                    <a:pt x="22418041" y="156083"/>
                  </a:cubicBezTo>
                  <a:lnTo>
                    <a:pt x="22418041" y="487807"/>
                  </a:lnTo>
                  <a:cubicBezTo>
                    <a:pt x="22418041" y="574040"/>
                    <a:pt x="22348191" y="643890"/>
                    <a:pt x="22261957" y="643890"/>
                  </a:cubicBezTo>
                  <a:lnTo>
                    <a:pt x="156083" y="643890"/>
                  </a:lnTo>
                  <a:cubicBezTo>
                    <a:pt x="69850" y="643890"/>
                    <a:pt x="0" y="574040"/>
                    <a:pt x="0" y="487807"/>
                  </a:cubicBezTo>
                  <a:close/>
                </a:path>
              </a:pathLst>
            </a:custGeom>
            <a:solidFill>
              <a:srgbClr val="FDF2F8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TextBox 85" id="85"/>
          <p:cNvSpPr txBox="true"/>
          <p:nvPr/>
        </p:nvSpPr>
        <p:spPr>
          <a:xfrm rot="0">
            <a:off x="989266" y="9263758"/>
            <a:ext cx="222322" cy="236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9"/>
              </a:lnSpc>
            </a:pPr>
            <a:r>
              <a:rPr lang="en-US" sz="1275">
                <a:solidFill>
                  <a:srgbClr val="434A54"/>
                </a:solidFill>
                <a:latin typeface="Noto Sans Kr"/>
                <a:ea typeface="Noto Sans Kr"/>
                <a:cs typeface="Noto Sans Kr"/>
                <a:sym typeface="Noto Sans Kr"/>
              </a:rPr>
              <a:t>💡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316279" y="9254233"/>
            <a:ext cx="9154098" cy="254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3"/>
              </a:lnSpc>
            </a:pPr>
            <a:r>
              <a:rPr lang="en-US" sz="1299" b="true">
                <a:solidFill>
                  <a:srgbClr val="DB4778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Composer </a:t>
            </a:r>
            <a:r>
              <a:rPr lang="en-US" sz="1299">
                <a:solidFill>
                  <a:srgbClr val="DB4778"/>
                </a:solidFill>
                <a:latin typeface="Noto Sans Kr"/>
                <a:ea typeface="Noto Sans Kr"/>
                <a:cs typeface="Noto Sans Kr"/>
                <a:sym typeface="Noto Sans Kr"/>
              </a:rPr>
              <a:t>검색  →  초안  →  검증  →  QA를 거쳐 score ≥ 8을 통과해야 확정하고, 확정 워크플로우만 PostgreSQL에 저장한다.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737235" y="9752333"/>
            <a:ext cx="319528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1A1F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39 </a:t>
            </a:r>
            <a:r>
              <a:rPr lang="en-US" sz="1500" b="true">
                <a:solidFill>
                  <a:srgbClr val="1A1F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/ 44</a:t>
            </a:r>
            <a:r>
              <a:rPr lang="en-US" sz="1500" b="true">
                <a:solidFill>
                  <a:srgbClr val="7A828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sz="1500">
                <a:solidFill>
                  <a:srgbClr val="A8ADB4"/>
                </a:solidFill>
                <a:latin typeface="Noto Sans Kr"/>
                <a:ea typeface="Noto Sans Kr"/>
                <a:cs typeface="Noto Sans Kr"/>
                <a:sym typeface="Noto Sans Kr"/>
              </a:rPr>
              <a:t>ǀ Workflow Composer 시퀀스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15621952" y="9752333"/>
            <a:ext cx="192881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69">
                <a:solidFill>
                  <a:srgbClr val="A8ADB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5 — FLOW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737235" y="551183"/>
            <a:ext cx="117720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363">
                <a:solidFill>
                  <a:srgbClr val="1E3A8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05</a:t>
            </a:r>
          </a:p>
        </p:txBody>
      </p:sp>
      <p:grpSp>
        <p:nvGrpSpPr>
          <p:cNvPr name="Group 90" id="90"/>
          <p:cNvGrpSpPr/>
          <p:nvPr/>
        </p:nvGrpSpPr>
        <p:grpSpPr>
          <a:xfrm rot="0">
            <a:off x="1761963" y="540963"/>
            <a:ext cx="9525" cy="152343"/>
            <a:chOff x="0" y="0"/>
            <a:chExt cx="12700" cy="20312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12700" cy="203073"/>
            </a:xfrm>
            <a:custGeom>
              <a:avLst/>
              <a:gdLst/>
              <a:ahLst/>
              <a:cxnLst/>
              <a:rect r="r" b="b" t="t" l="l"/>
              <a:pathLst>
                <a:path h="203073" w="12700">
                  <a:moveTo>
                    <a:pt x="0" y="0"/>
                  </a:moveTo>
                  <a:lnTo>
                    <a:pt x="12700" y="0"/>
                  </a:lnTo>
                  <a:lnTo>
                    <a:pt x="12700" y="203073"/>
                  </a:lnTo>
                  <a:lnTo>
                    <a:pt x="0" y="203073"/>
                  </a:lnTo>
                  <a:close/>
                </a:path>
              </a:pathLst>
            </a:custGeom>
            <a:solidFill>
              <a:srgbClr val="D2D2CC"/>
            </a:solidFill>
          </p:spPr>
        </p:sp>
      </p:grpSp>
      <p:sp>
        <p:nvSpPr>
          <p:cNvPr name="TextBox 92" id="92"/>
          <p:cNvSpPr txBox="true"/>
          <p:nvPr/>
        </p:nvSpPr>
        <p:spPr>
          <a:xfrm rot="0">
            <a:off x="2392023" y="551183"/>
            <a:ext cx="132408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49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실제 동작 흐름</a:t>
            </a:r>
          </a:p>
        </p:txBody>
      </p:sp>
      <p:grpSp>
        <p:nvGrpSpPr>
          <p:cNvPr name="Group 93" id="93"/>
          <p:cNvGrpSpPr/>
          <p:nvPr/>
        </p:nvGrpSpPr>
        <p:grpSpPr>
          <a:xfrm rot="0">
            <a:off x="1051186" y="8289027"/>
            <a:ext cx="949313" cy="399771"/>
            <a:chOff x="0" y="0"/>
            <a:chExt cx="807479" cy="340042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07466" cy="340106"/>
            </a:xfrm>
            <a:custGeom>
              <a:avLst/>
              <a:gdLst/>
              <a:ahLst/>
              <a:cxnLst/>
              <a:rect r="r" b="b" t="t" l="l"/>
              <a:pathLst>
                <a:path h="340106" w="807466">
                  <a:moveTo>
                    <a:pt x="0" y="93091"/>
                  </a:moveTo>
                  <a:cubicBezTo>
                    <a:pt x="0" y="41656"/>
                    <a:pt x="41656" y="0"/>
                    <a:pt x="93091" y="0"/>
                  </a:cubicBezTo>
                  <a:lnTo>
                    <a:pt x="714375" y="0"/>
                  </a:lnTo>
                  <a:cubicBezTo>
                    <a:pt x="765810" y="0"/>
                    <a:pt x="807466" y="41656"/>
                    <a:pt x="807466" y="93091"/>
                  </a:cubicBezTo>
                  <a:lnTo>
                    <a:pt x="807466" y="247015"/>
                  </a:lnTo>
                  <a:cubicBezTo>
                    <a:pt x="807466" y="298450"/>
                    <a:pt x="765810" y="340106"/>
                    <a:pt x="714375" y="340106"/>
                  </a:cubicBezTo>
                  <a:lnTo>
                    <a:pt x="93091" y="340106"/>
                  </a:lnTo>
                  <a:cubicBezTo>
                    <a:pt x="41656" y="340106"/>
                    <a:pt x="0" y="298323"/>
                    <a:pt x="0" y="247015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CECE7"/>
              </a:solidFill>
              <a:prstDash val="solid"/>
              <a:miter/>
            </a:ln>
          </p:spPr>
        </p:sp>
      </p:grpSp>
      <p:sp>
        <p:nvSpPr>
          <p:cNvPr name="TextBox 95" id="95"/>
          <p:cNvSpPr txBox="true"/>
          <p:nvPr/>
        </p:nvSpPr>
        <p:spPr>
          <a:xfrm rot="0">
            <a:off x="1227591" y="8403187"/>
            <a:ext cx="584164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retry ≤ 3</a:t>
            </a:r>
          </a:p>
        </p:txBody>
      </p:sp>
      <p:grpSp>
        <p:nvGrpSpPr>
          <p:cNvPr name="Group 96" id="96"/>
          <p:cNvGrpSpPr/>
          <p:nvPr/>
        </p:nvGrpSpPr>
        <p:grpSpPr>
          <a:xfrm rot="0">
            <a:off x="2559603" y="7422829"/>
            <a:ext cx="948603" cy="399472"/>
            <a:chOff x="0" y="0"/>
            <a:chExt cx="807479" cy="34004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07466" cy="340106"/>
            </a:xfrm>
            <a:custGeom>
              <a:avLst/>
              <a:gdLst/>
              <a:ahLst/>
              <a:cxnLst/>
              <a:rect r="r" b="b" t="t" l="l"/>
              <a:pathLst>
                <a:path h="340106" w="807466">
                  <a:moveTo>
                    <a:pt x="0" y="93091"/>
                  </a:moveTo>
                  <a:cubicBezTo>
                    <a:pt x="0" y="41656"/>
                    <a:pt x="41656" y="0"/>
                    <a:pt x="93091" y="0"/>
                  </a:cubicBezTo>
                  <a:lnTo>
                    <a:pt x="714375" y="0"/>
                  </a:lnTo>
                  <a:cubicBezTo>
                    <a:pt x="765810" y="0"/>
                    <a:pt x="807466" y="41656"/>
                    <a:pt x="807466" y="93091"/>
                  </a:cubicBezTo>
                  <a:lnTo>
                    <a:pt x="807466" y="247015"/>
                  </a:lnTo>
                  <a:cubicBezTo>
                    <a:pt x="807466" y="298450"/>
                    <a:pt x="765810" y="340106"/>
                    <a:pt x="714375" y="340106"/>
                  </a:cubicBezTo>
                  <a:lnTo>
                    <a:pt x="93091" y="340106"/>
                  </a:lnTo>
                  <a:cubicBezTo>
                    <a:pt x="41656" y="340106"/>
                    <a:pt x="0" y="298323"/>
                    <a:pt x="0" y="247015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CECE7"/>
              </a:solidFill>
              <a:prstDash val="solid"/>
              <a:miter/>
            </a:ln>
          </p:spPr>
        </p:sp>
      </p:grpSp>
      <p:sp>
        <p:nvSpPr>
          <p:cNvPr name="TextBox 98" id="98"/>
          <p:cNvSpPr txBox="true"/>
          <p:nvPr/>
        </p:nvSpPr>
        <p:spPr>
          <a:xfrm rot="0">
            <a:off x="2839102" y="7536841"/>
            <a:ext cx="429924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qa ≥ 8</a:t>
            </a:r>
          </a:p>
        </p:txBody>
      </p:sp>
      <p:grpSp>
        <p:nvGrpSpPr>
          <p:cNvPr name="Group 99" id="99"/>
          <p:cNvGrpSpPr/>
          <p:nvPr/>
        </p:nvGrpSpPr>
        <p:grpSpPr>
          <a:xfrm rot="0">
            <a:off x="2551914" y="8289027"/>
            <a:ext cx="963982" cy="405949"/>
            <a:chOff x="0" y="0"/>
            <a:chExt cx="807479" cy="340042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807466" cy="340106"/>
            </a:xfrm>
            <a:custGeom>
              <a:avLst/>
              <a:gdLst/>
              <a:ahLst/>
              <a:cxnLst/>
              <a:rect r="r" b="b" t="t" l="l"/>
              <a:pathLst>
                <a:path h="340106" w="807466">
                  <a:moveTo>
                    <a:pt x="0" y="93091"/>
                  </a:moveTo>
                  <a:cubicBezTo>
                    <a:pt x="0" y="41656"/>
                    <a:pt x="41656" y="0"/>
                    <a:pt x="93091" y="0"/>
                  </a:cubicBezTo>
                  <a:lnTo>
                    <a:pt x="714375" y="0"/>
                  </a:lnTo>
                  <a:cubicBezTo>
                    <a:pt x="765810" y="0"/>
                    <a:pt x="807466" y="41656"/>
                    <a:pt x="807466" y="93091"/>
                  </a:cubicBezTo>
                  <a:lnTo>
                    <a:pt x="807466" y="247015"/>
                  </a:lnTo>
                  <a:cubicBezTo>
                    <a:pt x="807466" y="298450"/>
                    <a:pt x="765810" y="340106"/>
                    <a:pt x="714375" y="340106"/>
                  </a:cubicBezTo>
                  <a:lnTo>
                    <a:pt x="93091" y="340106"/>
                  </a:lnTo>
                  <a:cubicBezTo>
                    <a:pt x="41656" y="340106"/>
                    <a:pt x="0" y="298323"/>
                    <a:pt x="0" y="247015"/>
                  </a:cubicBezTo>
                  <a:close/>
                </a:path>
              </a:pathLst>
            </a:custGeom>
            <a:solidFill>
              <a:srgbClr val="F8FAFC"/>
            </a:solidFill>
            <a:ln w="11430" cap="sq">
              <a:solidFill>
                <a:srgbClr val="ECECE7"/>
              </a:solidFill>
              <a:prstDash val="solid"/>
              <a:miter/>
            </a:ln>
          </p:spPr>
        </p:sp>
      </p:grpSp>
      <p:sp>
        <p:nvSpPr>
          <p:cNvPr name="TextBox 101" id="101"/>
          <p:cNvSpPr txBox="true"/>
          <p:nvPr/>
        </p:nvSpPr>
        <p:spPr>
          <a:xfrm rot="0">
            <a:off x="2624925" y="8406276"/>
            <a:ext cx="817959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>
                <a:solidFill>
                  <a:srgbClr val="4338C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confirm HITL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>
  <p:cSld>
    <p:bg>
      <p:bgPr>
        <a:solidFill>
          <a:srgbClr val="F6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37235" y="1741113"/>
            <a:ext cx="3173616" cy="2365115"/>
            <a:chOff x="0" y="0"/>
            <a:chExt cx="4231488" cy="31534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737235" y="4209097"/>
            <a:ext cx="3173616" cy="2365115"/>
            <a:chOff x="0" y="0"/>
            <a:chExt cx="4231488" cy="315348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737235" y="6677082"/>
            <a:ext cx="3173616" cy="2365115"/>
            <a:chOff x="0" y="0"/>
            <a:chExt cx="4231488" cy="315348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231513" cy="3153537"/>
            </a:xfrm>
            <a:custGeom>
              <a:avLst/>
              <a:gdLst/>
              <a:ahLst/>
              <a:cxnLst/>
              <a:rect r="r" b="b" t="t" l="l"/>
              <a:pathLst>
                <a:path h="3153537" w="4231513">
                  <a:moveTo>
                    <a:pt x="0" y="178689"/>
                  </a:moveTo>
                  <a:cubicBezTo>
                    <a:pt x="0" y="80010"/>
                    <a:pt x="80010" y="0"/>
                    <a:pt x="178689" y="0"/>
                  </a:cubicBezTo>
                  <a:lnTo>
                    <a:pt x="4052824" y="0"/>
                  </a:lnTo>
                  <a:cubicBezTo>
                    <a:pt x="4151503" y="0"/>
                    <a:pt x="4231513" y="80010"/>
                    <a:pt x="4231513" y="178689"/>
                  </a:cubicBezTo>
                  <a:lnTo>
                    <a:pt x="4231513" y="2974848"/>
                  </a:lnTo>
                  <a:cubicBezTo>
                    <a:pt x="4231513" y="3073527"/>
                    <a:pt x="4151503" y="3153537"/>
                    <a:pt x="4052824" y="3153537"/>
                  </a:cubicBezTo>
                  <a:lnTo>
                    <a:pt x="178689" y="3153537"/>
                  </a:lnTo>
                  <a:cubicBezTo>
                    <a:pt x="80010" y="3153537"/>
                    <a:pt x="0" y="3073527"/>
                    <a:pt x="0" y="2974848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C8CCF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951233" y="7258802"/>
            <a:ext cx="1659184" cy="427287"/>
            <a:chOff x="0" y="0"/>
            <a:chExt cx="1320406" cy="34004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20419" cy="340106"/>
            </a:xfrm>
            <a:custGeom>
              <a:avLst/>
              <a:gdLst/>
              <a:ahLst/>
              <a:cxnLst/>
              <a:rect r="r" b="b" t="t" l="l"/>
              <a:pathLst>
                <a:path h="340106" w="1320419">
                  <a:moveTo>
                    <a:pt x="0" y="93091"/>
                  </a:moveTo>
                  <a:cubicBezTo>
                    <a:pt x="0" y="41656"/>
                    <a:pt x="41656" y="0"/>
                    <a:pt x="93091" y="0"/>
                  </a:cubicBezTo>
                  <a:lnTo>
                    <a:pt x="1227328" y="0"/>
                  </a:lnTo>
                  <a:cubicBezTo>
                    <a:pt x="1278763" y="0"/>
                    <a:pt x="1320419" y="41656"/>
                    <a:pt x="1320419" y="93091"/>
                  </a:cubicBezTo>
                  <a:lnTo>
                    <a:pt x="1320419" y="247015"/>
                  </a:lnTo>
                  <a:cubicBezTo>
                    <a:pt x="1320419" y="298450"/>
                    <a:pt x="1278763" y="340106"/>
                    <a:pt x="1227328" y="340106"/>
                  </a:cubicBezTo>
                  <a:lnTo>
                    <a:pt x="93091" y="340106"/>
                  </a:lnTo>
                  <a:cubicBezTo>
                    <a:pt x="41656" y="340106"/>
                    <a:pt x="0" y="298323"/>
                    <a:pt x="0" y="247015"/>
                  </a:cubicBezTo>
                  <a:close/>
                </a:path>
              </a:pathLst>
            </a:custGeom>
            <a:solidFill>
              <a:srgbClr val="10BB82">
                <a:alpha val="2745"/>
              </a:srgbClr>
            </a:solidFill>
            <a:ln w="11430" cap="sq">
              <a:solidFill>
                <a:srgbClr val="EDE9E0">
                  <a:alpha val="2745"/>
                </a:srgbClr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951233" y="8475327"/>
            <a:ext cx="1659184" cy="427287"/>
            <a:chOff x="0" y="0"/>
            <a:chExt cx="1320406" cy="34004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20419" cy="340106"/>
            </a:xfrm>
            <a:custGeom>
              <a:avLst/>
              <a:gdLst/>
              <a:ahLst/>
              <a:cxnLst/>
              <a:rect r="r" b="b" t="t" l="l"/>
              <a:pathLst>
                <a:path h="340106" w="1320419">
                  <a:moveTo>
                    <a:pt x="0" y="93091"/>
                  </a:moveTo>
                  <a:cubicBezTo>
                    <a:pt x="0" y="41656"/>
                    <a:pt x="41656" y="0"/>
                    <a:pt x="93091" y="0"/>
                  </a:cubicBezTo>
                  <a:lnTo>
                    <a:pt x="1227328" y="0"/>
                  </a:lnTo>
                  <a:cubicBezTo>
                    <a:pt x="1278763" y="0"/>
                    <a:pt x="1320419" y="41656"/>
                    <a:pt x="1320419" y="93091"/>
                  </a:cubicBezTo>
                  <a:lnTo>
                    <a:pt x="1320419" y="247015"/>
                  </a:lnTo>
                  <a:cubicBezTo>
                    <a:pt x="1320419" y="298450"/>
                    <a:pt x="1278763" y="340106"/>
                    <a:pt x="1227328" y="340106"/>
                  </a:cubicBezTo>
                  <a:lnTo>
                    <a:pt x="93091" y="340106"/>
                  </a:lnTo>
                  <a:cubicBezTo>
                    <a:pt x="41656" y="340106"/>
                    <a:pt x="0" y="298323"/>
                    <a:pt x="0" y="247015"/>
                  </a:cubicBezTo>
                  <a:close/>
                </a:path>
              </a:pathLst>
            </a:custGeom>
            <a:solidFill>
              <a:srgbClr val="10BB82">
                <a:alpha val="2745"/>
              </a:srgbClr>
            </a:solidFill>
            <a:ln w="11430" cap="sq">
              <a:solidFill>
                <a:srgbClr val="EDE9E0">
                  <a:alpha val="2745"/>
                </a:srgbClr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951233" y="7867065"/>
            <a:ext cx="1659184" cy="427287"/>
            <a:chOff x="0" y="0"/>
            <a:chExt cx="1320406" cy="34004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20419" cy="340106"/>
            </a:xfrm>
            <a:custGeom>
              <a:avLst/>
              <a:gdLst/>
              <a:ahLst/>
              <a:cxnLst/>
              <a:rect r="r" b="b" t="t" l="l"/>
              <a:pathLst>
                <a:path h="340106" w="1320419">
                  <a:moveTo>
                    <a:pt x="0" y="93091"/>
                  </a:moveTo>
                  <a:cubicBezTo>
                    <a:pt x="0" y="41656"/>
                    <a:pt x="41656" y="0"/>
                    <a:pt x="93091" y="0"/>
                  </a:cubicBezTo>
                  <a:lnTo>
                    <a:pt x="1227328" y="0"/>
                  </a:lnTo>
                  <a:cubicBezTo>
                    <a:pt x="1278763" y="0"/>
                    <a:pt x="1320419" y="41656"/>
                    <a:pt x="1320419" y="93091"/>
                  </a:cubicBezTo>
                  <a:lnTo>
                    <a:pt x="1320419" y="247015"/>
                  </a:lnTo>
                  <a:cubicBezTo>
                    <a:pt x="1320419" y="298450"/>
                    <a:pt x="1278763" y="340106"/>
                    <a:pt x="1227328" y="340106"/>
                  </a:cubicBezTo>
                  <a:lnTo>
                    <a:pt x="93091" y="340106"/>
                  </a:lnTo>
                  <a:cubicBezTo>
                    <a:pt x="41656" y="340106"/>
                    <a:pt x="0" y="298323"/>
                    <a:pt x="0" y="247015"/>
                  </a:cubicBezTo>
                  <a:close/>
                </a:path>
              </a:pathLst>
            </a:custGeom>
            <a:solidFill>
              <a:srgbClr val="10BB82">
                <a:alpha val="2745"/>
              </a:srgbClr>
            </a:solidFill>
            <a:ln w="11430" cap="sq">
              <a:solidFill>
                <a:srgbClr val="EDE9E0">
                  <a:alpha val="2745"/>
                </a:srgbClr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4089797" y="1741113"/>
            <a:ext cx="13460968" cy="7301093"/>
            <a:chOff x="0" y="0"/>
            <a:chExt cx="17947958" cy="973479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7948021" cy="9734804"/>
            </a:xfrm>
            <a:custGeom>
              <a:avLst/>
              <a:gdLst/>
              <a:ahLst/>
              <a:cxnLst/>
              <a:rect r="r" b="b" t="t" l="l"/>
              <a:pathLst>
                <a:path h="9734804" w="17948021">
                  <a:moveTo>
                    <a:pt x="0" y="203581"/>
                  </a:moveTo>
                  <a:cubicBezTo>
                    <a:pt x="0" y="91186"/>
                    <a:pt x="91186" y="0"/>
                    <a:pt x="203581" y="0"/>
                  </a:cubicBezTo>
                  <a:lnTo>
                    <a:pt x="17744439" y="0"/>
                  </a:lnTo>
                  <a:cubicBezTo>
                    <a:pt x="17856834" y="0"/>
                    <a:pt x="17948021" y="91186"/>
                    <a:pt x="17948021" y="203581"/>
                  </a:cubicBezTo>
                  <a:lnTo>
                    <a:pt x="17948021" y="9531223"/>
                  </a:lnTo>
                  <a:cubicBezTo>
                    <a:pt x="17948021" y="9643618"/>
                    <a:pt x="17856834" y="9734804"/>
                    <a:pt x="17744439" y="9734804"/>
                  </a:cubicBezTo>
                  <a:lnTo>
                    <a:pt x="203581" y="9734804"/>
                  </a:lnTo>
                  <a:cubicBezTo>
                    <a:pt x="91186" y="9734804"/>
                    <a:pt x="0" y="9643618"/>
                    <a:pt x="0" y="9531223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AEAE6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5963783" y="2575322"/>
            <a:ext cx="14288" cy="6278280"/>
            <a:chOff x="0" y="0"/>
            <a:chExt cx="19050" cy="83710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5603946" y="2234569"/>
            <a:ext cx="748251" cy="380758"/>
            <a:chOff x="0" y="0"/>
            <a:chExt cx="778675" cy="396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78637" cy="396240"/>
            </a:xfrm>
            <a:custGeom>
              <a:avLst/>
              <a:gdLst/>
              <a:ahLst/>
              <a:cxnLst/>
              <a:rect r="r" b="b" t="t" l="l"/>
              <a:pathLst>
                <a:path h="396240" w="778637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672973" y="0"/>
                  </a:lnTo>
                  <a:cubicBezTo>
                    <a:pt x="731393" y="0"/>
                    <a:pt x="778637" y="47371"/>
                    <a:pt x="778637" y="105664"/>
                  </a:cubicBezTo>
                  <a:lnTo>
                    <a:pt x="778637" y="290576"/>
                  </a:lnTo>
                  <a:cubicBezTo>
                    <a:pt x="778637" y="348996"/>
                    <a:pt x="731266" y="396240"/>
                    <a:pt x="672973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2E3DF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741081" y="2234569"/>
            <a:ext cx="906556" cy="340753"/>
            <a:chOff x="0" y="0"/>
            <a:chExt cx="1054176" cy="3962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54227" cy="396240"/>
            </a:xfrm>
            <a:custGeom>
              <a:avLst/>
              <a:gdLst/>
              <a:ahLst/>
              <a:cxnLst/>
              <a:rect r="r" b="b" t="t" l="l"/>
              <a:pathLst>
                <a:path h="396240" w="1054227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948563" y="0"/>
                  </a:lnTo>
                  <a:cubicBezTo>
                    <a:pt x="1006983" y="0"/>
                    <a:pt x="1054227" y="47371"/>
                    <a:pt x="1054227" y="105664"/>
                  </a:cubicBezTo>
                  <a:lnTo>
                    <a:pt x="1054227" y="290576"/>
                  </a:lnTo>
                  <a:cubicBezTo>
                    <a:pt x="1054227" y="348996"/>
                    <a:pt x="1006856" y="396240"/>
                    <a:pt x="948563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2E3D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856484" y="2234569"/>
            <a:ext cx="1160483" cy="340753"/>
            <a:chOff x="0" y="0"/>
            <a:chExt cx="1349451" cy="396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49502" cy="396240"/>
            </a:xfrm>
            <a:custGeom>
              <a:avLst/>
              <a:gdLst/>
              <a:ahLst/>
              <a:cxnLst/>
              <a:rect r="r" b="b" t="t" l="l"/>
              <a:pathLst>
                <a:path h="396240" w="1349502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1243838" y="0"/>
                  </a:lnTo>
                  <a:cubicBezTo>
                    <a:pt x="1302258" y="0"/>
                    <a:pt x="1349502" y="47371"/>
                    <a:pt x="1349502" y="105664"/>
                  </a:cubicBezTo>
                  <a:lnTo>
                    <a:pt x="1349502" y="290576"/>
                  </a:lnTo>
                  <a:cubicBezTo>
                    <a:pt x="1349502" y="348996"/>
                    <a:pt x="1302131" y="396240"/>
                    <a:pt x="1243838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10BB82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5179421" y="2207771"/>
            <a:ext cx="966140" cy="367551"/>
            <a:chOff x="0" y="0"/>
            <a:chExt cx="1041552" cy="3962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41527" cy="396240"/>
            </a:xfrm>
            <a:custGeom>
              <a:avLst/>
              <a:gdLst/>
              <a:ahLst/>
              <a:cxnLst/>
              <a:rect r="r" b="b" t="t" l="l"/>
              <a:pathLst>
                <a:path h="396240" w="1041527">
                  <a:moveTo>
                    <a:pt x="0" y="105664"/>
                  </a:moveTo>
                  <a:cubicBezTo>
                    <a:pt x="0" y="47371"/>
                    <a:pt x="47371" y="0"/>
                    <a:pt x="105664" y="0"/>
                  </a:cubicBezTo>
                  <a:lnTo>
                    <a:pt x="935863" y="0"/>
                  </a:lnTo>
                  <a:cubicBezTo>
                    <a:pt x="994283" y="0"/>
                    <a:pt x="1041527" y="47371"/>
                    <a:pt x="1041527" y="105664"/>
                  </a:cubicBezTo>
                  <a:lnTo>
                    <a:pt x="1041527" y="290576"/>
                  </a:lnTo>
                  <a:cubicBezTo>
                    <a:pt x="1041527" y="348996"/>
                    <a:pt x="994156" y="396240"/>
                    <a:pt x="935863" y="396240"/>
                  </a:cubicBezTo>
                  <a:lnTo>
                    <a:pt x="105664" y="396240"/>
                  </a:lnTo>
                  <a:cubicBezTo>
                    <a:pt x="47371" y="396240"/>
                    <a:pt x="0" y="348869"/>
                    <a:pt x="0" y="290576"/>
                  </a:cubicBezTo>
                  <a:close/>
                </a:path>
              </a:pathLst>
            </a:custGeom>
            <a:solidFill>
              <a:srgbClr val="FFFFFF"/>
            </a:solidFill>
            <a:ln w="11430" cap="sq">
              <a:solidFill>
                <a:srgbClr val="E2E3D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9196683" y="2575322"/>
            <a:ext cx="14288" cy="6278280"/>
            <a:chOff x="0" y="0"/>
            <a:chExt cx="19050" cy="83710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429592" y="2575322"/>
            <a:ext cx="14288" cy="6278280"/>
            <a:chOff x="0" y="0"/>
            <a:chExt cx="19050" cy="83710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4736659" y="4704159"/>
            <a:ext cx="12167054" cy="2020433"/>
            <a:chOff x="0" y="0"/>
            <a:chExt cx="16222739" cy="269391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6222726" cy="2693924"/>
            </a:xfrm>
            <a:custGeom>
              <a:avLst/>
              <a:gdLst/>
              <a:ahLst/>
              <a:cxnLst/>
              <a:rect r="r" b="b" t="t" l="l"/>
              <a:pathLst>
                <a:path h="2693924" w="16222726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16082263" y="0"/>
                  </a:lnTo>
                  <a:cubicBezTo>
                    <a:pt x="16159860" y="0"/>
                    <a:pt x="16222726" y="62865"/>
                    <a:pt x="16222726" y="140462"/>
                  </a:cubicBezTo>
                  <a:lnTo>
                    <a:pt x="16222726" y="2553462"/>
                  </a:lnTo>
                  <a:cubicBezTo>
                    <a:pt x="16222726" y="2631059"/>
                    <a:pt x="16159860" y="2693924"/>
                    <a:pt x="16082263" y="2693924"/>
                  </a:cubicBezTo>
                  <a:lnTo>
                    <a:pt x="140462" y="2693924"/>
                  </a:lnTo>
                  <a:cubicBezTo>
                    <a:pt x="62865" y="2693924"/>
                    <a:pt x="0" y="2631059"/>
                    <a:pt x="0" y="2553462"/>
                  </a:cubicBezTo>
                  <a:close/>
                </a:path>
              </a:pathLst>
            </a:custGeom>
            <a:solidFill>
              <a:srgbClr val="1CABB0">
                <a:alpha val="0"/>
              </a:srgbClr>
            </a:solidFill>
            <a:ln w="9525" cap="sq">
              <a:solidFill>
                <a:srgbClr val="11676A"/>
              </a:solidFill>
              <a:prstDash val="dash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4736659" y="2783605"/>
            <a:ext cx="12167054" cy="1806435"/>
            <a:chOff x="0" y="0"/>
            <a:chExt cx="16222739" cy="24085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6222726" cy="2408593"/>
            </a:xfrm>
            <a:custGeom>
              <a:avLst/>
              <a:gdLst/>
              <a:ahLst/>
              <a:cxnLst/>
              <a:rect r="r" b="b" t="t" l="l"/>
              <a:pathLst>
                <a:path h="2408593" w="16222726">
                  <a:moveTo>
                    <a:pt x="0" y="125585"/>
                  </a:moveTo>
                  <a:cubicBezTo>
                    <a:pt x="0" y="56207"/>
                    <a:pt x="62865" y="0"/>
                    <a:pt x="140462" y="0"/>
                  </a:cubicBezTo>
                  <a:lnTo>
                    <a:pt x="16082263" y="0"/>
                  </a:lnTo>
                  <a:cubicBezTo>
                    <a:pt x="16159860" y="0"/>
                    <a:pt x="16222726" y="56207"/>
                    <a:pt x="16222726" y="125585"/>
                  </a:cubicBezTo>
                  <a:lnTo>
                    <a:pt x="16222726" y="2283007"/>
                  </a:lnTo>
                  <a:cubicBezTo>
                    <a:pt x="16222726" y="2352385"/>
                    <a:pt x="16159860" y="2408593"/>
                    <a:pt x="16082263" y="2408593"/>
                  </a:cubicBezTo>
                  <a:lnTo>
                    <a:pt x="140462" y="2408593"/>
                  </a:lnTo>
                  <a:cubicBezTo>
                    <a:pt x="62865" y="2408593"/>
                    <a:pt x="0" y="2352385"/>
                    <a:pt x="0" y="2283007"/>
                  </a:cubicBezTo>
                  <a:close/>
                </a:path>
              </a:pathLst>
            </a:custGeom>
            <a:solidFill>
              <a:srgbClr val="EEF0F2">
                <a:alpha val="0"/>
              </a:srgbClr>
            </a:solidFill>
            <a:ln w="9525" cap="sq">
              <a:solidFill>
                <a:srgbClr val="14B8A6"/>
              </a:solidFill>
              <a:prstDash val="dash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4979118" y="2707405"/>
            <a:ext cx="1997154" cy="192462"/>
            <a:chOff x="0" y="0"/>
            <a:chExt cx="1232430" cy="118767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232430" cy="118767"/>
            </a:xfrm>
            <a:custGeom>
              <a:avLst/>
              <a:gdLst/>
              <a:ahLst/>
              <a:cxnLst/>
              <a:rect r="r" b="b" t="t" l="l"/>
              <a:pathLst>
                <a:path h="118767" w="1232430">
                  <a:moveTo>
                    <a:pt x="59384" y="0"/>
                  </a:moveTo>
                  <a:lnTo>
                    <a:pt x="1173047" y="0"/>
                  </a:lnTo>
                  <a:cubicBezTo>
                    <a:pt x="1188796" y="0"/>
                    <a:pt x="1203900" y="6256"/>
                    <a:pt x="1215037" y="17393"/>
                  </a:cubicBezTo>
                  <a:cubicBezTo>
                    <a:pt x="1226174" y="28530"/>
                    <a:pt x="1232430" y="43634"/>
                    <a:pt x="1232430" y="59384"/>
                  </a:cubicBezTo>
                  <a:lnTo>
                    <a:pt x="1232430" y="59384"/>
                  </a:lnTo>
                  <a:cubicBezTo>
                    <a:pt x="1232430" y="75133"/>
                    <a:pt x="1226174" y="90237"/>
                    <a:pt x="1215037" y="101374"/>
                  </a:cubicBezTo>
                  <a:cubicBezTo>
                    <a:pt x="1203900" y="112511"/>
                    <a:pt x="1188796" y="118767"/>
                    <a:pt x="1173047" y="118767"/>
                  </a:cubicBezTo>
                  <a:lnTo>
                    <a:pt x="59384" y="118767"/>
                  </a:lnTo>
                  <a:cubicBezTo>
                    <a:pt x="43634" y="118767"/>
                    <a:pt x="28530" y="112511"/>
                    <a:pt x="17393" y="101374"/>
                  </a:cubicBezTo>
                  <a:cubicBezTo>
                    <a:pt x="6256" y="90237"/>
                    <a:pt x="0" y="75133"/>
                    <a:pt x="0" y="59384"/>
                  </a:cubicBezTo>
                  <a:lnTo>
                    <a:pt x="0" y="59384"/>
                  </a:lnTo>
                  <a:cubicBezTo>
                    <a:pt x="0" y="43634"/>
                    <a:pt x="6256" y="28530"/>
                    <a:pt x="17393" y="17393"/>
                  </a:cubicBezTo>
                  <a:cubicBezTo>
                    <a:pt x="28530" y="6256"/>
                    <a:pt x="43634" y="0"/>
                    <a:pt x="5938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1232430" cy="1187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4736659" y="6838712"/>
            <a:ext cx="12167054" cy="2020433"/>
            <a:chOff x="0" y="0"/>
            <a:chExt cx="16222739" cy="269391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6222726" cy="2693924"/>
            </a:xfrm>
            <a:custGeom>
              <a:avLst/>
              <a:gdLst/>
              <a:ahLst/>
              <a:cxnLst/>
              <a:rect r="r" b="b" t="t" l="l"/>
              <a:pathLst>
                <a:path h="2693924" w="16222726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16082263" y="0"/>
                  </a:lnTo>
                  <a:cubicBezTo>
                    <a:pt x="16159860" y="0"/>
                    <a:pt x="16222726" y="62865"/>
                    <a:pt x="16222726" y="140462"/>
                  </a:cubicBezTo>
                  <a:lnTo>
                    <a:pt x="16222726" y="2553462"/>
                  </a:lnTo>
                  <a:cubicBezTo>
                    <a:pt x="16222726" y="2631059"/>
                    <a:pt x="16159860" y="2693924"/>
                    <a:pt x="16082263" y="2693924"/>
                  </a:cubicBezTo>
                  <a:lnTo>
                    <a:pt x="140462" y="2693924"/>
                  </a:lnTo>
                  <a:cubicBezTo>
                    <a:pt x="62865" y="2693924"/>
                    <a:pt x="0" y="2631059"/>
                    <a:pt x="0" y="2553462"/>
                  </a:cubicBezTo>
                  <a:close/>
                </a:path>
              </a:pathLst>
            </a:custGeom>
            <a:solidFill>
              <a:srgbClr val="4338CA">
                <a:alpha val="0"/>
              </a:srgbClr>
            </a:solidFill>
            <a:ln w="9525" cap="sq">
              <a:solidFill>
                <a:srgbClr val="4F46E5"/>
              </a:solidFill>
              <a:prstDash val="dash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5662491" y="2575322"/>
            <a:ext cx="14288" cy="6278280"/>
            <a:chOff x="0" y="0"/>
            <a:chExt cx="19050" cy="83710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9050" cy="8371078"/>
            </a:xfrm>
            <a:custGeom>
              <a:avLst/>
              <a:gdLst/>
              <a:ahLst/>
              <a:cxnLst/>
              <a:rect r="r" b="b" t="t" l="l"/>
              <a:pathLst>
                <a:path h="8371078" w="19050">
                  <a:moveTo>
                    <a:pt x="0" y="0"/>
                  </a:moveTo>
                  <a:lnTo>
                    <a:pt x="19050" y="0"/>
                  </a:lnTo>
                  <a:lnTo>
                    <a:pt x="19050" y="8371078"/>
                  </a:lnTo>
                  <a:lnTo>
                    <a:pt x="0" y="8371078"/>
                  </a:lnTo>
                  <a:close/>
                </a:path>
              </a:pathLst>
            </a:custGeom>
            <a:solidFill>
              <a:srgbClr val="EEF0F2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4887039" y="6770132"/>
            <a:ext cx="1575549" cy="114300"/>
            <a:chOff x="0" y="0"/>
            <a:chExt cx="2100732" cy="152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100707" cy="152400"/>
            </a:xfrm>
            <a:custGeom>
              <a:avLst/>
              <a:gdLst/>
              <a:ahLst/>
              <a:cxnLst/>
              <a:rect r="r" b="b" t="t" l="l"/>
              <a:pathLst>
                <a:path h="152400" w="2100707">
                  <a:moveTo>
                    <a:pt x="0" y="0"/>
                  </a:moveTo>
                  <a:lnTo>
                    <a:pt x="2100707" y="0"/>
                  </a:lnTo>
                  <a:lnTo>
                    <a:pt x="2100707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5970927" y="3242186"/>
            <a:ext cx="6465808" cy="11430"/>
            <a:chOff x="0" y="0"/>
            <a:chExt cx="8621078" cy="152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621014" cy="15240"/>
            </a:xfrm>
            <a:custGeom>
              <a:avLst/>
              <a:gdLst/>
              <a:ahLst/>
              <a:cxnLst/>
              <a:rect r="r" b="b" t="t" l="l"/>
              <a:pathLst>
                <a:path h="15240" w="8621014">
                  <a:moveTo>
                    <a:pt x="0" y="0"/>
                  </a:moveTo>
                  <a:lnTo>
                    <a:pt x="8621014" y="0"/>
                  </a:lnTo>
                  <a:lnTo>
                    <a:pt x="862101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A7ACB3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2366184" y="3206115"/>
            <a:ext cx="80010" cy="91440"/>
            <a:chOff x="0" y="0"/>
            <a:chExt cx="106680" cy="1219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A7ACB3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9203827" y="4183913"/>
            <a:ext cx="3232899" cy="11430"/>
            <a:chOff x="0" y="0"/>
            <a:chExt cx="4310532" cy="152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310507" cy="15240"/>
            </a:xfrm>
            <a:custGeom>
              <a:avLst/>
              <a:gdLst/>
              <a:ahLst/>
              <a:cxnLst/>
              <a:rect r="r" b="b" t="t" l="l"/>
              <a:pathLst>
                <a:path h="15240" w="4310507">
                  <a:moveTo>
                    <a:pt x="0" y="0"/>
                  </a:moveTo>
                  <a:lnTo>
                    <a:pt x="4310507" y="0"/>
                  </a:lnTo>
                  <a:lnTo>
                    <a:pt x="431050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8573A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9194359" y="4147842"/>
            <a:ext cx="80010" cy="91440"/>
            <a:chOff x="0" y="0"/>
            <a:chExt cx="106680" cy="12192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E8573A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5970927" y="5334953"/>
            <a:ext cx="6465808" cy="11430"/>
            <a:chOff x="0" y="0"/>
            <a:chExt cx="8621078" cy="152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621014" cy="15240"/>
            </a:xfrm>
            <a:custGeom>
              <a:avLst/>
              <a:gdLst/>
              <a:ahLst/>
              <a:cxnLst/>
              <a:rect r="r" b="b" t="t" l="l"/>
              <a:pathLst>
                <a:path h="15240" w="8621014">
                  <a:moveTo>
                    <a:pt x="0" y="0"/>
                  </a:moveTo>
                  <a:lnTo>
                    <a:pt x="8621014" y="0"/>
                  </a:lnTo>
                  <a:lnTo>
                    <a:pt x="862101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A7ACB3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2366184" y="5298881"/>
            <a:ext cx="80010" cy="91440"/>
            <a:chOff x="0" y="0"/>
            <a:chExt cx="106680" cy="12192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A7ACB3"/>
            </a:solid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9203827" y="6276680"/>
            <a:ext cx="3232899" cy="11430"/>
            <a:chOff x="0" y="0"/>
            <a:chExt cx="4310532" cy="152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4310507" cy="15240"/>
            </a:xfrm>
            <a:custGeom>
              <a:avLst/>
              <a:gdLst/>
              <a:ahLst/>
              <a:cxnLst/>
              <a:rect r="r" b="b" t="t" l="l"/>
              <a:pathLst>
                <a:path h="15240" w="4310507">
                  <a:moveTo>
                    <a:pt x="0" y="0"/>
                  </a:moveTo>
                  <a:lnTo>
                    <a:pt x="4310507" y="0"/>
                  </a:lnTo>
                  <a:lnTo>
                    <a:pt x="431050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E8573A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9194359" y="6240599"/>
            <a:ext cx="80010" cy="91440"/>
            <a:chOff x="0" y="0"/>
            <a:chExt cx="106680" cy="12192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E8573A"/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5970927" y="7427709"/>
            <a:ext cx="6465808" cy="11430"/>
            <a:chOff x="0" y="0"/>
            <a:chExt cx="8621078" cy="152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8621014" cy="15240"/>
            </a:xfrm>
            <a:custGeom>
              <a:avLst/>
              <a:gdLst/>
              <a:ahLst/>
              <a:cxnLst/>
              <a:rect r="r" b="b" t="t" l="l"/>
              <a:pathLst>
                <a:path h="15240" w="8621014">
                  <a:moveTo>
                    <a:pt x="0" y="0"/>
                  </a:moveTo>
                  <a:lnTo>
                    <a:pt x="8621014" y="0"/>
                  </a:lnTo>
                  <a:lnTo>
                    <a:pt x="8621014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4338CA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12366184" y="7391638"/>
            <a:ext cx="80010" cy="91440"/>
            <a:chOff x="0" y="0"/>
            <a:chExt cx="106680" cy="12192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4338CA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2436735" y="8369437"/>
            <a:ext cx="3232899" cy="11430"/>
            <a:chOff x="0" y="0"/>
            <a:chExt cx="4310532" cy="1524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310507" cy="15240"/>
            </a:xfrm>
            <a:custGeom>
              <a:avLst/>
              <a:gdLst/>
              <a:ahLst/>
              <a:cxnLst/>
              <a:rect r="r" b="b" t="t" l="l"/>
              <a:pathLst>
                <a:path h="15240" w="4310507">
                  <a:moveTo>
                    <a:pt x="0" y="0"/>
                  </a:moveTo>
                  <a:lnTo>
                    <a:pt x="4310507" y="0"/>
                  </a:lnTo>
                  <a:lnTo>
                    <a:pt x="4310507" y="15240"/>
                  </a:lnTo>
                  <a:lnTo>
                    <a:pt x="0" y="15240"/>
                  </a:lnTo>
                  <a:close/>
                </a:path>
              </a:pathLst>
            </a:custGeom>
            <a:solidFill>
              <a:srgbClr val="4338CA"/>
            </a:solid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5599093" y="8333365"/>
            <a:ext cx="80010" cy="91440"/>
            <a:chOff x="0" y="0"/>
            <a:chExt cx="106680" cy="12192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06680" cy="121920"/>
            </a:xfrm>
            <a:custGeom>
              <a:avLst/>
              <a:gdLst/>
              <a:ahLst/>
              <a:cxnLst/>
              <a:rect r="r" b="b" t="t" l="l"/>
              <a:pathLst>
                <a:path h="121920" w="106680">
                  <a:moveTo>
                    <a:pt x="0" y="0"/>
                  </a:moveTo>
                  <a:lnTo>
                    <a:pt x="106680" y="0"/>
                  </a:lnTo>
                  <a:lnTo>
                    <a:pt x="106680" y="12192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4338CA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737235" y="9154535"/>
            <a:ext cx="16813530" cy="482918"/>
            <a:chOff x="0" y="0"/>
            <a:chExt cx="22418040" cy="64389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2418041" cy="643890"/>
            </a:xfrm>
            <a:custGeom>
              <a:avLst/>
              <a:gdLst/>
              <a:ahLst/>
              <a:cxnLst/>
              <a:rect r="r" b="b" t="t" l="l"/>
              <a:pathLst>
                <a:path h="643890" w="22418041">
                  <a:moveTo>
                    <a:pt x="0" y="156083"/>
                  </a:moveTo>
                  <a:cubicBezTo>
                    <a:pt x="0" y="69850"/>
                    <a:pt x="69850" y="0"/>
                    <a:pt x="156083" y="0"/>
                  </a:cubicBezTo>
                  <a:lnTo>
                    <a:pt x="22261957" y="0"/>
                  </a:lnTo>
                  <a:cubicBezTo>
                    <a:pt x="22348191" y="0"/>
                    <a:pt x="22418041" y="69850"/>
                    <a:pt x="22418041" y="156083"/>
                  </a:cubicBezTo>
                  <a:lnTo>
                    <a:pt x="22418041" y="487807"/>
                  </a:lnTo>
                  <a:cubicBezTo>
                    <a:pt x="22418041" y="574040"/>
                    <a:pt x="22348191" y="643890"/>
                    <a:pt x="22261957" y="643890"/>
                  </a:cubicBezTo>
                  <a:lnTo>
                    <a:pt x="156083" y="643890"/>
                  </a:lnTo>
                  <a:cubicBezTo>
                    <a:pt x="69850" y="643890"/>
                    <a:pt x="0" y="574040"/>
                    <a:pt x="0" y="487807"/>
                  </a:cubicBezTo>
                  <a:close/>
                </a:path>
              </a:pathLst>
            </a:custGeom>
            <a:solidFill>
              <a:srgbClr val="CFFFE7">
                <a:alpha val="34902"/>
              </a:srgbClr>
            </a:solidFill>
            <a:ln w="9525" cap="sq">
              <a:solidFill>
                <a:srgbClr val="A7F3D0">
                  <a:alpha val="34902"/>
                </a:srgbClr>
              </a:solidFill>
              <a:prstDash val="solid"/>
              <a:miter/>
            </a:ln>
          </p:spPr>
        </p:sp>
      </p:grpSp>
      <p:sp>
        <p:nvSpPr>
          <p:cNvPr name="TextBox 69" id="69"/>
          <p:cNvSpPr txBox="true"/>
          <p:nvPr/>
        </p:nvSpPr>
        <p:spPr>
          <a:xfrm rot="0">
            <a:off x="768353" y="551183"/>
            <a:ext cx="117720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363">
                <a:solidFill>
                  <a:srgbClr val="1E3A8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05</a:t>
            </a:r>
          </a:p>
        </p:txBody>
      </p:sp>
      <p:grpSp>
        <p:nvGrpSpPr>
          <p:cNvPr name="Group 70" id="70"/>
          <p:cNvGrpSpPr/>
          <p:nvPr/>
        </p:nvGrpSpPr>
        <p:grpSpPr>
          <a:xfrm rot="0">
            <a:off x="1793081" y="540963"/>
            <a:ext cx="9525" cy="152343"/>
            <a:chOff x="0" y="0"/>
            <a:chExt cx="12700" cy="20312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2700" cy="203073"/>
            </a:xfrm>
            <a:custGeom>
              <a:avLst/>
              <a:gdLst/>
              <a:ahLst/>
              <a:cxnLst/>
              <a:rect r="r" b="b" t="t" l="l"/>
              <a:pathLst>
                <a:path h="203073" w="12700">
                  <a:moveTo>
                    <a:pt x="0" y="0"/>
                  </a:moveTo>
                  <a:lnTo>
                    <a:pt x="12700" y="0"/>
                  </a:lnTo>
                  <a:lnTo>
                    <a:pt x="12700" y="203073"/>
                  </a:lnTo>
                  <a:lnTo>
                    <a:pt x="0" y="203073"/>
                  </a:lnTo>
                  <a:close/>
                </a:path>
              </a:pathLst>
            </a:custGeom>
            <a:solidFill>
              <a:srgbClr val="D2D2CC"/>
            </a:solidFill>
          </p:spPr>
        </p:sp>
      </p:grpSp>
      <p:sp>
        <p:nvSpPr>
          <p:cNvPr name="TextBox 72" id="72"/>
          <p:cNvSpPr txBox="true"/>
          <p:nvPr/>
        </p:nvSpPr>
        <p:spPr>
          <a:xfrm rot="0">
            <a:off x="15226978" y="551183"/>
            <a:ext cx="2323787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330">
                <a:solidFill>
                  <a:srgbClr val="A8ADB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시스템 아키텍처 명세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768353" y="855916"/>
            <a:ext cx="6489989" cy="5356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47"/>
              </a:lnSpc>
            </a:pPr>
            <a:r>
              <a:rPr lang="en-US" b="true" sz="3450" spc="-51">
                <a:solidFill>
                  <a:srgbClr val="16161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Skills Builder </a:t>
            </a:r>
            <a:r>
              <a:rPr lang="en-US" b="true" sz="3450" spc="-51">
                <a:solidFill>
                  <a:srgbClr val="2563EB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— SOP 추출 시퀀스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768353" y="1400747"/>
            <a:ext cx="5411499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SOP 문서를 wizard 3단계로 personal 스킬 DRAFT로 만든다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951233" y="1926526"/>
            <a:ext cx="78548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1CABB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2단계 분리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951233" y="2840450"/>
            <a:ext cx="1685167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메타 → 상세 분할 추출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951233" y="3688175"/>
            <a:ext cx="2829516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JSON 잘림(ctx 8192 초과)을 분리로 해소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951233" y="4394521"/>
            <a:ext cx="114678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1CABB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결정적 스켈레톤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951233" y="5218786"/>
            <a:ext cx="1467932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코드가 BINDS 결정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51233" y="5961736"/>
            <a:ext cx="2829516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SOP→스켈레톤 조립, </a:t>
            </a:r>
          </a:p>
          <a:p>
            <a:pPr algn="l">
              <a:lnSpc>
                <a:spcPts val="1739"/>
              </a:lnSpc>
            </a:pPr>
            <a:r>
              <a:rPr lang="en-US" sz="999">
                <a:solidFill>
                  <a:srgbClr val="7A828D"/>
                </a:solidFill>
                <a:latin typeface="Noto Sans Kr"/>
                <a:ea typeface="Noto Sans Kr"/>
                <a:cs typeface="Noto Sans Kr"/>
                <a:sym typeface="Noto Sans Kr"/>
              </a:rPr>
              <a:t>COMPOSER.md·정밀 매핑 </a:t>
            </a:r>
            <a:r>
              <a:rPr lang="en-US" sz="999">
                <a:solidFill>
                  <a:srgbClr val="A8ADB4"/>
                </a:solidFill>
                <a:latin typeface="Noto Sans Kr"/>
                <a:ea typeface="Noto Sans Kr"/>
                <a:cs typeface="Noto Sans Kr"/>
                <a:sym typeface="Noto Sans Kr"/>
              </a:rPr>
              <a:t>ADR-0028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951233" y="6862505"/>
            <a:ext cx="680172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spc="120">
                <a:solidFill>
                  <a:srgbClr val="1F80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이중 저장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117106" y="7386721"/>
            <a:ext cx="966679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>
                <a:solidFill>
                  <a:srgbClr val="1CABB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GCS · SKILL.md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1117106" y="8603246"/>
            <a:ext cx="1327439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>
                <a:solidFill>
                  <a:srgbClr val="1CABB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GCS · COMPOSER.md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1117106" y="7994984"/>
            <a:ext cx="1183806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>
                <a:solidFill>
                  <a:srgbClr val="1CABB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PostgreSQL DRAFT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4379871" y="1917002"/>
            <a:ext cx="2372916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0"/>
              </a:lnSpc>
            </a:pPr>
            <a:r>
              <a:rPr lang="en-US" b="true" sz="1300" spc="168">
                <a:solidFill>
                  <a:srgbClr val="0097B2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SOP WIZARD SEQUENCE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7219512" y="1926527"/>
            <a:ext cx="1841789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5"/>
              </a:lnSpc>
            </a:pPr>
            <a:r>
              <a:rPr lang="en-US" sz="1013">
                <a:solidFill>
                  <a:srgbClr val="A8ADB4"/>
                </a:solidFill>
                <a:latin typeface="Noto Sans Kr"/>
                <a:ea typeface="Noto Sans Kr"/>
                <a:cs typeface="Noto Sans Kr"/>
                <a:sym typeface="Noto Sans Kr"/>
              </a:rPr>
              <a:t>추출 → 검토 → 확정 · HITL 2지점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5753422" y="2334460"/>
            <a:ext cx="420724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사용자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4979118" y="2697880"/>
            <a:ext cx="1975463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 spc="69">
                <a:solidFill>
                  <a:srgbClr val="1CABB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① extract_metadata · 저장 X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8845614" y="2314458"/>
            <a:ext cx="697490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Frontend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1931531" y="2314458"/>
            <a:ext cx="996120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Skills Builder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15344486" y="2301059"/>
            <a:ext cx="650298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GCS · PG</a:t>
            </a:r>
          </a:p>
        </p:txBody>
      </p:sp>
      <p:grpSp>
        <p:nvGrpSpPr>
          <p:cNvPr name="Group 92" id="92"/>
          <p:cNvGrpSpPr/>
          <p:nvPr/>
        </p:nvGrpSpPr>
        <p:grpSpPr>
          <a:xfrm rot="0">
            <a:off x="4957427" y="4635579"/>
            <a:ext cx="1926767" cy="192462"/>
            <a:chOff x="0" y="0"/>
            <a:chExt cx="1188995" cy="118767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1188995" cy="118767"/>
            </a:xfrm>
            <a:custGeom>
              <a:avLst/>
              <a:gdLst/>
              <a:ahLst/>
              <a:cxnLst/>
              <a:rect r="r" b="b" t="t" l="l"/>
              <a:pathLst>
                <a:path h="118767" w="1188995">
                  <a:moveTo>
                    <a:pt x="59384" y="0"/>
                  </a:moveTo>
                  <a:lnTo>
                    <a:pt x="1129611" y="0"/>
                  </a:lnTo>
                  <a:cubicBezTo>
                    <a:pt x="1145361" y="0"/>
                    <a:pt x="1160465" y="6256"/>
                    <a:pt x="1171602" y="17393"/>
                  </a:cubicBezTo>
                  <a:cubicBezTo>
                    <a:pt x="1182738" y="28530"/>
                    <a:pt x="1188995" y="43634"/>
                    <a:pt x="1188995" y="59384"/>
                  </a:cubicBezTo>
                  <a:lnTo>
                    <a:pt x="1188995" y="59384"/>
                  </a:lnTo>
                  <a:cubicBezTo>
                    <a:pt x="1188995" y="75133"/>
                    <a:pt x="1182738" y="90237"/>
                    <a:pt x="1171602" y="101374"/>
                  </a:cubicBezTo>
                  <a:cubicBezTo>
                    <a:pt x="1160465" y="112511"/>
                    <a:pt x="1145361" y="118767"/>
                    <a:pt x="1129611" y="118767"/>
                  </a:cubicBezTo>
                  <a:lnTo>
                    <a:pt x="59384" y="118767"/>
                  </a:lnTo>
                  <a:cubicBezTo>
                    <a:pt x="43634" y="118767"/>
                    <a:pt x="28530" y="112511"/>
                    <a:pt x="17393" y="101374"/>
                  </a:cubicBezTo>
                  <a:cubicBezTo>
                    <a:pt x="6256" y="90237"/>
                    <a:pt x="0" y="75133"/>
                    <a:pt x="0" y="59384"/>
                  </a:cubicBezTo>
                  <a:lnTo>
                    <a:pt x="0" y="59384"/>
                  </a:lnTo>
                  <a:cubicBezTo>
                    <a:pt x="0" y="43634"/>
                    <a:pt x="6256" y="28530"/>
                    <a:pt x="17393" y="17393"/>
                  </a:cubicBezTo>
                  <a:cubicBezTo>
                    <a:pt x="28530" y="6256"/>
                    <a:pt x="43634" y="0"/>
                    <a:pt x="5938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94" id="94"/>
            <p:cNvSpPr txBox="true"/>
            <p:nvPr/>
          </p:nvSpPr>
          <p:spPr>
            <a:xfrm>
              <a:off x="0" y="0"/>
              <a:ext cx="1188995" cy="1187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sp>
        <p:nvSpPr>
          <p:cNvPr name="TextBox 95" id="95"/>
          <p:cNvSpPr txBox="true"/>
          <p:nvPr/>
        </p:nvSpPr>
        <p:spPr>
          <a:xfrm rot="0">
            <a:off x="4979118" y="4660983"/>
            <a:ext cx="1710603" cy="1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b="true" sz="999" spc="69">
                <a:solidFill>
                  <a:srgbClr val="11676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② extract_detail · 저장 X</a:t>
            </a:r>
          </a:p>
        </p:txBody>
      </p:sp>
      <p:grpSp>
        <p:nvGrpSpPr>
          <p:cNvPr name="Group 96" id="96"/>
          <p:cNvGrpSpPr/>
          <p:nvPr/>
        </p:nvGrpSpPr>
        <p:grpSpPr>
          <a:xfrm rot="0">
            <a:off x="4957427" y="6772218"/>
            <a:ext cx="1997154" cy="192462"/>
            <a:chOff x="0" y="0"/>
            <a:chExt cx="1232430" cy="118767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1232430" cy="118767"/>
            </a:xfrm>
            <a:custGeom>
              <a:avLst/>
              <a:gdLst/>
              <a:ahLst/>
              <a:cxnLst/>
              <a:rect r="r" b="b" t="t" l="l"/>
              <a:pathLst>
                <a:path h="118767" w="1232430">
                  <a:moveTo>
                    <a:pt x="59384" y="0"/>
                  </a:moveTo>
                  <a:lnTo>
                    <a:pt x="1173047" y="0"/>
                  </a:lnTo>
                  <a:cubicBezTo>
                    <a:pt x="1188796" y="0"/>
                    <a:pt x="1203900" y="6256"/>
                    <a:pt x="1215037" y="17393"/>
                  </a:cubicBezTo>
                  <a:cubicBezTo>
                    <a:pt x="1226174" y="28530"/>
                    <a:pt x="1232430" y="43634"/>
                    <a:pt x="1232430" y="59384"/>
                  </a:cubicBezTo>
                  <a:lnTo>
                    <a:pt x="1232430" y="59384"/>
                  </a:lnTo>
                  <a:cubicBezTo>
                    <a:pt x="1232430" y="75133"/>
                    <a:pt x="1226174" y="90237"/>
                    <a:pt x="1215037" y="101374"/>
                  </a:cubicBezTo>
                  <a:cubicBezTo>
                    <a:pt x="1203900" y="112511"/>
                    <a:pt x="1188796" y="118767"/>
                    <a:pt x="1173047" y="118767"/>
                  </a:cubicBezTo>
                  <a:lnTo>
                    <a:pt x="59384" y="118767"/>
                  </a:lnTo>
                  <a:cubicBezTo>
                    <a:pt x="43634" y="118767"/>
                    <a:pt x="28530" y="112511"/>
                    <a:pt x="17393" y="101374"/>
                  </a:cubicBezTo>
                  <a:cubicBezTo>
                    <a:pt x="6256" y="90237"/>
                    <a:pt x="0" y="75133"/>
                    <a:pt x="0" y="59384"/>
                  </a:cubicBezTo>
                  <a:lnTo>
                    <a:pt x="0" y="59384"/>
                  </a:lnTo>
                  <a:cubicBezTo>
                    <a:pt x="0" y="43634"/>
                    <a:pt x="6256" y="28530"/>
                    <a:pt x="17393" y="17393"/>
                  </a:cubicBezTo>
                  <a:cubicBezTo>
                    <a:pt x="28530" y="6256"/>
                    <a:pt x="43634" y="0"/>
                    <a:pt x="5938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98" id="98"/>
            <p:cNvSpPr txBox="true"/>
            <p:nvPr/>
          </p:nvSpPr>
          <p:spPr>
            <a:xfrm>
              <a:off x="0" y="0"/>
              <a:ext cx="1232430" cy="1187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4979118" y="6786010"/>
            <a:ext cx="2067432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b="true" sz="1000" spc="69">
                <a:solidFill>
                  <a:srgbClr val="1F80FF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③ confirm · personal DRAFT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8218747" y="3061211"/>
            <a:ext cx="1970160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sz="1099" b="true">
                <a:solidFill>
                  <a:srgbClr val="5B647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1. SOP 업로드 · metadata 요청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9624573" y="3993413"/>
            <a:ext cx="2391425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F8717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↩ 2. skill_metas 카드 (map-reduce)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8202186" y="5152111"/>
            <a:ext cx="2003281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sz="1099" b="true">
                <a:solidFill>
                  <a:srgbClr val="5B647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3. 카드 선택 (HITL) · detail 요청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9832283" y="6078674"/>
            <a:ext cx="1976005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F87171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↩ 4. 폼 prefill (RAG · 스켈레톤)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8343600" y="7234321"/>
            <a:ext cx="1720453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0081C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5. 폼 확정 (HITL) · confirm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13098899" y="8171440"/>
            <a:ext cx="1908572" cy="161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"/>
              </a:lnSpc>
            </a:pPr>
            <a:r>
              <a:rPr lang="en-US" b="true" sz="1099">
                <a:solidFill>
                  <a:srgbClr val="0081CC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6. GCS + PostgreSQL DRAFT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989266" y="9263758"/>
            <a:ext cx="222322" cy="236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9"/>
              </a:lnSpc>
            </a:pPr>
            <a:r>
              <a:rPr lang="en-US" sz="1275">
                <a:solidFill>
                  <a:srgbClr val="434A54"/>
                </a:solidFill>
                <a:latin typeface="Noto Sans Kr"/>
                <a:ea typeface="Noto Sans Kr"/>
                <a:cs typeface="Noto Sans Kr"/>
                <a:sym typeface="Noto Sans Kr"/>
              </a:rPr>
              <a:t>💡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1316279" y="9254233"/>
            <a:ext cx="10901468" cy="254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3"/>
              </a:lnSpc>
            </a:pPr>
            <a:r>
              <a:rPr lang="en-US" sz="1299" b="true">
                <a:solidFill>
                  <a:srgbClr val="00687A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Skills Builder </a:t>
            </a:r>
            <a:r>
              <a:rPr lang="en-US" sz="1299">
                <a:solidFill>
                  <a:srgbClr val="00687A"/>
                </a:solidFill>
                <a:latin typeface="Noto Sans Kr"/>
                <a:ea typeface="Noto Sans Kr"/>
                <a:cs typeface="Noto Sans Kr"/>
                <a:sym typeface="Noto Sans Kr"/>
              </a:rPr>
              <a:t>추출  →  검토  →  확정의 HITL wizard로, 사용자가 편집한 결과만 DRAFT 스킬로 저장한다. 게시 시 NodeDefinition으로 승격된다.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768353" y="9752333"/>
            <a:ext cx="254698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7A828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sz="1500" b="true">
                <a:solidFill>
                  <a:srgbClr val="1A1F36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40/ 44</a:t>
            </a:r>
            <a:r>
              <a:rPr lang="en-US" sz="1500" b="true">
                <a:solidFill>
                  <a:srgbClr val="7A828D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 </a:t>
            </a:r>
            <a:r>
              <a:rPr lang="en-US" sz="1500">
                <a:solidFill>
                  <a:srgbClr val="A8ADB4"/>
                </a:solidFill>
                <a:latin typeface="Noto Sans Kr"/>
                <a:ea typeface="Noto Sans Kr"/>
                <a:cs typeface="Noto Sans Kr"/>
                <a:sym typeface="Noto Sans Kr"/>
              </a:rPr>
              <a:t>ǀ Skills Builder 시퀀스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15621952" y="9752333"/>
            <a:ext cx="1928812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1500" spc="269">
                <a:solidFill>
                  <a:srgbClr val="A8ADB4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PART 5 — FLOW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2423141" y="551183"/>
            <a:ext cx="132408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b="true" sz="1650" spc="49">
                <a:solidFill>
                  <a:srgbClr val="1F253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실제 동작 흐름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822264" y="3206753"/>
            <a:ext cx="4643319" cy="2752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b="true" sz="18000" spc="-719">
                <a:solidFill>
                  <a:srgbClr val="F6F4EE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Q&amp;A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401848" y="6273803"/>
            <a:ext cx="5484152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spc="108">
                <a:solidFill>
                  <a:srgbClr val="B5BFCC"/>
                </a:solidFill>
                <a:latin typeface="Noto Sans Kr"/>
                <a:ea typeface="Noto Sans Kr"/>
                <a:cs typeface="Noto Sans Kr"/>
                <a:sym typeface="Noto Sans Kr"/>
              </a:rPr>
              <a:t>감사합니다.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25503" y="9707880"/>
            <a:ext cx="65782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spc="60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44 /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DAHJaTxPVBE</dc:identifier>
  <dcterms:modified xsi:type="dcterms:W3CDTF">2011-08-01T06:04:30Z</dcterms:modified>
  <cp:revision>1</cp:revision>
  <dc:title>AI Agent가 설계 실행하는 스마트 워크플로우 플랫폼</dc:title>
</cp:coreProperties>
</file>